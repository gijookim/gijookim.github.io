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700" r:id="rId3"/>
    <p:sldId id="701" r:id="rId4"/>
    <p:sldId id="707" r:id="rId5"/>
    <p:sldId id="710" r:id="rId6"/>
    <p:sldId id="717" r:id="rId7"/>
    <p:sldId id="715" r:id="rId8"/>
    <p:sldId id="718" r:id="rId9"/>
    <p:sldId id="714" r:id="rId10"/>
    <p:sldId id="719" r:id="rId11"/>
    <p:sldId id="711" r:id="rId12"/>
    <p:sldId id="712" r:id="rId13"/>
    <p:sldId id="703" r:id="rId14"/>
    <p:sldId id="704" r:id="rId15"/>
    <p:sldId id="716" r:id="rId16"/>
    <p:sldId id="713" r:id="rId17"/>
    <p:sldId id="721" r:id="rId18"/>
    <p:sldId id="722" r:id="rId19"/>
    <p:sldId id="725" r:id="rId20"/>
    <p:sldId id="727" r:id="rId21"/>
    <p:sldId id="720" r:id="rId22"/>
    <p:sldId id="705" r:id="rId23"/>
    <p:sldId id="728" r:id="rId24"/>
    <p:sldId id="729" r:id="rId25"/>
    <p:sldId id="730" r:id="rId26"/>
    <p:sldId id="732" r:id="rId27"/>
    <p:sldId id="708" r:id="rId28"/>
    <p:sldId id="706" r:id="rId29"/>
    <p:sldId id="698" r:id="rId30"/>
    <p:sldId id="731" r:id="rId31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3" autoAdjust="0"/>
    <p:restoredTop sz="96370" autoAdjust="0"/>
  </p:normalViewPr>
  <p:slideViewPr>
    <p:cSldViewPr>
      <p:cViewPr varScale="1">
        <p:scale>
          <a:sx n="106" d="100"/>
          <a:sy n="106" d="100"/>
        </p:scale>
        <p:origin x="153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4" tIns="47392" rIns="94784" bIns="4739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4" tIns="47392" rIns="94784" bIns="47392" rtlCol="0"/>
          <a:lstStyle>
            <a:lvl1pPr algn="r">
              <a:defRPr sz="1300"/>
            </a:lvl1pPr>
          </a:lstStyle>
          <a:p>
            <a:fld id="{E1DBA18E-019D-4DB5-9C84-C80C9EC0EDE4}" type="datetimeFigureOut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4" tIns="47392" rIns="94784" bIns="4739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4" tIns="47392" rIns="94784" bIns="4739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84" tIns="47392" rIns="94784" bIns="4739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84" tIns="47392" rIns="94784" bIns="47392" rtlCol="0" anchor="b"/>
          <a:lstStyle>
            <a:lvl1pPr algn="r">
              <a:defRPr sz="13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2022-10-25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204864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05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669903"/>
              </p:ext>
            </p:extLst>
          </p:nvPr>
        </p:nvGraphicFramePr>
        <p:xfrm>
          <a:off x="6146800" y="3208784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208784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2943426"/>
            <a:ext cx="7772400" cy="17817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Extreme Event Analysis-Part II</a:t>
            </a:r>
          </a:p>
          <a:p>
            <a:r>
              <a:rPr lang="en-US" altLang="ko-KR" sz="3600" dirty="0"/>
              <a:t>(Flood Frequency Analysis &amp; </a:t>
            </a:r>
            <a:br>
              <a:rPr lang="en-US" altLang="ko-KR" sz="3600" dirty="0"/>
            </a:br>
            <a:r>
              <a:rPr lang="en-US" altLang="ko-KR" sz="3600" dirty="0"/>
              <a:t>POT Approach)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37-D1A8-45B6-9DE2-8D9AB964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FCD97-7550-4EDA-B26C-8899E837E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Extreme Event Analysis: Focusing on </a:t>
            </a:r>
            <a:r>
              <a:rPr lang="en-US" altLang="ko-KR" u="sng" dirty="0"/>
              <a:t>Floods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Questions to be answered in today’s lecture: </a:t>
            </a:r>
          </a:p>
          <a:p>
            <a:pPr lvl="1"/>
            <a:r>
              <a:rPr lang="en-US" altLang="ko-KR" dirty="0"/>
              <a:t> What </a:t>
            </a:r>
            <a:r>
              <a:rPr lang="en-US" altLang="ko-KR" u="sng" dirty="0"/>
              <a:t>distribution</a:t>
            </a:r>
            <a:r>
              <a:rPr lang="en-US" altLang="ko-KR" dirty="0"/>
              <a:t> to use?</a:t>
            </a:r>
          </a:p>
          <a:p>
            <a:pPr lvl="1"/>
            <a:r>
              <a:rPr lang="en-US" altLang="ko-KR" dirty="0"/>
              <a:t> What </a:t>
            </a:r>
            <a:r>
              <a:rPr lang="en-US" altLang="ko-KR" u="sng" dirty="0"/>
              <a:t>design event </a:t>
            </a:r>
            <a:r>
              <a:rPr lang="en-US" altLang="ko-KR" dirty="0"/>
              <a:t>to use? 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Distributions for Extreme Values</a:t>
            </a:r>
          </a:p>
          <a:p>
            <a:pPr lvl="1"/>
            <a:r>
              <a:rPr lang="en-US" altLang="ko-KR" dirty="0"/>
              <a:t> Three Types of Extreme Distributions</a:t>
            </a:r>
          </a:p>
          <a:p>
            <a:pPr lvl="2"/>
            <a:r>
              <a:rPr lang="en-US" altLang="ko-KR" dirty="0"/>
              <a:t>Gumbel, Fréchet, Weibull (Type 1, Type II, Type III)</a:t>
            </a:r>
          </a:p>
          <a:p>
            <a:pPr lvl="1"/>
            <a:r>
              <a:rPr lang="en-US" altLang="ko-KR" dirty="0"/>
              <a:t> Generalized Extreme Value (GEV) Distribution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3B384-C4BF-4875-8C9F-84C58259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7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B18E7-338E-40B1-9003-E5591036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Lecture 05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B6D20D3-4909-48A3-823F-3D5F62F90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Flood Frequency Analysis</a:t>
                </a:r>
              </a:p>
              <a:p>
                <a:pPr lvl="1"/>
                <a:r>
                  <a:rPr lang="en-US" altLang="ko-KR" dirty="0"/>
                  <a:t> Empirical Method (No Distributional Assumptions)</a:t>
                </a:r>
              </a:p>
              <a:p>
                <a:pPr lvl="1"/>
                <a:r>
                  <a:rPr lang="en-US" altLang="ko-KR" dirty="0"/>
                  <a:t> Analytical Method (Distributional Assumptions)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More Distributions for Extreme Events</a:t>
                </a:r>
              </a:p>
              <a:p>
                <a:pPr lvl="1"/>
                <a:r>
                  <a:rPr lang="en-US" altLang="ko-KR" dirty="0"/>
                  <a:t> Generalized Extreme Value (GEV) Distributions</a:t>
                </a:r>
              </a:p>
              <a:p>
                <a:pPr lvl="1"/>
                <a:r>
                  <a:rPr lang="en-US" altLang="ko-KR" dirty="0"/>
                  <a:t> Peaks-over-threshold (POT) Approach (=Partial Duration)</a:t>
                </a:r>
              </a:p>
              <a:p>
                <a:pPr lvl="2"/>
                <a:r>
                  <a:rPr lang="en-US" altLang="ko-KR" dirty="0"/>
                  <a:t>Generalized Pareto Distribution (GPD)</a:t>
                </a:r>
              </a:p>
              <a:p>
                <a:pPr lvl="1"/>
                <a:r>
                  <a:rPr lang="en-US" altLang="ko-KR" dirty="0"/>
                  <a:t> How to Choose the Threshold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?</a:t>
                </a:r>
              </a:p>
              <a:p>
                <a:pPr lvl="2"/>
                <a:r>
                  <a:rPr lang="en-US" altLang="ko-KR" dirty="0"/>
                  <a:t>Mean Residual Life Plot</a:t>
                </a:r>
              </a:p>
              <a:p>
                <a:pPr lvl="2"/>
                <a:r>
                  <a:rPr lang="en-US" altLang="ko-KR" dirty="0"/>
                  <a:t>Parameter Stability Plot</a:t>
                </a:r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B6D20D3-4909-48A3-823F-3D5F62F90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2B42AE-F039-4179-AC4C-CE069538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8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A284C-87D0-4647-A747-369C54F8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 (</a:t>
            </a:r>
            <a:r>
              <a:rPr lang="en-US" altLang="ko-KR" dirty="0" err="1"/>
              <a:t>Haan</a:t>
            </a:r>
            <a:r>
              <a:rPr lang="en-US" altLang="ko-KR" dirty="0"/>
              <a:t> Ch.7)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7E1009-B6EB-4473-ABD0-52E10E488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Flood Frequency Analysis (</a:t>
                </a:r>
                <a:r>
                  <a:rPr lang="ko-KR" altLang="en-US" dirty="0" err="1"/>
                  <a:t>홍수빈도분석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b="1" dirty="0"/>
                  <a:t> GOALS</a:t>
                </a:r>
              </a:p>
              <a:p>
                <a:pPr lvl="2"/>
                <a:r>
                  <a:rPr lang="en-US" altLang="ko-KR" dirty="0"/>
                  <a:t>Estimate the magnitude of an event having a given frequency of occurrence (Return Period T -&gt; Design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To estimate the frequency of an event having a given magnitude</a:t>
                </a:r>
                <a:br>
                  <a:rPr lang="en-US" altLang="ko-KR" dirty="0"/>
                </a:br>
                <a:r>
                  <a:rPr lang="en-US" altLang="ko-KR" dirty="0"/>
                  <a:t>(Design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dirty="0"/>
                  <a:t> -&gt; Return Period T)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Remember the following questions:</a:t>
                </a:r>
              </a:p>
              <a:p>
                <a:pPr lvl="2"/>
                <a:r>
                  <a:rPr lang="en-US" altLang="ko-KR" dirty="0"/>
                  <a:t>For a specific type of structure, what should T be?</a:t>
                </a:r>
              </a:p>
              <a:p>
                <a:pPr lvl="2"/>
                <a:r>
                  <a:rPr lang="en-US" altLang="ko-KR" u="sng" dirty="0"/>
                  <a:t>Once we do choose T, how should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u="sng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 u="sng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u="sng" dirty="0"/>
                  <a:t>?</a:t>
                </a:r>
              </a:p>
              <a:p>
                <a:pPr lvl="3"/>
                <a:r>
                  <a:rPr lang="en-US" altLang="ko-KR" dirty="0"/>
                  <a:t>Empirical Method (No Distributional Assumptions)</a:t>
                </a:r>
              </a:p>
              <a:p>
                <a:pPr lvl="3"/>
                <a:r>
                  <a:rPr lang="en-US" altLang="ko-KR" dirty="0"/>
                  <a:t>Analytical Method (Distributional Assumptions – GEV, LP3, GPD, etc.)</a:t>
                </a:r>
              </a:p>
              <a:p>
                <a:pPr lvl="3"/>
                <a:endParaRPr lang="en-US" altLang="ko-KR" u="sng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7E1009-B6EB-4473-ABD0-52E10E488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7AC80B-AFDF-4D82-BE53-DCFCA032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0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C617E-D8E4-4EC8-B4C2-B1378D33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 (</a:t>
            </a:r>
            <a:r>
              <a:rPr lang="en-US" altLang="ko-KR" dirty="0" err="1"/>
              <a:t>Haan</a:t>
            </a:r>
            <a:r>
              <a:rPr lang="en-US" altLang="ko-KR" dirty="0"/>
              <a:t> Ch.7)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DD27A8-9287-41B9-A752-6B6AAB567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Two Methods</a:t>
            </a:r>
          </a:p>
          <a:p>
            <a:pPr lvl="1"/>
            <a:r>
              <a:rPr lang="en-US" altLang="ko-KR" dirty="0"/>
              <a:t> Empirical Method (No Distributional Assumptions)</a:t>
            </a:r>
          </a:p>
          <a:p>
            <a:pPr lvl="1"/>
            <a:r>
              <a:rPr lang="en-US" altLang="ko-KR" dirty="0"/>
              <a:t> Analytical Method (Distributional Assumptions)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Empirical Method includes</a:t>
            </a:r>
          </a:p>
          <a:p>
            <a:pPr lvl="1"/>
            <a:r>
              <a:rPr lang="en-US" altLang="ko-KR" dirty="0"/>
              <a:t> Probability Plotting</a:t>
            </a:r>
          </a:p>
          <a:p>
            <a:pPr lvl="1"/>
            <a:r>
              <a:rPr lang="en-US" altLang="ko-KR" dirty="0"/>
              <a:t> Probability papers for different distributions: </a:t>
            </a:r>
            <a:br>
              <a:rPr lang="en-US" altLang="ko-KR" dirty="0"/>
            </a:br>
            <a:r>
              <a:rPr lang="en-US" altLang="ko-KR" dirty="0"/>
              <a:t>Normal, Lognormal, Exponential, Gamma, GEV, Weibull, etc. 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F0415-76EA-4374-911E-7C2CE8FB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96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223F0-D8EF-4516-890E-C05088DD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(1) Empirical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F7816-29D5-427E-84C8-E339253B6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Procedures</a:t>
            </a:r>
          </a:p>
          <a:p>
            <a:pPr marL="800100" lvl="1" indent="-342900">
              <a:buAutoNum type="arabicParenBoth"/>
            </a:pPr>
            <a:r>
              <a:rPr lang="en-US" altLang="ko-KR" dirty="0"/>
              <a:t>Rank the data from the smallest (or largest) to the largest (or smallest) value. </a:t>
            </a:r>
          </a:p>
          <a:p>
            <a:pPr marL="800100" lvl="1" indent="-342900">
              <a:buAutoNum type="arabicParenBoth"/>
            </a:pPr>
            <a:r>
              <a:rPr lang="en-US" altLang="ko-KR" dirty="0"/>
              <a:t>Calculate the </a:t>
            </a:r>
            <a:r>
              <a:rPr lang="en-US" altLang="ko-KR" u="sng" dirty="0"/>
              <a:t>plotting positions</a:t>
            </a:r>
            <a:r>
              <a:rPr lang="en-US" altLang="ko-KR" dirty="0"/>
              <a:t> of each values.</a:t>
            </a:r>
          </a:p>
          <a:p>
            <a:pPr marL="800100" lvl="1" indent="-342900">
              <a:buAutoNum type="arabicParenBoth"/>
            </a:pPr>
            <a:r>
              <a:rPr lang="en-US" altLang="ko-KR" dirty="0"/>
              <a:t>Select the type of probability paper to be used. </a:t>
            </a:r>
          </a:p>
          <a:p>
            <a:pPr marL="800100" lvl="1" indent="-342900">
              <a:buAutoNum type="arabicParenBoth"/>
            </a:pPr>
            <a:r>
              <a:rPr lang="en-US" altLang="ko-KR" dirty="0"/>
              <a:t>Plot the observations on the probability paper.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6FBE00-0F46-4133-B6EC-F3F6CEE4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482FDF1-4E22-4FE0-BE74-99910A3CC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80" y="3722861"/>
            <a:ext cx="3960440" cy="29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4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4">
            <a:extLst>
              <a:ext uri="{FF2B5EF4-FFF2-40B4-BE49-F238E27FC236}">
                <a16:creationId xmlns:a16="http://schemas.microsoft.com/office/drawing/2014/main" id="{A90A03B5-C8BA-435A-B8B3-53F626165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6788" y="3732110"/>
            <a:ext cx="4536504" cy="310659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FC6A1-01C9-4C85-BDA8-30C15536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3D56C4-9677-4953-BE42-198F4995C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34" y="260648"/>
            <a:ext cx="5331175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0EC55-8BC6-4581-AD4A-F76896DB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(1) Empirical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6878E4-1690-4F92-B439-C8EC3D066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80CBA5-C0FA-4381-8A85-D226A383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E6FF07-F37F-4E1C-9D2E-93F1BE58E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739403"/>
            <a:ext cx="5739035" cy="447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9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85641-A29B-4EB1-BF65-8E57E8DC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(1) Empirical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2DE052-E6C1-450B-B506-3BB21E0C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8614B6C-9BE4-413C-A172-8DE3D38CC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Example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224F39-FD17-4F66-AD1F-05F45DAEE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88840"/>
            <a:ext cx="59626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6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80B08-BCA8-4A09-B300-0EB6C1F5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(2) Analytical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5D354F-2B9B-4C53-92B5-B5807B586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국내</a:t>
            </a:r>
            <a:r>
              <a:rPr lang="en-US" altLang="ko-KR" dirty="0"/>
              <a:t>/</a:t>
            </a:r>
            <a:r>
              <a:rPr lang="ko-KR" altLang="en-US" dirty="0"/>
              <a:t>미국의 </a:t>
            </a:r>
            <a:r>
              <a:rPr lang="ko-KR" altLang="en-US" dirty="0" err="1"/>
              <a:t>설계홍수량</a:t>
            </a:r>
            <a:r>
              <a:rPr lang="ko-KR" altLang="en-US" dirty="0"/>
              <a:t> 산정방법 </a:t>
            </a:r>
            <a:r>
              <a:rPr lang="en-US" altLang="ko-KR" dirty="0"/>
              <a:t>(</a:t>
            </a:r>
            <a:r>
              <a:rPr lang="ko-KR" altLang="en-US" dirty="0"/>
              <a:t>참고자료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한국</a:t>
            </a:r>
            <a:r>
              <a:rPr lang="en-US" altLang="ko-KR" dirty="0"/>
              <a:t>: </a:t>
            </a:r>
            <a:r>
              <a:rPr lang="ko-KR" altLang="en-US" dirty="0"/>
              <a:t>홍수량 산정 표준지침 </a:t>
            </a:r>
            <a:r>
              <a:rPr lang="en-US" altLang="ko-KR" dirty="0"/>
              <a:t>(</a:t>
            </a:r>
            <a:r>
              <a:rPr lang="ko-KR" altLang="en-US" dirty="0"/>
              <a:t>환경부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미국</a:t>
            </a:r>
            <a:r>
              <a:rPr lang="en-US" altLang="ko-KR" dirty="0"/>
              <a:t>: Bulletin 17B/17C (USGS: US Geological Survey)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89F64A-6054-41EF-A1EC-18930A84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BFCBA2D-424D-4326-8B22-93CDEC23C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73" y="2773278"/>
            <a:ext cx="2510998" cy="35572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AFF53CE-AE3F-465E-8BC0-2A57D20F8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731" y="2660465"/>
            <a:ext cx="2919602" cy="37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4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20A5B-A6DE-49B4-9125-762812C7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국내 </a:t>
            </a:r>
            <a:r>
              <a:rPr lang="ko-KR" altLang="en-US" dirty="0" err="1"/>
              <a:t>설계홍수량</a:t>
            </a:r>
            <a:r>
              <a:rPr lang="ko-KR" altLang="en-US" dirty="0"/>
              <a:t> 산정방법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CEF9901-49C6-4216-9E50-79E98C498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1285610"/>
            <a:ext cx="3464858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7F3A9B-4613-4D7C-9051-ED3431B2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98F978-7105-4E3C-9EE1-BBADABE39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544" y="1275552"/>
            <a:ext cx="3508950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6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CD359CA-AB21-460F-A48D-DE116344E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192" y="144400"/>
            <a:ext cx="5525616" cy="265259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B9DCE-FD60-45C5-A335-322725EC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664D12-E087-45FD-98A9-05C6357AA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37" y="2682397"/>
            <a:ext cx="5208926" cy="404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8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EC07B-7A3A-4BC9-9BAD-EAD98CD1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미국 </a:t>
            </a:r>
            <a:r>
              <a:rPr lang="ko-KR" altLang="en-US" dirty="0" err="1"/>
              <a:t>설계홍수량</a:t>
            </a:r>
            <a:r>
              <a:rPr lang="ko-KR" altLang="en-US" dirty="0"/>
              <a:t> 산정방법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85300C-3BB1-4FB6-B08C-C4EE932A0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In US, </a:t>
            </a:r>
            <a:r>
              <a:rPr lang="en-US" altLang="ko-KR" u="sng" dirty="0"/>
              <a:t>log-Pearson III distribution</a:t>
            </a:r>
            <a:r>
              <a:rPr lang="en-US" altLang="ko-KR" dirty="0"/>
              <a:t> is recommended for annual maximum floods</a:t>
            </a:r>
          </a:p>
          <a:p>
            <a:pPr lvl="1"/>
            <a:r>
              <a:rPr lang="en-US" altLang="ko-KR" dirty="0"/>
              <a:t> Recommended in 1967</a:t>
            </a:r>
          </a:p>
          <a:p>
            <a:pPr lvl="2"/>
            <a:r>
              <a:rPr lang="en-US" altLang="ko-KR" sz="1200" dirty="0"/>
              <a:t>“there are no rigorous statistical criteria on which to base a choice of method”</a:t>
            </a:r>
          </a:p>
          <a:p>
            <a:pPr lvl="2"/>
            <a:r>
              <a:rPr lang="en-US" altLang="ko-KR" sz="1200" dirty="0"/>
              <a:t>“the range of uncertainty in flood analysis, regardless of the method used, is still large”</a:t>
            </a:r>
          </a:p>
          <a:p>
            <a:pPr lvl="1"/>
            <a:r>
              <a:rPr lang="en-US" altLang="ko-KR" dirty="0"/>
              <a:t> Codified in 1976 (Bulletin 17)</a:t>
            </a:r>
          </a:p>
          <a:p>
            <a:pPr lvl="1"/>
            <a:r>
              <a:rPr lang="en-US" altLang="ko-KR" dirty="0"/>
              <a:t> Updates: Bulletin 17B (1982) &amp; Bulletin 17C (2018)</a:t>
            </a:r>
          </a:p>
          <a:p>
            <a:r>
              <a:rPr lang="en-US" altLang="ko-KR" b="1" dirty="0"/>
              <a:t> Pearson Distributions</a:t>
            </a:r>
          </a:p>
          <a:p>
            <a:pPr lvl="1"/>
            <a:r>
              <a:rPr lang="en-US" altLang="ko-KR" dirty="0"/>
              <a:t> A family of distributions (P1-P6) </a:t>
            </a:r>
            <a:br>
              <a:rPr lang="en-US" altLang="ko-KR" dirty="0"/>
            </a:br>
            <a:r>
              <a:rPr lang="en-US" altLang="ko-KR" dirty="0"/>
              <a:t>to flexibly model </a:t>
            </a:r>
            <a:br>
              <a:rPr lang="en-US" altLang="ko-KR" dirty="0"/>
            </a:br>
            <a:r>
              <a:rPr lang="en-US" altLang="ko-KR" dirty="0"/>
              <a:t>mean, variance, skew, kurtosis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84E08C-A1D2-46E5-84F1-0E420485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2050" name="Picture 2" descr="Log Pearson type 3 in Excel « Gerg's Net">
            <a:extLst>
              <a:ext uri="{FF2B5EF4-FFF2-40B4-BE49-F238E27FC236}">
                <a16:creationId xmlns:a16="http://schemas.microsoft.com/office/drawing/2014/main" id="{38E1CE82-7E56-46E1-8FF7-A7BBF208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298444"/>
            <a:ext cx="3739681" cy="223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2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F0912-A03B-41FC-A4F9-D4B5112E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미국 </a:t>
            </a:r>
            <a:r>
              <a:rPr lang="ko-KR" altLang="en-US" dirty="0" err="1"/>
              <a:t>설계홍수량</a:t>
            </a:r>
            <a:r>
              <a:rPr lang="ko-KR" altLang="en-US" dirty="0"/>
              <a:t> 산정방법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77CDF-A354-42DD-95EE-A47970DFC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Pearson Distributions</a:t>
            </a:r>
          </a:p>
          <a:p>
            <a:pPr marL="457200" lvl="1" indent="0">
              <a:buNone/>
            </a:pPr>
            <a:r>
              <a:rPr lang="en-US" altLang="ko-KR" dirty="0"/>
              <a:t>&lt;Def&gt;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882346-4D57-45A8-B969-A4989FA6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DC18B2-2F4A-4F3C-866E-706FB1059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09987" y="-285923"/>
            <a:ext cx="1724025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19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336249A-C609-465A-BDD2-468B63D73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463" y="974725"/>
            <a:ext cx="5939074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AEA1A-C428-46CD-AFB5-73C1D9E7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968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7CAD4-91C1-43A5-B7BC-C0E79B1C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(2) Analytical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1BAD7-905C-4D7D-B82C-FAF96FB26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Example #1:</a:t>
            </a:r>
            <a:r>
              <a:rPr lang="ko-KR" altLang="en-US" b="1" dirty="0"/>
              <a:t> </a:t>
            </a:r>
            <a:r>
              <a:rPr lang="en-US" altLang="ko-KR" b="1" dirty="0"/>
              <a:t>Normal</a:t>
            </a:r>
            <a:r>
              <a:rPr lang="ko-KR" altLang="en-US" b="1" dirty="0"/>
              <a:t> </a:t>
            </a:r>
            <a:r>
              <a:rPr lang="en-US" altLang="ko-KR" b="1" dirty="0"/>
              <a:t>Distribution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0C6D6-772A-4DA6-8AB7-0E00B5FF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748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7CAD4-91C1-43A5-B7BC-C0E79B1C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(2) Analytical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1BAD7-905C-4D7D-B82C-FAF96FB26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Example #2:</a:t>
            </a:r>
            <a:r>
              <a:rPr lang="ko-KR" altLang="en-US" b="1" dirty="0"/>
              <a:t> </a:t>
            </a:r>
            <a:r>
              <a:rPr lang="en-US" altLang="ko-KR" b="1" dirty="0"/>
              <a:t>Lognormal</a:t>
            </a:r>
            <a:r>
              <a:rPr lang="ko-KR" altLang="en-US" b="1" dirty="0"/>
              <a:t> </a:t>
            </a:r>
            <a:r>
              <a:rPr lang="en-US" altLang="ko-KR" b="1" dirty="0"/>
              <a:t>Distribution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0C6D6-772A-4DA6-8AB7-0E00B5FF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580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7CAD4-91C1-43A5-B7BC-C0E79B1C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Flood Frequency Analysis: (2) Analytical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1BAD7-905C-4D7D-B82C-FAF96FB26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Example #3:</a:t>
            </a:r>
            <a:r>
              <a:rPr lang="ko-KR" altLang="en-US" b="1" dirty="0"/>
              <a:t> </a:t>
            </a:r>
            <a:r>
              <a:rPr lang="en-US" altLang="ko-KR" b="1" dirty="0"/>
              <a:t>Log Pearson Type III Distribution</a:t>
            </a:r>
            <a:endParaRPr lang="en-US" altLang="ko-KR" dirty="0"/>
          </a:p>
          <a:p>
            <a:pPr lvl="1"/>
            <a:r>
              <a:rPr lang="en-US" altLang="ko-KR" dirty="0"/>
              <a:t> Procedures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0C6D6-772A-4DA6-8AB7-0E00B5FF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280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F42FB-A03B-460B-9FF1-F54FAB59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CFE9E6-851B-4992-9963-91DD4F82D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304800"/>
            <a:ext cx="600075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33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E2C8F-79A6-405D-AF8C-65910EB9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88DB73-EE1A-446E-B5FA-EBDBF2FC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300037"/>
            <a:ext cx="5838825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70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428D6-20AB-4DF7-ABDE-E57BE80B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General Discussions (</a:t>
            </a:r>
            <a:r>
              <a:rPr lang="en-US" altLang="ko-KR" dirty="0" err="1"/>
              <a:t>Haan</a:t>
            </a:r>
            <a:r>
              <a:rPr lang="en-US" altLang="ko-KR" dirty="0"/>
              <a:t> p.178-179)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5420E38-D2B0-4C1B-AC74-8FD2EE685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1100958"/>
            <a:ext cx="6847454" cy="19403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4EFABA-B75D-4E41-BD2F-3A7A03705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A18533-9624-4A0A-8FDB-0C816CB5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275" y="3041319"/>
            <a:ext cx="6492103" cy="353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79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C7C0E-F3CF-46A5-91EE-4BD98542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Peaks-Over-Threshold (POT) Models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F087B87-0484-4011-A0BC-228D334A3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8191822" cy="4908203"/>
              </a:xfrm>
            </p:spPr>
            <p:txBody>
              <a:bodyPr/>
              <a:lstStyle/>
              <a:p>
                <a:r>
                  <a:rPr lang="en-US" altLang="ko-KR" dirty="0"/>
                  <a:t> Peaks-over-Thresholds (POT) approach (=partial duration)</a:t>
                </a:r>
              </a:p>
              <a:p>
                <a:pPr lvl="1"/>
                <a:r>
                  <a:rPr lang="en-US" altLang="ko-KR" dirty="0"/>
                  <a:t> Consider </a:t>
                </a:r>
                <a:r>
                  <a:rPr lang="en-US" altLang="ko-KR" u="sng" dirty="0"/>
                  <a:t>ALL</a:t>
                </a:r>
                <a:r>
                  <a:rPr lang="en-US" altLang="ko-KR" dirty="0"/>
                  <a:t> extremes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, for some high threshold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F087B87-0484-4011-A0BC-228D334A3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8191822" cy="4908203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A45A4F-BE50-4C56-8F6A-E7FC0FF2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276B17-CDF0-40AF-A3F2-6D4BA8364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343" y="2114134"/>
            <a:ext cx="5551313" cy="40628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A02D7AA-6166-410D-BF00-3E32F1FA3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486" y="6126625"/>
            <a:ext cx="4505026" cy="73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75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55045-4634-4744-A0F8-4F76A5AE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405F772-2A38-491F-856D-37A4C29E7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729" y="1268413"/>
            <a:ext cx="6412541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072F49-ADD4-4E3E-98F0-CFEFB315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321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FADB7-2A29-4CB1-BAF0-DD1914B3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Selecting Threshold u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FC70100-46CB-45C6-A539-2E528DCD0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729" y="1268413"/>
            <a:ext cx="7728542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10A9B-0A7C-4EEC-BB8B-FD73125D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976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C27BE-7EFA-45D6-943A-7E5025C4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Selecting Threshold u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082CBE3-BA5D-45DF-BC47-5CBD57CC3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069" y="1268413"/>
            <a:ext cx="7293861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212AB4-6946-45CB-A3F5-426B1D26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821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9F46C-B439-4605-BBF4-F8700812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Selecting Threshold u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14C4D-FC12-48E3-ADC7-278CED6C3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Example of Mean Residual Life Plot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D84E-9C83-476A-9660-4C495432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2050" name="Picture 2" descr="Mean Residual Life plot">
            <a:extLst>
              <a:ext uri="{FF2B5EF4-FFF2-40B4-BE49-F238E27FC236}">
                <a16:creationId xmlns:a16="http://schemas.microsoft.com/office/drawing/2014/main" id="{865A0F53-9F18-4042-80FD-0D534F7B0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7" y="2159870"/>
            <a:ext cx="6296025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623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C0985-544D-41F1-82A6-FCFF5A67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Parameter Estimation &amp; </a:t>
            </a:r>
            <a:r>
              <a:rPr lang="en-US" altLang="ko-KR" dirty="0" err="1"/>
              <a:t>Declustering</a:t>
            </a:r>
            <a:r>
              <a:rPr lang="en-US" altLang="ko-KR" dirty="0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257CA8C-9520-44CC-9F08-DE88089D57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Given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, estimate          via MLE</a:t>
                </a:r>
              </a:p>
              <a:p>
                <a:r>
                  <a:rPr lang="en-US" altLang="ko-KR" dirty="0"/>
                  <a:t> Analytical maximization of Log-Likelihood is hard, </a:t>
                </a:r>
                <a:br>
                  <a:rPr lang="en-US" altLang="ko-KR" dirty="0"/>
                </a:br>
                <a:r>
                  <a:rPr lang="en-US" altLang="ko-KR" dirty="0"/>
                  <a:t>thus use numerical optimization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 </a:t>
                </a:r>
                <a:r>
                  <a:rPr lang="en-US" altLang="ko-KR" dirty="0" err="1"/>
                  <a:t>Declustering</a:t>
                </a:r>
                <a:r>
                  <a:rPr lang="en-US" altLang="ko-KR" dirty="0"/>
                  <a:t> </a:t>
                </a:r>
              </a:p>
              <a:p>
                <a:pPr lvl="1"/>
                <a:r>
                  <a:rPr lang="en-US" altLang="ko-KR" dirty="0"/>
                  <a:t> GPD assumes independent exceedances</a:t>
                </a:r>
              </a:p>
              <a:p>
                <a:pPr lvl="1"/>
                <a:r>
                  <a:rPr lang="en-US" altLang="ko-KR" dirty="0"/>
                  <a:t> However, not usually true in hydrology </a:t>
                </a:r>
              </a:p>
              <a:p>
                <a:pPr lvl="2"/>
                <a:r>
                  <a:rPr lang="en-US" altLang="ko-KR" dirty="0"/>
                  <a:t>3-day intense rainfall</a:t>
                </a:r>
              </a:p>
              <a:p>
                <a:pPr lvl="2"/>
                <a:r>
                  <a:rPr lang="en-US" altLang="ko-KR" dirty="0"/>
                  <a:t>Long lasting floods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257CA8C-9520-44CC-9F08-DE88089D57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9F808-818E-4FB8-82B6-1E49023B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076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902C9-BDBC-4ED8-BAC2-669A9C81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Parameter Estimation &amp; </a:t>
            </a:r>
            <a:r>
              <a:rPr lang="en-US" altLang="ko-KR" dirty="0" err="1"/>
              <a:t>Declustering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5B443-D397-4309-915A-67B77E9E6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Procedures for </a:t>
            </a:r>
            <a:r>
              <a:rPr lang="en-US" altLang="ko-KR" dirty="0" err="1"/>
              <a:t>Declustering</a:t>
            </a:r>
            <a:endParaRPr lang="en-US" altLang="ko-KR" dirty="0"/>
          </a:p>
          <a:p>
            <a:pPr marL="800100" lvl="1" indent="-342900">
              <a:buAutoNum type="arabicParenBoth"/>
            </a:pPr>
            <a:r>
              <a:rPr lang="en-US" altLang="ko-KR" dirty="0"/>
              <a:t>For fixed u, find clusters of consecutive exceedances</a:t>
            </a:r>
          </a:p>
          <a:p>
            <a:pPr marL="800100" lvl="1" indent="-342900">
              <a:buAutoNum type="arabicParenBoth"/>
            </a:pPr>
            <a:r>
              <a:rPr lang="en-US" altLang="ko-KR" dirty="0"/>
              <a:t>Set run length r to separate clusters</a:t>
            </a:r>
          </a:p>
          <a:p>
            <a:pPr marL="800100" lvl="1" indent="-342900">
              <a:buAutoNum type="arabicParenBoth"/>
            </a:pPr>
            <a:r>
              <a:rPr lang="en-US" altLang="ko-KR" dirty="0"/>
              <a:t>Take maximum exceedance in each clusters</a:t>
            </a:r>
          </a:p>
          <a:p>
            <a:pPr marL="800100" lvl="1" indent="-342900">
              <a:buAutoNum type="arabicParenBoth"/>
            </a:pPr>
            <a:endParaRPr lang="en-US" altLang="ko-KR" dirty="0"/>
          </a:p>
          <a:p>
            <a:r>
              <a:rPr lang="en-US" altLang="ko-KR" dirty="0"/>
              <a:t> Example: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F6358-F679-4EE7-AD0B-CC98FF4B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4AD8F4-F9CC-4107-881B-8A4D7878D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3186004"/>
            <a:ext cx="5184582" cy="353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58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4824535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(2022-11-01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b="1" i="1" dirty="0"/>
              <a:t>Training with Extreme Event Analysis</a:t>
            </a:r>
          </a:p>
          <a:p>
            <a:pPr lvl="2"/>
            <a:r>
              <a:rPr lang="en-US" altLang="ko-KR" b="1" dirty="0"/>
              <a:t>Flood Frequency Analysis using Extreme Distributions </a:t>
            </a:r>
          </a:p>
          <a:p>
            <a:pPr lvl="2"/>
            <a:r>
              <a:rPr lang="en-US" altLang="ko-KR" b="1" dirty="0"/>
              <a:t>Using Peaks-Over-Threshold (POT) Models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 Other Assignments 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Datacamp</a:t>
            </a:r>
            <a:r>
              <a:rPr lang="en-US" altLang="ko-KR" dirty="0"/>
              <a:t> Assignments (Assigned through Web)</a:t>
            </a:r>
          </a:p>
          <a:p>
            <a:pPr lvl="2"/>
            <a:r>
              <a:rPr lang="en-US" altLang="ko-KR" dirty="0"/>
              <a:t>Introduction to </a:t>
            </a:r>
            <a:r>
              <a:rPr lang="en-US" altLang="ko-KR" dirty="0" err="1"/>
              <a:t>Tidyverse</a:t>
            </a:r>
            <a:r>
              <a:rPr lang="en-US" altLang="ko-KR" dirty="0"/>
              <a:t> due 10/28</a:t>
            </a:r>
          </a:p>
          <a:p>
            <a:pPr lvl="2"/>
            <a:r>
              <a:rPr lang="en-US" altLang="ko-KR" dirty="0"/>
              <a:t>Cleaning Data in R due 11/04</a:t>
            </a:r>
          </a:p>
          <a:p>
            <a:pPr lvl="1"/>
            <a:r>
              <a:rPr lang="en-US" altLang="ko-KR" dirty="0"/>
              <a:t> Mid-Term Project Report &amp; Presentation: </a:t>
            </a:r>
            <a:r>
              <a:rPr lang="en-US" altLang="ko-KR" b="1" dirty="0"/>
              <a:t>11/08 Tue (Dinner?)</a:t>
            </a:r>
          </a:p>
          <a:p>
            <a:pPr lvl="1"/>
            <a:r>
              <a:rPr lang="en-US" altLang="ko-KR" dirty="0"/>
              <a:t> TEST Schedule? </a:t>
            </a:r>
            <a:r>
              <a:rPr lang="en-US" altLang="ko-KR" b="1" dirty="0"/>
              <a:t>11/29 Tue (</a:t>
            </a:r>
            <a:r>
              <a:rPr lang="ko-KR" altLang="en-US" b="1" dirty="0"/>
              <a:t>예정</a:t>
            </a:r>
            <a:r>
              <a:rPr lang="en-US" altLang="ko-KR" b="1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00CFD-1C53-4162-A5AF-EB71E20D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Tentative Schedule (~End of Semester)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639C6F3B-DBC3-49E4-BF45-0D655E18C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036295"/>
              </p:ext>
            </p:extLst>
          </p:nvPr>
        </p:nvGraphicFramePr>
        <p:xfrm>
          <a:off x="628650" y="1625600"/>
          <a:ext cx="78867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014">
                  <a:extLst>
                    <a:ext uri="{9D8B030D-6E8A-4147-A177-3AD203B41FA5}">
                      <a16:colId xmlns:a16="http://schemas.microsoft.com/office/drawing/2014/main" val="118826865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42703151"/>
                    </a:ext>
                  </a:extLst>
                </a:gridCol>
                <a:gridCol w="5815558">
                  <a:extLst>
                    <a:ext uri="{9D8B030D-6E8A-4147-A177-3AD203B41FA5}">
                      <a16:colId xmlns:a16="http://schemas.microsoft.com/office/drawing/2014/main" val="2971867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TOPIC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98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Oct-25 </a:t>
                      </a:r>
                    </a:p>
                    <a:p>
                      <a:pPr algn="l" latinLnBrk="1"/>
                      <a:r>
                        <a:rPr lang="en-US" altLang="ko-KR" dirty="0"/>
                        <a:t>(Today)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Lec</a:t>
                      </a:r>
                      <a:r>
                        <a:rPr lang="en-US" altLang="ko-KR" dirty="0"/>
                        <a:t> 05: Extreme Event Analysis Part II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174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9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Nov-01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Training with Extreme Event Analysis (Laptop)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53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Nov-08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Mid Term Project Presentations (&amp; Dinner)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73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Nov-15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Quiz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/ </a:t>
                      </a:r>
                      <a:r>
                        <a:rPr lang="en-US" altLang="ko-KR" dirty="0" err="1"/>
                        <a:t>Lec</a:t>
                      </a:r>
                      <a:r>
                        <a:rPr lang="en-US" altLang="ko-KR" dirty="0"/>
                        <a:t> 06: Introduction to Regression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6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Test Preparation (Example Problem Solutions)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26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Nov-29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TEST (Closed Book)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66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Dec-06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Lec</a:t>
                      </a:r>
                      <a:r>
                        <a:rPr lang="en-US" altLang="ko-KR" dirty="0"/>
                        <a:t> 07: Hydrologic Statistics Frontiers 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119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Dec-13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Final Project Presentation (Teams of 4, TBA)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596436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0031F-9CB4-4328-8B15-F4ABD00F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99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80437</TotalTime>
  <Words>923</Words>
  <Application>Microsoft Office PowerPoint</Application>
  <PresentationFormat>화면 슬라이드 쇼(4:3)</PresentationFormat>
  <Paragraphs>174</Paragraphs>
  <Slides>30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05</vt:lpstr>
      <vt:lpstr>Review on Lecture 4</vt:lpstr>
      <vt:lpstr>Today’s Topic: Lecture 05</vt:lpstr>
      <vt:lpstr>Flood Frequency Analysis (Haan Ch.7)</vt:lpstr>
      <vt:lpstr>Flood Frequency Analysis (Haan Ch.7)</vt:lpstr>
      <vt:lpstr>Flood Frequency Analysis: (1) Empirical</vt:lpstr>
      <vt:lpstr>PowerPoint 프레젠테이션</vt:lpstr>
      <vt:lpstr>Flood Frequency Analysis: (1) Empirical</vt:lpstr>
      <vt:lpstr>Flood Frequency Analysis: (1) Empirical</vt:lpstr>
      <vt:lpstr>Flood Frequency Analysis: (2) Analytical</vt:lpstr>
      <vt:lpstr>국내 설계홍수량 산정방법</vt:lpstr>
      <vt:lpstr>PowerPoint 프레젠테이션</vt:lpstr>
      <vt:lpstr>미국 설계홍수량 산정방법</vt:lpstr>
      <vt:lpstr>미국 설계홍수량 산정방법</vt:lpstr>
      <vt:lpstr>PowerPoint 프레젠테이션</vt:lpstr>
      <vt:lpstr>Flood Frequency Analysis: (2) Analytical</vt:lpstr>
      <vt:lpstr>Flood Frequency Analysis: (2) Analytical</vt:lpstr>
      <vt:lpstr>Flood Frequency Analysis: (2) Analytical</vt:lpstr>
      <vt:lpstr>PowerPoint 프레젠테이션</vt:lpstr>
      <vt:lpstr>PowerPoint 프레젠테이션</vt:lpstr>
      <vt:lpstr>General Discussions (Haan p.178-179)</vt:lpstr>
      <vt:lpstr>Peaks-Over-Threshold (POT) Models</vt:lpstr>
      <vt:lpstr>PowerPoint 프레젠테이션</vt:lpstr>
      <vt:lpstr>Selecting Threshold u</vt:lpstr>
      <vt:lpstr>Selecting Threshold u</vt:lpstr>
      <vt:lpstr>Selecting Threshold u</vt:lpstr>
      <vt:lpstr> Parameter Estimation &amp; Declustering </vt:lpstr>
      <vt:lpstr> Parameter Estimation &amp; Declustering </vt:lpstr>
      <vt:lpstr>Future Schedule Preview</vt:lpstr>
      <vt:lpstr>Tentative Schedule (~End of Semester)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2416</cp:revision>
  <cp:lastPrinted>2022-10-18T03:01:51Z</cp:lastPrinted>
  <dcterms:created xsi:type="dcterms:W3CDTF">2020-01-02T02:18:47Z</dcterms:created>
  <dcterms:modified xsi:type="dcterms:W3CDTF">2022-10-25T00:54:10Z</dcterms:modified>
</cp:coreProperties>
</file>