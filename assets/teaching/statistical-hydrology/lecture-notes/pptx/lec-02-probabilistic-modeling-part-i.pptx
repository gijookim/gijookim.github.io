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700" r:id="rId3"/>
    <p:sldId id="740" r:id="rId4"/>
    <p:sldId id="741" r:id="rId5"/>
    <p:sldId id="743" r:id="rId6"/>
    <p:sldId id="766" r:id="rId7"/>
    <p:sldId id="764" r:id="rId8"/>
    <p:sldId id="768" r:id="rId9"/>
    <p:sldId id="769" r:id="rId10"/>
    <p:sldId id="742" r:id="rId11"/>
    <p:sldId id="770" r:id="rId12"/>
    <p:sldId id="778" r:id="rId13"/>
    <p:sldId id="748" r:id="rId14"/>
    <p:sldId id="760" r:id="rId15"/>
    <p:sldId id="759" r:id="rId16"/>
    <p:sldId id="750" r:id="rId17"/>
    <p:sldId id="773" r:id="rId18"/>
    <p:sldId id="774" r:id="rId19"/>
    <p:sldId id="762" r:id="rId20"/>
    <p:sldId id="780" r:id="rId21"/>
    <p:sldId id="744" r:id="rId22"/>
    <p:sldId id="752" r:id="rId23"/>
    <p:sldId id="754" r:id="rId24"/>
    <p:sldId id="776" r:id="rId25"/>
    <p:sldId id="781" r:id="rId26"/>
    <p:sldId id="777" r:id="rId27"/>
    <p:sldId id="756" r:id="rId28"/>
    <p:sldId id="782" r:id="rId29"/>
    <p:sldId id="775" r:id="rId30"/>
    <p:sldId id="745" r:id="rId31"/>
    <p:sldId id="747" r:id="rId32"/>
    <p:sldId id="758" r:id="rId33"/>
    <p:sldId id="755" r:id="rId34"/>
    <p:sldId id="698" r:id="rId35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85023" autoAdjust="0"/>
  </p:normalViewPr>
  <p:slideViewPr>
    <p:cSldViewPr>
      <p:cViewPr varScale="1">
        <p:scale>
          <a:sx n="93" d="100"/>
          <a:sy n="93" d="100"/>
        </p:scale>
        <p:origin x="186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2022-09-13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7" Type="http://schemas.openxmlformats.org/officeDocument/2006/relationships/image" Target="../media/image3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02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63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Probabilistic</a:t>
            </a:r>
            <a:r>
              <a:rPr lang="ko-KR" altLang="en-US" sz="3600" dirty="0"/>
              <a:t> </a:t>
            </a:r>
            <a:r>
              <a:rPr lang="en-US" altLang="ko-KR" sz="3600" dirty="0"/>
              <a:t>Modeling</a:t>
            </a:r>
            <a:r>
              <a:rPr lang="ko-KR" altLang="en-US" sz="3600" dirty="0"/>
              <a:t> </a:t>
            </a:r>
            <a:r>
              <a:rPr lang="en-US" altLang="ko-KR" sz="3600" dirty="0"/>
              <a:t>in</a:t>
            </a:r>
            <a:r>
              <a:rPr lang="ko-KR" altLang="en-US" sz="3600" dirty="0"/>
              <a:t> </a:t>
            </a:r>
            <a:r>
              <a:rPr lang="en-US" altLang="ko-KR" sz="3600" dirty="0"/>
              <a:t>Hydrology-Part I</a:t>
            </a:r>
          </a:p>
          <a:p>
            <a:r>
              <a:rPr lang="en-US" altLang="ko-KR" sz="3600" dirty="0"/>
              <a:t>(Moments &amp; Probabilistic Models)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224113"/>
          </a:xfrm>
        </p:spPr>
        <p:txBody>
          <a:bodyPr>
            <a:normAutofit/>
          </a:bodyPr>
          <a:lstStyle/>
          <a:p>
            <a:r>
              <a:rPr lang="en-US" altLang="ko-KR" b="1" dirty="0"/>
              <a:t> Introduction to the Course: Statistical Hydrology</a:t>
            </a:r>
          </a:p>
          <a:p>
            <a:pPr lvl="1"/>
            <a:r>
              <a:rPr lang="en-US" altLang="ko-KR" dirty="0"/>
              <a:t> Hydrology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Statistics</a:t>
            </a:r>
          </a:p>
          <a:p>
            <a:pPr lvl="1"/>
            <a:r>
              <a:rPr lang="ko-KR" altLang="en-US" dirty="0"/>
              <a:t> 수문학에서의 불확실성 분류 방법 </a:t>
            </a:r>
            <a:r>
              <a:rPr lang="en-US" altLang="ko-KR" dirty="0"/>
              <a:t>(Handbook of Hydrology, 17.1.1)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b="1" u="sng" dirty="0"/>
              <a:t>Inherent randomness </a:t>
            </a:r>
            <a:r>
              <a:rPr lang="en-US" altLang="ko-KR" dirty="0"/>
              <a:t>of the driving variables (predominantly </a:t>
            </a:r>
            <a:r>
              <a:rPr lang="en-US" altLang="ko-KR" b="1" dirty="0">
                <a:solidFill>
                  <a:srgbClr val="0417CC"/>
                </a:solidFill>
              </a:rPr>
              <a:t>precipitation</a:t>
            </a:r>
            <a:r>
              <a:rPr lang="en-US" altLang="ko-KR" dirty="0"/>
              <a:t>) and the randomness of the hydrologic system (including topographic, aquifer, and soil characteristics)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b="1" u="sng" dirty="0"/>
              <a:t>Sampling error </a:t>
            </a:r>
            <a:r>
              <a:rPr lang="en-US" altLang="ko-KR" dirty="0"/>
              <a:t>– the measurements that hydrologists have to work with are only a small sample from a large or potentially infinite population</a:t>
            </a:r>
          </a:p>
          <a:p>
            <a:pPr lvl="2"/>
            <a:r>
              <a:rPr lang="en-US" altLang="ko-KR" dirty="0"/>
              <a:t> Uncertainty resulting from incorrect understanding of the processes involved (</a:t>
            </a:r>
            <a:r>
              <a:rPr lang="en-US" altLang="ko-KR" b="1" u="sng" dirty="0"/>
              <a:t>System error</a:t>
            </a:r>
            <a:r>
              <a:rPr lang="en-US" altLang="ko-KR" dirty="0"/>
              <a:t>- errors in estimating or predicting system outputs from system inputs)</a:t>
            </a:r>
          </a:p>
          <a:p>
            <a:pPr lvl="1"/>
            <a:r>
              <a:rPr lang="en-US" altLang="ko-KR" dirty="0"/>
              <a:t> Introduction to Common Representative Values</a:t>
            </a:r>
          </a:p>
          <a:p>
            <a:pPr lvl="2"/>
            <a:r>
              <a:rPr lang="en-US" altLang="ko-KR" dirty="0"/>
              <a:t>Central Tendency, Dispersion, Asymmetry, Correlation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05BFD-FA13-492F-9737-49B1BC46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F0E6A-D35B-4721-9CF8-82E8007C1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224113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이전 강의에서 봤듯이</a:t>
            </a:r>
            <a:r>
              <a:rPr lang="en-US" altLang="ko-KR" dirty="0"/>
              <a:t>, </a:t>
            </a:r>
            <a:r>
              <a:rPr lang="ko-KR" altLang="en-US" dirty="0" err="1"/>
              <a:t>대표값들</a:t>
            </a:r>
            <a:r>
              <a:rPr lang="en-US" altLang="ko-KR" dirty="0"/>
              <a:t>(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왜곡도 등</a:t>
            </a:r>
            <a:r>
              <a:rPr lang="en-US" altLang="ko-KR" dirty="0"/>
              <a:t>)</a:t>
            </a:r>
            <a:r>
              <a:rPr lang="ko-KR" altLang="en-US" dirty="0"/>
              <a:t>로만 </a:t>
            </a:r>
            <a:br>
              <a:rPr lang="en-US" altLang="ko-KR" dirty="0"/>
            </a:br>
            <a:r>
              <a:rPr lang="ko-KR" altLang="en-US" dirty="0"/>
              <a:t>어느 불확실한 변수를 설명하기에는 어려움이 있음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대부분의 확률변수들이 주로 따르는 이미 알려진 확률분포들에 대해서 학습하고</a:t>
            </a:r>
            <a:r>
              <a:rPr lang="en-US" altLang="ko-KR" dirty="0"/>
              <a:t>, </a:t>
            </a:r>
            <a:r>
              <a:rPr lang="ko-KR" altLang="en-US" dirty="0"/>
              <a:t>이를 사용해서 확률변수를 설명하고자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Probabilistic Modeling in Hydrology (Parts I &amp; II)</a:t>
            </a:r>
          </a:p>
          <a:p>
            <a:pPr lvl="1"/>
            <a:r>
              <a:rPr lang="en-US" altLang="ko-KR" dirty="0"/>
              <a:t> Introduction to probability &amp; probability distributions</a:t>
            </a:r>
          </a:p>
          <a:p>
            <a:pPr lvl="2"/>
            <a:r>
              <a:rPr lang="en-US" altLang="ko-KR" dirty="0"/>
              <a:t>What are Discrete/Continuous probability distributions?</a:t>
            </a:r>
          </a:p>
          <a:p>
            <a:pPr lvl="1"/>
            <a:r>
              <a:rPr lang="en-US" altLang="ko-KR" dirty="0"/>
              <a:t> What are the factors that determine the specific shape of the probability distributions? Parameters (</a:t>
            </a:r>
            <a:r>
              <a:rPr lang="ko-KR" altLang="en-US" dirty="0"/>
              <a:t>매개변수</a:t>
            </a:r>
            <a:r>
              <a:rPr lang="en-US" altLang="ko-KR" dirty="0"/>
              <a:t>)!</a:t>
            </a:r>
          </a:p>
          <a:p>
            <a:pPr lvl="1"/>
            <a:r>
              <a:rPr lang="en-US" altLang="ko-KR" dirty="0"/>
              <a:t> How do we decide on the “adequate” values of parameters? – P2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09412-1F5E-4E6D-9B51-06B4F80A7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90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EAB90-6763-40E6-86E8-A67F918F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Basic Probability Concepts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E8256B-3058-49A4-92B8-31F104B7E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7886700" cy="5224113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b="1" dirty="0"/>
                  <a:t> </a:t>
                </a:r>
                <a:r>
                  <a:rPr lang="en-US" altLang="ko-KR" dirty="0"/>
                  <a:t>Populations vs Samples (</a:t>
                </a:r>
                <a:r>
                  <a:rPr lang="ko-KR" altLang="en-US" dirty="0"/>
                  <a:t>모집단</a:t>
                </a:r>
                <a:r>
                  <a:rPr lang="en-US" altLang="ko-KR" dirty="0"/>
                  <a:t> vs</a:t>
                </a:r>
                <a:r>
                  <a:rPr lang="ko-KR" altLang="en-US" dirty="0"/>
                  <a:t> 표본집단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Parameter vs Statistic (</a:t>
                </a:r>
                <a:r>
                  <a:rPr lang="ko-KR" altLang="en-US" dirty="0" err="1"/>
                  <a:t>모수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vs </a:t>
                </a:r>
                <a:r>
                  <a:rPr lang="ko-KR" altLang="en-US" dirty="0"/>
                  <a:t>통계치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ko-KR" dirty="0"/>
                  <a:t>) =&gt; Probabilistic Model</a:t>
                </a:r>
              </a:p>
              <a:p>
                <a:pPr lvl="5"/>
                <a:endParaRPr lang="en-US" altLang="ko-KR" b="1" dirty="0"/>
              </a:p>
              <a:p>
                <a:r>
                  <a:rPr lang="en-US" altLang="ko-KR" b="1" dirty="0"/>
                  <a:t> Random Variable (RV) (</a:t>
                </a:r>
                <a:r>
                  <a:rPr lang="ko-KR" altLang="en-US" b="1" dirty="0"/>
                  <a:t>확률변수</a:t>
                </a:r>
                <a:r>
                  <a:rPr lang="en-US" altLang="ko-KR" b="1" dirty="0"/>
                  <a:t>) (X, Y, Z </a:t>
                </a:r>
                <a:r>
                  <a:rPr lang="ko-KR" altLang="en-US" b="1" dirty="0"/>
                  <a:t>등</a:t>
                </a:r>
                <a:r>
                  <a:rPr lang="en-US" altLang="ko-KR" b="1" dirty="0"/>
                  <a:t> </a:t>
                </a:r>
                <a:r>
                  <a:rPr lang="ko-KR" altLang="en-US" b="1" u="sng" dirty="0"/>
                  <a:t>영어 대문자</a:t>
                </a:r>
                <a:r>
                  <a:rPr lang="ko-KR" altLang="en-US" b="1" dirty="0"/>
                  <a:t>로 표현</a:t>
                </a:r>
                <a:r>
                  <a:rPr lang="en-US" altLang="ko-KR" b="1" dirty="0"/>
                  <a:t>)</a:t>
                </a:r>
                <a:br>
                  <a:rPr lang="en-US" altLang="ko-KR" b="1" dirty="0"/>
                </a:br>
                <a:r>
                  <a:rPr lang="en-US" altLang="ko-KR" b="1" dirty="0"/>
                  <a:t>(=Stochastic Variable, </a:t>
                </a:r>
                <a:r>
                  <a:rPr lang="ko-KR" altLang="en-US" b="1" dirty="0"/>
                  <a:t>추계학적 변수</a:t>
                </a:r>
                <a:r>
                  <a:rPr lang="en-US" altLang="ko-KR" b="1" dirty="0"/>
                  <a:t>)</a:t>
                </a:r>
              </a:p>
              <a:p>
                <a:pPr lvl="1"/>
                <a:r>
                  <a:rPr lang="en-US" altLang="ko-KR" dirty="0"/>
                  <a:t> A variable whose values are numerical outcomes </a:t>
                </a:r>
                <a:br>
                  <a:rPr lang="en-US" altLang="ko-KR" dirty="0"/>
                </a:br>
                <a:r>
                  <a:rPr lang="en-US" altLang="ko-KR" dirty="0"/>
                  <a:t>of </a:t>
                </a:r>
                <a:r>
                  <a:rPr lang="en-US" altLang="ko-KR" u="sng" dirty="0"/>
                  <a:t>random process</a:t>
                </a:r>
                <a:r>
                  <a:rPr lang="en-US" altLang="ko-KR" dirty="0"/>
                  <a:t> (** Random/stochastic process is a complex confluence of physical variables, often too difficult to track)</a:t>
                </a:r>
              </a:p>
              <a:p>
                <a:pPr lvl="1"/>
                <a:r>
                  <a:rPr lang="en-US" altLang="ko-KR" dirty="0"/>
                  <a:t> Few Examples of RVs</a:t>
                </a:r>
              </a:p>
              <a:p>
                <a:pPr lvl="2"/>
                <a:r>
                  <a:rPr lang="en-US" altLang="ko-KR" dirty="0"/>
                  <a:t>Coin Toss (Single Trial): {0, 1} –Bernoulli (</a:t>
                </a:r>
                <a:r>
                  <a:rPr lang="ko-KR" altLang="en-US" dirty="0"/>
                  <a:t>베르누이 분포</a:t>
                </a:r>
                <a:r>
                  <a:rPr lang="en-US" altLang="ko-KR" dirty="0"/>
                  <a:t>)</a:t>
                </a:r>
                <a:br>
                  <a:rPr lang="en-US" altLang="ko-KR" dirty="0"/>
                </a:br>
                <a:r>
                  <a:rPr lang="en-US" altLang="ko-KR" dirty="0"/>
                  <a:t>[trajectory of coin affected by flip strength, air density, moisture, …]</a:t>
                </a:r>
              </a:p>
              <a:p>
                <a:pPr lvl="2"/>
                <a:r>
                  <a:rPr lang="en-US" altLang="ko-KR" dirty="0"/>
                  <a:t>Coin Toss (N Trials): {0,1,…,N} –Binomial (</a:t>
                </a:r>
                <a:r>
                  <a:rPr lang="ko-KR" altLang="en-US" dirty="0"/>
                  <a:t>이항 분포</a:t>
                </a:r>
                <a:r>
                  <a:rPr lang="en-US" altLang="ko-KR" dirty="0"/>
                  <a:t>) [N times above]</a:t>
                </a:r>
              </a:p>
              <a:p>
                <a:pPr lvl="2"/>
                <a:r>
                  <a:rPr lang="en-US" altLang="ko-KR" dirty="0"/>
                  <a:t>Annual Precipitation in Korea: (0,…,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ko-KR" dirty="0"/>
                  <a:t>) –Normal, Log-normal</a:t>
                </a:r>
                <a:br>
                  <a:rPr lang="en-US" altLang="ko-KR" dirty="0"/>
                </a:br>
                <a:r>
                  <a:rPr lang="en-US" altLang="ko-KR" dirty="0"/>
                  <a:t>[moisture available in air, other factors affecting precipitation, …]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E8256B-3058-49A4-92B8-31F104B7E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7886700" cy="522411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550DD-9D68-4FC3-A827-A9D581C4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63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7C9F3E-F661-4FC3-9642-B6972A82F321}"/>
              </a:ext>
            </a:extLst>
          </p:cNvPr>
          <p:cNvSpPr/>
          <p:nvPr/>
        </p:nvSpPr>
        <p:spPr>
          <a:xfrm>
            <a:off x="591764" y="5596700"/>
            <a:ext cx="8444732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354BB4-A6BF-447A-9FBB-5F79C0DE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Basic Probability Concepts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EB69D22-1645-479D-B180-2CF6FD665B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7886700" cy="5451391"/>
              </a:xfrm>
            </p:spPr>
            <p:txBody>
              <a:bodyPr/>
              <a:lstStyle/>
              <a:p>
                <a:r>
                  <a:rPr lang="en-US" altLang="ko-KR" dirty="0"/>
                  <a:t> Mutually Exclusive (</a:t>
                </a:r>
                <a:r>
                  <a:rPr lang="ko-KR" altLang="en-US" dirty="0"/>
                  <a:t>배반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 Independence (</a:t>
                </a:r>
                <a:r>
                  <a:rPr lang="ko-KR" altLang="en-US" dirty="0"/>
                  <a:t>독립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 Conditional Probability (</a:t>
                </a:r>
                <a:r>
                  <a:rPr lang="ko-KR" altLang="en-US" dirty="0"/>
                  <a:t>조건부확률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Probability of occurrence of event A given that event B has already occurred is defined as: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In case of Independence, 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Bayes Theorem (</a:t>
                </a:r>
                <a:r>
                  <a:rPr lang="ko-KR" altLang="en-US" dirty="0" err="1"/>
                  <a:t>베이즈</a:t>
                </a:r>
                <a:r>
                  <a:rPr lang="ko-KR" altLang="en-US" dirty="0"/>
                  <a:t> 정리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endParaRPr lang="en-US" altLang="ko-KR" sz="700" dirty="0"/>
              </a:p>
              <a:p>
                <a:r>
                  <a:rPr lang="en-US" altLang="ko-KR" dirty="0"/>
                  <a:t> Total Probability Theorem (</a:t>
                </a:r>
                <a:r>
                  <a:rPr lang="ko-KR" altLang="en-US" dirty="0"/>
                  <a:t>전체 확률의 법칙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</a:t>
                </a:r>
                <a:r>
                  <a:rPr lang="ko-KR" altLang="en-US" dirty="0"/>
                  <a:t>대신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ko-KR" altLang="en-US" dirty="0"/>
                  <a:t> 서로 </a:t>
                </a:r>
                <a:r>
                  <a:rPr lang="en-US" altLang="ko-KR" dirty="0"/>
                  <a:t>Mutually Exclusive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EB69D22-1645-479D-B180-2CF6FD665B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7886700" cy="5451391"/>
              </a:xfrm>
              <a:blipFill>
                <a:blip r:embed="rId2"/>
                <a:stretch>
                  <a:fillRect l="-696" b="-16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DD34A1-9904-4152-B1E1-625B6672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0CBFBB5-ED63-416B-95A7-784F55D53C3A}"/>
                  </a:ext>
                </a:extLst>
              </p:cNvPr>
              <p:cNvSpPr/>
              <p:nvPr/>
            </p:nvSpPr>
            <p:spPr>
              <a:xfrm>
                <a:off x="4716016" y="3032865"/>
                <a:ext cx="2165465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0CBFBB5-ED63-416B-95A7-784F55D53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3032865"/>
                <a:ext cx="2165465" cy="669094"/>
              </a:xfrm>
              <a:prstGeom prst="rect">
                <a:avLst/>
              </a:prstGeom>
              <a:blipFill>
                <a:blip r:embed="rId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29A290A6-401F-4529-A8F1-833767BF2F08}"/>
                  </a:ext>
                </a:extLst>
              </p:cNvPr>
              <p:cNvSpPr/>
              <p:nvPr/>
            </p:nvSpPr>
            <p:spPr>
              <a:xfrm>
                <a:off x="4211960" y="3716792"/>
                <a:ext cx="4410053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)×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29A290A6-401F-4529-A8F1-833767BF2F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3716792"/>
                <a:ext cx="4410053" cy="669094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3E11FD6-9E50-4BD7-9B79-99B18E9A8E40}"/>
                  </a:ext>
                </a:extLst>
              </p:cNvPr>
              <p:cNvSpPr/>
              <p:nvPr/>
            </p:nvSpPr>
            <p:spPr>
              <a:xfrm>
                <a:off x="3536827" y="1821347"/>
                <a:ext cx="27008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33E11FD6-9E50-4BD7-9B79-99B18E9A8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827" y="1821347"/>
                <a:ext cx="2700804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6">
                <a:extLst>
                  <a:ext uri="{FF2B5EF4-FFF2-40B4-BE49-F238E27FC236}">
                    <a16:creationId xmlns:a16="http://schemas.microsoft.com/office/drawing/2014/main" id="{F5085582-A6DA-DF1B-0819-88DA472F3298}"/>
                  </a:ext>
                </a:extLst>
              </p:cNvPr>
              <p:cNvSpPr/>
              <p:nvPr/>
            </p:nvSpPr>
            <p:spPr>
              <a:xfrm>
                <a:off x="4100540" y="1346902"/>
                <a:ext cx="15733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6">
                <a:extLst>
                  <a:ext uri="{FF2B5EF4-FFF2-40B4-BE49-F238E27FC236}">
                    <a16:creationId xmlns:a16="http://schemas.microsoft.com/office/drawing/2014/main" id="{F5085582-A6DA-DF1B-0819-88DA472F3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540" y="1346902"/>
                <a:ext cx="157337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4">
                <a:extLst>
                  <a:ext uri="{FF2B5EF4-FFF2-40B4-BE49-F238E27FC236}">
                    <a16:creationId xmlns:a16="http://schemas.microsoft.com/office/drawing/2014/main" id="{6B5624DA-0397-00D0-52EE-85A08B0BF4AC}"/>
                  </a:ext>
                </a:extLst>
              </p:cNvPr>
              <p:cNvSpPr/>
              <p:nvPr/>
            </p:nvSpPr>
            <p:spPr>
              <a:xfrm>
                <a:off x="2067226" y="4973666"/>
                <a:ext cx="5640006" cy="9069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4">
                <a:extLst>
                  <a:ext uri="{FF2B5EF4-FFF2-40B4-BE49-F238E27FC236}">
                    <a16:creationId xmlns:a16="http://schemas.microsoft.com/office/drawing/2014/main" id="{6B5624DA-0397-00D0-52EE-85A08B0BF4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226" y="4973666"/>
                <a:ext cx="5640006" cy="9069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4">
                <a:extLst>
                  <a:ext uri="{FF2B5EF4-FFF2-40B4-BE49-F238E27FC236}">
                    <a16:creationId xmlns:a16="http://schemas.microsoft.com/office/drawing/2014/main" id="{E33F4E59-9BF4-263F-050B-D7C2BBF07E1F}"/>
                  </a:ext>
                </a:extLst>
              </p:cNvPr>
              <p:cNvSpPr/>
              <p:nvPr/>
            </p:nvSpPr>
            <p:spPr>
              <a:xfrm>
                <a:off x="6084168" y="6012999"/>
                <a:ext cx="2780825" cy="764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직사각형 4">
                <a:extLst>
                  <a:ext uri="{FF2B5EF4-FFF2-40B4-BE49-F238E27FC236}">
                    <a16:creationId xmlns:a16="http://schemas.microsoft.com/office/drawing/2014/main" id="{E33F4E59-9BF4-263F-050B-D7C2BBF07E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6012999"/>
                <a:ext cx="2780825" cy="7645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45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DEFA8-30D7-4EF0-A19C-9778A67F1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altLang="ko-KR" dirty="0"/>
              <a:t>Bayes’ Theorem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2575C82-29AA-4CB9-9DEF-2F8D91B584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</a:t>
                </a:r>
                <a:r>
                  <a:rPr lang="ko-KR" altLang="en-US" dirty="0"/>
                  <a:t>정의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사전확률을 통해 사후확률을 업데이트하는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방법</a:t>
                </a:r>
                <a:br>
                  <a:rPr lang="en-US" altLang="ko-KR" dirty="0"/>
                </a:br>
                <a:r>
                  <a:rPr lang="ko-KR" altLang="en-US" dirty="0"/>
                  <a:t>특히 </a:t>
                </a:r>
                <a:r>
                  <a:rPr lang="ko-KR" altLang="en-US" b="1" u="sng" dirty="0"/>
                  <a:t>관찰을 통해 획득한 새로운 정보로 사후 확률을 업데이트</a:t>
                </a:r>
                <a:endParaRPr lang="en-US" altLang="ko-KR" b="1" u="sng" dirty="0"/>
              </a:p>
              <a:p>
                <a:r>
                  <a:rPr lang="en-US" altLang="ko-KR" dirty="0"/>
                  <a:t> </a:t>
                </a:r>
                <a:r>
                  <a:rPr lang="ko-KR" altLang="en-US" dirty="0"/>
                  <a:t>대부분의 </a:t>
                </a:r>
                <a:r>
                  <a:rPr lang="en-US" altLang="ko-KR" dirty="0"/>
                  <a:t>Machine Learning </a:t>
                </a:r>
                <a:r>
                  <a:rPr lang="ko-KR" altLang="en-US" dirty="0"/>
                  <a:t>방법들도 가장 먼저 가설을 설정한 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데이터 </a:t>
                </a:r>
                <a:r>
                  <a:rPr lang="en-US" altLang="ko-KR" dirty="0"/>
                  <a:t>(=</a:t>
                </a:r>
                <a:r>
                  <a:rPr lang="ko-KR" altLang="en-US" dirty="0"/>
                  <a:t>새로운 관찰 결과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를 통해 처음 설정한 가설을 업데이트하기 때문에 현재까지도 매우 유용하게 사용되는 정리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 </a:t>
                </a:r>
                <a:r>
                  <a:rPr lang="ko-KR" altLang="en-US" dirty="0"/>
                  <a:t>용어 정리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ko-KR" dirty="0"/>
                  <a:t>A</a:t>
                </a:r>
                <a:r>
                  <a:rPr lang="ko-KR" altLang="en-US" dirty="0"/>
                  <a:t>의 사후확률 </a:t>
                </a:r>
                <a:r>
                  <a:rPr lang="en-US" altLang="ko-KR" dirty="0"/>
                  <a:t>(Posterior Probability)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ko-KR" altLang="en-US" dirty="0"/>
                  <a:t>우도 </a:t>
                </a:r>
                <a:r>
                  <a:rPr lang="en-US" altLang="ko-KR" dirty="0"/>
                  <a:t>(Likelihood Probability)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ko-KR" dirty="0"/>
                  <a:t> A </a:t>
                </a:r>
                <a:r>
                  <a:rPr lang="ko-KR" altLang="en-US" dirty="0"/>
                  <a:t>혹은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의 사전 확률 </a:t>
                </a:r>
                <a:r>
                  <a:rPr lang="en-US" altLang="ko-KR" dirty="0"/>
                  <a:t>(Prior Probability) 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2575C82-29AA-4CB9-9DEF-2F8D91B58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B46F4-8FD0-437A-B902-0D15897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DE42BA5-F047-4DED-B9F6-128C03F54CD6}"/>
                  </a:ext>
                </a:extLst>
              </p:cNvPr>
              <p:cNvSpPr/>
              <p:nvPr/>
            </p:nvSpPr>
            <p:spPr>
              <a:xfrm>
                <a:off x="3923928" y="405420"/>
                <a:ext cx="2466829" cy="679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DE42BA5-F047-4DED-B9F6-128C03F54C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405420"/>
                <a:ext cx="2466829" cy="6790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543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EDEC-A108-8814-BFC2-25ACA7DF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Probability </a:t>
            </a:r>
            <a:r>
              <a:rPr lang="en-US" altLang="ko-KR" dirty="0"/>
              <a:t>Theorem </a:t>
            </a:r>
            <a:r>
              <a:rPr lang="en-KR" dirty="0"/>
              <a:t>Example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9EE7B35-DBB1-4A74-9220-1A0EB5A5D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00" y="2012950"/>
            <a:ext cx="6477000" cy="34194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1BA34-ABE4-AB62-DEFE-3C506204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90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DA865-2ED0-4231-85D5-AE45B860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Bayes’</a:t>
            </a:r>
            <a:r>
              <a:rPr lang="ko-KR" altLang="en-US" dirty="0"/>
              <a:t> </a:t>
            </a:r>
            <a:r>
              <a:rPr lang="en-US" altLang="ko-KR" dirty="0"/>
              <a:t>Theorem </a:t>
            </a:r>
            <a:r>
              <a:rPr lang="en-KR" altLang="ko-KR" dirty="0"/>
              <a:t>Example</a:t>
            </a:r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63592F2-E794-4CCC-BEE0-A180FF396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68760"/>
            <a:ext cx="7886700" cy="280062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5797D9-CF86-42DD-ACBC-6C1928EB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8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6B107-C03D-476B-9BDE-D78767F9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Bayes’</a:t>
            </a:r>
            <a:r>
              <a:rPr lang="ko-KR" altLang="en-US" dirty="0"/>
              <a:t> </a:t>
            </a:r>
            <a:r>
              <a:rPr lang="en-US" altLang="ko-KR" dirty="0"/>
              <a:t>Theorem </a:t>
            </a:r>
            <a:r>
              <a:rPr lang="en-KR" altLang="ko-KR" dirty="0"/>
              <a:t>Example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154631-7A72-4032-87DB-3C140C06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C7392A9-D8CE-4B18-8E07-63E3DC979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087" y="1268413"/>
            <a:ext cx="5185826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02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F2D14-AE0C-4B85-9734-2B6A670F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 of Random Variables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8C492-8863-4CB7-8465-F681906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589240"/>
          </a:xfrm>
        </p:spPr>
        <p:txBody>
          <a:bodyPr>
            <a:normAutofit/>
          </a:bodyPr>
          <a:lstStyle/>
          <a:p>
            <a:r>
              <a:rPr lang="en-US" altLang="ko-KR" b="1" dirty="0"/>
              <a:t> Discrete Random Variable (</a:t>
            </a:r>
            <a:r>
              <a:rPr lang="ko-KR" altLang="en-US" b="1" dirty="0"/>
              <a:t>이산확률변수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 Probability Mass Function (PMF) </a:t>
            </a:r>
          </a:p>
          <a:p>
            <a:pPr lvl="1"/>
            <a:r>
              <a:rPr lang="en-US" altLang="ko-KR" dirty="0"/>
              <a:t> Cumulative Distribution Function (CDF)</a:t>
            </a:r>
          </a:p>
          <a:p>
            <a:pPr lvl="1"/>
            <a:r>
              <a:rPr lang="en-US" altLang="ko-KR" dirty="0"/>
              <a:t> Example Distributions: Bernoulli, Poisson, Geometric, Negative, …</a:t>
            </a:r>
          </a:p>
          <a:p>
            <a:pPr marL="457200" lvl="1" indent="0">
              <a:buNone/>
            </a:pPr>
            <a:endParaRPr lang="en-US" altLang="ko-KR" sz="100" dirty="0"/>
          </a:p>
          <a:p>
            <a:r>
              <a:rPr lang="en-US" altLang="ko-KR" b="1" dirty="0"/>
              <a:t> Continuous Random Variable (</a:t>
            </a:r>
            <a:r>
              <a:rPr lang="ko-KR" altLang="en-US" b="1" dirty="0"/>
              <a:t>연속확률변수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 Probability Density Function (PDF)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Cumulative Distribution Function (CDF)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Example Distributions: </a:t>
            </a:r>
            <a:br>
              <a:rPr lang="en-US" altLang="ko-KR" dirty="0"/>
            </a:br>
            <a:r>
              <a:rPr lang="en-US" altLang="ko-KR" dirty="0"/>
              <a:t>Uniform, Normal, Log-normal, Generalized Extreme Value (GEV)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526276-8338-451A-A67D-2E9DD12F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9B4F4-8A61-4A50-8A58-DE4E2A4001F9}"/>
                  </a:ext>
                </a:extLst>
              </p:cNvPr>
              <p:cNvSpPr txBox="1"/>
              <p:nvPr/>
            </p:nvSpPr>
            <p:spPr>
              <a:xfrm>
                <a:off x="5076056" y="1772816"/>
                <a:ext cx="18985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09B4F4-8A61-4A50-8A58-DE4E2A400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1772816"/>
                <a:ext cx="1898597" cy="276999"/>
              </a:xfrm>
              <a:prstGeom prst="rect">
                <a:avLst/>
              </a:prstGeom>
              <a:blipFill>
                <a:blip r:embed="rId2"/>
                <a:stretch>
                  <a:fillRect l="-2572" t="-4444" r="-4180" b="-3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DC12CC5-9C26-4C02-B24E-D59060340AF7}"/>
                  </a:ext>
                </a:extLst>
              </p:cNvPr>
              <p:cNvSpPr/>
              <p:nvPr/>
            </p:nvSpPr>
            <p:spPr>
              <a:xfrm>
                <a:off x="7092280" y="1535283"/>
                <a:ext cx="1581523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DC12CC5-9C26-4C02-B24E-D59060340A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280" y="1535283"/>
                <a:ext cx="1581523" cy="763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E15237-DE3A-4AB5-9A77-41C1BDEDCB45}"/>
                  </a:ext>
                </a:extLst>
              </p:cNvPr>
              <p:cNvSpPr txBox="1"/>
              <p:nvPr/>
            </p:nvSpPr>
            <p:spPr>
              <a:xfrm>
                <a:off x="5687868" y="2159878"/>
                <a:ext cx="18985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E15237-DE3A-4AB5-9A77-41C1BDEDC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868" y="2159878"/>
                <a:ext cx="1898597" cy="276999"/>
              </a:xfrm>
              <a:prstGeom prst="rect">
                <a:avLst/>
              </a:prstGeom>
              <a:blipFill>
                <a:blip r:embed="rId4"/>
                <a:stretch>
                  <a:fillRect l="-2251" t="-2174" r="-4180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A0FD6C-329C-48D1-8E8C-EFF4FE71B7FA}"/>
                  </a:ext>
                </a:extLst>
              </p:cNvPr>
              <p:cNvSpPr txBox="1"/>
              <p:nvPr/>
            </p:nvSpPr>
            <p:spPr>
              <a:xfrm>
                <a:off x="1639242" y="3966016"/>
                <a:ext cx="3127651" cy="6328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A0FD6C-329C-48D1-8E8C-EFF4FE71B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242" y="3966016"/>
                <a:ext cx="3127651" cy="632802"/>
              </a:xfrm>
              <a:prstGeom prst="rect">
                <a:avLst/>
              </a:prstGeom>
              <a:blipFill>
                <a:blip r:embed="rId5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ADD80B-BF8D-4445-9A34-8CA84C274011}"/>
                  </a:ext>
                </a:extLst>
              </p:cNvPr>
              <p:cNvSpPr txBox="1"/>
              <p:nvPr/>
            </p:nvSpPr>
            <p:spPr>
              <a:xfrm>
                <a:off x="5345583" y="3976307"/>
                <a:ext cx="1746697" cy="612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DADD80B-BF8D-4445-9A34-8CA84C274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583" y="3976307"/>
                <a:ext cx="1746697" cy="612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62CCA8-065E-45AB-9FE1-1A184E64887E}"/>
                  </a:ext>
                </a:extLst>
              </p:cNvPr>
              <p:cNvSpPr txBox="1"/>
              <p:nvPr/>
            </p:nvSpPr>
            <p:spPr>
              <a:xfrm>
                <a:off x="1691680" y="5129911"/>
                <a:ext cx="2067297" cy="598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62CCA8-065E-45AB-9FE1-1A184E648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129911"/>
                <a:ext cx="2067297" cy="5984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C13626-29FA-42B1-8265-E3224085597D}"/>
                  </a:ext>
                </a:extLst>
              </p:cNvPr>
              <p:cNvSpPr txBox="1"/>
              <p:nvPr/>
            </p:nvSpPr>
            <p:spPr>
              <a:xfrm>
                <a:off x="4101715" y="5129911"/>
                <a:ext cx="1479059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C13626-29FA-42B1-8265-E32240855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715" y="5129911"/>
                <a:ext cx="1479059" cy="5357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457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DAB7-DDC0-4885-AC3F-25200214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 of Random Variables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FC08C-D506-4665-A320-F8DED781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75FC8E9-B85F-4C21-9853-915C45B5D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904" y="1203759"/>
            <a:ext cx="5163630" cy="445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AC10A5-15CB-43C3-9846-D2BD9477C4BA}"/>
                  </a:ext>
                </a:extLst>
              </p:cNvPr>
              <p:cNvSpPr txBox="1"/>
              <p:nvPr/>
            </p:nvSpPr>
            <p:spPr>
              <a:xfrm>
                <a:off x="5802547" y="1967548"/>
                <a:ext cx="2586927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AC10A5-15CB-43C3-9846-D2BD9477C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547" y="1967548"/>
                <a:ext cx="2586927" cy="672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686AE53E-92BE-4A44-A501-F71481178390}"/>
              </a:ext>
            </a:extLst>
          </p:cNvPr>
          <p:cNvSpPr/>
          <p:nvPr/>
        </p:nvSpPr>
        <p:spPr>
          <a:xfrm>
            <a:off x="5392534" y="1407186"/>
            <a:ext cx="3406953" cy="51901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6ED6E-9609-4E14-860B-40692E89624F}"/>
              </a:ext>
            </a:extLst>
          </p:cNvPr>
          <p:cNvSpPr txBox="1"/>
          <p:nvPr/>
        </p:nvSpPr>
        <p:spPr>
          <a:xfrm>
            <a:off x="5508104" y="1477703"/>
            <a:ext cx="1370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*Discrete RV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200DF-B06B-4F09-954B-218752161A2E}"/>
              </a:ext>
            </a:extLst>
          </p:cNvPr>
          <p:cNvSpPr txBox="1"/>
          <p:nvPr/>
        </p:nvSpPr>
        <p:spPr>
          <a:xfrm>
            <a:off x="5508104" y="4002269"/>
            <a:ext cx="1678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*Continuous RV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52AC25-AD43-4188-803D-735BE2F1B83D}"/>
                  </a:ext>
                </a:extLst>
              </p:cNvPr>
              <p:cNvSpPr txBox="1"/>
              <p:nvPr/>
            </p:nvSpPr>
            <p:spPr>
              <a:xfrm>
                <a:off x="5802547" y="4444511"/>
                <a:ext cx="2805192" cy="612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52AC25-AD43-4188-803D-735BE2F1B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547" y="4444511"/>
                <a:ext cx="2805192" cy="612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7C348C-3F01-4F43-B084-9E4A4490C8D5}"/>
                  </a:ext>
                </a:extLst>
              </p:cNvPr>
              <p:cNvSpPr txBox="1"/>
              <p:nvPr/>
            </p:nvSpPr>
            <p:spPr>
              <a:xfrm>
                <a:off x="5600700" y="2984908"/>
                <a:ext cx="3213444" cy="8585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b="0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7C348C-3F01-4F43-B084-9E4A4490C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700" y="2984908"/>
                <a:ext cx="3213444" cy="858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53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469E95-5688-4F1D-996B-2A6E435A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B40576-EF15-495C-BD98-4E8CFEB9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35" y="74601"/>
            <a:ext cx="6894267" cy="370919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0382C8-86CB-42AB-9D72-06EEF66EF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01" y="3691686"/>
            <a:ext cx="6724934" cy="21690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C2395B0-5122-4F4D-980B-C9C8F66844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60"/>
          <a:stretch/>
        </p:blipFill>
        <p:spPr>
          <a:xfrm>
            <a:off x="671246" y="5793668"/>
            <a:ext cx="6894267" cy="98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09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F11C5-3D21-42DB-9F98-99511868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Bernoulli Processes &amp; Binomial Distribution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AFE2D5-8327-482F-B48D-62C9E87E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r>
              <a:rPr lang="en-US" altLang="ko-KR" dirty="0"/>
              <a:t> Only two possible outcomes are possible: success or failure</a:t>
            </a:r>
          </a:p>
          <a:p>
            <a:pPr lvl="1"/>
            <a:r>
              <a:rPr lang="en-US" altLang="ko-KR" dirty="0"/>
              <a:t> The probability of occurrence of a success (or a failure) is constant</a:t>
            </a:r>
          </a:p>
          <a:p>
            <a:pPr lvl="1"/>
            <a:r>
              <a:rPr lang="en-US" altLang="ko-KR" dirty="0"/>
              <a:t> The trials are independent (i.e., the outcome of a trial does not depend on the outcome of another trial)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 Extension to the Binomial Distribution (</a:t>
            </a:r>
            <a:r>
              <a:rPr lang="ko-KR" altLang="en-US" dirty="0"/>
              <a:t>이항분포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n times of Bernoulli trials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1543DA-F9BB-4E1D-B80E-036F7D19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4C1F10-0DF3-4FD8-B004-300ACE5FA6C3}"/>
                  </a:ext>
                </a:extLst>
              </p:cNvPr>
              <p:cNvSpPr txBox="1"/>
              <p:nvPr/>
            </p:nvSpPr>
            <p:spPr>
              <a:xfrm>
                <a:off x="2702385" y="1268760"/>
                <a:ext cx="3739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4C1F10-0DF3-4FD8-B004-300ACE5FA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385" y="1268760"/>
                <a:ext cx="3739229" cy="276999"/>
              </a:xfrm>
              <a:prstGeom prst="rect">
                <a:avLst/>
              </a:prstGeom>
              <a:blipFill>
                <a:blip r:embed="rId2"/>
                <a:stretch>
                  <a:fillRect l="-1140" t="-4348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F44B37A-4FDA-4127-9CB2-9635CDEB42BC}"/>
                  </a:ext>
                </a:extLst>
              </p:cNvPr>
              <p:cNvSpPr/>
              <p:nvPr/>
            </p:nvSpPr>
            <p:spPr>
              <a:xfrm>
                <a:off x="1475656" y="3538195"/>
                <a:ext cx="11396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F44B37A-4FDA-4127-9CB2-9635CDEB4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538195"/>
                <a:ext cx="1139607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6EA28F9-95EA-4DFE-ACD7-77033C12751C}"/>
                  </a:ext>
                </a:extLst>
              </p:cNvPr>
              <p:cNvSpPr/>
              <p:nvPr/>
            </p:nvSpPr>
            <p:spPr>
              <a:xfrm>
                <a:off x="4878868" y="3538195"/>
                <a:ext cx="13728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6EA28F9-95EA-4DFE-ACD7-77033C1275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868" y="3538195"/>
                <a:ext cx="137287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7AD405-43CA-4A5F-B541-1D95A5973E31}"/>
                  </a:ext>
                </a:extLst>
              </p:cNvPr>
              <p:cNvSpPr txBox="1"/>
              <p:nvPr/>
            </p:nvSpPr>
            <p:spPr>
              <a:xfrm>
                <a:off x="4355976" y="4627707"/>
                <a:ext cx="4458272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7AD405-43CA-4A5F-B541-1D95A5973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627707"/>
                <a:ext cx="4458272" cy="414537"/>
              </a:xfrm>
              <a:prstGeom prst="rect">
                <a:avLst/>
              </a:prstGeom>
              <a:blipFill>
                <a:blip r:embed="rId5"/>
                <a:stretch>
                  <a:fillRect t="-1471" b="-13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BB96BF7-CC09-467F-9E2A-C825E54F9512}"/>
                  </a:ext>
                </a:extLst>
              </p:cNvPr>
              <p:cNvSpPr/>
              <p:nvPr/>
            </p:nvSpPr>
            <p:spPr>
              <a:xfrm>
                <a:off x="1483085" y="5301208"/>
                <a:ext cx="12726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6BB96BF7-CC09-467F-9E2A-C825E54F95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085" y="5301208"/>
                <a:ext cx="1272656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42EBE11-4ABF-4DE3-B4AA-01EE49481374}"/>
                  </a:ext>
                </a:extLst>
              </p:cNvPr>
              <p:cNvSpPr/>
              <p:nvPr/>
            </p:nvSpPr>
            <p:spPr>
              <a:xfrm>
                <a:off x="4886297" y="5301208"/>
                <a:ext cx="29272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𝑛𝑝𝑞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42EBE11-4ABF-4DE3-B4AA-01EE494813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297" y="5301208"/>
                <a:ext cx="2927212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10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20B91-632F-4112-9970-5A2F19DD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9CC5B-F303-4A7E-9F77-CA902D118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Example 4.4</a:t>
            </a:r>
            <a:br>
              <a:rPr lang="en-US" altLang="ko-KR" dirty="0"/>
            </a:br>
            <a:r>
              <a:rPr lang="en-US" altLang="ko-KR" dirty="0"/>
              <a:t>On the average, how many times will a 10-year flood occur in a 40-year flood? What is the probability that exactly this number of 10-year floods will occur in a 40-year period?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93AA5-0455-4744-B03F-79425711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721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3938E-48C0-4BC2-BE5D-CE05B194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DA771-9316-4F64-B184-4A2D7532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Example 4.7</a:t>
            </a:r>
            <a:br>
              <a:rPr lang="en-US" altLang="ko-KR" b="1" dirty="0"/>
            </a:br>
            <a:r>
              <a:rPr lang="en-US" altLang="ko-KR" dirty="0"/>
              <a:t>In order to be 90% sure that a design storm is not exceeded in a 10-year period, what should be the return period of the design storm?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39DF03-A297-4C1C-92E7-583AD72D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223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58261-DDDB-4A13-A236-7B7F60B9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Poisson Process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33D315-8CB1-4B03-9B12-55051B4051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Poisson Distribution</a:t>
                </a:r>
              </a:p>
              <a:p>
                <a:pPr lvl="1"/>
                <a:r>
                  <a:rPr lang="en-US" altLang="ko-KR" dirty="0"/>
                  <a:t> </a:t>
                </a:r>
                <a:r>
                  <a:rPr lang="ko-KR" altLang="en-US" dirty="0"/>
                  <a:t>베르누이 과정에서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이 성립할 경우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Assignment! (Due Before the Class of 9/20)</a:t>
                </a:r>
                <a:br>
                  <a:rPr lang="en-US" altLang="ko-KR" dirty="0"/>
                </a:br>
                <a:r>
                  <a:rPr lang="ko-KR" altLang="en-US" dirty="0"/>
                  <a:t>이항분포의 확률 밀도 함수 </a:t>
                </a:r>
                <a:r>
                  <a:rPr lang="en-US" altLang="ko-KR" dirty="0"/>
                  <a:t>(PMF)</a:t>
                </a:r>
                <a:r>
                  <a:rPr lang="ko-KR" altLang="en-US" dirty="0"/>
                  <a:t>로부터 </a:t>
                </a:r>
                <a:r>
                  <a:rPr lang="ko-KR" altLang="en-US" dirty="0" err="1"/>
                  <a:t>포아송</a:t>
                </a:r>
                <a:r>
                  <a:rPr lang="ko-KR" altLang="en-US" dirty="0"/>
                  <a:t> 분포의 확률분포함수 </a:t>
                </a:r>
                <a:r>
                  <a:rPr lang="en-US" altLang="ko-KR" dirty="0"/>
                  <a:t>(PMF)</a:t>
                </a:r>
                <a:r>
                  <a:rPr lang="ko-KR" altLang="en-US" dirty="0"/>
                  <a:t>를 유도하라</a:t>
                </a:r>
                <a:r>
                  <a:rPr lang="en-US" altLang="ko-KR" dirty="0"/>
                  <a:t>.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33D315-8CB1-4B03-9B12-55051B4051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9C30FA-7720-4BB9-BA4C-D2595A6B1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ACB60B-8AC5-4489-A517-BA15243D565E}"/>
                  </a:ext>
                </a:extLst>
              </p:cNvPr>
              <p:cNvSpPr txBox="1"/>
              <p:nvPr/>
            </p:nvSpPr>
            <p:spPr>
              <a:xfrm>
                <a:off x="3062644" y="2204864"/>
                <a:ext cx="3018712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ACB60B-8AC5-4489-A517-BA15243D5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644" y="2204864"/>
                <a:ext cx="3018712" cy="569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127F7EB-0672-4E16-956F-367FE321DF8F}"/>
                  </a:ext>
                </a:extLst>
              </p:cNvPr>
              <p:cNvSpPr/>
              <p:nvPr/>
            </p:nvSpPr>
            <p:spPr>
              <a:xfrm>
                <a:off x="1907704" y="3407306"/>
                <a:ext cx="7058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127F7EB-0672-4E16-956F-367FE321DF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407306"/>
                <a:ext cx="705899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98B1B35-B5DF-4754-89D5-7B63CE32F066}"/>
                  </a:ext>
                </a:extLst>
              </p:cNvPr>
              <p:cNvSpPr/>
              <p:nvPr/>
            </p:nvSpPr>
            <p:spPr>
              <a:xfrm>
                <a:off x="5310916" y="3407306"/>
                <a:ext cx="93916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98B1B35-B5DF-4754-89D5-7B63CE32F0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16" y="3407306"/>
                <a:ext cx="939168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312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A5EBD-CB14-4077-8292-9689E186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Geometric &amp; Negative Binomial Distributions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91508-9E57-4C1C-96BE-3A01B73AB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Geometric Distribution (</a:t>
            </a:r>
            <a:r>
              <a:rPr lang="ko-KR" altLang="en-US" dirty="0"/>
              <a:t>기하 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베르누이 분포에서 </a:t>
            </a:r>
            <a:endParaRPr lang="en-US" altLang="ko-KR" dirty="0"/>
          </a:p>
          <a:p>
            <a:pPr lvl="2"/>
            <a:r>
              <a:rPr lang="ko-KR" altLang="en-US" dirty="0"/>
              <a:t>처음 성공까지 시도한 횟수 </a:t>
            </a:r>
            <a:r>
              <a:rPr lang="en-US" altLang="ko-KR" dirty="0"/>
              <a:t>X</a:t>
            </a:r>
            <a:r>
              <a:rPr lang="ko-KR" altLang="en-US" dirty="0"/>
              <a:t>의 분포</a:t>
            </a:r>
            <a:endParaRPr lang="en-US" altLang="ko-KR" dirty="0"/>
          </a:p>
          <a:p>
            <a:pPr lvl="2"/>
            <a:r>
              <a:rPr lang="ko-KR" altLang="en-US" dirty="0"/>
              <a:t>처음 성공까지 실패한 횟수 </a:t>
            </a:r>
            <a:r>
              <a:rPr lang="en-US" altLang="ko-KR" dirty="0"/>
              <a:t>Y=X-1</a:t>
            </a:r>
            <a:r>
              <a:rPr lang="ko-KR" altLang="en-US" dirty="0"/>
              <a:t>의 분포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Negative Binomial Distribution (</a:t>
            </a:r>
            <a:r>
              <a:rPr lang="ko-KR" altLang="en-US" dirty="0" err="1"/>
              <a:t>음이항분포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기하분포의 일반식으로</a:t>
            </a:r>
            <a:r>
              <a:rPr lang="en-US" altLang="ko-KR" dirty="0"/>
              <a:t>, r</a:t>
            </a:r>
            <a:r>
              <a:rPr lang="ko-KR" altLang="en-US" dirty="0"/>
              <a:t>번째 성공까지 시도한 횟수 </a:t>
            </a:r>
            <a:r>
              <a:rPr lang="en-US" altLang="ko-KR" dirty="0"/>
              <a:t>X</a:t>
            </a:r>
            <a:r>
              <a:rPr lang="ko-KR" altLang="en-US" dirty="0"/>
              <a:t>의 분포</a:t>
            </a:r>
            <a:br>
              <a:rPr lang="en-US" altLang="ko-KR" dirty="0"/>
            </a:br>
            <a:r>
              <a:rPr lang="en-US" altLang="ko-KR" dirty="0"/>
              <a:t>(probability of the </a:t>
            </a:r>
            <a:r>
              <a:rPr lang="en-US" altLang="ko-KR" dirty="0" err="1"/>
              <a:t>rth</a:t>
            </a:r>
            <a:r>
              <a:rPr lang="en-US" altLang="ko-KR" dirty="0"/>
              <a:t> success occurring at the </a:t>
            </a:r>
            <a:r>
              <a:rPr lang="en-US" altLang="ko-KR" dirty="0" err="1"/>
              <a:t>xth</a:t>
            </a:r>
            <a:r>
              <a:rPr lang="en-US" altLang="ko-KR" dirty="0"/>
              <a:t> trial)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743319-0297-4D9E-8725-DCC316EB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DA4B11-B823-4CB9-AFF2-3E371EFBE2DB}"/>
                  </a:ext>
                </a:extLst>
              </p:cNvPr>
              <p:cNvSpPr txBox="1"/>
              <p:nvPr/>
            </p:nvSpPr>
            <p:spPr>
              <a:xfrm>
                <a:off x="5796136" y="2132856"/>
                <a:ext cx="21209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DA4B11-B823-4CB9-AFF2-3E371EFBE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2132856"/>
                <a:ext cx="2120965" cy="276999"/>
              </a:xfrm>
              <a:prstGeom prst="rect">
                <a:avLst/>
              </a:prstGeom>
              <a:blipFill>
                <a:blip r:embed="rId2"/>
                <a:stretch>
                  <a:fillRect l="-2299" t="-4444" r="-575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E5D01A-0533-4313-AD6F-B367C1C3EBD9}"/>
                  </a:ext>
                </a:extLst>
              </p:cNvPr>
              <p:cNvSpPr txBox="1"/>
              <p:nvPr/>
            </p:nvSpPr>
            <p:spPr>
              <a:xfrm>
                <a:off x="5809433" y="2553870"/>
                <a:ext cx="19044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E5D01A-0533-4313-AD6F-B367C1C3E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33" y="2553870"/>
                <a:ext cx="1904496" cy="276999"/>
              </a:xfrm>
              <a:prstGeom prst="rect">
                <a:avLst/>
              </a:prstGeom>
              <a:blipFill>
                <a:blip r:embed="rId3"/>
                <a:stretch>
                  <a:fillRect l="-2564" t="-2222" r="-962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486E2FC-FDB0-4BB1-BB06-C960F5AD3443}"/>
                  </a:ext>
                </a:extLst>
              </p:cNvPr>
              <p:cNvSpPr/>
              <p:nvPr/>
            </p:nvSpPr>
            <p:spPr>
              <a:xfrm>
                <a:off x="1907704" y="3089285"/>
                <a:ext cx="13816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486E2FC-FDB0-4BB1-BB06-C960F5AD3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089285"/>
                <a:ext cx="138166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D483CAC-503D-4082-A800-C7E3A40C2D57}"/>
                  </a:ext>
                </a:extLst>
              </p:cNvPr>
              <p:cNvSpPr/>
              <p:nvPr/>
            </p:nvSpPr>
            <p:spPr>
              <a:xfrm>
                <a:off x="5310916" y="3089285"/>
                <a:ext cx="24705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D483CAC-503D-4082-A800-C7E3A40C2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16" y="3089285"/>
                <a:ext cx="2470548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429361-14FF-41EF-9B53-27CEB5AB0C0C}"/>
                  </a:ext>
                </a:extLst>
              </p:cNvPr>
              <p:cNvSpPr txBox="1"/>
              <p:nvPr/>
            </p:nvSpPr>
            <p:spPr>
              <a:xfrm>
                <a:off x="2087918" y="5071873"/>
                <a:ext cx="4732514" cy="4601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429361-14FF-41EF-9B53-27CEB5AB0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918" y="5071873"/>
                <a:ext cx="4732514" cy="460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03A079F-E04E-4E1C-8B6E-080A4B22A7BC}"/>
                  </a:ext>
                </a:extLst>
              </p:cNvPr>
              <p:cNvSpPr/>
              <p:nvPr/>
            </p:nvSpPr>
            <p:spPr>
              <a:xfrm>
                <a:off x="7236296" y="5117270"/>
                <a:ext cx="16476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+1, 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03A079F-E04E-4E1C-8B6E-080A4B22A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5117270"/>
                <a:ext cx="16476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25A1BA5-2134-40F3-8515-733228A691FC}"/>
                  </a:ext>
                </a:extLst>
              </p:cNvPr>
              <p:cNvSpPr/>
              <p:nvPr/>
            </p:nvSpPr>
            <p:spPr>
              <a:xfrm>
                <a:off x="2062111" y="5710062"/>
                <a:ext cx="17105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∗1/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125A1BA5-2134-40F3-8515-733228A691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111" y="5710062"/>
                <a:ext cx="1710533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4A6D157-E26B-4286-86D8-E630E9D7DD00}"/>
                  </a:ext>
                </a:extLst>
              </p:cNvPr>
              <p:cNvSpPr/>
              <p:nvPr/>
            </p:nvSpPr>
            <p:spPr>
              <a:xfrm>
                <a:off x="5465323" y="5710062"/>
                <a:ext cx="279942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4A6D157-E26B-4286-86D8-E630E9D7DD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323" y="5710062"/>
                <a:ext cx="2799421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338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CC7E9-4D4F-42F4-8FF2-1EDF1219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of Discrete Distributions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92804AA-B2FC-49D6-8B66-64BEA20CF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267744" y="-430532"/>
            <a:ext cx="4608512" cy="815111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263B0D-D56D-4633-9614-A05B0AF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675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CB6D8-F77A-4D69-A373-4AAF94E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Poisson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08F512C-69D9-4A6C-A918-0C65A17B1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737" y="1340768"/>
            <a:ext cx="6486525" cy="317182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7EDF7-85BE-4FF2-AAB4-09C9A10A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47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829A9-F3D5-4B0D-A99F-72D588EB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Part II:</a:t>
            </a:r>
            <a:br>
              <a:rPr lang="en-US" altLang="ko-KR" sz="4800" dirty="0"/>
            </a:br>
            <a:r>
              <a:rPr lang="en-US" altLang="ko-KR" sz="4800" dirty="0"/>
              <a:t>Continuous Distributions</a:t>
            </a:r>
            <a:endParaRPr lang="ko-KR" altLang="en-US" sz="4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7DEB8B-86B5-4992-A51F-9161510F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19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61218-72F3-43AA-87D6-B54D3640E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Uniform &amp; Normal Distributions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1665C8-88DE-46D6-B7CA-259A0FE8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297BF16-FBEE-4165-8547-8A7235D6FB77}"/>
              </a:ext>
            </a:extLst>
          </p:cNvPr>
          <p:cNvGrpSpPr/>
          <p:nvPr/>
        </p:nvGrpSpPr>
        <p:grpSpPr>
          <a:xfrm>
            <a:off x="827584" y="1149085"/>
            <a:ext cx="7848600" cy="5181600"/>
            <a:chOff x="1066800" y="990600"/>
            <a:chExt cx="7848600" cy="5181600"/>
          </a:xfrm>
        </p:grpSpPr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DA2B553D-C742-43D0-80D5-E861C99B3D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5" t="16969" r="6363" b="6667"/>
            <a:stretch>
              <a:fillRect/>
            </a:stretch>
          </p:blipFill>
          <p:spPr bwMode="auto">
            <a:xfrm>
              <a:off x="1066800" y="1020763"/>
              <a:ext cx="7696200" cy="4999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E9306842-D354-4F0A-9E24-B4EC82533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990600"/>
              <a:ext cx="838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9089AF39-C46B-403B-B201-BFC3FF3D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6388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040355B3-E217-4E7C-90F8-868A2E8C5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5638800"/>
              <a:ext cx="2362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BB75258F-D505-44C4-8F69-13ACCF123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5715000"/>
              <a:ext cx="13716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7957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5DF17E-F67F-434C-B24B-08EF3F55B7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74938"/>
                <a:ext cx="7886700" cy="397488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 Most commonly used distribution</a:t>
                </a:r>
              </a:p>
              <a:p>
                <a:r>
                  <a:rPr lang="en-US" altLang="ko-KR" dirty="0"/>
                  <a:t> Many variables in nature are normally distributed</a:t>
                </a:r>
              </a:p>
              <a:p>
                <a:r>
                  <a:rPr lang="en-US" altLang="ko-KR" dirty="0"/>
                  <a:t> Fully described by two parameters: </a:t>
                </a:r>
                <a:br>
                  <a:rPr lang="en-US" altLang="ko-KR" dirty="0"/>
                </a:br>
                <a:r>
                  <a:rPr lang="en-US" altLang="ko-KR" dirty="0"/>
                  <a:t>mean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ko-KR" dirty="0"/>
                  <a:t>) and standard deviation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 The mean = the median</a:t>
                </a:r>
              </a:p>
              <a:p>
                <a:r>
                  <a:rPr lang="en-US" altLang="ko-KR" b="1" u="sng" dirty="0"/>
                  <a:t> Central Limit Theorem (CLT)– </a:t>
                </a:r>
                <a:br>
                  <a:rPr lang="en-US" altLang="ko-KR" dirty="0"/>
                </a:br>
                <a:r>
                  <a:rPr lang="en-US" altLang="ko-KR" dirty="0"/>
                  <a:t>the sum of a large number of individual random components tends to be a normal distribution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5DF17E-F67F-434C-B24B-08EF3F55B7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74938"/>
                <a:ext cx="7886700" cy="3974885"/>
              </a:xfrm>
              <a:blipFill>
                <a:blip r:embed="rId2"/>
                <a:stretch>
                  <a:fillRect l="-696" t="-1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790636-8276-4CF3-A0C5-4C4C886F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FFE44-8217-4E9F-B1F0-862FBC450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8177"/>
            <a:ext cx="3717925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DABB0F-4C3C-4C1D-8D70-887B67691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36" y="474769"/>
            <a:ext cx="4809529" cy="1776627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A63ED50-04D0-40F4-95A7-E4581E2B4916}"/>
              </a:ext>
            </a:extLst>
          </p:cNvPr>
          <p:cNvCxnSpPr>
            <a:cxnSpLocks/>
          </p:cNvCxnSpPr>
          <p:nvPr/>
        </p:nvCxnSpPr>
        <p:spPr>
          <a:xfrm flipV="1">
            <a:off x="7740352" y="2251396"/>
            <a:ext cx="0" cy="30878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363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34EE3E-EB1E-42B4-9622-C935953D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" name="Content Placeholder 4" descr="https://miro.medium.com/max/1400/1*IZ2II2HYKeoMrdLU5jW6Dw.png">
            <a:extLst>
              <a:ext uri="{FF2B5EF4-FFF2-40B4-BE49-F238E27FC236}">
                <a16:creationId xmlns:a16="http://schemas.microsoft.com/office/drawing/2014/main" id="{25BC916B-EA71-418C-958C-6B87A7E9CB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40768"/>
            <a:ext cx="78867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26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094D5-65BA-473A-ACEC-38072198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Special Type of Normal Distribution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44C410-5FFD-41BC-BDA0-C7FD0FA6D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Standardized Normal Distribution (</a:t>
            </a:r>
            <a:r>
              <a:rPr lang="ko-KR" altLang="en-US" dirty="0"/>
              <a:t>표준정규분포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정규분포 중 평균이 </a:t>
            </a:r>
            <a:r>
              <a:rPr lang="en-US" altLang="ko-KR" dirty="0"/>
              <a:t>0, </a:t>
            </a:r>
            <a:r>
              <a:rPr lang="ko-KR" altLang="en-US" dirty="0"/>
              <a:t>표준편차가 </a:t>
            </a:r>
            <a:r>
              <a:rPr lang="en-US" altLang="ko-KR" dirty="0"/>
              <a:t>1</a:t>
            </a:r>
            <a:r>
              <a:rPr lang="ko-KR" altLang="en-US" dirty="0"/>
              <a:t>인 분포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확률변수의 표준화를 거침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Lognormal Distribution (</a:t>
            </a:r>
            <a:r>
              <a:rPr lang="ko-KR" altLang="en-US" dirty="0"/>
              <a:t>대수정규분포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만약 확률변수 </a:t>
            </a: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에 대해서 </a:t>
            </a:r>
            <a:r>
              <a:rPr lang="en-US" altLang="ko-KR" dirty="0"/>
              <a:t>Y=ln(X) </a:t>
            </a:r>
            <a:r>
              <a:rPr lang="ko-KR" altLang="en-US" dirty="0"/>
              <a:t>가 성립하고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dirty="0"/>
              <a:t> Y</a:t>
            </a:r>
            <a:r>
              <a:rPr lang="ko-KR" altLang="en-US" dirty="0"/>
              <a:t>가 정규분포를 따른다면 </a:t>
            </a:r>
            <a:endParaRPr lang="en-US" altLang="ko-KR" dirty="0"/>
          </a:p>
          <a:p>
            <a:pPr lvl="1"/>
            <a:r>
              <a:rPr lang="en-US" altLang="ko-KR" dirty="0"/>
              <a:t> X</a:t>
            </a:r>
            <a:r>
              <a:rPr lang="ko-KR" altLang="en-US" dirty="0"/>
              <a:t>는 대수정규분포를 </a:t>
            </a:r>
            <a:r>
              <a:rPr lang="ko-KR" altLang="en-US" dirty="0" err="1"/>
              <a:t>따른다고</a:t>
            </a:r>
            <a:r>
              <a:rPr lang="ko-KR" altLang="en-US" dirty="0"/>
              <a:t> 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90EBE-15E8-4A49-8691-59AAE076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325FEA-A2A4-4932-BD95-F3C190DCD027}"/>
                  </a:ext>
                </a:extLst>
              </p:cNvPr>
              <p:cNvSpPr txBox="1"/>
              <p:nvPr/>
            </p:nvSpPr>
            <p:spPr>
              <a:xfrm>
                <a:off x="4249578" y="4429798"/>
                <a:ext cx="1317220" cy="28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325FEA-A2A4-4932-BD95-F3C190DCD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578" y="4429798"/>
                <a:ext cx="1317220" cy="280846"/>
              </a:xfrm>
              <a:prstGeom prst="rect">
                <a:avLst/>
              </a:prstGeom>
              <a:blipFill>
                <a:blip r:embed="rId2"/>
                <a:stretch>
                  <a:fillRect l="-3704" t="-2174" r="-6481" b="-34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14DDE0-B738-4B70-B33C-1A50CFA34E31}"/>
                  </a:ext>
                </a:extLst>
              </p:cNvPr>
              <p:cNvSpPr txBox="1"/>
              <p:nvPr/>
            </p:nvSpPr>
            <p:spPr>
              <a:xfrm>
                <a:off x="5591622" y="4808186"/>
                <a:ext cx="2051459" cy="3310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14DDE0-B738-4B70-B33C-1A50CFA34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622" y="4808186"/>
                <a:ext cx="2051459" cy="331053"/>
              </a:xfrm>
              <a:prstGeom prst="rect">
                <a:avLst/>
              </a:prstGeom>
              <a:blipFill>
                <a:blip r:embed="rId3"/>
                <a:stretch>
                  <a:fillRect l="-2077" r="-3858" b="-240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ED5EDC-2614-4B4F-9255-ACA019E2EB13}"/>
                  </a:ext>
                </a:extLst>
              </p:cNvPr>
              <p:cNvSpPr txBox="1"/>
              <p:nvPr/>
            </p:nvSpPr>
            <p:spPr>
              <a:xfrm>
                <a:off x="4150971" y="2261620"/>
                <a:ext cx="1326838" cy="28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ED5EDC-2614-4B4F-9255-ACA019E2E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71" y="2261620"/>
                <a:ext cx="1326838" cy="280846"/>
              </a:xfrm>
              <a:prstGeom prst="rect">
                <a:avLst/>
              </a:prstGeom>
              <a:blipFill>
                <a:blip r:embed="rId4"/>
                <a:stretch>
                  <a:fillRect l="-4587" t="-2174" r="-6422" b="-34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0BB3F9-646D-4017-9244-44264FCE422E}"/>
                  </a:ext>
                </a:extLst>
              </p:cNvPr>
              <p:cNvSpPr txBox="1"/>
              <p:nvPr/>
            </p:nvSpPr>
            <p:spPr>
              <a:xfrm>
                <a:off x="3832935" y="2686481"/>
                <a:ext cx="1743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0BB3F9-646D-4017-9244-44264FCE4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935" y="2686481"/>
                <a:ext cx="1743426" cy="276999"/>
              </a:xfrm>
              <a:prstGeom prst="rect">
                <a:avLst/>
              </a:prstGeom>
              <a:blipFill>
                <a:blip r:embed="rId5"/>
                <a:stretch>
                  <a:fillRect l="-2448" t="-4444" r="-350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0ABA2A-F863-4CD8-A47F-8B6258EE111D}"/>
                  </a:ext>
                </a:extLst>
              </p:cNvPr>
              <p:cNvSpPr txBox="1"/>
              <p:nvPr/>
            </p:nvSpPr>
            <p:spPr>
              <a:xfrm>
                <a:off x="5868144" y="1772816"/>
                <a:ext cx="11766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0ABA2A-F863-4CD8-A47F-8B6258EE1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772816"/>
                <a:ext cx="1176604" cy="276999"/>
              </a:xfrm>
              <a:prstGeom prst="rect">
                <a:avLst/>
              </a:prstGeom>
              <a:blipFill>
                <a:blip r:embed="rId6"/>
                <a:stretch>
                  <a:fillRect l="-4663" t="-4444" r="-7254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600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A87B18-20DC-46BC-8509-C0CE18CC0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E98634-EEEF-4175-8C80-A5E77E8C9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401" y="692696"/>
            <a:ext cx="6429375" cy="24193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A9C3E81-425F-4259-BAB4-370D553E7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401" y="3291155"/>
            <a:ext cx="6429375" cy="30319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CCDE32-1C71-48CE-85B3-D196AE5A978B}"/>
              </a:ext>
            </a:extLst>
          </p:cNvPr>
          <p:cNvSpPr txBox="1"/>
          <p:nvPr/>
        </p:nvSpPr>
        <p:spPr>
          <a:xfrm>
            <a:off x="2339752" y="304021"/>
            <a:ext cx="4891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The Standardized Normal Distribution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68694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4D733-615F-476C-B211-BA0B7116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Examples: Standardized Normal Distribution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61EB6E-453E-4D61-9263-C9D84287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E38CB5-CC72-47C3-87C5-C51A1EB67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633537"/>
            <a:ext cx="668655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06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45BC9-C04D-4F34-A38A-1E6DEB4B4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Exponential Distribution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EFCC8A-96EA-4CD6-AAF3-D149A198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Exponential</a:t>
            </a:r>
            <a:r>
              <a:rPr lang="ko-KR" altLang="en-US" dirty="0"/>
              <a:t> </a:t>
            </a:r>
            <a:r>
              <a:rPr lang="en-US" altLang="ko-KR" dirty="0"/>
              <a:t>Distribution (</a:t>
            </a:r>
            <a:r>
              <a:rPr lang="ko-KR" altLang="en-US" dirty="0"/>
              <a:t>지수 분포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사건이 서로 독립적이고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일정 시간동안 발생하는 사건의 횟수가 </a:t>
            </a:r>
            <a:r>
              <a:rPr lang="ko-KR" altLang="en-US" dirty="0" err="1"/>
              <a:t>포아송</a:t>
            </a:r>
            <a:r>
              <a:rPr lang="ko-KR" altLang="en-US" dirty="0"/>
              <a:t> 분포를 따를 때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다음 사건이 일어날 때까지의 대기 시간</a:t>
            </a:r>
            <a:endParaRPr lang="en-US" altLang="ko-KR" dirty="0"/>
          </a:p>
          <a:p>
            <a:pPr lvl="1"/>
            <a:r>
              <a:rPr lang="en-US" altLang="ko-KR" dirty="0"/>
              <a:t> (=</a:t>
            </a:r>
            <a:r>
              <a:rPr lang="ko-KR" altLang="en-US" dirty="0"/>
              <a:t>기하 분포</a:t>
            </a:r>
            <a:r>
              <a:rPr lang="en-US" altLang="ko-KR" dirty="0"/>
              <a:t>, </a:t>
            </a:r>
            <a:r>
              <a:rPr lang="ko-KR" altLang="en-US" dirty="0"/>
              <a:t>그러나 연속적인 확률변수에 대해 적용이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FF3DA4-F952-45F6-8503-2CDAA0E3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997EFF-FEC9-4BEA-BD87-652C23CAC88A}"/>
                  </a:ext>
                </a:extLst>
              </p:cNvPr>
              <p:cNvSpPr txBox="1"/>
              <p:nvPr/>
            </p:nvSpPr>
            <p:spPr>
              <a:xfrm>
                <a:off x="5508104" y="1306530"/>
                <a:ext cx="1474891" cy="2899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997EFF-FEC9-4BEA-BD87-652C23CAC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1306530"/>
                <a:ext cx="1474891" cy="289951"/>
              </a:xfrm>
              <a:prstGeom prst="rect">
                <a:avLst/>
              </a:prstGeom>
              <a:blipFill>
                <a:blip r:embed="rId2"/>
                <a:stretch>
                  <a:fillRect l="-5372" t="-2083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EF84B80-6A90-4BB3-9F47-C4067443C807}"/>
                  </a:ext>
                </a:extLst>
              </p:cNvPr>
              <p:cNvSpPr/>
              <p:nvPr/>
            </p:nvSpPr>
            <p:spPr>
              <a:xfrm>
                <a:off x="7255609" y="1266839"/>
                <a:ext cx="14379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≥0,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EF84B80-6A90-4BB3-9F47-C4067443C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609" y="1266839"/>
                <a:ext cx="143795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51950023-2F24-4333-9650-7701AA4D6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457" y="3429000"/>
            <a:ext cx="4047853" cy="316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23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C511321-1EF7-41E0-9426-C7CDBE44F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3419599"/>
            <a:ext cx="5267325" cy="330517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F342D1-81B2-4068-BFFA-895A7A96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9B68CC3-CF89-40F3-B642-06A8C94B2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31"/>
          <a:stretch/>
        </p:blipFill>
        <p:spPr>
          <a:xfrm>
            <a:off x="179512" y="143243"/>
            <a:ext cx="526732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30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7B8A2-C59E-4B07-91EF-5E27E27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Exponential Distribution Example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FAE473F-C9B6-49B3-AF2F-A0E46D76A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412776"/>
            <a:ext cx="6248400" cy="20955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1258BE-7A2B-4E91-9918-4E259701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347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9E333-8163-4652-B4D8-156F55982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of</a:t>
            </a:r>
            <a:r>
              <a:rPr lang="ko-KR" altLang="en-US" dirty="0"/>
              <a:t> </a:t>
            </a:r>
            <a:r>
              <a:rPr lang="en-US" altLang="ko-KR" dirty="0"/>
              <a:t>Continuous Distributions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931AB8F-5833-4371-902E-81B33ED89D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753265" y="-1010421"/>
            <a:ext cx="3637470" cy="848386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181F6-11DB-4D82-917F-5C5643701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944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8F4A2-CB8E-435D-BE29-4268EBE8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Chebyshev Inequality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8132936-E670-4DA6-AFDF-D64A65BDCF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353" y="1253282"/>
                <a:ext cx="7886700" cy="4908203"/>
              </a:xfrm>
            </p:spPr>
            <p:txBody>
              <a:bodyPr/>
              <a:lstStyle/>
              <a:p>
                <a:r>
                  <a:rPr lang="en-US" altLang="ko-KR" b="1" dirty="0"/>
                  <a:t> </a:t>
                </a:r>
                <a:r>
                  <a:rPr lang="en-US" altLang="ko-KR" b="1" dirty="0" err="1"/>
                  <a:t>Chabyshev</a:t>
                </a:r>
                <a:r>
                  <a:rPr lang="en-US" altLang="ko-KR" b="1" dirty="0"/>
                  <a:t> Inequality (</a:t>
                </a:r>
                <a:r>
                  <a:rPr lang="ko-KR" altLang="en-US" b="1" dirty="0" err="1"/>
                  <a:t>체비셰프</a:t>
                </a:r>
                <a:r>
                  <a:rPr lang="ko-KR" altLang="en-US" b="1" dirty="0"/>
                  <a:t> 부등식</a:t>
                </a:r>
                <a:r>
                  <a:rPr lang="en-US" altLang="ko-KR" b="1" dirty="0"/>
                  <a:t>)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 A single observation selected at random from any probability distribution will deviate more than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from the mean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dirty="0"/>
                  <a:t>, of the distribution with probability less than or equal to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1/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/>
                  <a:t>.</a:t>
                </a:r>
              </a:p>
              <a:p>
                <a:pPr lvl="1"/>
                <a:r>
                  <a:rPr lang="en-US" altLang="ko-KR" dirty="0"/>
                  <a:t> Similar to the 68-95-99.7 rule, but to ALL distributions </a:t>
                </a:r>
              </a:p>
              <a:p>
                <a:pPr lvl="2"/>
                <a:r>
                  <a:rPr lang="en-US" altLang="ko-KR" dirty="0"/>
                  <a:t>Provides a very conservative estimation of probability</a:t>
                </a:r>
              </a:p>
              <a:p>
                <a:pPr lvl="1"/>
                <a:r>
                  <a:rPr lang="en-US" altLang="ko-KR" dirty="0"/>
                  <a:t> Assumes that the probability is </a:t>
                </a:r>
                <a:r>
                  <a:rPr lang="en-US" altLang="ko-KR" b="1" u="sng" dirty="0"/>
                  <a:t>symmetric </a:t>
                </a:r>
                <a:r>
                  <a:rPr lang="en-US" altLang="ko-KR" b="1" u="sng" dirty="0" err="1"/>
                  <a:t>w.r.t.</a:t>
                </a:r>
                <a:r>
                  <a:rPr lang="en-US" altLang="ko-KR" b="1" u="sng" dirty="0"/>
                  <a:t> the mean </a:t>
                </a:r>
                <a14:m>
                  <m:oMath xmlns:m="http://schemas.openxmlformats.org/officeDocument/2006/math">
                    <m:r>
                      <a:rPr lang="ko-KR" altLang="en-US" b="1" i="1" u="sng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br>
                  <a:rPr lang="en-US" altLang="ko-KR" dirty="0"/>
                </a:br>
                <a:r>
                  <a:rPr lang="en-US" altLang="ko-KR" dirty="0"/>
                  <a:t>(if not, </a:t>
                </a:r>
                <a:r>
                  <a:rPr lang="en-US" altLang="ko-KR" dirty="0" err="1"/>
                  <a:t>Cantelli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Inequality, or one-tailed </a:t>
                </a:r>
                <a:r>
                  <a:rPr lang="en-US" altLang="ko-KR" dirty="0" err="1"/>
                  <a:t>chebychev</a:t>
                </a:r>
                <a:r>
                  <a:rPr lang="en-US" altLang="ko-KR" dirty="0"/>
                  <a:t> inequality)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8132936-E670-4DA6-AFDF-D64A65BDC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353" y="1253282"/>
                <a:ext cx="7886700" cy="4908203"/>
              </a:xfrm>
              <a:blipFill>
                <a:blip r:embed="rId2"/>
                <a:stretch>
                  <a:fillRect l="-696" t="-1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6E5FED-7622-4633-8756-211A9E1C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3074" name="Picture 2" descr="https://blog.kakaocdn.net/dn/UUT4o/btqE4CAa2lA/hbKcoKGo6PEhfKfALAsID1/img.png">
            <a:extLst>
              <a:ext uri="{FF2B5EF4-FFF2-40B4-BE49-F238E27FC236}">
                <a16:creationId xmlns:a16="http://schemas.microsoft.com/office/drawing/2014/main" id="{756800C3-3AAE-4C1D-BD41-83874FDBA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8" r="11413"/>
          <a:stretch/>
        </p:blipFill>
        <p:spPr bwMode="auto">
          <a:xfrm>
            <a:off x="2555776" y="4390687"/>
            <a:ext cx="4330109" cy="242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1A17EBB-7C21-4942-8DD1-875E1037710C}"/>
                  </a:ext>
                </a:extLst>
              </p:cNvPr>
              <p:cNvSpPr/>
              <p:nvPr/>
            </p:nvSpPr>
            <p:spPr>
              <a:xfrm>
                <a:off x="5076056" y="438570"/>
                <a:ext cx="2391039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{|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51A17EBB-7C21-4942-8DD1-875E10377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438570"/>
                <a:ext cx="2391039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467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DAF2C-A194-4441-8A27-F4789E1F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Law of Large Numbers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1ED3B-7A0C-420F-9EB2-4981F67BF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The (weak) Law of Large Numbers (</a:t>
            </a:r>
            <a:r>
              <a:rPr lang="ko-KR" altLang="en-US" dirty="0"/>
              <a:t>큰 수의 약한 법칙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큰 모집단에서 무작위로 뽑은 표본의 평균이 전체 모집단의 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평균과 가까울 가능성이 높다는 개념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Related</a:t>
            </a:r>
            <a:r>
              <a:rPr lang="ko-KR" altLang="en-US" dirty="0"/>
              <a:t> </a:t>
            </a:r>
            <a:r>
              <a:rPr lang="en-US" altLang="ko-KR" dirty="0"/>
              <a:t>Concepts</a:t>
            </a:r>
          </a:p>
          <a:p>
            <a:pPr lvl="2"/>
            <a:r>
              <a:rPr lang="en-US" altLang="ko-KR" dirty="0"/>
              <a:t>Beginner’s Luck (</a:t>
            </a:r>
            <a:r>
              <a:rPr lang="ko-KR" altLang="en-US" dirty="0"/>
              <a:t>장기적으로는</a:t>
            </a:r>
            <a:r>
              <a:rPr lang="en-US" altLang="ko-KR" dirty="0"/>
              <a:t>? </a:t>
            </a:r>
            <a:r>
              <a:rPr lang="ko-KR" altLang="en-US" dirty="0"/>
              <a:t>수렴하게 됨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야구에서의 </a:t>
            </a:r>
            <a:r>
              <a:rPr lang="en-US" altLang="ko-KR" dirty="0"/>
              <a:t>“DTD”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0F6D9-22D9-4B31-8A6C-CCFCF583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080A3E-1415-4A6F-BB33-11103AAA3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40" y="2564904"/>
            <a:ext cx="7452320" cy="145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66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C2DAC-0F9D-49AA-B946-1126BB38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47CC8-E813-411B-9DA7-10339F4FF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86266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 Few statistical characteristics common to many types of hydrologic data (</a:t>
            </a:r>
            <a:r>
              <a:rPr lang="ko-KR" altLang="en-US" dirty="0"/>
              <a:t>수문 분야에서의 불확실한 변수들의 통계적 특성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(Handbook of Hydrology, 17.1.1)</a:t>
            </a:r>
          </a:p>
          <a:p>
            <a:pPr lvl="1"/>
            <a:r>
              <a:rPr lang="en-US" altLang="ko-KR" dirty="0"/>
              <a:t> Non-normal, skewed distribution functions, </a:t>
            </a:r>
            <a:br>
              <a:rPr lang="en-US" altLang="ko-KR" dirty="0"/>
            </a:br>
            <a:r>
              <a:rPr lang="en-US" altLang="ko-KR" dirty="0"/>
              <a:t>often having a lower bound of zero</a:t>
            </a:r>
          </a:p>
          <a:p>
            <a:pPr lvl="1"/>
            <a:r>
              <a:rPr lang="en-US" altLang="ko-KR" dirty="0"/>
              <a:t> Outliers - a few values that are much larger </a:t>
            </a:r>
            <a:br>
              <a:rPr lang="en-US" altLang="ko-KR" dirty="0"/>
            </a:br>
            <a:r>
              <a:rPr lang="en-US" altLang="ko-KR" dirty="0"/>
              <a:t>or much smaller than the bulk of the data</a:t>
            </a:r>
          </a:p>
          <a:p>
            <a:pPr lvl="1"/>
            <a:r>
              <a:rPr lang="en-US" altLang="ko-KR" dirty="0"/>
              <a:t> Serial correlation, or lack of independence among observations</a:t>
            </a:r>
          </a:p>
          <a:p>
            <a:pPr lvl="1"/>
            <a:r>
              <a:rPr lang="en-US" altLang="ko-KR" dirty="0"/>
              <a:t> Distributions dependent on other variables</a:t>
            </a:r>
          </a:p>
          <a:p>
            <a:pPr lvl="1"/>
            <a:r>
              <a:rPr lang="en-US" altLang="ko-KR" dirty="0"/>
              <a:t> Censoring – data concentration values reported as less than a detection limit, or discharge values less than the discharge at which flood damage occurs</a:t>
            </a:r>
          </a:p>
          <a:p>
            <a:pPr lvl="1"/>
            <a:r>
              <a:rPr lang="en-US" altLang="ko-KR" dirty="0"/>
              <a:t> Seasonal patterns; </a:t>
            </a:r>
            <a:br>
              <a:rPr lang="en-US" altLang="ko-KR" dirty="0"/>
            </a:br>
            <a:r>
              <a:rPr lang="en-US" altLang="ko-KR" dirty="0"/>
              <a:t>statistical characteristics tend to vary with the seasons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AEB9C2-73F6-48C6-BB81-A4A6D893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578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328591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(2022-09-20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03: Probabilistic Modeling in Hydrology- Part II</a:t>
            </a:r>
            <a:br>
              <a:rPr lang="en-US" altLang="ko-KR" dirty="0"/>
            </a:br>
            <a:r>
              <a:rPr lang="en-US" altLang="ko-KR" dirty="0"/>
              <a:t>(Maximum Likelihood Estimator &amp; Goodness of fit tests)</a:t>
            </a:r>
          </a:p>
          <a:p>
            <a:pPr lvl="2"/>
            <a:r>
              <a:rPr lang="en-US" altLang="ko-KR" dirty="0"/>
              <a:t>Maximum Likelihood Estimation of Parameters &amp; Examples</a:t>
            </a:r>
          </a:p>
          <a:p>
            <a:pPr lvl="2"/>
            <a:r>
              <a:rPr lang="en-US" altLang="ko-KR" dirty="0"/>
              <a:t>Goodness of fit Approaches such as: </a:t>
            </a:r>
            <a:br>
              <a:rPr lang="en-US" altLang="ko-KR" dirty="0"/>
            </a:br>
            <a:r>
              <a:rPr lang="en-US" altLang="ko-KR" dirty="0"/>
              <a:t>AIC, PP or QQ plots, Chi-squared test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Datacamp</a:t>
            </a:r>
            <a:r>
              <a:rPr lang="en-US" altLang="ko-KR" dirty="0"/>
              <a:t> Assignment due 9/15 (Introduction to R)</a:t>
            </a:r>
          </a:p>
          <a:p>
            <a:r>
              <a:rPr lang="en-US" altLang="ko-KR" dirty="0"/>
              <a:t> Assignment on </a:t>
            </a:r>
            <a:r>
              <a:rPr lang="en-US" altLang="ko-KR" u="sng" dirty="0"/>
              <a:t>Page 16</a:t>
            </a:r>
            <a:r>
              <a:rPr lang="en-US" altLang="ko-KR" dirty="0"/>
              <a:t> (Deriving the Poisson Distribution)</a:t>
            </a:r>
          </a:p>
          <a:p>
            <a:r>
              <a:rPr lang="en-US" altLang="ko-KR" b="1" dirty="0"/>
              <a:t> Bring LAPTOPS with R &amp; </a:t>
            </a:r>
            <a:r>
              <a:rPr lang="en-US" altLang="ko-KR" b="1" dirty="0" err="1"/>
              <a:t>Rstudio</a:t>
            </a:r>
            <a:r>
              <a:rPr lang="en-US" altLang="ko-KR" b="1" dirty="0"/>
              <a:t> on Sep-27! (2</a:t>
            </a:r>
            <a:r>
              <a:rPr lang="ko-KR" altLang="en-US" b="1" dirty="0"/>
              <a:t>주 후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77978</TotalTime>
  <Words>1795</Words>
  <Application>Microsoft Office PowerPoint</Application>
  <PresentationFormat>화면 슬라이드 쇼(4:3)</PresentationFormat>
  <Paragraphs>243</Paragraphs>
  <Slides>34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02</vt:lpstr>
      <vt:lpstr>Review on Lecture 01</vt:lpstr>
      <vt:lpstr>Today’s Topic</vt:lpstr>
      <vt:lpstr>Review on Basic Probability Concepts </vt:lpstr>
      <vt:lpstr>Review on Basic Probability Concepts </vt:lpstr>
      <vt:lpstr>Bayes’ Theorem</vt:lpstr>
      <vt:lpstr>Total Probability Theorem Example</vt:lpstr>
      <vt:lpstr>Bayes’ Theorem Example</vt:lpstr>
      <vt:lpstr>Bayes’ Theorem Example</vt:lpstr>
      <vt:lpstr>Types of Random Variables</vt:lpstr>
      <vt:lpstr>Types of Random Variables</vt:lpstr>
      <vt:lpstr>PowerPoint 프레젠테이션</vt:lpstr>
      <vt:lpstr>Bernoulli Processes &amp; Binomial Distribution</vt:lpstr>
      <vt:lpstr>PowerPoint 프레젠테이션</vt:lpstr>
      <vt:lpstr>PowerPoint 프레젠테이션</vt:lpstr>
      <vt:lpstr>Poisson Process</vt:lpstr>
      <vt:lpstr>Geometric &amp; Negative Binomial Distributions</vt:lpstr>
      <vt:lpstr>Summary of Discrete Distributions</vt:lpstr>
      <vt:lpstr>Example Problem: Poisson</vt:lpstr>
      <vt:lpstr>Part II: Continuous Distributions</vt:lpstr>
      <vt:lpstr>Uniform &amp; Normal Distributions</vt:lpstr>
      <vt:lpstr>PowerPoint 프레젠테이션</vt:lpstr>
      <vt:lpstr>PowerPoint 프레젠테이션</vt:lpstr>
      <vt:lpstr>Special Type of Normal Distribution</vt:lpstr>
      <vt:lpstr>PowerPoint 프레젠테이션</vt:lpstr>
      <vt:lpstr>Examples: Standardized Normal Distribution</vt:lpstr>
      <vt:lpstr>Exponential Distribution</vt:lpstr>
      <vt:lpstr>PowerPoint 프레젠테이션</vt:lpstr>
      <vt:lpstr>Exponential Distribution Example</vt:lpstr>
      <vt:lpstr>Summary of Continuous Distributions</vt:lpstr>
      <vt:lpstr>Chebyshev Inequality</vt:lpstr>
      <vt:lpstr>Law of Large Numbers</vt:lpstr>
      <vt:lpstr>Conclusion of Lecture 2</vt:lpstr>
      <vt:lpstr>Future Schedule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2313</cp:revision>
  <cp:lastPrinted>2021-11-18T01:41:47Z</cp:lastPrinted>
  <dcterms:created xsi:type="dcterms:W3CDTF">2020-01-02T02:18:47Z</dcterms:created>
  <dcterms:modified xsi:type="dcterms:W3CDTF">2022-09-13T01:30:11Z</dcterms:modified>
</cp:coreProperties>
</file>