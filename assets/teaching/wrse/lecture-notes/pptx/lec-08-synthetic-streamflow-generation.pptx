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740" r:id="rId3"/>
    <p:sldId id="747" r:id="rId4"/>
    <p:sldId id="752" r:id="rId5"/>
    <p:sldId id="753" r:id="rId6"/>
    <p:sldId id="758" r:id="rId7"/>
    <p:sldId id="755" r:id="rId8"/>
    <p:sldId id="756" r:id="rId9"/>
    <p:sldId id="762" r:id="rId10"/>
    <p:sldId id="761" r:id="rId11"/>
    <p:sldId id="751" r:id="rId12"/>
    <p:sldId id="757" r:id="rId13"/>
    <p:sldId id="759" r:id="rId14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028" autoAdjust="0"/>
  </p:normalViewPr>
  <p:slideViewPr>
    <p:cSldViewPr>
      <p:cViewPr varScale="1">
        <p:scale>
          <a:sx n="104" d="100"/>
          <a:sy n="104" d="100"/>
        </p:scale>
        <p:origin x="15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2022-05-31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sams.colostate.ed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nRCNHsk69I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519796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08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191198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Synthetic Streamflow Generation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4A62A-534B-43FE-BBFE-032DF546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6.8 Synthetic Streamflow Generation (p.257)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5C1D6-4CBD-4626-A946-BB4B301A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Why do we Generate Synthetic Streamflow?</a:t>
            </a:r>
          </a:p>
          <a:p>
            <a:pPr lvl="1"/>
            <a:r>
              <a:rPr lang="en-US" altLang="ko-KR" dirty="0"/>
              <a:t> Little or no data for your system</a:t>
            </a:r>
          </a:p>
          <a:p>
            <a:pPr lvl="1"/>
            <a:r>
              <a:rPr lang="en-US" altLang="ko-KR" dirty="0"/>
              <a:t> Evaluate the effect of hydrologic non-stationarity on your system</a:t>
            </a:r>
          </a:p>
          <a:p>
            <a:r>
              <a:rPr lang="en-US" altLang="ko-KR" dirty="0"/>
              <a:t> Types of Synthetic streamflow generators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u="sng" dirty="0"/>
              <a:t>Indirect approach</a:t>
            </a:r>
            <a:r>
              <a:rPr lang="en-US" altLang="ko-KR" dirty="0"/>
              <a:t>: generate precipitation and temperature series and input them to a hydrologic model of a basin (GCM)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Direct approach</a:t>
            </a:r>
            <a:r>
              <a:rPr lang="en-US" altLang="ko-KR" dirty="0"/>
              <a:t>: uses statistical techniques to generate streamflow time series directly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17DD8-C6CB-4DAC-AAC2-9C2C0E7B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B018ED-6F36-4EB0-AB71-3BCF78A0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4502953"/>
            <a:ext cx="5412675" cy="235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2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0B952-D0EA-49CD-A0F5-7F3E2171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6.8 Synthetic Streamflow Generation (p.257)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FA701-3608-4BCB-929C-7C52770C9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Types of Synthetic streamflow generators</a:t>
            </a:r>
          </a:p>
          <a:p>
            <a:pPr lvl="1"/>
            <a:r>
              <a:rPr lang="en-US" altLang="ko-KR" b="1" u="sng" dirty="0"/>
              <a:t> Direct approach</a:t>
            </a:r>
            <a:r>
              <a:rPr lang="en-US" altLang="ko-KR" dirty="0"/>
              <a:t>: uses statistical techniques to generate streamflow time series directly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Types of direct approaches</a:t>
            </a:r>
          </a:p>
          <a:p>
            <a:pPr lvl="1"/>
            <a:r>
              <a:rPr lang="en-US" altLang="ko-KR" dirty="0"/>
              <a:t> Parametric methods</a:t>
            </a:r>
          </a:p>
          <a:p>
            <a:pPr lvl="2"/>
            <a:r>
              <a:rPr lang="en-US" altLang="ko-KR" dirty="0"/>
              <a:t>Relies on hypothesized statistical model of streamflow whose parameters are selected to achieve a desired result</a:t>
            </a:r>
          </a:p>
          <a:p>
            <a:pPr lvl="2"/>
            <a:r>
              <a:rPr lang="en-US" altLang="ko-KR" dirty="0"/>
              <a:t>Time series model! (Autoregressive Moving Average- ARMA)</a:t>
            </a:r>
          </a:p>
          <a:p>
            <a:pPr lvl="1"/>
            <a:r>
              <a:rPr lang="en-US" altLang="ko-KR" dirty="0"/>
              <a:t> Non-parametric methods</a:t>
            </a:r>
          </a:p>
          <a:p>
            <a:pPr lvl="2"/>
            <a:r>
              <a:rPr lang="en-US" altLang="ko-KR" dirty="0"/>
              <a:t>Re-sample flows from a record &amp; rely heavily on the data</a:t>
            </a:r>
          </a:p>
          <a:p>
            <a:pPr lvl="2"/>
            <a:r>
              <a:rPr lang="en-US" altLang="ko-KR" dirty="0"/>
              <a:t>Examples include Block bootstrapping, k-nearest neighbor, etc.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CF6C9-F0D5-4EAB-9003-887E0CFD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35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FC8EE-E96D-414F-98E2-6D21941D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Sampling Methods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FE29A-9374-4618-A2EC-10B14016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3943350" cy="4908203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 Monte Carlo Sampling (MC)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무작위 </a:t>
            </a:r>
            <a:r>
              <a:rPr lang="en-US" altLang="ko-KR" dirty="0"/>
              <a:t>(</a:t>
            </a:r>
            <a:r>
              <a:rPr lang="ko-KR" altLang="en-US" dirty="0"/>
              <a:t>전 시행과 독립적으로</a:t>
            </a:r>
            <a:r>
              <a:rPr lang="en-US" altLang="ko-KR" dirty="0"/>
              <a:t>)</a:t>
            </a:r>
            <a:r>
              <a:rPr lang="ko-KR" altLang="en-US" dirty="0"/>
              <a:t>로 변수를 선택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실제 분포와 유사한 결과를 위해서는 </a:t>
            </a:r>
            <a:r>
              <a:rPr lang="en-US" altLang="ko-KR" dirty="0"/>
              <a:t>LHS</a:t>
            </a:r>
            <a:r>
              <a:rPr lang="ko-KR" altLang="en-US" dirty="0"/>
              <a:t>보다 더 많은 반복을 거쳐야 함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예시</a:t>
            </a:r>
            <a:r>
              <a:rPr lang="en-US" altLang="ko-KR" b="1" dirty="0">
                <a:solidFill>
                  <a:srgbClr val="FF0000"/>
                </a:solidFill>
              </a:rPr>
              <a:t>-Excel)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Latin Hypercube Sampling </a:t>
            </a:r>
            <a:br>
              <a:rPr lang="en-US" altLang="ko-KR" dirty="0"/>
            </a:br>
            <a:r>
              <a:rPr lang="en-US" altLang="ko-KR" dirty="0"/>
              <a:t>(LHS)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각 변수의 확률을 겹치지 않는 </a:t>
            </a:r>
            <a:r>
              <a:rPr lang="en-US" altLang="ko-KR" dirty="0"/>
              <a:t>Segment</a:t>
            </a:r>
            <a:r>
              <a:rPr lang="ko-KR" altLang="en-US" dirty="0"/>
              <a:t>로 구분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전체 범위의 분포가 보다 균일하고 일관되게 샘플링 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EE234-1BC7-4622-9DF8-AB84E00A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5362" name="Picture 2" descr="Comparison of random sampling and Latin hypercube sampling (LHS) for... |  Download Scientific Diagram">
            <a:extLst>
              <a:ext uri="{FF2B5EF4-FFF2-40B4-BE49-F238E27FC236}">
                <a16:creationId xmlns:a16="http://schemas.microsoft.com/office/drawing/2014/main" id="{22F9264C-7580-4B21-BAB6-0D082AFD7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700808"/>
            <a:ext cx="3979890" cy="420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72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B1D4A-F660-449C-A821-D4F8BCFF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 in the Real-world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D7FC90-8CEB-4EA6-BF6E-C5F8641EE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만약 예측하고자 하는 변수의 </a:t>
            </a:r>
            <a:r>
              <a:rPr lang="ko-KR" altLang="en-US" b="1" u="sng" dirty="0"/>
              <a:t>평균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분산</a:t>
            </a:r>
            <a:r>
              <a:rPr lang="en-US" altLang="ko-KR" b="1" u="sng" dirty="0"/>
              <a:t>, Lag-1 Correlation</a:t>
            </a:r>
            <a:r>
              <a:rPr lang="en-US" altLang="ko-KR" dirty="0"/>
              <a:t> </a:t>
            </a:r>
            <a:r>
              <a:rPr lang="ko-KR" altLang="en-US" dirty="0"/>
              <a:t>등의 </a:t>
            </a:r>
            <a:br>
              <a:rPr lang="en-US" altLang="ko-KR" dirty="0"/>
            </a:br>
            <a:r>
              <a:rPr lang="ko-KR" altLang="en-US" dirty="0"/>
              <a:t>기초 통계량이 시간에 따라 변하지 않고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예측하고자 하는 변수가 실제로 가정한 분포를 완벽하게 따른다면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위의 </a:t>
            </a:r>
            <a:r>
              <a:rPr lang="en-US" altLang="ko-KR" dirty="0"/>
              <a:t>Sampling Methods</a:t>
            </a:r>
            <a:r>
              <a:rPr lang="ko-KR" altLang="en-US" dirty="0"/>
              <a:t>를 실제 분석에 사용해도 무방하나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b="1" u="sng" dirty="0">
                <a:solidFill>
                  <a:srgbClr val="FF0000"/>
                </a:solidFill>
              </a:rPr>
              <a:t>그러나 현실에서 이러한 가정을 만족시키는 변수를 찾기는 어려움</a:t>
            </a:r>
            <a:r>
              <a:rPr lang="en-US" altLang="ko-KR" b="1" u="sng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Streamflow Generation Models (from p. 260)</a:t>
            </a:r>
          </a:p>
          <a:p>
            <a:pPr lvl="1"/>
            <a:r>
              <a:rPr lang="en-US" altLang="ko-KR" dirty="0"/>
              <a:t> A Simple Autoregressive Model</a:t>
            </a:r>
          </a:p>
          <a:p>
            <a:pPr lvl="1"/>
            <a:r>
              <a:rPr lang="en-US" altLang="ko-KR" dirty="0"/>
              <a:t> Multivariate</a:t>
            </a:r>
            <a:r>
              <a:rPr lang="ko-KR" altLang="en-US" dirty="0"/>
              <a:t> </a:t>
            </a:r>
            <a:r>
              <a:rPr lang="en-US" altLang="ko-KR" dirty="0"/>
              <a:t>Models</a:t>
            </a:r>
            <a:r>
              <a:rPr lang="ko-KR" altLang="en-US" dirty="0"/>
              <a:t>  </a:t>
            </a:r>
            <a:r>
              <a:rPr lang="en-US" altLang="ko-KR" dirty="0"/>
              <a:t>(General</a:t>
            </a:r>
            <a:r>
              <a:rPr lang="ko-KR" altLang="en-US" dirty="0"/>
              <a:t> </a:t>
            </a:r>
            <a:r>
              <a:rPr lang="en-US" altLang="ko-KR" dirty="0"/>
              <a:t>multisite</a:t>
            </a:r>
            <a:r>
              <a:rPr lang="ko-KR" altLang="en-US" dirty="0"/>
              <a:t> </a:t>
            </a:r>
            <a:r>
              <a:rPr lang="en-US" altLang="ko-KR" dirty="0"/>
              <a:t>streamflow</a:t>
            </a:r>
            <a:r>
              <a:rPr lang="ko-KR" altLang="en-US" dirty="0"/>
              <a:t> </a:t>
            </a:r>
            <a:r>
              <a:rPr lang="en-US" altLang="ko-KR" dirty="0"/>
              <a:t>model)</a:t>
            </a:r>
          </a:p>
          <a:p>
            <a:pPr lvl="1"/>
            <a:r>
              <a:rPr lang="en-US" altLang="ko-KR" dirty="0"/>
              <a:t> Multi-season, Multisite Models </a:t>
            </a:r>
            <a:br>
              <a:rPr lang="en-US" altLang="ko-KR" dirty="0"/>
            </a:br>
            <a:r>
              <a:rPr lang="en-US" altLang="ko-KR" dirty="0"/>
              <a:t>(Disaggregation Models &amp; Aggregation Models)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92271-26E3-4509-91E9-55FC268F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905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5B6D1-63B0-4E13-9AE0-044F09C7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Streamflow Generation Models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A988B0-339E-46BA-A586-39CE72D2FD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Streamflow Generation Models (from p. 260)</a:t>
                </a:r>
              </a:p>
              <a:p>
                <a:pPr lvl="1"/>
                <a:r>
                  <a:rPr lang="en-US" altLang="ko-KR" dirty="0"/>
                  <a:t> A Simple Autoregressive Model</a:t>
                </a:r>
              </a:p>
              <a:p>
                <a:pPr lvl="2"/>
                <a:r>
                  <a:rPr lang="en-US" altLang="ko-KR" dirty="0"/>
                  <a:t>Based on the Autoregressive Markov model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r>
                  <a:rPr lang="en-US" altLang="ko-KR" dirty="0"/>
                  <a:t> Multivariate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Models</a:t>
                </a:r>
                <a:r>
                  <a:rPr lang="ko-KR" altLang="en-US" dirty="0"/>
                  <a:t>  </a:t>
                </a:r>
                <a:r>
                  <a:rPr lang="en-US" altLang="ko-KR" dirty="0"/>
                  <a:t>(General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multisite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streamflow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model)</a:t>
                </a:r>
              </a:p>
              <a:p>
                <a:pPr lvl="2"/>
                <a:r>
                  <a:rPr lang="en-US" altLang="ko-KR" dirty="0"/>
                  <a:t>Fitting time series models to each side separately</a:t>
                </a:r>
                <a:br>
                  <a:rPr lang="en-US" altLang="ko-KR" dirty="0"/>
                </a:br>
                <a:r>
                  <a:rPr lang="en-US" altLang="ko-KR" dirty="0"/>
                  <a:t>then correlating the two models to reproduce the cross-correlation between the series</a:t>
                </a:r>
              </a:p>
              <a:p>
                <a:pPr lvl="2"/>
                <a:endParaRPr lang="en-US" altLang="ko-KR" dirty="0"/>
              </a:p>
              <a:p>
                <a:pPr lvl="1"/>
                <a:r>
                  <a:rPr lang="en-US" altLang="ko-KR" dirty="0"/>
                  <a:t> Multi-season, Multisite Models</a:t>
                </a:r>
              </a:p>
              <a:p>
                <a:pPr lvl="2"/>
                <a:r>
                  <a:rPr lang="en-US" altLang="ko-KR" dirty="0"/>
                  <a:t>Disaggregation Models: Annual -&gt; Seasonal</a:t>
                </a:r>
              </a:p>
              <a:p>
                <a:pPr lvl="2"/>
                <a:r>
                  <a:rPr lang="en-US" altLang="ko-KR" dirty="0"/>
                  <a:t>Aggregation Models: Seasonal -&gt; Annual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A988B0-339E-46BA-A586-39CE72D2F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80E27-E1D2-41A5-B56B-A220D6DB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63E24DA3-F0EB-46CC-B4D5-03D8AA39D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78301"/>
              </p:ext>
            </p:extLst>
          </p:nvPr>
        </p:nvGraphicFramePr>
        <p:xfrm>
          <a:off x="2519772" y="2420888"/>
          <a:ext cx="4104456" cy="558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4" imgW="2145960" imgH="291960" progId="Equation.DSMT4">
                  <p:embed/>
                </p:oleObj>
              </mc:Choice>
              <mc:Fallback>
                <p:oleObj name="Equation" r:id="rId4" imgW="21459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9772" y="2420888"/>
                        <a:ext cx="4104456" cy="558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22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821C2-9720-493C-9358-2D146DB1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SAMS2007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AEEC3-80A4-48DD-B690-DE0A01FC7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Stochastic Analysis Modeling and Simulation (SAMS 2007)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http://www.sams.colostate.edu/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83688-B903-464A-B532-A4391E58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EE68DF-410C-4B11-8E77-F1BA97B0C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85" y="2177538"/>
            <a:ext cx="6115029" cy="42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16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456A9-9CA8-40AF-BBEA-434EE3B3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SAMS2007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C60F1-BF10-43B5-A6A2-B164C251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466F72-E676-43DE-9DEC-1264E058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332880"/>
            <a:ext cx="4497009" cy="3482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D5C331-5EB1-49C3-9AA9-D84CF4F5E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640" y="2790915"/>
            <a:ext cx="5056816" cy="39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7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A5657-3906-4A37-A854-026278B9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SAMS2007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FB271A-597A-49B2-8B25-F3DEBEB5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619E4C-08B9-49CD-A550-A22D80724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42649"/>
            <a:ext cx="5503784" cy="36358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1432F2-FFC6-4181-80EF-E978F445C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349" y="2864248"/>
            <a:ext cx="5719957" cy="383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7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2AEF2-5E06-4CA4-A6DF-CBFB0C80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SAMS2007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1C4DC-5118-4296-9A7C-52C8FA47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4B3411-D2E4-4EC2-BF41-29B77370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0" y="1340768"/>
            <a:ext cx="5400600" cy="47087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540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E37A7-6DDC-49C6-8CAF-ACC05454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 of Lecture 08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9A428-9AFF-451A-B583-C6CB217F9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 May-31 (Today’s Lecture)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08: Synthetic Streamflow Generation	</a:t>
            </a:r>
          </a:p>
          <a:p>
            <a:pPr lvl="2"/>
            <a:r>
              <a:rPr lang="en-US" altLang="ko-KR" dirty="0"/>
              <a:t>A Simple Autoregressive Model</a:t>
            </a:r>
          </a:p>
          <a:p>
            <a:pPr lvl="2"/>
            <a:r>
              <a:rPr lang="en-US" altLang="ko-KR" dirty="0"/>
              <a:t>Multivariate</a:t>
            </a:r>
            <a:r>
              <a:rPr lang="ko-KR" altLang="en-US" dirty="0"/>
              <a:t> </a:t>
            </a:r>
            <a:r>
              <a:rPr lang="en-US" altLang="ko-KR" dirty="0"/>
              <a:t>Models</a:t>
            </a:r>
            <a:r>
              <a:rPr lang="ko-KR" altLang="en-US" dirty="0"/>
              <a:t>  </a:t>
            </a:r>
            <a:r>
              <a:rPr lang="en-US" altLang="ko-KR" dirty="0"/>
              <a:t>(General</a:t>
            </a:r>
            <a:r>
              <a:rPr lang="ko-KR" altLang="en-US" dirty="0"/>
              <a:t> </a:t>
            </a:r>
            <a:r>
              <a:rPr lang="en-US" altLang="ko-KR" dirty="0"/>
              <a:t>multisite</a:t>
            </a:r>
            <a:r>
              <a:rPr lang="ko-KR" altLang="en-US" dirty="0"/>
              <a:t> </a:t>
            </a:r>
            <a:r>
              <a:rPr lang="en-US" altLang="ko-KR" dirty="0"/>
              <a:t>streamflow</a:t>
            </a:r>
            <a:r>
              <a:rPr lang="ko-KR" altLang="en-US" dirty="0"/>
              <a:t> </a:t>
            </a:r>
            <a:r>
              <a:rPr lang="en-US" altLang="ko-KR" dirty="0"/>
              <a:t>model)</a:t>
            </a:r>
          </a:p>
          <a:p>
            <a:pPr lvl="2"/>
            <a:r>
              <a:rPr lang="en-US" altLang="ko-KR" dirty="0"/>
              <a:t>Multi-season, Multisite Models </a:t>
            </a:r>
            <a:br>
              <a:rPr lang="en-US" altLang="ko-KR" dirty="0"/>
            </a:br>
            <a:r>
              <a:rPr lang="en-US" altLang="ko-KR" dirty="0"/>
              <a:t>(Disaggregation Models &amp; Aggregation Models)</a:t>
            </a:r>
          </a:p>
          <a:p>
            <a:pPr lvl="2"/>
            <a:r>
              <a:rPr lang="en-US" altLang="ko-KR" dirty="0"/>
              <a:t>Introduction to </a:t>
            </a:r>
            <a:r>
              <a:rPr lang="en-US" altLang="ko-KR" b="1" dirty="0"/>
              <a:t>SAMS2007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(Stochastic Analysis Modeling and Simulation)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1</a:t>
            </a:r>
          </a:p>
          <a:p>
            <a:pPr lvl="1"/>
            <a:r>
              <a:rPr lang="en-US" altLang="ko-KR" strike="sngStrike" dirty="0"/>
              <a:t> </a:t>
            </a:r>
            <a:r>
              <a:rPr lang="en-US" altLang="ko-KR" strike="sngStrike" dirty="0" err="1"/>
              <a:t>Lec</a:t>
            </a:r>
            <a:r>
              <a:rPr lang="en-US" altLang="ko-KR" strike="sngStrike" dirty="0"/>
              <a:t> 10: Water Resources Systems Engineering Frontiers</a:t>
            </a:r>
            <a:br>
              <a:rPr lang="en-US" altLang="ko-KR" strike="sngStrike" dirty="0"/>
            </a:br>
            <a:r>
              <a:rPr lang="en-US" altLang="ko-KR" strike="sngStrike" dirty="0"/>
              <a:t>-Introduction and Examples Part 2 (</a:t>
            </a:r>
            <a:r>
              <a:rPr lang="en-US" altLang="ko-KR" i="1" strike="sngStrike" dirty="0"/>
              <a:t>Invited Talk</a:t>
            </a:r>
            <a:r>
              <a:rPr lang="en-US" altLang="ko-KR" strike="sngStrike" dirty="0"/>
              <a:t>)</a:t>
            </a:r>
            <a:br>
              <a:rPr lang="en-US" altLang="ko-KR" strike="sngStrike" dirty="0"/>
            </a:br>
            <a:r>
              <a:rPr lang="en-US" altLang="ko-KR" dirty="0">
                <a:hlinkClick r:id="rId2"/>
              </a:rPr>
              <a:t>https://www.youtube.com/watch?v=tnRCNHsk69I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41D36A-A169-4A9B-831F-CA225322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39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1B4E4-83FB-4E90-9BB5-1F22D2CA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공지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8707D-3380-4877-A903-7C9FB373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Term Project B </a:t>
            </a:r>
            <a:r>
              <a:rPr lang="ko-KR" altLang="en-US" dirty="0"/>
              <a:t>팀 변경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팀 </a:t>
            </a:r>
            <a:r>
              <a:rPr lang="en-US" altLang="ko-KR" dirty="0"/>
              <a:t>C: </a:t>
            </a:r>
            <a:r>
              <a:rPr lang="ko-KR" altLang="en-US" dirty="0" err="1"/>
              <a:t>이재황</a:t>
            </a:r>
            <a:r>
              <a:rPr lang="ko-KR" altLang="en-US" dirty="0"/>
              <a:t> 김현주 박성열 </a:t>
            </a:r>
            <a:r>
              <a:rPr lang="ko-KR" altLang="en-US" b="1" u="sng" dirty="0" err="1"/>
              <a:t>남현욱</a:t>
            </a:r>
            <a:endParaRPr lang="en-US" altLang="ko-KR" b="1" u="sng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팀 </a:t>
            </a:r>
            <a:r>
              <a:rPr lang="en-US" altLang="ko-KR" dirty="0"/>
              <a:t>D: </a:t>
            </a:r>
            <a:r>
              <a:rPr lang="ko-KR" altLang="en-US" dirty="0"/>
              <a:t>이재호 김연주 이주형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강의평가 관련</a:t>
            </a:r>
            <a:endParaRPr lang="en-US" altLang="ko-KR" dirty="0"/>
          </a:p>
          <a:p>
            <a:pPr lvl="1"/>
            <a:r>
              <a:rPr lang="en-US" altLang="ko-KR" dirty="0"/>
              <a:t> 2022.06.03. (</a:t>
            </a:r>
            <a:r>
              <a:rPr lang="ko-KR" altLang="en-US" dirty="0"/>
              <a:t>금</a:t>
            </a:r>
            <a:r>
              <a:rPr lang="en-US" altLang="ko-KR" dirty="0"/>
              <a:t>) 5PM </a:t>
            </a:r>
            <a:r>
              <a:rPr lang="ko-KR" altLang="en-US" dirty="0"/>
              <a:t>이전까지 팀원 전체가 강의평가를 완료한다면 </a:t>
            </a:r>
            <a:r>
              <a:rPr lang="en-US" altLang="ko-KR" dirty="0"/>
              <a:t>Term Project B </a:t>
            </a:r>
            <a:r>
              <a:rPr lang="ko-KR" altLang="en-US" dirty="0"/>
              <a:t>점수에 팀별 점수 </a:t>
            </a:r>
            <a:r>
              <a:rPr lang="en-US" altLang="ko-KR" dirty="0"/>
              <a:t>+1</a:t>
            </a:r>
            <a:r>
              <a:rPr lang="ko-KR" altLang="en-US" dirty="0"/>
              <a:t>점 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강의평가는 다음 장 내용을 이메일이나 카카오톡</a:t>
            </a:r>
            <a:r>
              <a:rPr lang="en-US" altLang="ko-KR" dirty="0"/>
              <a:t>(</a:t>
            </a:r>
            <a:r>
              <a:rPr lang="ko-KR" altLang="en-US" dirty="0" err="1"/>
              <a:t>개인메세지</a:t>
            </a:r>
            <a:r>
              <a:rPr lang="en-US" altLang="ko-KR" dirty="0"/>
              <a:t>)</a:t>
            </a:r>
            <a:r>
              <a:rPr lang="ko-KR" altLang="en-US" dirty="0"/>
              <a:t>으로 전달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학점 확인을 위한 강의평가는 비슷한 내용으로 향후에 진행해도 무방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82EF4-6A45-4F82-84E5-09A26D4A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94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4B377-FBB5-46DB-BB59-BB38B442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2022 Spring WRSE </a:t>
            </a:r>
            <a:r>
              <a:rPr lang="ko-KR" altLang="en-US" dirty="0"/>
              <a:t>강의평가 문항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5E4BF-5138-4106-8666-C41E12181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학기 수자원시스템공학 수업과 관련해서 아래 질문들에 </a:t>
            </a:r>
            <a:br>
              <a:rPr lang="en-US" altLang="ko-KR" dirty="0"/>
            </a:br>
            <a:r>
              <a:rPr lang="ko-KR" altLang="en-US" dirty="0"/>
              <a:t>대해 최대한 자세하게</a:t>
            </a:r>
            <a:r>
              <a:rPr lang="en-US" altLang="ko-KR" dirty="0"/>
              <a:t> </a:t>
            </a:r>
            <a:r>
              <a:rPr lang="ko-KR" altLang="en-US" dirty="0"/>
              <a:t>작성 부탁드립니다</a:t>
            </a:r>
            <a:r>
              <a:rPr lang="en-US" altLang="ko-KR" dirty="0"/>
              <a:t>. </a:t>
            </a:r>
            <a:r>
              <a:rPr lang="ko-KR" altLang="en-US" dirty="0"/>
              <a:t>여러분의 자세한 피드백이 수업 개선에 큰 도움이 됩니다 </a:t>
            </a:r>
            <a:r>
              <a:rPr lang="en-US" altLang="ko-KR" dirty="0"/>
              <a:t>(1-3</a:t>
            </a:r>
            <a:r>
              <a:rPr lang="ko-KR" altLang="en-US" dirty="0"/>
              <a:t> 문항별 공백 포함 </a:t>
            </a:r>
            <a:r>
              <a:rPr lang="en-US" altLang="ko-KR" dirty="0"/>
              <a:t>200</a:t>
            </a:r>
            <a:r>
              <a:rPr lang="ko-KR" altLang="en-US" dirty="0"/>
              <a:t>자 이상</a:t>
            </a:r>
            <a:r>
              <a:rPr lang="en-US" altLang="ko-KR" dirty="0"/>
              <a:t>).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이번 수업에서 가장 좋았던</a:t>
            </a:r>
            <a:r>
              <a:rPr lang="en-US" altLang="ko-KR" dirty="0"/>
              <a:t>/</a:t>
            </a:r>
            <a:r>
              <a:rPr lang="ko-KR" altLang="en-US" dirty="0"/>
              <a:t>괜찮았던 내용은 무엇이었습니까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수업 내용 중</a:t>
            </a:r>
            <a:r>
              <a:rPr lang="en-US" altLang="ko-KR" dirty="0"/>
              <a:t>, </a:t>
            </a:r>
            <a:r>
              <a:rPr lang="ko-KR" altLang="en-US" dirty="0"/>
              <a:t>가장 어려웠던</a:t>
            </a:r>
            <a:r>
              <a:rPr lang="en-US" altLang="ko-KR" dirty="0"/>
              <a:t>/</a:t>
            </a:r>
            <a:r>
              <a:rPr lang="ko-KR" altLang="en-US" dirty="0"/>
              <a:t>힘들었던 부분은 어떤 것이었습니까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수업 관련한 건의사항이 있으면 말씀해 주세요 </a:t>
            </a:r>
            <a:r>
              <a:rPr lang="en-US" altLang="ko-KR" dirty="0"/>
              <a:t>(</a:t>
            </a:r>
            <a:r>
              <a:rPr lang="ko-KR" altLang="en-US" dirty="0"/>
              <a:t>강의 시간</a:t>
            </a:r>
            <a:r>
              <a:rPr lang="en-US" altLang="ko-KR" dirty="0"/>
              <a:t>, </a:t>
            </a:r>
            <a:r>
              <a:rPr lang="ko-KR" altLang="en-US" dirty="0"/>
              <a:t>강의 내용</a:t>
            </a:r>
            <a:r>
              <a:rPr lang="en-US" altLang="ko-KR" dirty="0"/>
              <a:t>, </a:t>
            </a:r>
            <a:r>
              <a:rPr lang="ko-KR" altLang="en-US" dirty="0"/>
              <a:t>퀴즈나 숙제</a:t>
            </a:r>
            <a:r>
              <a:rPr lang="en-US" altLang="ko-KR" dirty="0"/>
              <a:t> </a:t>
            </a:r>
            <a:r>
              <a:rPr lang="ko-KR" altLang="en-US" dirty="0"/>
              <a:t>관련</a:t>
            </a:r>
            <a:r>
              <a:rPr lang="en-US" altLang="ko-KR" dirty="0"/>
              <a:t>, </a:t>
            </a:r>
            <a:r>
              <a:rPr lang="ko-KR" altLang="en-US" dirty="0"/>
              <a:t>시험 관련</a:t>
            </a:r>
            <a:r>
              <a:rPr lang="en-US" altLang="ko-KR" dirty="0"/>
              <a:t>, </a:t>
            </a:r>
            <a:r>
              <a:rPr lang="ko-KR" altLang="en-US" dirty="0" err="1"/>
              <a:t>텀프로젝트</a:t>
            </a:r>
            <a:r>
              <a:rPr lang="en-US" altLang="ko-KR" dirty="0"/>
              <a:t>, </a:t>
            </a:r>
            <a:r>
              <a:rPr lang="ko-KR" altLang="en-US" dirty="0"/>
              <a:t>평가 방법 등</a:t>
            </a:r>
            <a:r>
              <a:rPr lang="en-US" altLang="ko-KR" dirty="0"/>
              <a:t>).</a:t>
            </a:r>
          </a:p>
          <a:p>
            <a:pPr lvl="1"/>
            <a:r>
              <a:rPr lang="en-US" altLang="ko-KR" dirty="0"/>
              <a:t> (</a:t>
            </a:r>
            <a:r>
              <a:rPr lang="ko-KR" altLang="en-US" dirty="0"/>
              <a:t>있을 시</a:t>
            </a:r>
            <a:r>
              <a:rPr lang="en-US" altLang="ko-KR" dirty="0"/>
              <a:t>, </a:t>
            </a:r>
            <a:r>
              <a:rPr lang="ko-KR" altLang="en-US" dirty="0"/>
              <a:t>분량 상관없이 답변</a:t>
            </a:r>
            <a:r>
              <a:rPr lang="en-US" altLang="ko-KR" dirty="0"/>
              <a:t>) </a:t>
            </a:r>
            <a:r>
              <a:rPr lang="ko-KR" altLang="en-US" dirty="0"/>
              <a:t>수업 내용과 관련하여 추가적으로 수업에서 </a:t>
            </a:r>
            <a:r>
              <a:rPr lang="ko-KR" altLang="en-US" dirty="0" err="1"/>
              <a:t>다루어졌으면</a:t>
            </a:r>
            <a:r>
              <a:rPr lang="ko-KR" altLang="en-US" dirty="0"/>
              <a:t> 하는 내용이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 (</a:t>
            </a:r>
            <a:r>
              <a:rPr lang="ko-KR" altLang="en-US" dirty="0"/>
              <a:t>있을 시</a:t>
            </a:r>
            <a:r>
              <a:rPr lang="en-US" altLang="ko-KR" dirty="0"/>
              <a:t>, </a:t>
            </a:r>
            <a:r>
              <a:rPr lang="ko-KR" altLang="en-US" dirty="0"/>
              <a:t>분량 상관없이 답변</a:t>
            </a:r>
            <a:r>
              <a:rPr lang="en-US" altLang="ko-KR" dirty="0"/>
              <a:t>) </a:t>
            </a:r>
            <a:r>
              <a:rPr lang="ko-KR" altLang="en-US" dirty="0"/>
              <a:t>강의자에게 따로 전달할 메시지나 건의사항이 있으면 </a:t>
            </a:r>
            <a:r>
              <a:rPr lang="en-US" altLang="ko-KR" dirty="0"/>
              <a:t>(</a:t>
            </a:r>
            <a:r>
              <a:rPr lang="ko-KR" altLang="en-US" dirty="0"/>
              <a:t>수업 외 내용도 괜찮습니다</a:t>
            </a:r>
            <a:r>
              <a:rPr lang="en-US" altLang="ko-KR" dirty="0"/>
              <a:t>) </a:t>
            </a:r>
            <a:r>
              <a:rPr lang="ko-KR" altLang="en-US" dirty="0"/>
              <a:t>따로 전달 부탁드립니다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D2B6F-B3DD-4206-A1DB-91003A940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11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78701</TotalTime>
  <Words>758</Words>
  <Application>Microsoft Office PowerPoint</Application>
  <PresentationFormat>화면 슬라이드 쇼(4:3)</PresentationFormat>
  <Paragraphs>94</Paragraphs>
  <Slides>13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MathType 6.0 Equation</vt:lpstr>
      <vt:lpstr>Lecture 08</vt:lpstr>
      <vt:lpstr>6.8 Synthetic Streamflow Generation (p.257)</vt:lpstr>
      <vt:lpstr>6.8 Synthetic Streamflow Generation (p.257)</vt:lpstr>
      <vt:lpstr>Common Sampling Methods</vt:lpstr>
      <vt:lpstr>Application in the Real-world </vt:lpstr>
      <vt:lpstr>Types of Streamflow Generation Models</vt:lpstr>
      <vt:lpstr>SAMS2007</vt:lpstr>
      <vt:lpstr>SAMS2007</vt:lpstr>
      <vt:lpstr>SAMS2007</vt:lpstr>
      <vt:lpstr>SAMS2007</vt:lpstr>
      <vt:lpstr>End of Lecture 08</vt:lpstr>
      <vt:lpstr>기타 공지</vt:lpstr>
      <vt:lpstr>2022 Spring WRSE 강의평가 문항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2430</cp:revision>
  <cp:lastPrinted>2022-03-21T05:50:04Z</cp:lastPrinted>
  <dcterms:created xsi:type="dcterms:W3CDTF">2020-01-02T02:18:47Z</dcterms:created>
  <dcterms:modified xsi:type="dcterms:W3CDTF">2022-05-31T01:48:43Z</dcterms:modified>
</cp:coreProperties>
</file>