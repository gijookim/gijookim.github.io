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329" r:id="rId2"/>
    <p:sldId id="267" r:id="rId3"/>
    <p:sldId id="328" r:id="rId4"/>
    <p:sldId id="323" r:id="rId5"/>
    <p:sldId id="304" r:id="rId6"/>
    <p:sldId id="305" r:id="rId7"/>
    <p:sldId id="307" r:id="rId8"/>
    <p:sldId id="308" r:id="rId9"/>
    <p:sldId id="311" r:id="rId10"/>
    <p:sldId id="312" r:id="rId11"/>
    <p:sldId id="314" r:id="rId12"/>
    <p:sldId id="313" r:id="rId13"/>
    <p:sldId id="325" r:id="rId14"/>
    <p:sldId id="315" r:id="rId15"/>
    <p:sldId id="324" r:id="rId16"/>
    <p:sldId id="316" r:id="rId17"/>
    <p:sldId id="318" r:id="rId18"/>
    <p:sldId id="269" r:id="rId19"/>
    <p:sldId id="294" r:id="rId20"/>
  </p:sldIdLst>
  <p:sldSz cx="9144000" cy="6858000" type="screen4x3"/>
  <p:notesSz cx="6735763" cy="986631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7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41" autoAdjust="0"/>
    <p:restoredTop sz="86739" autoAdjust="0"/>
  </p:normalViewPr>
  <p:slideViewPr>
    <p:cSldViewPr>
      <p:cViewPr varScale="1">
        <p:scale>
          <a:sx n="95" d="100"/>
          <a:sy n="95" d="100"/>
        </p:scale>
        <p:origin x="194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53685;&#54633;%20&#47928;&#49436;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scatterChart>
        <c:scatterStyle val="lineMarker"/>
        <c:varyColors val="0"/>
        <c:ser>
          <c:idx val="0"/>
          <c:order val="0"/>
          <c:tx>
            <c:strRef>
              <c:f>Sheet1!$C$4</c:f>
              <c:strCache>
                <c:ptCount val="1"/>
                <c:pt idx="0">
                  <c:v>For Design (1967-1988)</c:v>
                </c:pt>
              </c:strCache>
            </c:strRef>
          </c:tx>
          <c:spPr>
            <a:ln w="19050" cap="rnd">
              <a:solidFill>
                <a:schemeClr val="dk1">
                  <a:tint val="88500"/>
                </a:schemeClr>
              </a:solidFill>
              <a:prstDash val="lgDash"/>
              <a:round/>
            </a:ln>
            <a:effectLst/>
          </c:spPr>
          <c:marker>
            <c:symbol val="circle"/>
            <c:size val="5"/>
            <c:spPr>
              <a:solidFill>
                <a:schemeClr val="dk1">
                  <a:tint val="88500"/>
                </a:schemeClr>
              </a:solidFill>
              <a:ln w="9525">
                <a:solidFill>
                  <a:schemeClr val="dk1">
                    <a:tint val="88500"/>
                  </a:schemeClr>
                </a:solidFill>
                <a:prstDash val="lgDash"/>
              </a:ln>
              <a:effectLst/>
            </c:spPr>
          </c:marker>
          <c:xVal>
            <c:strRef>
              <c:f>Sheet1!$B$5:$B$16</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xVal>
          <c:yVal>
            <c:numRef>
              <c:f>Sheet1!$C$5:$C$16</c:f>
              <c:numCache>
                <c:formatCode>General</c:formatCode>
                <c:ptCount val="12"/>
                <c:pt idx="0">
                  <c:v>1.42</c:v>
                </c:pt>
                <c:pt idx="1">
                  <c:v>1.99</c:v>
                </c:pt>
                <c:pt idx="2">
                  <c:v>2.79</c:v>
                </c:pt>
                <c:pt idx="3">
                  <c:v>3.81</c:v>
                </c:pt>
                <c:pt idx="4">
                  <c:v>2.58</c:v>
                </c:pt>
                <c:pt idx="5">
                  <c:v>3.68</c:v>
                </c:pt>
                <c:pt idx="6">
                  <c:v>10.87</c:v>
                </c:pt>
                <c:pt idx="7">
                  <c:v>8.7200000000000006</c:v>
                </c:pt>
                <c:pt idx="8">
                  <c:v>5.8</c:v>
                </c:pt>
                <c:pt idx="9">
                  <c:v>2.1</c:v>
                </c:pt>
                <c:pt idx="10">
                  <c:v>2.0299999999999998</c:v>
                </c:pt>
                <c:pt idx="11">
                  <c:v>1.78</c:v>
                </c:pt>
              </c:numCache>
            </c:numRef>
          </c:yVal>
          <c:smooth val="0"/>
          <c:extLst>
            <c:ext xmlns:c16="http://schemas.microsoft.com/office/drawing/2014/chart" uri="{C3380CC4-5D6E-409C-BE32-E72D297353CC}">
              <c16:uniqueId val="{00000000-FFDA-408A-A20A-BAA23CF3404D}"/>
            </c:ext>
          </c:extLst>
        </c:ser>
        <c:ser>
          <c:idx val="1"/>
          <c:order val="1"/>
          <c:tx>
            <c:strRef>
              <c:f>Sheet1!$D$4</c:f>
              <c:strCache>
                <c:ptCount val="1"/>
                <c:pt idx="0">
                  <c:v>After Construction (1998-2015)</c:v>
                </c:pt>
              </c:strCache>
            </c:strRef>
          </c:tx>
          <c:spPr>
            <a:ln w="19050" cap="rnd">
              <a:solidFill>
                <a:schemeClr val="bg2">
                  <a:lumMod val="50000"/>
                  <a:alpha val="99000"/>
                </a:schemeClr>
              </a:solidFill>
              <a:prstDash val="sysDot"/>
              <a:round/>
            </a:ln>
            <a:effectLst/>
          </c:spPr>
          <c:marker>
            <c:symbol val="circle"/>
            <c:size val="5"/>
            <c:spPr>
              <a:solidFill>
                <a:schemeClr val="bg2">
                  <a:lumMod val="50000"/>
                </a:schemeClr>
              </a:solidFill>
              <a:ln w="9525">
                <a:solidFill>
                  <a:schemeClr val="bg2">
                    <a:lumMod val="50000"/>
                  </a:schemeClr>
                </a:solidFill>
                <a:prstDash val="sysDot"/>
              </a:ln>
              <a:effectLst/>
            </c:spPr>
          </c:marker>
          <c:xVal>
            <c:strRef>
              <c:f>Sheet1!$B$5:$B$16</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xVal>
          <c:yVal>
            <c:numRef>
              <c:f>Sheet1!$D$5:$D$16</c:f>
              <c:numCache>
                <c:formatCode>General</c:formatCode>
                <c:ptCount val="12"/>
                <c:pt idx="0">
                  <c:v>0.63</c:v>
                </c:pt>
                <c:pt idx="1">
                  <c:v>0.98</c:v>
                </c:pt>
                <c:pt idx="2">
                  <c:v>1.07</c:v>
                </c:pt>
                <c:pt idx="3">
                  <c:v>2.21</c:v>
                </c:pt>
                <c:pt idx="4">
                  <c:v>2.92</c:v>
                </c:pt>
                <c:pt idx="5">
                  <c:v>3.83</c:v>
                </c:pt>
                <c:pt idx="6">
                  <c:v>14.47</c:v>
                </c:pt>
                <c:pt idx="7">
                  <c:v>12.17</c:v>
                </c:pt>
                <c:pt idx="8">
                  <c:v>8.1999999999999993</c:v>
                </c:pt>
                <c:pt idx="9">
                  <c:v>2.17</c:v>
                </c:pt>
                <c:pt idx="10">
                  <c:v>0.73</c:v>
                </c:pt>
                <c:pt idx="11">
                  <c:v>0.74</c:v>
                </c:pt>
              </c:numCache>
            </c:numRef>
          </c:yVal>
          <c:smooth val="0"/>
          <c:extLst>
            <c:ext xmlns:c16="http://schemas.microsoft.com/office/drawing/2014/chart" uri="{C3380CC4-5D6E-409C-BE32-E72D297353CC}">
              <c16:uniqueId val="{00000001-FFDA-408A-A20A-BAA23CF3404D}"/>
            </c:ext>
          </c:extLst>
        </c:ser>
        <c:ser>
          <c:idx val="2"/>
          <c:order val="2"/>
          <c:tx>
            <c:strRef>
              <c:f>Sheet1!$E$4</c:f>
              <c:strCache>
                <c:ptCount val="1"/>
                <c:pt idx="0">
                  <c:v>Recent (2015-2017)</c:v>
                </c:pt>
              </c:strCache>
            </c:strRef>
          </c:tx>
          <c:spPr>
            <a:ln w="19050" cap="rnd">
              <a:solidFill>
                <a:srgbClr val="FF0000"/>
              </a:solidFill>
              <a:round/>
            </a:ln>
            <a:effectLst/>
          </c:spPr>
          <c:marker>
            <c:symbol val="circle"/>
            <c:size val="5"/>
            <c:spPr>
              <a:solidFill>
                <a:srgbClr val="FF0000"/>
              </a:solidFill>
              <a:ln w="9525">
                <a:solidFill>
                  <a:srgbClr val="FF0000"/>
                </a:solidFill>
              </a:ln>
              <a:effectLst/>
            </c:spPr>
          </c:marker>
          <c:xVal>
            <c:strRef>
              <c:f>Sheet1!$B$5:$B$16</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xVal>
          <c:yVal>
            <c:numRef>
              <c:f>Sheet1!$E$5:$E$16</c:f>
              <c:numCache>
                <c:formatCode>General</c:formatCode>
                <c:ptCount val="12"/>
                <c:pt idx="0">
                  <c:v>1.26</c:v>
                </c:pt>
                <c:pt idx="1">
                  <c:v>1.69</c:v>
                </c:pt>
                <c:pt idx="2">
                  <c:v>1.38</c:v>
                </c:pt>
                <c:pt idx="3">
                  <c:v>3.72</c:v>
                </c:pt>
                <c:pt idx="4">
                  <c:v>2.97</c:v>
                </c:pt>
                <c:pt idx="5">
                  <c:v>1.17</c:v>
                </c:pt>
                <c:pt idx="6">
                  <c:v>7.25</c:v>
                </c:pt>
                <c:pt idx="7">
                  <c:v>2.94</c:v>
                </c:pt>
                <c:pt idx="8">
                  <c:v>1.56</c:v>
                </c:pt>
                <c:pt idx="9">
                  <c:v>1.52</c:v>
                </c:pt>
                <c:pt idx="10">
                  <c:v>1.81</c:v>
                </c:pt>
                <c:pt idx="11">
                  <c:v>2.08</c:v>
                </c:pt>
              </c:numCache>
            </c:numRef>
          </c:yVal>
          <c:smooth val="0"/>
          <c:extLst>
            <c:ext xmlns:c16="http://schemas.microsoft.com/office/drawing/2014/chart" uri="{C3380CC4-5D6E-409C-BE32-E72D297353CC}">
              <c16:uniqueId val="{00000002-FFDA-408A-A20A-BAA23CF3404D}"/>
            </c:ext>
          </c:extLst>
        </c:ser>
        <c:dLbls>
          <c:showLegendKey val="0"/>
          <c:showVal val="0"/>
          <c:showCatName val="0"/>
          <c:showSerName val="0"/>
          <c:showPercent val="0"/>
          <c:showBubbleSize val="0"/>
        </c:dLbls>
        <c:axId val="1823847456"/>
        <c:axId val="1877906880"/>
      </c:scatterChart>
      <c:valAx>
        <c:axId val="1823847456"/>
        <c:scaling>
          <c:orientation val="minMax"/>
          <c:max val="12"/>
          <c:min val="1"/>
        </c:scaling>
        <c:delete val="0"/>
        <c:axPos val="b"/>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나눔고딕 ExtraBold" panose="020D0904000000000000" pitchFamily="50" charset="-127"/>
                <a:ea typeface="나눔고딕 ExtraBold" panose="020D0904000000000000" pitchFamily="50" charset="-127"/>
                <a:cs typeface="+mn-cs"/>
              </a:defRPr>
            </a:pPr>
            <a:endParaRPr lang="ko-KR"/>
          </a:p>
        </c:txPr>
        <c:crossAx val="1877906880"/>
        <c:crosses val="autoZero"/>
        <c:crossBetween val="midCat"/>
        <c:majorUnit val="1"/>
      </c:valAx>
      <c:valAx>
        <c:axId val="18779068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나눔고딕 ExtraBold" panose="020D0904000000000000" pitchFamily="50" charset="-127"/>
                <a:ea typeface="나눔고딕 ExtraBold" panose="020D0904000000000000" pitchFamily="50" charset="-127"/>
                <a:cs typeface="+mn-cs"/>
              </a:defRPr>
            </a:pPr>
            <a:endParaRPr lang="ko-KR"/>
          </a:p>
        </c:txPr>
        <c:crossAx val="1823847456"/>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ysClr val="windowText" lastClr="000000"/>
              </a:solidFill>
              <a:latin typeface="나눔고딕 ExtraBold" panose="020D0904000000000000" pitchFamily="50" charset="-127"/>
              <a:ea typeface="나눔고딕 ExtraBold" panose="020D0904000000000000" pitchFamily="50" charset="-127"/>
              <a:cs typeface="+mn-cs"/>
            </a:defRPr>
          </a:pPr>
          <a:endParaRPr lang="ko-K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solidFill>
            <a:sysClr val="windowText" lastClr="000000"/>
          </a:solidFill>
          <a:latin typeface="나눔고딕 ExtraBold" panose="020D0904000000000000" pitchFamily="50" charset="-127"/>
          <a:ea typeface="나눔고딕 ExtraBold" panose="020D0904000000000000" pitchFamily="50" charset="-127"/>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18830" cy="495029"/>
          </a:xfrm>
          <a:prstGeom prst="rect">
            <a:avLst/>
          </a:prstGeom>
        </p:spPr>
        <p:txBody>
          <a:bodyPr vert="horz" lIns="90763" tIns="45382" rIns="90763" bIns="45382" rtlCol="0"/>
          <a:lstStyle>
            <a:lvl1pPr algn="l">
              <a:defRPr sz="1200"/>
            </a:lvl1pPr>
          </a:lstStyle>
          <a:p>
            <a:endParaRPr lang="ko-KR" altLang="en-US"/>
          </a:p>
        </p:txBody>
      </p:sp>
      <p:sp>
        <p:nvSpPr>
          <p:cNvPr id="3" name="날짜 개체 틀 2"/>
          <p:cNvSpPr>
            <a:spLocks noGrp="1"/>
          </p:cNvSpPr>
          <p:nvPr>
            <p:ph type="dt" idx="1"/>
          </p:nvPr>
        </p:nvSpPr>
        <p:spPr>
          <a:xfrm>
            <a:off x="3815375" y="0"/>
            <a:ext cx="2918830" cy="495029"/>
          </a:xfrm>
          <a:prstGeom prst="rect">
            <a:avLst/>
          </a:prstGeom>
        </p:spPr>
        <p:txBody>
          <a:bodyPr vert="horz" lIns="90763" tIns="45382" rIns="90763" bIns="45382" rtlCol="0"/>
          <a:lstStyle>
            <a:lvl1pPr algn="r">
              <a:defRPr sz="1200"/>
            </a:lvl1pPr>
          </a:lstStyle>
          <a:p>
            <a:fld id="{E1DBA18E-019D-4DB5-9C84-C80C9EC0EDE4}" type="datetimeFigureOut">
              <a:rPr lang="ko-KR" altLang="en-US" smtClean="0"/>
              <a:t>2022-06-23</a:t>
            </a:fld>
            <a:endParaRPr lang="ko-KR" altLang="en-US"/>
          </a:p>
        </p:txBody>
      </p:sp>
      <p:sp>
        <p:nvSpPr>
          <p:cNvPr id="4" name="슬라이드 이미지 개체 틀 3"/>
          <p:cNvSpPr>
            <a:spLocks noGrp="1" noRot="1" noChangeAspect="1"/>
          </p:cNvSpPr>
          <p:nvPr>
            <p:ph type="sldImg" idx="2"/>
          </p:nvPr>
        </p:nvSpPr>
        <p:spPr>
          <a:xfrm>
            <a:off x="1149350" y="1233488"/>
            <a:ext cx="4437063" cy="3328987"/>
          </a:xfrm>
          <a:prstGeom prst="rect">
            <a:avLst/>
          </a:prstGeom>
          <a:noFill/>
          <a:ln w="12700">
            <a:solidFill>
              <a:prstClr val="black"/>
            </a:solidFill>
          </a:ln>
        </p:spPr>
        <p:txBody>
          <a:bodyPr vert="horz" lIns="90763" tIns="45382" rIns="90763" bIns="45382" rtlCol="0" anchor="ctr"/>
          <a:lstStyle/>
          <a:p>
            <a:endParaRPr lang="ko-KR" altLang="en-US"/>
          </a:p>
        </p:txBody>
      </p:sp>
      <p:sp>
        <p:nvSpPr>
          <p:cNvPr id="5" name="슬라이드 노트 개체 틀 4"/>
          <p:cNvSpPr>
            <a:spLocks noGrp="1"/>
          </p:cNvSpPr>
          <p:nvPr>
            <p:ph type="body" sz="quarter" idx="3"/>
          </p:nvPr>
        </p:nvSpPr>
        <p:spPr>
          <a:xfrm>
            <a:off x="673577" y="4748163"/>
            <a:ext cx="5388610" cy="3884861"/>
          </a:xfrm>
          <a:prstGeom prst="rect">
            <a:avLst/>
          </a:prstGeom>
        </p:spPr>
        <p:txBody>
          <a:bodyPr vert="horz" lIns="90763" tIns="45382" rIns="90763" bIns="45382"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1" y="9371286"/>
            <a:ext cx="2918830" cy="495028"/>
          </a:xfrm>
          <a:prstGeom prst="rect">
            <a:avLst/>
          </a:prstGeom>
        </p:spPr>
        <p:txBody>
          <a:bodyPr vert="horz" lIns="90763" tIns="45382" rIns="90763" bIns="45382"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15375" y="9371286"/>
            <a:ext cx="2918830" cy="495028"/>
          </a:xfrm>
          <a:prstGeom prst="rect">
            <a:avLst/>
          </a:prstGeom>
        </p:spPr>
        <p:txBody>
          <a:bodyPr vert="horz" lIns="90763" tIns="45382" rIns="90763" bIns="45382" rtlCol="0" anchor="b"/>
          <a:lstStyle>
            <a:lvl1pPr algn="r">
              <a:defRPr sz="1200"/>
            </a:lvl1pPr>
          </a:lstStyle>
          <a:p>
            <a:fld id="{3B93C0B1-E0F9-447B-AFB5-BCC5935C28C8}" type="slidenum">
              <a:rPr lang="ko-KR" altLang="en-US" smtClean="0"/>
              <a:t>‹#›</a:t>
            </a:fld>
            <a:endParaRPr lang="ko-KR" altLang="en-US"/>
          </a:p>
        </p:txBody>
      </p:sp>
    </p:spTree>
    <p:extLst>
      <p:ext uri="{BB962C8B-B14F-4D97-AF65-F5344CB8AC3E}">
        <p14:creationId xmlns:p14="http://schemas.microsoft.com/office/powerpoint/2010/main" val="277698145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Both the background and the motivation of this study started from multi-year droughts that happened in Korea from 2014-2019.</a:t>
            </a:r>
          </a:p>
          <a:p>
            <a:r>
              <a:rPr lang="en-US" altLang="ko-KR" dirty="0"/>
              <a:t>The picture below is the same reservoir you saw from the title page.</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2</a:t>
            </a:fld>
            <a:endParaRPr lang="ko-KR" altLang="en-US"/>
          </a:p>
        </p:txBody>
      </p:sp>
    </p:spTree>
    <p:extLst>
      <p:ext uri="{BB962C8B-B14F-4D97-AF65-F5344CB8AC3E}">
        <p14:creationId xmlns:p14="http://schemas.microsoft.com/office/powerpoint/2010/main" val="1963909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Rather than shouting that the rules you are using is trash, but they actually do have the potential to be implemented in real-world situations as well. </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17</a:t>
            </a:fld>
            <a:endParaRPr lang="ko-KR" altLang="en-US"/>
          </a:p>
        </p:txBody>
      </p:sp>
    </p:spTree>
    <p:extLst>
      <p:ext uri="{BB962C8B-B14F-4D97-AF65-F5344CB8AC3E}">
        <p14:creationId xmlns:p14="http://schemas.microsoft.com/office/powerpoint/2010/main" val="2831360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lvl1pPr>
          </a:lstStyle>
          <a:p>
            <a:r>
              <a:rPr lang="ko-KR" altLang="en-US" dirty="0"/>
              <a:t>마스터 제목 스타일 편집</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endParaRPr lang="en-US" dirty="0"/>
          </a:p>
        </p:txBody>
      </p:sp>
      <p:sp>
        <p:nvSpPr>
          <p:cNvPr id="4" name="Date Placeholder 3"/>
          <p:cNvSpPr>
            <a:spLocks noGrp="1"/>
          </p:cNvSpPr>
          <p:nvPr>
            <p:ph type="dt" sz="half" idx="10"/>
          </p:nvPr>
        </p:nvSpPr>
        <p:spPr/>
        <p:txBody>
          <a:bodyPr/>
          <a:lstStyle/>
          <a:p>
            <a:fld id="{CA67A350-3A71-4B7D-BDC0-843F99B4F0E0}" type="datetime1">
              <a:rPr lang="ko-KR" altLang="en-US" smtClean="0"/>
              <a:t>2022-06-23</a:t>
            </a:fld>
            <a:endParaRPr lang="ko-KR" altLang="en-US"/>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3340037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ody_1_Introdu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Date Placeholder 3">
            <a:extLst>
              <a:ext uri="{FF2B5EF4-FFF2-40B4-BE49-F238E27FC236}">
                <a16:creationId xmlns:a16="http://schemas.microsoft.com/office/drawing/2014/main" id="{371ABB3D-08F4-4E8A-8883-4F196A37E3BE}"/>
              </a:ext>
            </a:extLst>
          </p:cNvPr>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ACE8CD8D-67D3-4251-B7D9-12E9DB56539A}" type="datetime1">
              <a:rPr lang="ko-KR" altLang="en-US" smtClean="0"/>
              <a:pPr/>
              <a:t>2022-06-23</a:t>
            </a:fld>
            <a:endParaRPr lang="ko-KR" altLang="en-US" dirty="0"/>
          </a:p>
        </p:txBody>
      </p:sp>
      <p:pic>
        <p:nvPicPr>
          <p:cNvPr id="7" name="그림 6">
            <a:extLst>
              <a:ext uri="{FF2B5EF4-FFF2-40B4-BE49-F238E27FC236}">
                <a16:creationId xmlns:a16="http://schemas.microsoft.com/office/drawing/2014/main" id="{833BDB8A-AC36-425A-82C8-798E2650DC6B}"/>
              </a:ext>
            </a:extLst>
          </p:cNvPr>
          <p:cNvPicPr>
            <a:picLocks noChangeAspect="1"/>
          </p:cNvPicPr>
          <p:nvPr userDrawn="1"/>
        </p:nvPicPr>
        <p:blipFill>
          <a:blip r:embed="rId2"/>
          <a:stretch>
            <a:fillRect/>
          </a:stretch>
        </p:blipFill>
        <p:spPr>
          <a:xfrm>
            <a:off x="628650" y="6250413"/>
            <a:ext cx="1711102" cy="576999"/>
          </a:xfrm>
          <a:prstGeom prst="rect">
            <a:avLst/>
          </a:prstGeom>
        </p:spPr>
      </p:pic>
      <p:sp>
        <p:nvSpPr>
          <p:cNvPr id="8" name="Text Placeholder 2">
            <a:extLst>
              <a:ext uri="{FF2B5EF4-FFF2-40B4-BE49-F238E27FC236}">
                <a16:creationId xmlns:a16="http://schemas.microsoft.com/office/drawing/2014/main" id="{9269657D-7D03-40D5-A61B-A02EA552AB99}"/>
              </a:ext>
            </a:extLst>
          </p:cNvPr>
          <p:cNvSpPr txBox="1">
            <a:spLocks/>
          </p:cNvSpPr>
          <p:nvPr userDrawn="1"/>
        </p:nvSpPr>
        <p:spPr>
          <a:xfrm>
            <a:off x="7830352" y="86441"/>
            <a:ext cx="1313648" cy="1152128"/>
          </a:xfrm>
          <a:prstGeom prst="rect">
            <a:avLst/>
          </a:prstGeom>
        </p:spPr>
        <p:txBody>
          <a:bodyPr vert="horz" lIns="91440" tIns="45720" rIns="91440" bIns="45720" rtlCol="0">
            <a:normAutofit/>
          </a:bodyPr>
          <a:lst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400"/>
              </a:lnSpc>
              <a:buNone/>
            </a:pPr>
            <a:endParaRPr lang="en-US" sz="1200" dirty="0"/>
          </a:p>
          <a:p>
            <a:pPr marL="0" indent="0">
              <a:lnSpc>
                <a:spcPts val="400"/>
              </a:lnSpc>
              <a:buNone/>
            </a:pPr>
            <a:r>
              <a:rPr lang="en-US" sz="1200" dirty="0"/>
              <a:t>I. Introduction</a:t>
            </a:r>
          </a:p>
          <a:p>
            <a:pPr marL="0" indent="0">
              <a:lnSpc>
                <a:spcPts val="400"/>
              </a:lnSpc>
              <a:buNone/>
            </a:pPr>
            <a:r>
              <a:rPr lang="en-US" sz="1200" dirty="0">
                <a:solidFill>
                  <a:schemeClr val="bg1">
                    <a:lumMod val="85000"/>
                  </a:schemeClr>
                </a:solidFill>
              </a:rPr>
              <a:t>II. Methodology</a:t>
            </a:r>
          </a:p>
          <a:p>
            <a:pPr marL="0" indent="0">
              <a:lnSpc>
                <a:spcPts val="400"/>
              </a:lnSpc>
              <a:buNone/>
            </a:pPr>
            <a:r>
              <a:rPr lang="en-US" sz="1200" dirty="0">
                <a:solidFill>
                  <a:schemeClr val="bg1">
                    <a:lumMod val="85000"/>
                  </a:schemeClr>
                </a:solidFill>
              </a:rPr>
              <a:t>III. Application</a:t>
            </a:r>
          </a:p>
          <a:p>
            <a:pPr marL="0" indent="0">
              <a:lnSpc>
                <a:spcPts val="400"/>
              </a:lnSpc>
              <a:buNone/>
            </a:pPr>
            <a:r>
              <a:rPr lang="en-US" sz="1200" dirty="0">
                <a:solidFill>
                  <a:schemeClr val="bg1">
                    <a:lumMod val="85000"/>
                  </a:schemeClr>
                </a:solidFill>
              </a:rPr>
              <a:t>IV. Results</a:t>
            </a:r>
          </a:p>
          <a:p>
            <a:pPr marL="0" indent="0">
              <a:lnSpc>
                <a:spcPts val="400"/>
              </a:lnSpc>
              <a:buNone/>
            </a:pPr>
            <a:r>
              <a:rPr lang="en-US" sz="1200" dirty="0">
                <a:solidFill>
                  <a:schemeClr val="bg1">
                    <a:lumMod val="85000"/>
                  </a:schemeClr>
                </a:solidFill>
              </a:rPr>
              <a:t>V. Conclusion</a:t>
            </a:r>
          </a:p>
        </p:txBody>
      </p:sp>
    </p:spTree>
    <p:extLst>
      <p:ext uri="{BB962C8B-B14F-4D97-AF65-F5344CB8AC3E}">
        <p14:creationId xmlns:p14="http://schemas.microsoft.com/office/powerpoint/2010/main" val="859942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Body_2_Methodolog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Date Placeholder 3">
            <a:extLst>
              <a:ext uri="{FF2B5EF4-FFF2-40B4-BE49-F238E27FC236}">
                <a16:creationId xmlns:a16="http://schemas.microsoft.com/office/drawing/2014/main" id="{371ABB3D-08F4-4E8A-8883-4F196A37E3BE}"/>
              </a:ext>
            </a:extLst>
          </p:cNvPr>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ACE8CD8D-67D3-4251-B7D9-12E9DB56539A}" type="datetime1">
              <a:rPr lang="ko-KR" altLang="en-US" smtClean="0"/>
              <a:pPr/>
              <a:t>2022-06-23</a:t>
            </a:fld>
            <a:endParaRPr lang="ko-KR" altLang="en-US" dirty="0"/>
          </a:p>
        </p:txBody>
      </p:sp>
      <p:pic>
        <p:nvPicPr>
          <p:cNvPr id="7" name="그림 6">
            <a:extLst>
              <a:ext uri="{FF2B5EF4-FFF2-40B4-BE49-F238E27FC236}">
                <a16:creationId xmlns:a16="http://schemas.microsoft.com/office/drawing/2014/main" id="{833BDB8A-AC36-425A-82C8-798E2650DC6B}"/>
              </a:ext>
            </a:extLst>
          </p:cNvPr>
          <p:cNvPicPr>
            <a:picLocks noChangeAspect="1"/>
          </p:cNvPicPr>
          <p:nvPr userDrawn="1"/>
        </p:nvPicPr>
        <p:blipFill>
          <a:blip r:embed="rId2"/>
          <a:stretch>
            <a:fillRect/>
          </a:stretch>
        </p:blipFill>
        <p:spPr>
          <a:xfrm>
            <a:off x="628650" y="6250413"/>
            <a:ext cx="1711102" cy="576999"/>
          </a:xfrm>
          <a:prstGeom prst="rect">
            <a:avLst/>
          </a:prstGeom>
        </p:spPr>
      </p:pic>
      <p:sp>
        <p:nvSpPr>
          <p:cNvPr id="8" name="Text Placeholder 2">
            <a:extLst>
              <a:ext uri="{FF2B5EF4-FFF2-40B4-BE49-F238E27FC236}">
                <a16:creationId xmlns:a16="http://schemas.microsoft.com/office/drawing/2014/main" id="{9269657D-7D03-40D5-A61B-A02EA552AB99}"/>
              </a:ext>
            </a:extLst>
          </p:cNvPr>
          <p:cNvSpPr txBox="1">
            <a:spLocks/>
          </p:cNvSpPr>
          <p:nvPr userDrawn="1"/>
        </p:nvSpPr>
        <p:spPr>
          <a:xfrm>
            <a:off x="7830352" y="86441"/>
            <a:ext cx="1313648" cy="1152128"/>
          </a:xfrm>
          <a:prstGeom prst="rect">
            <a:avLst/>
          </a:prstGeom>
        </p:spPr>
        <p:txBody>
          <a:bodyPr vert="horz" lIns="91440" tIns="45720" rIns="91440" bIns="45720" rtlCol="0">
            <a:normAutofit/>
          </a:bodyPr>
          <a:lst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400"/>
              </a:lnSpc>
              <a:buNone/>
            </a:pPr>
            <a:endParaRPr lang="en-US" sz="1200" dirty="0"/>
          </a:p>
          <a:p>
            <a:pPr marL="0" indent="0">
              <a:lnSpc>
                <a:spcPts val="400"/>
              </a:lnSpc>
              <a:buNone/>
            </a:pPr>
            <a:r>
              <a:rPr lang="en-US" sz="1200" dirty="0">
                <a:solidFill>
                  <a:schemeClr val="bg1">
                    <a:lumMod val="85000"/>
                  </a:schemeClr>
                </a:solidFill>
              </a:rPr>
              <a:t>I. Introduction</a:t>
            </a:r>
          </a:p>
          <a:p>
            <a:pPr marL="0" indent="0">
              <a:lnSpc>
                <a:spcPts val="400"/>
              </a:lnSpc>
              <a:buNone/>
            </a:pPr>
            <a:r>
              <a:rPr lang="en-US" sz="1200" dirty="0"/>
              <a:t>II. Methodology</a:t>
            </a:r>
          </a:p>
          <a:p>
            <a:pPr marL="0" indent="0">
              <a:lnSpc>
                <a:spcPts val="400"/>
              </a:lnSpc>
              <a:buNone/>
            </a:pPr>
            <a:r>
              <a:rPr lang="en-US" sz="1200" dirty="0">
                <a:solidFill>
                  <a:schemeClr val="bg1">
                    <a:lumMod val="85000"/>
                  </a:schemeClr>
                </a:solidFill>
              </a:rPr>
              <a:t>III. Application</a:t>
            </a:r>
          </a:p>
          <a:p>
            <a:pPr marL="0" indent="0">
              <a:lnSpc>
                <a:spcPts val="400"/>
              </a:lnSpc>
              <a:buNone/>
            </a:pPr>
            <a:r>
              <a:rPr lang="en-US" sz="1200" dirty="0">
                <a:solidFill>
                  <a:schemeClr val="bg1">
                    <a:lumMod val="85000"/>
                  </a:schemeClr>
                </a:solidFill>
              </a:rPr>
              <a:t>IV. Results</a:t>
            </a:r>
          </a:p>
          <a:p>
            <a:pPr marL="0" indent="0">
              <a:lnSpc>
                <a:spcPts val="400"/>
              </a:lnSpc>
              <a:buNone/>
            </a:pPr>
            <a:r>
              <a:rPr lang="en-US" sz="1200" dirty="0">
                <a:solidFill>
                  <a:schemeClr val="bg1">
                    <a:lumMod val="85000"/>
                  </a:schemeClr>
                </a:solidFill>
              </a:rPr>
              <a:t>V. Conclusion</a:t>
            </a:r>
          </a:p>
        </p:txBody>
      </p:sp>
    </p:spTree>
    <p:extLst>
      <p:ext uri="{BB962C8B-B14F-4D97-AF65-F5344CB8AC3E}">
        <p14:creationId xmlns:p14="http://schemas.microsoft.com/office/powerpoint/2010/main" val="4028205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ody_3_Applica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Date Placeholder 3">
            <a:extLst>
              <a:ext uri="{FF2B5EF4-FFF2-40B4-BE49-F238E27FC236}">
                <a16:creationId xmlns:a16="http://schemas.microsoft.com/office/drawing/2014/main" id="{371ABB3D-08F4-4E8A-8883-4F196A37E3BE}"/>
              </a:ext>
            </a:extLst>
          </p:cNvPr>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ACE8CD8D-67D3-4251-B7D9-12E9DB56539A}" type="datetime1">
              <a:rPr lang="ko-KR" altLang="en-US" smtClean="0"/>
              <a:pPr/>
              <a:t>2022-06-23</a:t>
            </a:fld>
            <a:endParaRPr lang="ko-KR" altLang="en-US" dirty="0"/>
          </a:p>
        </p:txBody>
      </p:sp>
      <p:pic>
        <p:nvPicPr>
          <p:cNvPr id="7" name="그림 6">
            <a:extLst>
              <a:ext uri="{FF2B5EF4-FFF2-40B4-BE49-F238E27FC236}">
                <a16:creationId xmlns:a16="http://schemas.microsoft.com/office/drawing/2014/main" id="{833BDB8A-AC36-425A-82C8-798E2650DC6B}"/>
              </a:ext>
            </a:extLst>
          </p:cNvPr>
          <p:cNvPicPr>
            <a:picLocks noChangeAspect="1"/>
          </p:cNvPicPr>
          <p:nvPr userDrawn="1"/>
        </p:nvPicPr>
        <p:blipFill>
          <a:blip r:embed="rId2"/>
          <a:stretch>
            <a:fillRect/>
          </a:stretch>
        </p:blipFill>
        <p:spPr>
          <a:xfrm>
            <a:off x="628650" y="6250413"/>
            <a:ext cx="1711102" cy="576999"/>
          </a:xfrm>
          <a:prstGeom prst="rect">
            <a:avLst/>
          </a:prstGeom>
        </p:spPr>
      </p:pic>
      <p:sp>
        <p:nvSpPr>
          <p:cNvPr id="8" name="Text Placeholder 2">
            <a:extLst>
              <a:ext uri="{FF2B5EF4-FFF2-40B4-BE49-F238E27FC236}">
                <a16:creationId xmlns:a16="http://schemas.microsoft.com/office/drawing/2014/main" id="{9269657D-7D03-40D5-A61B-A02EA552AB99}"/>
              </a:ext>
            </a:extLst>
          </p:cNvPr>
          <p:cNvSpPr txBox="1">
            <a:spLocks/>
          </p:cNvSpPr>
          <p:nvPr userDrawn="1"/>
        </p:nvSpPr>
        <p:spPr>
          <a:xfrm>
            <a:off x="7830352" y="86441"/>
            <a:ext cx="1313648" cy="1152128"/>
          </a:xfrm>
          <a:prstGeom prst="rect">
            <a:avLst/>
          </a:prstGeom>
        </p:spPr>
        <p:txBody>
          <a:bodyPr vert="horz" lIns="91440" tIns="45720" rIns="91440" bIns="45720" rtlCol="0">
            <a:normAutofit/>
          </a:bodyPr>
          <a:lst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400"/>
              </a:lnSpc>
              <a:buNone/>
            </a:pPr>
            <a:endParaRPr lang="en-US" sz="1200" dirty="0"/>
          </a:p>
          <a:p>
            <a:pPr marL="0" indent="0">
              <a:lnSpc>
                <a:spcPts val="400"/>
              </a:lnSpc>
              <a:buNone/>
            </a:pPr>
            <a:r>
              <a:rPr lang="en-US" sz="1200" dirty="0">
                <a:solidFill>
                  <a:schemeClr val="bg1">
                    <a:lumMod val="85000"/>
                  </a:schemeClr>
                </a:solidFill>
              </a:rPr>
              <a:t>I. Introduction</a:t>
            </a:r>
          </a:p>
          <a:p>
            <a:pPr marL="0" indent="0">
              <a:lnSpc>
                <a:spcPts val="400"/>
              </a:lnSpc>
              <a:buNone/>
            </a:pPr>
            <a:r>
              <a:rPr lang="en-US" sz="1200" dirty="0">
                <a:solidFill>
                  <a:schemeClr val="bg1">
                    <a:lumMod val="85000"/>
                  </a:schemeClr>
                </a:solidFill>
              </a:rPr>
              <a:t>II. Methodology</a:t>
            </a:r>
          </a:p>
          <a:p>
            <a:pPr marL="0" indent="0">
              <a:lnSpc>
                <a:spcPts val="400"/>
              </a:lnSpc>
              <a:buNone/>
            </a:pPr>
            <a:r>
              <a:rPr lang="en-US" sz="1200" dirty="0"/>
              <a:t>III. Application</a:t>
            </a:r>
          </a:p>
          <a:p>
            <a:pPr marL="0" indent="0">
              <a:lnSpc>
                <a:spcPts val="400"/>
              </a:lnSpc>
              <a:buNone/>
            </a:pPr>
            <a:r>
              <a:rPr lang="en-US" sz="1200" dirty="0">
                <a:solidFill>
                  <a:schemeClr val="bg1">
                    <a:lumMod val="85000"/>
                  </a:schemeClr>
                </a:solidFill>
              </a:rPr>
              <a:t>IV. Results</a:t>
            </a:r>
          </a:p>
          <a:p>
            <a:pPr marL="0" indent="0">
              <a:lnSpc>
                <a:spcPts val="400"/>
              </a:lnSpc>
              <a:buNone/>
            </a:pPr>
            <a:r>
              <a:rPr lang="en-US" sz="1200" dirty="0">
                <a:solidFill>
                  <a:schemeClr val="bg1">
                    <a:lumMod val="85000"/>
                  </a:schemeClr>
                </a:solidFill>
              </a:rPr>
              <a:t>V. Conclusion</a:t>
            </a:r>
          </a:p>
        </p:txBody>
      </p:sp>
    </p:spTree>
    <p:extLst>
      <p:ext uri="{BB962C8B-B14F-4D97-AF65-F5344CB8AC3E}">
        <p14:creationId xmlns:p14="http://schemas.microsoft.com/office/powerpoint/2010/main" val="4164009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ody_4_Resul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Date Placeholder 3">
            <a:extLst>
              <a:ext uri="{FF2B5EF4-FFF2-40B4-BE49-F238E27FC236}">
                <a16:creationId xmlns:a16="http://schemas.microsoft.com/office/drawing/2014/main" id="{371ABB3D-08F4-4E8A-8883-4F196A37E3BE}"/>
              </a:ext>
            </a:extLst>
          </p:cNvPr>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ACE8CD8D-67D3-4251-B7D9-12E9DB56539A}" type="datetime1">
              <a:rPr lang="ko-KR" altLang="en-US" smtClean="0"/>
              <a:pPr/>
              <a:t>2022-06-23</a:t>
            </a:fld>
            <a:endParaRPr lang="ko-KR" altLang="en-US" dirty="0"/>
          </a:p>
        </p:txBody>
      </p:sp>
      <p:pic>
        <p:nvPicPr>
          <p:cNvPr id="7" name="그림 6">
            <a:extLst>
              <a:ext uri="{FF2B5EF4-FFF2-40B4-BE49-F238E27FC236}">
                <a16:creationId xmlns:a16="http://schemas.microsoft.com/office/drawing/2014/main" id="{833BDB8A-AC36-425A-82C8-798E2650DC6B}"/>
              </a:ext>
            </a:extLst>
          </p:cNvPr>
          <p:cNvPicPr>
            <a:picLocks noChangeAspect="1"/>
          </p:cNvPicPr>
          <p:nvPr userDrawn="1"/>
        </p:nvPicPr>
        <p:blipFill>
          <a:blip r:embed="rId2"/>
          <a:stretch>
            <a:fillRect/>
          </a:stretch>
        </p:blipFill>
        <p:spPr>
          <a:xfrm>
            <a:off x="628650" y="6250413"/>
            <a:ext cx="1711102" cy="576999"/>
          </a:xfrm>
          <a:prstGeom prst="rect">
            <a:avLst/>
          </a:prstGeom>
        </p:spPr>
      </p:pic>
      <p:sp>
        <p:nvSpPr>
          <p:cNvPr id="8" name="Text Placeholder 2">
            <a:extLst>
              <a:ext uri="{FF2B5EF4-FFF2-40B4-BE49-F238E27FC236}">
                <a16:creationId xmlns:a16="http://schemas.microsoft.com/office/drawing/2014/main" id="{9269657D-7D03-40D5-A61B-A02EA552AB99}"/>
              </a:ext>
            </a:extLst>
          </p:cNvPr>
          <p:cNvSpPr txBox="1">
            <a:spLocks/>
          </p:cNvSpPr>
          <p:nvPr userDrawn="1"/>
        </p:nvSpPr>
        <p:spPr>
          <a:xfrm>
            <a:off x="7830352" y="86441"/>
            <a:ext cx="1313648" cy="1152128"/>
          </a:xfrm>
          <a:prstGeom prst="rect">
            <a:avLst/>
          </a:prstGeom>
        </p:spPr>
        <p:txBody>
          <a:bodyPr vert="horz" lIns="91440" tIns="45720" rIns="91440" bIns="45720" rtlCol="0">
            <a:normAutofit/>
          </a:bodyPr>
          <a:lst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400"/>
              </a:lnSpc>
              <a:buNone/>
            </a:pPr>
            <a:endParaRPr lang="en-US" sz="1200" dirty="0"/>
          </a:p>
          <a:p>
            <a:pPr marL="0" indent="0">
              <a:lnSpc>
                <a:spcPts val="400"/>
              </a:lnSpc>
              <a:buNone/>
            </a:pPr>
            <a:r>
              <a:rPr lang="en-US" sz="1200" dirty="0">
                <a:solidFill>
                  <a:schemeClr val="bg1">
                    <a:lumMod val="85000"/>
                  </a:schemeClr>
                </a:solidFill>
              </a:rPr>
              <a:t>I. Introduction</a:t>
            </a:r>
          </a:p>
          <a:p>
            <a:pPr marL="0" indent="0">
              <a:lnSpc>
                <a:spcPts val="400"/>
              </a:lnSpc>
              <a:buNone/>
            </a:pPr>
            <a:r>
              <a:rPr lang="en-US" sz="1200" dirty="0">
                <a:solidFill>
                  <a:schemeClr val="bg1">
                    <a:lumMod val="85000"/>
                  </a:schemeClr>
                </a:solidFill>
              </a:rPr>
              <a:t>II. Methodology</a:t>
            </a:r>
          </a:p>
          <a:p>
            <a:pPr marL="0" indent="0">
              <a:lnSpc>
                <a:spcPts val="400"/>
              </a:lnSpc>
              <a:buNone/>
            </a:pPr>
            <a:r>
              <a:rPr lang="en-US" sz="1200" dirty="0">
                <a:solidFill>
                  <a:schemeClr val="bg1">
                    <a:lumMod val="85000"/>
                  </a:schemeClr>
                </a:solidFill>
              </a:rPr>
              <a:t>III. Application</a:t>
            </a:r>
          </a:p>
          <a:p>
            <a:pPr marL="0" indent="0">
              <a:lnSpc>
                <a:spcPts val="400"/>
              </a:lnSpc>
              <a:buNone/>
            </a:pPr>
            <a:r>
              <a:rPr lang="en-US" sz="1200" dirty="0"/>
              <a:t>IV. Results</a:t>
            </a:r>
          </a:p>
          <a:p>
            <a:pPr marL="0" indent="0">
              <a:lnSpc>
                <a:spcPts val="400"/>
              </a:lnSpc>
              <a:buNone/>
            </a:pPr>
            <a:r>
              <a:rPr lang="en-US" sz="1200" dirty="0">
                <a:solidFill>
                  <a:schemeClr val="bg1">
                    <a:lumMod val="85000"/>
                  </a:schemeClr>
                </a:solidFill>
              </a:rPr>
              <a:t>V. Conclusion</a:t>
            </a:r>
          </a:p>
        </p:txBody>
      </p:sp>
    </p:spTree>
    <p:extLst>
      <p:ext uri="{BB962C8B-B14F-4D97-AF65-F5344CB8AC3E}">
        <p14:creationId xmlns:p14="http://schemas.microsoft.com/office/powerpoint/2010/main" val="3182881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ody_5_Conclus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Date Placeholder 3">
            <a:extLst>
              <a:ext uri="{FF2B5EF4-FFF2-40B4-BE49-F238E27FC236}">
                <a16:creationId xmlns:a16="http://schemas.microsoft.com/office/drawing/2014/main" id="{371ABB3D-08F4-4E8A-8883-4F196A37E3BE}"/>
              </a:ext>
            </a:extLst>
          </p:cNvPr>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ACE8CD8D-67D3-4251-B7D9-12E9DB56539A}" type="datetime1">
              <a:rPr lang="ko-KR" altLang="en-US" smtClean="0"/>
              <a:pPr/>
              <a:t>2022-06-23</a:t>
            </a:fld>
            <a:endParaRPr lang="ko-KR" altLang="en-US" dirty="0"/>
          </a:p>
        </p:txBody>
      </p:sp>
      <p:pic>
        <p:nvPicPr>
          <p:cNvPr id="7" name="그림 6">
            <a:extLst>
              <a:ext uri="{FF2B5EF4-FFF2-40B4-BE49-F238E27FC236}">
                <a16:creationId xmlns:a16="http://schemas.microsoft.com/office/drawing/2014/main" id="{833BDB8A-AC36-425A-82C8-798E2650DC6B}"/>
              </a:ext>
            </a:extLst>
          </p:cNvPr>
          <p:cNvPicPr>
            <a:picLocks noChangeAspect="1"/>
          </p:cNvPicPr>
          <p:nvPr userDrawn="1"/>
        </p:nvPicPr>
        <p:blipFill>
          <a:blip r:embed="rId2"/>
          <a:stretch>
            <a:fillRect/>
          </a:stretch>
        </p:blipFill>
        <p:spPr>
          <a:xfrm>
            <a:off x="628650" y="6250413"/>
            <a:ext cx="1711102" cy="576999"/>
          </a:xfrm>
          <a:prstGeom prst="rect">
            <a:avLst/>
          </a:prstGeom>
        </p:spPr>
      </p:pic>
      <p:sp>
        <p:nvSpPr>
          <p:cNvPr id="8" name="Text Placeholder 2">
            <a:extLst>
              <a:ext uri="{FF2B5EF4-FFF2-40B4-BE49-F238E27FC236}">
                <a16:creationId xmlns:a16="http://schemas.microsoft.com/office/drawing/2014/main" id="{9269657D-7D03-40D5-A61B-A02EA552AB99}"/>
              </a:ext>
            </a:extLst>
          </p:cNvPr>
          <p:cNvSpPr txBox="1">
            <a:spLocks/>
          </p:cNvSpPr>
          <p:nvPr userDrawn="1"/>
        </p:nvSpPr>
        <p:spPr>
          <a:xfrm>
            <a:off x="7830352" y="86441"/>
            <a:ext cx="1313648" cy="1152128"/>
          </a:xfrm>
          <a:prstGeom prst="rect">
            <a:avLst/>
          </a:prstGeom>
        </p:spPr>
        <p:txBody>
          <a:bodyPr vert="horz" lIns="91440" tIns="45720" rIns="91440" bIns="45720" rtlCol="0">
            <a:normAutofit/>
          </a:bodyPr>
          <a:lst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400"/>
              </a:lnSpc>
              <a:buNone/>
            </a:pPr>
            <a:endParaRPr lang="en-US" sz="1200" dirty="0"/>
          </a:p>
          <a:p>
            <a:pPr marL="0" indent="0">
              <a:lnSpc>
                <a:spcPts val="400"/>
              </a:lnSpc>
              <a:buNone/>
            </a:pPr>
            <a:r>
              <a:rPr lang="en-US" sz="1200" dirty="0">
                <a:solidFill>
                  <a:schemeClr val="bg1">
                    <a:lumMod val="85000"/>
                  </a:schemeClr>
                </a:solidFill>
              </a:rPr>
              <a:t>I. Introduction</a:t>
            </a:r>
          </a:p>
          <a:p>
            <a:pPr marL="0" indent="0">
              <a:lnSpc>
                <a:spcPts val="400"/>
              </a:lnSpc>
              <a:buNone/>
            </a:pPr>
            <a:r>
              <a:rPr lang="en-US" sz="1200" dirty="0">
                <a:solidFill>
                  <a:schemeClr val="bg1">
                    <a:lumMod val="85000"/>
                  </a:schemeClr>
                </a:solidFill>
              </a:rPr>
              <a:t>II. Methodology</a:t>
            </a:r>
          </a:p>
          <a:p>
            <a:pPr marL="0" indent="0">
              <a:lnSpc>
                <a:spcPts val="400"/>
              </a:lnSpc>
              <a:buNone/>
            </a:pPr>
            <a:r>
              <a:rPr lang="en-US" sz="1200" dirty="0">
                <a:solidFill>
                  <a:schemeClr val="bg1">
                    <a:lumMod val="85000"/>
                  </a:schemeClr>
                </a:solidFill>
              </a:rPr>
              <a:t>III. Application</a:t>
            </a:r>
          </a:p>
          <a:p>
            <a:pPr marL="0" indent="0">
              <a:lnSpc>
                <a:spcPts val="400"/>
              </a:lnSpc>
              <a:buNone/>
            </a:pPr>
            <a:r>
              <a:rPr lang="en-US" sz="1200" dirty="0">
                <a:solidFill>
                  <a:schemeClr val="bg1">
                    <a:lumMod val="85000"/>
                  </a:schemeClr>
                </a:solidFill>
              </a:rPr>
              <a:t>IV. Results</a:t>
            </a:r>
          </a:p>
          <a:p>
            <a:pPr marL="0" indent="0">
              <a:lnSpc>
                <a:spcPts val="400"/>
              </a:lnSpc>
              <a:buNone/>
            </a:pPr>
            <a:r>
              <a:rPr lang="en-US" sz="1200" dirty="0"/>
              <a:t>V. Conclusion</a:t>
            </a:r>
          </a:p>
        </p:txBody>
      </p:sp>
    </p:spTree>
    <p:extLst>
      <p:ext uri="{BB962C8B-B14F-4D97-AF65-F5344CB8AC3E}">
        <p14:creationId xmlns:p14="http://schemas.microsoft.com/office/powerpoint/2010/main" val="2076281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_Body_EN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Date Placeholder 3">
            <a:extLst>
              <a:ext uri="{FF2B5EF4-FFF2-40B4-BE49-F238E27FC236}">
                <a16:creationId xmlns:a16="http://schemas.microsoft.com/office/drawing/2014/main" id="{371ABB3D-08F4-4E8A-8883-4F196A37E3BE}"/>
              </a:ext>
            </a:extLst>
          </p:cNvPr>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ACE8CD8D-67D3-4251-B7D9-12E9DB56539A}" type="datetime1">
              <a:rPr lang="ko-KR" altLang="en-US" smtClean="0"/>
              <a:pPr/>
              <a:t>2022-06-23</a:t>
            </a:fld>
            <a:endParaRPr lang="ko-KR" altLang="en-US" dirty="0"/>
          </a:p>
        </p:txBody>
      </p:sp>
      <p:pic>
        <p:nvPicPr>
          <p:cNvPr id="7" name="그림 6">
            <a:extLst>
              <a:ext uri="{FF2B5EF4-FFF2-40B4-BE49-F238E27FC236}">
                <a16:creationId xmlns:a16="http://schemas.microsoft.com/office/drawing/2014/main" id="{833BDB8A-AC36-425A-82C8-798E2650DC6B}"/>
              </a:ext>
            </a:extLst>
          </p:cNvPr>
          <p:cNvPicPr>
            <a:picLocks noChangeAspect="1"/>
          </p:cNvPicPr>
          <p:nvPr userDrawn="1"/>
        </p:nvPicPr>
        <p:blipFill>
          <a:blip r:embed="rId2"/>
          <a:stretch>
            <a:fillRect/>
          </a:stretch>
        </p:blipFill>
        <p:spPr>
          <a:xfrm>
            <a:off x="628650" y="6250413"/>
            <a:ext cx="1711102" cy="576999"/>
          </a:xfrm>
          <a:prstGeom prst="rect">
            <a:avLst/>
          </a:prstGeom>
        </p:spPr>
      </p:pic>
    </p:spTree>
    <p:extLst>
      <p:ext uri="{BB962C8B-B14F-4D97-AF65-F5344CB8AC3E}">
        <p14:creationId xmlns:p14="http://schemas.microsoft.com/office/powerpoint/2010/main" val="1542853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F407B75B-9328-4092-9D22-1D769C8D056E}" type="datetime1">
              <a:rPr lang="ko-KR" altLang="en-US" smtClean="0"/>
              <a:t>2022-06-23</a:t>
            </a:fld>
            <a:endParaRPr lang="ko-KR" altLang="en-US"/>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982775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4DF68E14-CAEA-49EF-A996-488ADFD1D606}" type="datetime1">
              <a:rPr lang="ko-KR" altLang="en-US" smtClean="0"/>
              <a:t>2022-06-23</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639544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629842" y="2505075"/>
            <a:ext cx="3868340"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4629150" y="2505075"/>
            <a:ext cx="3887391"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7" name="Date Placeholder 6"/>
          <p:cNvSpPr>
            <a:spLocks noGrp="1"/>
          </p:cNvSpPr>
          <p:nvPr>
            <p:ph type="dt" sz="half" idx="10"/>
          </p:nvPr>
        </p:nvSpPr>
        <p:spPr/>
        <p:txBody>
          <a:bodyPr/>
          <a:lstStyle/>
          <a:p>
            <a:fld id="{67897EF3-3063-423A-96A9-68BCBD8D9943}" type="datetime1">
              <a:rPr lang="ko-KR" altLang="en-US" smtClean="0"/>
              <a:t>2022-06-23</a:t>
            </a:fld>
            <a:endParaRPr lang="ko-KR" altLang="en-US"/>
          </a:p>
        </p:txBody>
      </p:sp>
      <p:sp>
        <p:nvSpPr>
          <p:cNvPr id="9" name="Slide Number Placeholder 8"/>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1899829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CD85B887-8C9B-46DE-BC48-3681F906CA9B}" type="datetime1">
              <a:rPr lang="ko-KR" altLang="en-US" smtClean="0"/>
              <a:t>2022-06-23</a:t>
            </a:fld>
            <a:endParaRPr lang="ko-KR" altLang="en-US"/>
          </a:p>
        </p:txBody>
      </p:sp>
      <p:sp>
        <p:nvSpPr>
          <p:cNvPr id="5" name="Slide Number Placeholder 4"/>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2554999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47E19-6206-463B-9AE9-66BE4F630FC0}" type="datetime1">
              <a:rPr lang="ko-KR" altLang="en-US" smtClean="0"/>
              <a:t>2022-06-23</a:t>
            </a:fld>
            <a:endParaRPr lang="ko-KR" altLang="en-US"/>
          </a:p>
        </p:txBody>
      </p:sp>
      <p:sp>
        <p:nvSpPr>
          <p:cNvPr id="4" name="Slide Number Placeholder 3"/>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3" name="제목 2">
            <a:extLst>
              <a:ext uri="{FF2B5EF4-FFF2-40B4-BE49-F238E27FC236}">
                <a16:creationId xmlns:a16="http://schemas.microsoft.com/office/drawing/2014/main" id="{03339795-4603-4C4B-B582-9870510CEFD8}"/>
              </a:ext>
            </a:extLst>
          </p:cNvPr>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92793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93CDF756-7DF6-4EF7-9AE5-1CDBCC6807D0}" type="datetime1">
              <a:rPr lang="ko-KR" altLang="en-US" smtClean="0"/>
              <a:t>2022-06-23</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7028338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0E00B1B8-02ED-4B71-B2A9-756D11FCE97A}" type="datetime1">
              <a:rPr lang="ko-KR" altLang="en-US" smtClean="0"/>
              <a:t>2022-06-23</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40633826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F8842333-966D-4877-82E2-6DF5FF1AA6FD}" type="datetime1">
              <a:rPr lang="ko-KR" altLang="en-US" smtClean="0"/>
              <a:t>2022-06-23</a:t>
            </a:fld>
            <a:endParaRPr lang="ko-KR" altLang="en-US"/>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6439172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8650" y="365125"/>
            <a:ext cx="5800725"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C882E481-74EE-447E-B10C-224EAA33899A}" type="datetime1">
              <a:rPr lang="ko-KR" altLang="en-US" smtClean="0"/>
              <a:t>2022-06-23</a:t>
            </a:fld>
            <a:endParaRPr lang="ko-KR" altLang="en-US"/>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제목 4">
            <a:extLst>
              <a:ext uri="{FF2B5EF4-FFF2-40B4-BE49-F238E27FC236}">
                <a16:creationId xmlns:a16="http://schemas.microsoft.com/office/drawing/2014/main" id="{DE5D0810-B190-47E1-A347-C4E62ABB5443}"/>
              </a:ext>
            </a:extLst>
          </p:cNvPr>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3466951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7"/>
            <a:ext cx="7039694" cy="759618"/>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628650" y="1268760"/>
            <a:ext cx="7886700" cy="4908203"/>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Date Placeholder 3"/>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28080433-D2C4-4873-B101-A6DE959DCCFD}" type="datetime1">
              <a:rPr lang="ko-KR" altLang="en-US" smtClean="0"/>
              <a:pPr/>
              <a:t>2022-06-23</a:t>
            </a:fld>
            <a:endParaRPr lang="ko-KR" altLang="en-US" dirty="0"/>
          </a:p>
        </p:txBody>
      </p:sp>
      <p:sp>
        <p:nvSpPr>
          <p:cNvPr id="6" name="Slide Number Placeholder 5"/>
          <p:cNvSpPr>
            <a:spLocks noGrp="1"/>
          </p:cNvSpPr>
          <p:nvPr>
            <p:ph type="sldNum" sz="quarter" idx="4"/>
          </p:nvPr>
        </p:nvSpPr>
        <p:spPr>
          <a:xfrm>
            <a:off x="3543300" y="6356349"/>
            <a:ext cx="2057400" cy="365125"/>
          </a:xfrm>
          <a:prstGeom prst="rect">
            <a:avLst/>
          </a:prstGeom>
        </p:spPr>
        <p:txBody>
          <a:bodyPr vert="horz" lIns="91440" tIns="45720" rIns="91440" bIns="45720" rtlCol="0" anchor="ctr"/>
          <a:lstStyle>
            <a:lvl1pPr algn="ctr">
              <a:defRPr sz="1200">
                <a:solidFill>
                  <a:schemeClr val="tx1"/>
                </a:solidFill>
              </a:defRPr>
            </a:lvl1pPr>
          </a:lstStyle>
          <a:p>
            <a:fld id="{79822AFB-C284-4A8E-A6EE-41BAA9C576A0}" type="slidenum">
              <a:rPr lang="ko-KR" altLang="en-US" smtClean="0"/>
              <a:pPr/>
              <a:t>‹#›</a:t>
            </a:fld>
            <a:endParaRPr lang="ko-KR" altLang="en-US" dirty="0"/>
          </a:p>
        </p:txBody>
      </p:sp>
    </p:spTree>
    <p:extLst>
      <p:ext uri="{BB962C8B-B14F-4D97-AF65-F5344CB8AC3E}">
        <p14:creationId xmlns:p14="http://schemas.microsoft.com/office/powerpoint/2010/main" val="35243996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6"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Lst>
  <p:hf hdr="0" ftr="0"/>
  <p:txStyles>
    <p:titleStyle>
      <a:lvl1pPr algn="l" defTabSz="914400" rtl="0" eaLnBrk="1" latinLnBrk="1" hangingPunct="1">
        <a:lnSpc>
          <a:spcPct val="90000"/>
        </a:lnSpc>
        <a:spcBef>
          <a:spcPct val="0"/>
        </a:spcBef>
        <a:buNone/>
        <a:defRPr sz="3200" kern="1200">
          <a:solidFill>
            <a:schemeClr val="tx1"/>
          </a:solidFill>
          <a:latin typeface="Gill Sans MT" panose="020B0502020104020203" pitchFamily="34" charset="0"/>
          <a:ea typeface="나눔고딕 ExtraBold" panose="020D0904000000000000" pitchFamily="50" charset="-127"/>
          <a:cs typeface="+mj-cs"/>
        </a:defRPr>
      </a:lvl1pPr>
    </p:titleStyle>
    <p:body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5.png"/><Relationship Id="rId7" Type="http://schemas.openxmlformats.org/officeDocument/2006/relationships/image" Target="../media/image13.wmf"/><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2.wmf"/><Relationship Id="rId10" Type="http://schemas.openxmlformats.org/officeDocument/2006/relationships/image" Target="../media/image18.png"/><Relationship Id="rId4" Type="http://schemas.openxmlformats.org/officeDocument/2006/relationships/oleObject" Target="../embeddings/oleObject2.bin"/><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18.wmf"/><Relationship Id="rId5" Type="http://schemas.openxmlformats.org/officeDocument/2006/relationships/oleObject" Target="../embeddings/oleObject5.bin"/><Relationship Id="rId4" Type="http://schemas.openxmlformats.org/officeDocument/2006/relationships/image" Target="../media/image17.wmf"/></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슬라이드 번호 개체 틀 4">
            <a:extLst>
              <a:ext uri="{FF2B5EF4-FFF2-40B4-BE49-F238E27FC236}">
                <a16:creationId xmlns:a16="http://schemas.microsoft.com/office/drawing/2014/main" id="{ABB8D8A6-8BD6-47C3-9ADE-16A094953AE3}"/>
              </a:ext>
            </a:extLst>
          </p:cNvPr>
          <p:cNvSpPr>
            <a:spLocks noGrp="1"/>
          </p:cNvSpPr>
          <p:nvPr>
            <p:ph type="sldNum" sz="quarter" idx="12"/>
          </p:nvPr>
        </p:nvSpPr>
        <p:spPr/>
        <p:txBody>
          <a:bodyPr/>
          <a:lstStyle/>
          <a:p>
            <a:fld id="{79822AFB-C284-4A8E-A6EE-41BAA9C576A0}" type="slidenum">
              <a:rPr lang="ko-KR" altLang="en-US" smtClean="0"/>
              <a:t>1</a:t>
            </a:fld>
            <a:endParaRPr lang="ko-KR" altLang="en-US"/>
          </a:p>
        </p:txBody>
      </p:sp>
      <p:sp>
        <p:nvSpPr>
          <p:cNvPr id="6" name="제목 1">
            <a:extLst>
              <a:ext uri="{FF2B5EF4-FFF2-40B4-BE49-F238E27FC236}">
                <a16:creationId xmlns:a16="http://schemas.microsoft.com/office/drawing/2014/main" id="{0036E069-7B74-43CD-8C7F-6F683242C239}"/>
              </a:ext>
            </a:extLst>
          </p:cNvPr>
          <p:cNvSpPr>
            <a:spLocks noGrp="1"/>
          </p:cNvSpPr>
          <p:nvPr>
            <p:ph type="ctrTitle"/>
          </p:nvPr>
        </p:nvSpPr>
        <p:spPr>
          <a:xfrm>
            <a:off x="251520" y="116632"/>
            <a:ext cx="8335943" cy="2619672"/>
          </a:xfrm>
        </p:spPr>
        <p:txBody>
          <a:bodyPr>
            <a:noAutofit/>
          </a:bodyPr>
          <a:lstStyle/>
          <a:p>
            <a:pPr algn="l"/>
            <a:r>
              <a:rPr lang="en-US" altLang="ko-KR" dirty="0">
                <a:latin typeface="Gill Sans MT" panose="020B0502020104020203" pitchFamily="34" charset="0"/>
              </a:rPr>
              <a:t>Comparative Analysis of Optimization Algorithms and the Effects of Coupling Hedging Rules in Reservoir Operations</a:t>
            </a:r>
            <a:endParaRPr lang="ko-KR" altLang="en-US" dirty="0">
              <a:latin typeface="Gill Sans MT" panose="020B0502020104020203" pitchFamily="34" charset="0"/>
            </a:endParaRPr>
          </a:p>
        </p:txBody>
      </p:sp>
      <p:sp>
        <p:nvSpPr>
          <p:cNvPr id="7" name="부제목 2">
            <a:extLst>
              <a:ext uri="{FF2B5EF4-FFF2-40B4-BE49-F238E27FC236}">
                <a16:creationId xmlns:a16="http://schemas.microsoft.com/office/drawing/2014/main" id="{0897DE88-DC9D-4386-BF48-2510E6154671}"/>
              </a:ext>
            </a:extLst>
          </p:cNvPr>
          <p:cNvSpPr>
            <a:spLocks noGrp="1"/>
          </p:cNvSpPr>
          <p:nvPr>
            <p:ph type="subTitle" idx="1"/>
          </p:nvPr>
        </p:nvSpPr>
        <p:spPr>
          <a:xfrm>
            <a:off x="1689229" y="4941168"/>
            <a:ext cx="7317432" cy="1800200"/>
          </a:xfrm>
        </p:spPr>
        <p:txBody>
          <a:bodyPr>
            <a:normAutofit/>
          </a:bodyPr>
          <a:lstStyle/>
          <a:p>
            <a:pPr algn="r">
              <a:lnSpc>
                <a:spcPct val="100000"/>
              </a:lnSpc>
            </a:pPr>
            <a:r>
              <a:rPr lang="en-US" altLang="ko-KR" u="sng" dirty="0">
                <a:latin typeface="Gill Sans MT" panose="020B0502020104020203" pitchFamily="34" charset="0"/>
              </a:rPr>
              <a:t>Gi Joo Kim</a:t>
            </a:r>
            <a:r>
              <a:rPr lang="en-US" altLang="ko-KR" dirty="0">
                <a:latin typeface="Gill Sans MT" panose="020B0502020104020203" pitchFamily="34" charset="0"/>
              </a:rPr>
              <a:t> </a:t>
            </a:r>
          </a:p>
          <a:p>
            <a:pPr algn="r">
              <a:lnSpc>
                <a:spcPct val="100000"/>
              </a:lnSpc>
            </a:pPr>
            <a:r>
              <a:rPr lang="en-US" altLang="ko-KR" dirty="0">
                <a:solidFill>
                  <a:schemeClr val="bg1"/>
                </a:solidFill>
                <a:latin typeface="Gill Sans MT" panose="020B0502020104020203" pitchFamily="34" charset="0"/>
              </a:rPr>
              <a:t>Research</a:t>
            </a:r>
            <a:r>
              <a:rPr lang="en-US" altLang="ko-KR" dirty="0">
                <a:latin typeface="Gill Sans MT" panose="020B0502020104020203" pitchFamily="34" charset="0"/>
              </a:rPr>
              <a:t> Group for Climate Change Adaptation in Water Resources</a:t>
            </a:r>
          </a:p>
          <a:p>
            <a:pPr algn="r">
              <a:lnSpc>
                <a:spcPct val="100000"/>
              </a:lnSpc>
            </a:pPr>
            <a:r>
              <a:rPr lang="en-US" altLang="ko-KR" dirty="0">
                <a:latin typeface="Gill Sans MT" panose="020B0502020104020203" pitchFamily="34" charset="0"/>
              </a:rPr>
              <a:t>Department of Civil and Environmental Engineering </a:t>
            </a:r>
          </a:p>
          <a:p>
            <a:pPr algn="r">
              <a:lnSpc>
                <a:spcPct val="100000"/>
              </a:lnSpc>
            </a:pPr>
            <a:r>
              <a:rPr lang="en-US" altLang="ko-KR" dirty="0"/>
              <a:t>Seoul National University</a:t>
            </a:r>
            <a:endParaRPr lang="en-US" altLang="ko-KR" dirty="0">
              <a:latin typeface="Gill Sans MT" panose="020B0502020104020203" pitchFamily="34" charset="0"/>
            </a:endParaRPr>
          </a:p>
        </p:txBody>
      </p:sp>
      <p:graphicFrame>
        <p:nvGraphicFramePr>
          <p:cNvPr id="8" name="개체 7">
            <a:extLst>
              <a:ext uri="{FF2B5EF4-FFF2-40B4-BE49-F238E27FC236}">
                <a16:creationId xmlns:a16="http://schemas.microsoft.com/office/drawing/2014/main" id="{5C58B2A3-943D-4736-9AAE-4B6579C073E8}"/>
              </a:ext>
            </a:extLst>
          </p:cNvPr>
          <p:cNvGraphicFramePr>
            <a:graphicFrameLocks noChangeAspect="1"/>
          </p:cNvGraphicFramePr>
          <p:nvPr>
            <p:extLst>
              <p:ext uri="{D42A27DB-BD31-4B8C-83A1-F6EECF244321}">
                <p14:modId xmlns:p14="http://schemas.microsoft.com/office/powerpoint/2010/main" val="3502902944"/>
              </p:ext>
            </p:extLst>
          </p:nvPr>
        </p:nvGraphicFramePr>
        <p:xfrm>
          <a:off x="6146800" y="3352800"/>
          <a:ext cx="914400" cy="198438"/>
        </p:xfrm>
        <a:graphic>
          <a:graphicData uri="http://schemas.openxmlformats.org/presentationml/2006/ole">
            <mc:AlternateContent xmlns:mc="http://schemas.openxmlformats.org/markup-compatibility/2006">
              <mc:Choice xmlns:v="urn:schemas-microsoft-com:vml" Requires="v">
                <p:oleObj spid="_x0000_s4098" name="Equation" r:id="rId3" imgW="914400" imgH="198720" progId="Equation.DSMT4">
                  <p:embed/>
                </p:oleObj>
              </mc:Choice>
              <mc:Fallback>
                <p:oleObj name="Equation" r:id="rId3" imgW="914400" imgH="198720" progId="Equation.DSMT4">
                  <p:embed/>
                  <p:pic>
                    <p:nvPicPr>
                      <p:cNvPr id="4" name="개체 3"/>
                      <p:cNvPicPr/>
                      <p:nvPr/>
                    </p:nvPicPr>
                    <p:blipFill>
                      <a:blip r:embed="rId4"/>
                      <a:stretch>
                        <a:fillRect/>
                      </a:stretch>
                    </p:blipFill>
                    <p:spPr>
                      <a:xfrm>
                        <a:off x="6146800" y="3352800"/>
                        <a:ext cx="914400" cy="198438"/>
                      </a:xfrm>
                      <a:prstGeom prst="rect">
                        <a:avLst/>
                      </a:prstGeom>
                    </p:spPr>
                  </p:pic>
                </p:oleObj>
              </mc:Fallback>
            </mc:AlternateContent>
          </a:graphicData>
        </a:graphic>
      </p:graphicFrame>
    </p:spTree>
    <p:extLst>
      <p:ext uri="{BB962C8B-B14F-4D97-AF65-F5344CB8AC3E}">
        <p14:creationId xmlns:p14="http://schemas.microsoft.com/office/powerpoint/2010/main" val="3179690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그림 15">
            <a:extLst>
              <a:ext uri="{FF2B5EF4-FFF2-40B4-BE49-F238E27FC236}">
                <a16:creationId xmlns:a16="http://schemas.microsoft.com/office/drawing/2014/main" id="{C51F2B7F-F7DB-42FB-A932-69F1B98E5B26}"/>
              </a:ext>
            </a:extLst>
          </p:cNvPr>
          <p:cNvPicPr>
            <a:picLocks noChangeAspect="1"/>
          </p:cNvPicPr>
          <p:nvPr/>
        </p:nvPicPr>
        <p:blipFill rotWithShape="1">
          <a:blip r:embed="rId3"/>
          <a:srcRect t="48835"/>
          <a:stretch/>
        </p:blipFill>
        <p:spPr>
          <a:xfrm>
            <a:off x="324500" y="1742064"/>
            <a:ext cx="5503594" cy="669412"/>
          </a:xfrm>
          <a:prstGeom prst="rect">
            <a:avLst/>
          </a:prstGeom>
        </p:spPr>
      </p:pic>
      <p:sp>
        <p:nvSpPr>
          <p:cNvPr id="2" name="제목 1">
            <a:extLst>
              <a:ext uri="{FF2B5EF4-FFF2-40B4-BE49-F238E27FC236}">
                <a16:creationId xmlns:a16="http://schemas.microsoft.com/office/drawing/2014/main" id="{2D50886B-A4C4-49C0-A443-6B668F240DE7}"/>
              </a:ext>
            </a:extLst>
          </p:cNvPr>
          <p:cNvSpPr>
            <a:spLocks noGrp="1"/>
          </p:cNvSpPr>
          <p:nvPr>
            <p:ph type="title"/>
          </p:nvPr>
        </p:nvSpPr>
        <p:spPr/>
        <p:txBody>
          <a:bodyPr/>
          <a:lstStyle/>
          <a:p>
            <a:r>
              <a:rPr lang="en-US" altLang="ko-KR" dirty="0"/>
              <a:t>Recent multi-year droughts in Korea</a:t>
            </a:r>
            <a:endParaRPr lang="ko-KR" altLang="en-US" dirty="0"/>
          </a:p>
        </p:txBody>
      </p:sp>
      <p:sp>
        <p:nvSpPr>
          <p:cNvPr id="4" name="슬라이드 번호 개체 틀 3">
            <a:extLst>
              <a:ext uri="{FF2B5EF4-FFF2-40B4-BE49-F238E27FC236}">
                <a16:creationId xmlns:a16="http://schemas.microsoft.com/office/drawing/2014/main" id="{61DD1A71-5368-406D-9080-0BE5BAECBA6C}"/>
              </a:ext>
            </a:extLst>
          </p:cNvPr>
          <p:cNvSpPr>
            <a:spLocks noGrp="1"/>
          </p:cNvSpPr>
          <p:nvPr>
            <p:ph type="sldNum" sz="quarter" idx="12"/>
          </p:nvPr>
        </p:nvSpPr>
        <p:spPr/>
        <p:txBody>
          <a:bodyPr/>
          <a:lstStyle/>
          <a:p>
            <a:fld id="{79822AFB-C284-4A8E-A6EE-41BAA9C576A0}" type="slidenum">
              <a:rPr lang="ko-KR" altLang="en-US" smtClean="0"/>
              <a:t>2</a:t>
            </a:fld>
            <a:endParaRPr lang="ko-KR" altLang="en-US"/>
          </a:p>
        </p:txBody>
      </p:sp>
      <p:sp>
        <p:nvSpPr>
          <p:cNvPr id="5" name="날짜 개체 틀 4">
            <a:extLst>
              <a:ext uri="{FF2B5EF4-FFF2-40B4-BE49-F238E27FC236}">
                <a16:creationId xmlns:a16="http://schemas.microsoft.com/office/drawing/2014/main" id="{EDFE79DB-BF59-4395-9622-D8A65EDE69CE}"/>
              </a:ext>
            </a:extLst>
          </p:cNvPr>
          <p:cNvSpPr>
            <a:spLocks noGrp="1"/>
          </p:cNvSpPr>
          <p:nvPr>
            <p:ph type="dt" sz="half" idx="2"/>
          </p:nvPr>
        </p:nvSpPr>
        <p:spPr/>
        <p:txBody>
          <a:bodyPr/>
          <a:lstStyle/>
          <a:p>
            <a:fld id="{ACE8CD8D-67D3-4251-B7D9-12E9DB56539A}" type="datetime1">
              <a:rPr lang="ko-KR" altLang="en-US" smtClean="0"/>
              <a:t>2022-06-23</a:t>
            </a:fld>
            <a:endParaRPr lang="ko-KR" altLang="en-US" dirty="0"/>
          </a:p>
        </p:txBody>
      </p:sp>
      <p:pic>
        <p:nvPicPr>
          <p:cNvPr id="7" name="그림 6">
            <a:extLst>
              <a:ext uri="{FF2B5EF4-FFF2-40B4-BE49-F238E27FC236}">
                <a16:creationId xmlns:a16="http://schemas.microsoft.com/office/drawing/2014/main" id="{7939FC05-C081-4B70-899E-6AA0A0EB0C5E}"/>
              </a:ext>
            </a:extLst>
          </p:cNvPr>
          <p:cNvPicPr>
            <a:picLocks noChangeAspect="1"/>
          </p:cNvPicPr>
          <p:nvPr/>
        </p:nvPicPr>
        <p:blipFill>
          <a:blip r:embed="rId4"/>
          <a:stretch>
            <a:fillRect/>
          </a:stretch>
        </p:blipFill>
        <p:spPr>
          <a:xfrm>
            <a:off x="403969" y="5079736"/>
            <a:ext cx="6278661" cy="1459175"/>
          </a:xfrm>
          <a:prstGeom prst="rect">
            <a:avLst/>
          </a:prstGeom>
        </p:spPr>
      </p:pic>
      <p:pic>
        <p:nvPicPr>
          <p:cNvPr id="13" name="그림 12">
            <a:extLst>
              <a:ext uri="{FF2B5EF4-FFF2-40B4-BE49-F238E27FC236}">
                <a16:creationId xmlns:a16="http://schemas.microsoft.com/office/drawing/2014/main" id="{80869246-7CB8-46F5-9E0D-400D3C9527FF}"/>
              </a:ext>
            </a:extLst>
          </p:cNvPr>
          <p:cNvPicPr>
            <a:picLocks noChangeAspect="1"/>
          </p:cNvPicPr>
          <p:nvPr/>
        </p:nvPicPr>
        <p:blipFill rotWithShape="1">
          <a:blip r:embed="rId3"/>
          <a:srcRect b="59550"/>
          <a:stretch/>
        </p:blipFill>
        <p:spPr>
          <a:xfrm>
            <a:off x="288641" y="1167450"/>
            <a:ext cx="6961410" cy="669411"/>
          </a:xfrm>
          <a:prstGeom prst="rect">
            <a:avLst/>
          </a:prstGeom>
        </p:spPr>
      </p:pic>
      <p:pic>
        <p:nvPicPr>
          <p:cNvPr id="3074" name="Picture 2" descr="https://file.mk.co.kr/meet/neds/2015/11/image_readmed_2015_1064724_14469625162214675.jpg">
            <a:extLst>
              <a:ext uri="{FF2B5EF4-FFF2-40B4-BE49-F238E27FC236}">
                <a16:creationId xmlns:a16="http://schemas.microsoft.com/office/drawing/2014/main" id="{B5DFD16C-FB46-4FF9-8300-016E29B503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277" y="2374822"/>
            <a:ext cx="4762500" cy="25241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file.mk.co.kr/meet/neds/2015/11/image_readtop_2015_1064724_14469625152214600.jpg">
            <a:extLst>
              <a:ext uri="{FF2B5EF4-FFF2-40B4-BE49-F238E27FC236}">
                <a16:creationId xmlns:a16="http://schemas.microsoft.com/office/drawing/2014/main" id="{C74FDF94-BB75-4334-A948-0120E2FE44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41920" y="1778264"/>
            <a:ext cx="3577580" cy="357758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31A8960B-2E3D-4FD1-AE37-CCB82616F575}"/>
              </a:ext>
            </a:extLst>
          </p:cNvPr>
          <p:cNvSpPr txBox="1"/>
          <p:nvPr/>
        </p:nvSpPr>
        <p:spPr>
          <a:xfrm>
            <a:off x="4572000" y="5515851"/>
            <a:ext cx="2057400" cy="276999"/>
          </a:xfrm>
          <a:prstGeom prst="rect">
            <a:avLst/>
          </a:prstGeom>
          <a:noFill/>
        </p:spPr>
        <p:txBody>
          <a:bodyPr wrap="square" rtlCol="0">
            <a:spAutoFit/>
          </a:bodyPr>
          <a:lstStyle/>
          <a:p>
            <a:pPr algn="ctr"/>
            <a:r>
              <a:rPr lang="en-US" altLang="ko-KR" sz="1200" dirty="0">
                <a:latin typeface="Arial" panose="020B0604020202020204" pitchFamily="34" charset="0"/>
                <a:ea typeface="08서울남산체 M" panose="02020603020101020101" pitchFamily="18" charset="-127"/>
                <a:cs typeface="Arial" panose="020B0604020202020204" pitchFamily="34" charset="0"/>
              </a:rPr>
              <a:t>(Korea Herald, 2015)</a:t>
            </a:r>
            <a:endParaRPr lang="ko-KR" altLang="en-US" sz="1200" dirty="0">
              <a:latin typeface="Arial" panose="020B0604020202020204" pitchFamily="34" charset="0"/>
              <a:ea typeface="08서울남산체 M" panose="02020603020101020101" pitchFamily="18" charset="-127"/>
              <a:cs typeface="Arial" panose="020B0604020202020204" pitchFamily="34" charset="0"/>
            </a:endParaRPr>
          </a:p>
        </p:txBody>
      </p:sp>
      <p:sp>
        <p:nvSpPr>
          <p:cNvPr id="18" name="TextBox 17">
            <a:extLst>
              <a:ext uri="{FF2B5EF4-FFF2-40B4-BE49-F238E27FC236}">
                <a16:creationId xmlns:a16="http://schemas.microsoft.com/office/drawing/2014/main" id="{42D11197-55DE-4CDE-A76F-5300CEC2BECF}"/>
              </a:ext>
            </a:extLst>
          </p:cNvPr>
          <p:cNvSpPr txBox="1"/>
          <p:nvPr/>
        </p:nvSpPr>
        <p:spPr>
          <a:xfrm>
            <a:off x="7407771" y="1407597"/>
            <a:ext cx="1454356" cy="276999"/>
          </a:xfrm>
          <a:prstGeom prst="rect">
            <a:avLst/>
          </a:prstGeom>
          <a:noFill/>
        </p:spPr>
        <p:txBody>
          <a:bodyPr wrap="square" rtlCol="0">
            <a:spAutoFit/>
          </a:bodyPr>
          <a:lstStyle/>
          <a:p>
            <a:pPr algn="ctr"/>
            <a:r>
              <a:rPr lang="en-US" altLang="ko-KR" sz="1200" dirty="0">
                <a:latin typeface="Arial" panose="020B0604020202020204" pitchFamily="34" charset="0"/>
                <a:ea typeface="08서울남산체 M" panose="02020603020101020101" pitchFamily="18" charset="-127"/>
                <a:cs typeface="Arial" panose="020B0604020202020204" pitchFamily="34" charset="0"/>
              </a:rPr>
              <a:t>(MBN, 2015)</a:t>
            </a:r>
            <a:endParaRPr lang="ko-KR" altLang="en-US" sz="1200" dirty="0">
              <a:latin typeface="Arial" panose="020B0604020202020204" pitchFamily="34" charset="0"/>
              <a:ea typeface="08서울남산체 M" panose="02020603020101020101" pitchFamily="18" charset="-127"/>
              <a:cs typeface="Arial" panose="020B0604020202020204" pitchFamily="34" charset="0"/>
            </a:endParaRPr>
          </a:p>
        </p:txBody>
      </p:sp>
      <p:sp>
        <p:nvSpPr>
          <p:cNvPr id="12" name="TextBox 11">
            <a:extLst>
              <a:ext uri="{FF2B5EF4-FFF2-40B4-BE49-F238E27FC236}">
                <a16:creationId xmlns:a16="http://schemas.microsoft.com/office/drawing/2014/main" id="{0F3796BA-A634-4E12-A1FA-4B44083EB14A}"/>
              </a:ext>
            </a:extLst>
          </p:cNvPr>
          <p:cNvSpPr txBox="1"/>
          <p:nvPr/>
        </p:nvSpPr>
        <p:spPr>
          <a:xfrm>
            <a:off x="6629400" y="5423517"/>
            <a:ext cx="2378921" cy="461665"/>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Fig. 1. Articles regarding the recent </a:t>
            </a:r>
          </a:p>
          <a:p>
            <a:r>
              <a:rPr lang="en-US" altLang="ko-KR" sz="1200" dirty="0">
                <a:latin typeface="Gill Sans MT" panose="020B0502020104020203" pitchFamily="34" charset="0"/>
                <a:cs typeface="Helvetica" panose="020B0604020202020204" pitchFamily="34" charset="0"/>
              </a:rPr>
              <a:t>multi-year droughts in Korea</a:t>
            </a:r>
            <a:endParaRPr lang="ko-KR" altLang="en-US" sz="1200" dirty="0">
              <a:latin typeface="Gill Sans MT" panose="020B0502020104020203" pitchFamily="34" charset="0"/>
              <a:cs typeface="Helvetica" panose="020B0604020202020204" pitchFamily="34" charset="0"/>
            </a:endParaRPr>
          </a:p>
        </p:txBody>
      </p:sp>
    </p:spTree>
    <p:extLst>
      <p:ext uri="{BB962C8B-B14F-4D97-AF65-F5344CB8AC3E}">
        <p14:creationId xmlns:p14="http://schemas.microsoft.com/office/powerpoint/2010/main" val="4262552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A754D90-AFED-4835-BBFA-3D41C9CFAE1E}"/>
              </a:ext>
            </a:extLst>
          </p:cNvPr>
          <p:cNvSpPr>
            <a:spLocks noGrp="1"/>
          </p:cNvSpPr>
          <p:nvPr>
            <p:ph type="title"/>
          </p:nvPr>
        </p:nvSpPr>
        <p:spPr>
          <a:xfrm>
            <a:off x="628650" y="365127"/>
            <a:ext cx="7687766" cy="759618"/>
          </a:xfrm>
        </p:spPr>
        <p:txBody>
          <a:bodyPr>
            <a:normAutofit/>
          </a:bodyPr>
          <a:lstStyle/>
          <a:p>
            <a:r>
              <a:rPr lang="en-US" altLang="ko-KR" dirty="0"/>
              <a:t>Real-world policy in Reservoir Operations</a:t>
            </a:r>
            <a:endParaRPr lang="ko-KR" altLang="en-US" dirty="0"/>
          </a:p>
        </p:txBody>
      </p:sp>
      <p:sp>
        <p:nvSpPr>
          <p:cNvPr id="3" name="내용 개체 틀 2">
            <a:extLst>
              <a:ext uri="{FF2B5EF4-FFF2-40B4-BE49-F238E27FC236}">
                <a16:creationId xmlns:a16="http://schemas.microsoft.com/office/drawing/2014/main" id="{A7E7FBB8-3C9B-4029-A715-A321179BD4F7}"/>
              </a:ext>
            </a:extLst>
          </p:cNvPr>
          <p:cNvSpPr>
            <a:spLocks noGrp="1"/>
          </p:cNvSpPr>
          <p:nvPr>
            <p:ph idx="1"/>
          </p:nvPr>
        </p:nvSpPr>
        <p:spPr/>
        <p:txBody>
          <a:bodyPr/>
          <a:lstStyle/>
          <a:p>
            <a:r>
              <a:rPr lang="en-US" altLang="ko-KR" dirty="0"/>
              <a:t> Real-World Policy: Zone-based Hedging Rule</a:t>
            </a:r>
          </a:p>
          <a:p>
            <a:pPr lvl="1"/>
            <a:r>
              <a:rPr lang="en-US" altLang="ko-KR" dirty="0"/>
              <a:t> Discretizes the entire range of storage into Zones (Fig. 2.2)</a:t>
            </a:r>
          </a:p>
          <a:p>
            <a:pPr lvl="1"/>
            <a:r>
              <a:rPr lang="en-US" altLang="ko-KR" dirty="0"/>
              <a:t> Release decisions are determined according to the “Zone” the current storage belongs to</a:t>
            </a:r>
          </a:p>
          <a:p>
            <a:pPr lvl="1"/>
            <a:r>
              <a:rPr lang="en-US" altLang="ko-KR" dirty="0"/>
              <a:t> Selected as the main operating policy in all Korean multipurpose reservoirs (currently, 20 multi-purpose dams each with different curves)</a:t>
            </a:r>
            <a:endParaRPr lang="ko-KR" altLang="en-US" dirty="0"/>
          </a:p>
          <a:p>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999CDDE2-8BAA-4692-B31F-7A85D2AA6442}"/>
              </a:ext>
            </a:extLst>
          </p:cNvPr>
          <p:cNvSpPr>
            <a:spLocks noGrp="1"/>
          </p:cNvSpPr>
          <p:nvPr>
            <p:ph type="sldNum" sz="quarter" idx="12"/>
          </p:nvPr>
        </p:nvSpPr>
        <p:spPr/>
        <p:txBody>
          <a:bodyPr/>
          <a:lstStyle/>
          <a:p>
            <a:fld id="{79822AFB-C284-4A8E-A6EE-41BAA9C576A0}" type="slidenum">
              <a:rPr lang="ko-KR" altLang="en-US" smtClean="0"/>
              <a:t>3</a:t>
            </a:fld>
            <a:endParaRPr lang="ko-KR" altLang="en-US"/>
          </a:p>
        </p:txBody>
      </p:sp>
      <p:sp>
        <p:nvSpPr>
          <p:cNvPr id="5" name="날짜 개체 틀 4">
            <a:extLst>
              <a:ext uri="{FF2B5EF4-FFF2-40B4-BE49-F238E27FC236}">
                <a16:creationId xmlns:a16="http://schemas.microsoft.com/office/drawing/2014/main" id="{7A3F6F01-F013-4908-B61A-31172118D27B}"/>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그림 5">
            <a:extLst>
              <a:ext uri="{FF2B5EF4-FFF2-40B4-BE49-F238E27FC236}">
                <a16:creationId xmlns:a16="http://schemas.microsoft.com/office/drawing/2014/main" id="{E5DE0B4D-8C37-4968-8A3C-E512B4BD074E}"/>
              </a:ext>
            </a:extLst>
          </p:cNvPr>
          <p:cNvPicPr>
            <a:picLocks noChangeAspect="1"/>
          </p:cNvPicPr>
          <p:nvPr/>
        </p:nvPicPr>
        <p:blipFill>
          <a:blip r:embed="rId2"/>
          <a:stretch>
            <a:fillRect/>
          </a:stretch>
        </p:blipFill>
        <p:spPr>
          <a:xfrm>
            <a:off x="5004048" y="4296808"/>
            <a:ext cx="3459087" cy="1388368"/>
          </a:xfrm>
          <a:prstGeom prst="rect">
            <a:avLst/>
          </a:prstGeom>
        </p:spPr>
      </p:pic>
      <p:sp>
        <p:nvSpPr>
          <p:cNvPr id="7" name="TextBox 6">
            <a:extLst>
              <a:ext uri="{FF2B5EF4-FFF2-40B4-BE49-F238E27FC236}">
                <a16:creationId xmlns:a16="http://schemas.microsoft.com/office/drawing/2014/main" id="{D75638ED-1763-4D2A-B348-C694F8BE8FC3}"/>
              </a:ext>
            </a:extLst>
          </p:cNvPr>
          <p:cNvSpPr txBox="1"/>
          <p:nvPr/>
        </p:nvSpPr>
        <p:spPr>
          <a:xfrm>
            <a:off x="1100246" y="6078565"/>
            <a:ext cx="3636060" cy="276999"/>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Fig. 2. Actual Rule Curves of </a:t>
            </a:r>
            <a:r>
              <a:rPr lang="en-US" altLang="ko-KR" sz="1200" dirty="0" err="1">
                <a:latin typeface="Gill Sans MT" panose="020B0502020104020203" pitchFamily="34" charset="0"/>
                <a:cs typeface="Helvetica" panose="020B0604020202020204" pitchFamily="34" charset="0"/>
              </a:rPr>
              <a:t>Boryeong</a:t>
            </a:r>
            <a:r>
              <a:rPr lang="en-US" altLang="ko-KR" sz="1200" dirty="0">
                <a:latin typeface="Gill Sans MT" panose="020B0502020104020203" pitchFamily="34" charset="0"/>
                <a:cs typeface="Helvetica" panose="020B0604020202020204" pitchFamily="34" charset="0"/>
              </a:rPr>
              <a:t> Reservoir, Korea</a:t>
            </a:r>
            <a:endParaRPr lang="ko-KR" altLang="en-US" sz="1200" dirty="0">
              <a:latin typeface="Gill Sans MT" panose="020B0502020104020203" pitchFamily="34" charset="0"/>
              <a:cs typeface="Helvetica" panose="020B0604020202020204" pitchFamily="34" charset="0"/>
            </a:endParaRPr>
          </a:p>
        </p:txBody>
      </p:sp>
      <p:grpSp>
        <p:nvGrpSpPr>
          <p:cNvPr id="8" name="그룹 7">
            <a:extLst>
              <a:ext uri="{FF2B5EF4-FFF2-40B4-BE49-F238E27FC236}">
                <a16:creationId xmlns:a16="http://schemas.microsoft.com/office/drawing/2014/main" id="{5B10C155-2636-4139-8D13-DC898CE46CA9}"/>
              </a:ext>
            </a:extLst>
          </p:cNvPr>
          <p:cNvGrpSpPr/>
          <p:nvPr/>
        </p:nvGrpSpPr>
        <p:grpSpPr>
          <a:xfrm>
            <a:off x="1047873" y="3833254"/>
            <a:ext cx="3800128" cy="2245311"/>
            <a:chOff x="1095713" y="3774961"/>
            <a:chExt cx="3800128" cy="2245311"/>
          </a:xfrm>
        </p:grpSpPr>
        <p:pic>
          <p:nvPicPr>
            <p:cNvPr id="9" name="그림 8">
              <a:extLst>
                <a:ext uri="{FF2B5EF4-FFF2-40B4-BE49-F238E27FC236}">
                  <a16:creationId xmlns:a16="http://schemas.microsoft.com/office/drawing/2014/main" id="{02E39595-E27E-4692-91C7-DDF00E24D4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5713" y="3774961"/>
              <a:ext cx="3800128" cy="2245311"/>
            </a:xfrm>
            <a:prstGeom prst="rect">
              <a:avLst/>
            </a:prstGeom>
            <a:ln>
              <a:solidFill>
                <a:schemeClr val="tx1"/>
              </a:solidFill>
            </a:ln>
          </p:spPr>
        </p:pic>
        <p:sp>
          <p:nvSpPr>
            <p:cNvPr id="10" name="TextBox 9">
              <a:extLst>
                <a:ext uri="{FF2B5EF4-FFF2-40B4-BE49-F238E27FC236}">
                  <a16:creationId xmlns:a16="http://schemas.microsoft.com/office/drawing/2014/main" id="{16266FAB-751B-4064-9F84-9E455960588D}"/>
                </a:ext>
              </a:extLst>
            </p:cNvPr>
            <p:cNvSpPr txBox="1"/>
            <p:nvPr/>
          </p:nvSpPr>
          <p:spPr>
            <a:xfrm>
              <a:off x="3436388" y="3882479"/>
              <a:ext cx="889987" cy="230832"/>
            </a:xfrm>
            <a:prstGeom prst="rect">
              <a:avLst/>
            </a:prstGeom>
            <a:noFill/>
          </p:spPr>
          <p:txBody>
            <a:bodyPr wrap="none" rtlCol="0">
              <a:spAutoFit/>
            </a:bodyPr>
            <a:lstStyle/>
            <a:p>
              <a:r>
                <a:rPr lang="en-US" altLang="ko-KR" sz="900" b="1" dirty="0">
                  <a:latin typeface="Helvetica" panose="020B0604020202020204" pitchFamily="34" charset="0"/>
                  <a:cs typeface="Helvetica" panose="020B0604020202020204" pitchFamily="34" charset="0"/>
                </a:rPr>
                <a:t>Normal Zone</a:t>
              </a:r>
              <a:endParaRPr lang="ko-KR" altLang="en-US" sz="900" b="1" dirty="0">
                <a:latin typeface="Helvetica" panose="020B0604020202020204" pitchFamily="34" charset="0"/>
                <a:cs typeface="Helvetica" panose="020B0604020202020204" pitchFamily="34" charset="0"/>
              </a:endParaRPr>
            </a:p>
          </p:txBody>
        </p:sp>
        <p:sp>
          <p:nvSpPr>
            <p:cNvPr id="11" name="TextBox 10">
              <a:extLst>
                <a:ext uri="{FF2B5EF4-FFF2-40B4-BE49-F238E27FC236}">
                  <a16:creationId xmlns:a16="http://schemas.microsoft.com/office/drawing/2014/main" id="{0ACB7CBD-237F-43C1-95BD-342147E1A997}"/>
                </a:ext>
              </a:extLst>
            </p:cNvPr>
            <p:cNvSpPr txBox="1"/>
            <p:nvPr/>
          </p:nvSpPr>
          <p:spPr>
            <a:xfrm>
              <a:off x="3603103" y="4155217"/>
              <a:ext cx="556563" cy="230832"/>
            </a:xfrm>
            <a:prstGeom prst="rect">
              <a:avLst/>
            </a:prstGeom>
            <a:noFill/>
          </p:spPr>
          <p:txBody>
            <a:bodyPr wrap="none" rtlCol="0">
              <a:spAutoFit/>
            </a:bodyPr>
            <a:lstStyle/>
            <a:p>
              <a:r>
                <a:rPr lang="en-US" altLang="ko-KR" sz="900" b="1" dirty="0">
                  <a:solidFill>
                    <a:schemeClr val="accent1"/>
                  </a:solidFill>
                  <a:latin typeface="Helvetica" panose="020B0604020202020204" pitchFamily="34" charset="0"/>
                  <a:cs typeface="Helvetica" panose="020B0604020202020204" pitchFamily="34" charset="0"/>
                </a:rPr>
                <a:t>Zone 1</a:t>
              </a:r>
              <a:endParaRPr lang="ko-KR" altLang="en-US" sz="900" b="1" dirty="0">
                <a:solidFill>
                  <a:schemeClr val="accent1"/>
                </a:solidFill>
                <a:latin typeface="Helvetica" panose="020B0604020202020204" pitchFamily="34" charset="0"/>
                <a:cs typeface="Helvetica" panose="020B0604020202020204" pitchFamily="34" charset="0"/>
              </a:endParaRPr>
            </a:p>
          </p:txBody>
        </p:sp>
        <p:sp>
          <p:nvSpPr>
            <p:cNvPr id="12" name="TextBox 11">
              <a:extLst>
                <a:ext uri="{FF2B5EF4-FFF2-40B4-BE49-F238E27FC236}">
                  <a16:creationId xmlns:a16="http://schemas.microsoft.com/office/drawing/2014/main" id="{3D2555E0-18B2-4210-B20C-749994E3618E}"/>
                </a:ext>
              </a:extLst>
            </p:cNvPr>
            <p:cNvSpPr txBox="1"/>
            <p:nvPr/>
          </p:nvSpPr>
          <p:spPr>
            <a:xfrm>
              <a:off x="3603102" y="4451661"/>
              <a:ext cx="556563" cy="230832"/>
            </a:xfrm>
            <a:prstGeom prst="rect">
              <a:avLst/>
            </a:prstGeom>
            <a:noFill/>
          </p:spPr>
          <p:txBody>
            <a:bodyPr wrap="none" rtlCol="0">
              <a:spAutoFit/>
            </a:bodyPr>
            <a:lstStyle/>
            <a:p>
              <a:r>
                <a:rPr lang="en-US" altLang="ko-KR" sz="900" b="1" dirty="0">
                  <a:solidFill>
                    <a:schemeClr val="accent4"/>
                  </a:solidFill>
                  <a:latin typeface="Helvetica" panose="020B0604020202020204" pitchFamily="34" charset="0"/>
                  <a:cs typeface="Helvetica" panose="020B0604020202020204" pitchFamily="34" charset="0"/>
                </a:rPr>
                <a:t>Zone 2</a:t>
              </a:r>
              <a:endParaRPr lang="ko-KR" altLang="en-US" sz="900" b="1" dirty="0">
                <a:solidFill>
                  <a:schemeClr val="accent4"/>
                </a:solidFill>
                <a:latin typeface="Helvetica" panose="020B0604020202020204" pitchFamily="34" charset="0"/>
                <a:cs typeface="Helvetica" panose="020B0604020202020204" pitchFamily="34" charset="0"/>
              </a:endParaRPr>
            </a:p>
          </p:txBody>
        </p:sp>
        <p:sp>
          <p:nvSpPr>
            <p:cNvPr id="13" name="TextBox 12">
              <a:extLst>
                <a:ext uri="{FF2B5EF4-FFF2-40B4-BE49-F238E27FC236}">
                  <a16:creationId xmlns:a16="http://schemas.microsoft.com/office/drawing/2014/main" id="{289FF1EE-20DB-4EF8-9301-A663BB0428AC}"/>
                </a:ext>
              </a:extLst>
            </p:cNvPr>
            <p:cNvSpPr txBox="1"/>
            <p:nvPr/>
          </p:nvSpPr>
          <p:spPr>
            <a:xfrm>
              <a:off x="3603101" y="4897616"/>
              <a:ext cx="556563" cy="230832"/>
            </a:xfrm>
            <a:prstGeom prst="rect">
              <a:avLst/>
            </a:prstGeom>
            <a:noFill/>
          </p:spPr>
          <p:txBody>
            <a:bodyPr wrap="none" rtlCol="0">
              <a:spAutoFit/>
            </a:bodyPr>
            <a:lstStyle/>
            <a:p>
              <a:r>
                <a:rPr lang="en-US" altLang="ko-KR" sz="900" b="1" dirty="0">
                  <a:solidFill>
                    <a:schemeClr val="accent2"/>
                  </a:solidFill>
                  <a:latin typeface="Helvetica" panose="020B0604020202020204" pitchFamily="34" charset="0"/>
                  <a:cs typeface="Helvetica" panose="020B0604020202020204" pitchFamily="34" charset="0"/>
                </a:rPr>
                <a:t>Zone 3</a:t>
              </a:r>
              <a:endParaRPr lang="ko-KR" altLang="en-US" sz="900" b="1" dirty="0">
                <a:solidFill>
                  <a:schemeClr val="accent2"/>
                </a:solidFill>
                <a:latin typeface="Helvetica" panose="020B0604020202020204" pitchFamily="34" charset="0"/>
                <a:cs typeface="Helvetica" panose="020B0604020202020204" pitchFamily="34" charset="0"/>
              </a:endParaRPr>
            </a:p>
          </p:txBody>
        </p:sp>
        <p:sp>
          <p:nvSpPr>
            <p:cNvPr id="14" name="TextBox 13">
              <a:extLst>
                <a:ext uri="{FF2B5EF4-FFF2-40B4-BE49-F238E27FC236}">
                  <a16:creationId xmlns:a16="http://schemas.microsoft.com/office/drawing/2014/main" id="{7B0AEA87-44CA-45F3-97E8-72817D456823}"/>
                </a:ext>
              </a:extLst>
            </p:cNvPr>
            <p:cNvSpPr txBox="1"/>
            <p:nvPr/>
          </p:nvSpPr>
          <p:spPr>
            <a:xfrm>
              <a:off x="3603101" y="5409183"/>
              <a:ext cx="556563" cy="230832"/>
            </a:xfrm>
            <a:prstGeom prst="rect">
              <a:avLst/>
            </a:prstGeom>
            <a:noFill/>
          </p:spPr>
          <p:txBody>
            <a:bodyPr wrap="none" rtlCol="0">
              <a:spAutoFit/>
            </a:bodyPr>
            <a:lstStyle/>
            <a:p>
              <a:r>
                <a:rPr lang="en-US" altLang="ko-KR" sz="900" b="1" dirty="0">
                  <a:solidFill>
                    <a:srgbClr val="FF0000"/>
                  </a:solidFill>
                  <a:latin typeface="Helvetica" panose="020B0604020202020204" pitchFamily="34" charset="0"/>
                  <a:cs typeface="Helvetica" panose="020B0604020202020204" pitchFamily="34" charset="0"/>
                </a:rPr>
                <a:t>Zone 4</a:t>
              </a:r>
              <a:endParaRPr lang="ko-KR" altLang="en-US" sz="900" b="1" dirty="0">
                <a:solidFill>
                  <a:srgbClr val="FF0000"/>
                </a:solidFill>
                <a:latin typeface="Helvetica" panose="020B0604020202020204" pitchFamily="34" charset="0"/>
                <a:cs typeface="Helvetica" panose="020B0604020202020204" pitchFamily="34" charset="0"/>
              </a:endParaRPr>
            </a:p>
          </p:txBody>
        </p:sp>
      </p:grpSp>
      <p:sp>
        <p:nvSpPr>
          <p:cNvPr id="15" name="TextBox 14">
            <a:extLst>
              <a:ext uri="{FF2B5EF4-FFF2-40B4-BE49-F238E27FC236}">
                <a16:creationId xmlns:a16="http://schemas.microsoft.com/office/drawing/2014/main" id="{7ADBC142-10CE-4DC9-9C9D-F10F791EE371}"/>
              </a:ext>
            </a:extLst>
          </p:cNvPr>
          <p:cNvSpPr txBox="1"/>
          <p:nvPr/>
        </p:nvSpPr>
        <p:spPr>
          <a:xfrm>
            <a:off x="4952883" y="4071216"/>
            <a:ext cx="2881558" cy="276999"/>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Table 1. Ratios implemented during hedging</a:t>
            </a:r>
            <a:endParaRPr lang="ko-KR" altLang="en-US" sz="1200" dirty="0">
              <a:latin typeface="Gill Sans MT" panose="020B0502020104020203" pitchFamily="34" charset="0"/>
              <a:cs typeface="Helvetica" panose="020B0604020202020204" pitchFamily="34" charset="0"/>
            </a:endParaRPr>
          </a:p>
        </p:txBody>
      </p:sp>
    </p:spTree>
    <p:extLst>
      <p:ext uri="{BB962C8B-B14F-4D97-AF65-F5344CB8AC3E}">
        <p14:creationId xmlns:p14="http://schemas.microsoft.com/office/powerpoint/2010/main" val="4083633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A1D9386-EED4-49BF-81F7-222DA2F40934}"/>
              </a:ext>
            </a:extLst>
          </p:cNvPr>
          <p:cNvSpPr>
            <a:spLocks noGrp="1"/>
          </p:cNvSpPr>
          <p:nvPr>
            <p:ph type="title"/>
          </p:nvPr>
        </p:nvSpPr>
        <p:spPr/>
        <p:txBody>
          <a:bodyPr/>
          <a:lstStyle/>
          <a:p>
            <a:r>
              <a:rPr lang="en-US" altLang="ko-KR" dirty="0"/>
              <a:t>Key Research Questions</a:t>
            </a:r>
            <a:endParaRPr lang="ko-KR" altLang="en-US" dirty="0"/>
          </a:p>
        </p:txBody>
      </p:sp>
      <p:sp>
        <p:nvSpPr>
          <p:cNvPr id="3" name="내용 개체 틀 2">
            <a:extLst>
              <a:ext uri="{FF2B5EF4-FFF2-40B4-BE49-F238E27FC236}">
                <a16:creationId xmlns:a16="http://schemas.microsoft.com/office/drawing/2014/main" id="{35AA44E0-521A-4F5B-8460-31B3DE477A82}"/>
              </a:ext>
            </a:extLst>
          </p:cNvPr>
          <p:cNvSpPr>
            <a:spLocks noGrp="1"/>
          </p:cNvSpPr>
          <p:nvPr>
            <p:ph idx="1"/>
          </p:nvPr>
        </p:nvSpPr>
        <p:spPr/>
        <p:txBody>
          <a:bodyPr>
            <a:normAutofit/>
          </a:bodyPr>
          <a:lstStyle/>
          <a:p>
            <a:r>
              <a:rPr lang="en-US" altLang="ko-KR" dirty="0"/>
              <a:t> How does </a:t>
            </a:r>
            <a:r>
              <a:rPr lang="en-US" altLang="ko-KR" b="1" u="sng" dirty="0">
                <a:solidFill>
                  <a:srgbClr val="0417CC"/>
                </a:solidFill>
              </a:rPr>
              <a:t>different optimization models or their formulations</a:t>
            </a:r>
            <a:r>
              <a:rPr lang="en-US" altLang="ko-KR" dirty="0">
                <a:solidFill>
                  <a:srgbClr val="0417CC"/>
                </a:solidFill>
              </a:rPr>
              <a:t> </a:t>
            </a:r>
            <a:r>
              <a:rPr lang="en-US" altLang="ko-KR" dirty="0"/>
              <a:t>affect</a:t>
            </a:r>
            <a:r>
              <a:rPr lang="ko-KR" altLang="en-US" dirty="0"/>
              <a:t> </a:t>
            </a:r>
            <a:r>
              <a:rPr lang="en-US" altLang="ko-KR" dirty="0"/>
              <a:t>both the</a:t>
            </a:r>
            <a:r>
              <a:rPr lang="ko-KR" altLang="en-US" dirty="0"/>
              <a:t> </a:t>
            </a:r>
            <a:r>
              <a:rPr lang="en-US" altLang="ko-KR" b="1" u="sng" dirty="0">
                <a:solidFill>
                  <a:srgbClr val="0417CC"/>
                </a:solidFill>
              </a:rPr>
              <a:t>quality</a:t>
            </a:r>
            <a:r>
              <a:rPr lang="ko-KR" altLang="en-US" b="1" u="sng" dirty="0">
                <a:solidFill>
                  <a:srgbClr val="0417CC"/>
                </a:solidFill>
              </a:rPr>
              <a:t> </a:t>
            </a:r>
            <a:r>
              <a:rPr lang="en-US" altLang="ko-KR" b="1" u="sng" dirty="0">
                <a:solidFill>
                  <a:srgbClr val="0417CC"/>
                </a:solidFill>
              </a:rPr>
              <a:t>and the diversity </a:t>
            </a:r>
            <a:r>
              <a:rPr lang="en-US" altLang="ko-KR" dirty="0"/>
              <a:t>of</a:t>
            </a:r>
            <a:r>
              <a:rPr lang="ko-KR" altLang="en-US" dirty="0"/>
              <a:t> </a:t>
            </a:r>
            <a:r>
              <a:rPr lang="en-US" altLang="ko-KR" dirty="0"/>
              <a:t>solutions in reservoir operation problems?</a:t>
            </a:r>
          </a:p>
          <a:p>
            <a:endParaRPr lang="en-US" altLang="ko-KR" sz="1400" dirty="0"/>
          </a:p>
          <a:p>
            <a:r>
              <a:rPr lang="en-US" altLang="ko-KR" dirty="0"/>
              <a:t> How about when the reservoir was operated with the </a:t>
            </a:r>
            <a:r>
              <a:rPr lang="en-US" altLang="ko-KR" b="1" u="sng" dirty="0">
                <a:solidFill>
                  <a:srgbClr val="0417CC"/>
                </a:solidFill>
              </a:rPr>
              <a:t>status quo (SQ)</a:t>
            </a:r>
            <a:r>
              <a:rPr lang="en-US" altLang="ko-KR" b="1" dirty="0"/>
              <a:t> </a:t>
            </a:r>
            <a:r>
              <a:rPr lang="en-US" altLang="ko-KR" dirty="0"/>
              <a:t>rules? How do they perform under both drought and normal conditions compared to optimal solutions?</a:t>
            </a:r>
          </a:p>
          <a:p>
            <a:endParaRPr lang="en-US" altLang="ko-KR" sz="1400" dirty="0"/>
          </a:p>
          <a:p>
            <a:r>
              <a:rPr lang="en-US" altLang="ko-KR" dirty="0"/>
              <a:t> How does the </a:t>
            </a:r>
            <a:r>
              <a:rPr lang="en-US" altLang="ko-KR" b="1" u="sng" dirty="0">
                <a:solidFill>
                  <a:srgbClr val="0417CC"/>
                </a:solidFill>
              </a:rPr>
              <a:t>implementation of SQ rules with the solutions from optimization algorithms</a:t>
            </a:r>
            <a:r>
              <a:rPr lang="en-US" altLang="ko-KR" b="1" dirty="0"/>
              <a:t> </a:t>
            </a:r>
            <a:r>
              <a:rPr lang="en-US" altLang="ko-KR" dirty="0"/>
              <a:t>improve (or degrade) the performance under extreme drought conditions?</a:t>
            </a:r>
            <a:endParaRPr lang="ko-KR" altLang="en-US" dirty="0"/>
          </a:p>
        </p:txBody>
      </p:sp>
      <p:sp>
        <p:nvSpPr>
          <p:cNvPr id="4" name="슬라이드 번호 개체 틀 3">
            <a:extLst>
              <a:ext uri="{FF2B5EF4-FFF2-40B4-BE49-F238E27FC236}">
                <a16:creationId xmlns:a16="http://schemas.microsoft.com/office/drawing/2014/main" id="{7549CCEA-56F2-444E-96F3-2E6B1C450787}"/>
              </a:ext>
            </a:extLst>
          </p:cNvPr>
          <p:cNvSpPr>
            <a:spLocks noGrp="1"/>
          </p:cNvSpPr>
          <p:nvPr>
            <p:ph type="sldNum" sz="quarter" idx="12"/>
          </p:nvPr>
        </p:nvSpPr>
        <p:spPr/>
        <p:txBody>
          <a:bodyPr/>
          <a:lstStyle/>
          <a:p>
            <a:fld id="{79822AFB-C284-4A8E-A6EE-41BAA9C576A0}" type="slidenum">
              <a:rPr lang="ko-KR" altLang="en-US" smtClean="0"/>
              <a:t>4</a:t>
            </a:fld>
            <a:endParaRPr lang="ko-KR" altLang="en-US"/>
          </a:p>
        </p:txBody>
      </p:sp>
      <p:sp>
        <p:nvSpPr>
          <p:cNvPr id="5" name="날짜 개체 틀 4">
            <a:extLst>
              <a:ext uri="{FF2B5EF4-FFF2-40B4-BE49-F238E27FC236}">
                <a16:creationId xmlns:a16="http://schemas.microsoft.com/office/drawing/2014/main" id="{D2302A2A-4060-479C-A3DF-667909C7DA09}"/>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spTree>
    <p:extLst>
      <p:ext uri="{BB962C8B-B14F-4D97-AF65-F5344CB8AC3E}">
        <p14:creationId xmlns:p14="http://schemas.microsoft.com/office/powerpoint/2010/main" val="1335240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BC0406-EBC4-4B3B-9349-9331EB8EF763}"/>
              </a:ext>
            </a:extLst>
          </p:cNvPr>
          <p:cNvSpPr>
            <a:spLocks noGrp="1"/>
          </p:cNvSpPr>
          <p:nvPr>
            <p:ph type="title"/>
          </p:nvPr>
        </p:nvSpPr>
        <p:spPr/>
        <p:txBody>
          <a:bodyPr/>
          <a:lstStyle/>
          <a:p>
            <a:r>
              <a:rPr lang="en-US" altLang="ko-KR" dirty="0"/>
              <a:t>Flow</a:t>
            </a:r>
            <a:r>
              <a:rPr lang="ko-KR" altLang="en-US" dirty="0"/>
              <a:t> </a:t>
            </a:r>
            <a:r>
              <a:rPr lang="en-US" altLang="ko-KR" dirty="0"/>
              <a:t>Chart of Overall Research</a:t>
            </a:r>
            <a:endParaRPr lang="ko-KR" altLang="en-US" dirty="0"/>
          </a:p>
        </p:txBody>
      </p:sp>
      <p:sp>
        <p:nvSpPr>
          <p:cNvPr id="4" name="슬라이드 번호 개체 틀 3">
            <a:extLst>
              <a:ext uri="{FF2B5EF4-FFF2-40B4-BE49-F238E27FC236}">
                <a16:creationId xmlns:a16="http://schemas.microsoft.com/office/drawing/2014/main" id="{6A04B219-CC36-43DF-BE37-EC288E63DC6A}"/>
              </a:ext>
            </a:extLst>
          </p:cNvPr>
          <p:cNvSpPr>
            <a:spLocks noGrp="1"/>
          </p:cNvSpPr>
          <p:nvPr>
            <p:ph type="sldNum" sz="quarter" idx="12"/>
          </p:nvPr>
        </p:nvSpPr>
        <p:spPr/>
        <p:txBody>
          <a:bodyPr/>
          <a:lstStyle/>
          <a:p>
            <a:fld id="{79822AFB-C284-4A8E-A6EE-41BAA9C576A0}" type="slidenum">
              <a:rPr lang="ko-KR" altLang="en-US" smtClean="0"/>
              <a:t>5</a:t>
            </a:fld>
            <a:endParaRPr lang="ko-KR" altLang="en-US"/>
          </a:p>
        </p:txBody>
      </p:sp>
      <p:sp>
        <p:nvSpPr>
          <p:cNvPr id="5" name="날짜 개체 틀 4">
            <a:extLst>
              <a:ext uri="{FF2B5EF4-FFF2-40B4-BE49-F238E27FC236}">
                <a16:creationId xmlns:a16="http://schemas.microsoft.com/office/drawing/2014/main" id="{E63A91FE-F03D-4ACC-A85A-DF54CE85F0B8}"/>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내용 개체 틀 4">
            <a:extLst>
              <a:ext uri="{FF2B5EF4-FFF2-40B4-BE49-F238E27FC236}">
                <a16:creationId xmlns:a16="http://schemas.microsoft.com/office/drawing/2014/main" id="{2ADEA914-FB0C-4636-90C0-1DA1A35B8801}"/>
              </a:ext>
            </a:extLst>
          </p:cNvPr>
          <p:cNvPicPr>
            <a:picLocks noGrp="1" noChangeAspect="1"/>
          </p:cNvPicPr>
          <p:nvPr>
            <p:ph idx="1"/>
          </p:nvPr>
        </p:nvPicPr>
        <p:blipFill>
          <a:blip r:embed="rId2"/>
          <a:stretch>
            <a:fillRect/>
          </a:stretch>
        </p:blipFill>
        <p:spPr>
          <a:xfrm>
            <a:off x="628650" y="1289001"/>
            <a:ext cx="7886700" cy="3333419"/>
          </a:xfrm>
          <a:prstGeom prst="rect">
            <a:avLst/>
          </a:prstGeom>
        </p:spPr>
      </p:pic>
      <p:sp>
        <p:nvSpPr>
          <p:cNvPr id="7" name="내용 개체 틀 2">
            <a:extLst>
              <a:ext uri="{FF2B5EF4-FFF2-40B4-BE49-F238E27FC236}">
                <a16:creationId xmlns:a16="http://schemas.microsoft.com/office/drawing/2014/main" id="{5F13B60D-539F-449B-A087-E797A1D5BF1D}"/>
              </a:ext>
            </a:extLst>
          </p:cNvPr>
          <p:cNvSpPr txBox="1">
            <a:spLocks/>
          </p:cNvSpPr>
          <p:nvPr/>
        </p:nvSpPr>
        <p:spPr>
          <a:xfrm>
            <a:off x="628650" y="5085184"/>
            <a:ext cx="7886700" cy="1091779"/>
          </a:xfrm>
          <a:prstGeom prst="rect">
            <a:avLst/>
          </a:prstGeom>
        </p:spPr>
        <p:txBody>
          <a:bodyPr vert="horz" lIns="91440" tIns="45720" rIns="91440" bIns="45720" rtlCol="0">
            <a:normAutofit/>
          </a:bodyPr>
          <a:lst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ko-KR" dirty="0"/>
              <a:t> Keywords: Reservoir operation, Dynamic programming, Evolutionary multi-objective direct policy search, Zone-based hedging rule</a:t>
            </a:r>
            <a:endParaRPr lang="ko-KR" altLang="en-US" dirty="0"/>
          </a:p>
        </p:txBody>
      </p:sp>
      <p:sp>
        <p:nvSpPr>
          <p:cNvPr id="8" name="TextBox 7">
            <a:extLst>
              <a:ext uri="{FF2B5EF4-FFF2-40B4-BE49-F238E27FC236}">
                <a16:creationId xmlns:a16="http://schemas.microsoft.com/office/drawing/2014/main" id="{0E7007BC-316E-4B83-97D7-280C4F063A9D}"/>
              </a:ext>
            </a:extLst>
          </p:cNvPr>
          <p:cNvSpPr txBox="1"/>
          <p:nvPr/>
        </p:nvSpPr>
        <p:spPr>
          <a:xfrm>
            <a:off x="3111921" y="4605308"/>
            <a:ext cx="2809552" cy="276999"/>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Fig. 3. Overall Flow Chart of this Research</a:t>
            </a:r>
            <a:endParaRPr lang="ko-KR" altLang="en-US" sz="1200" dirty="0">
              <a:latin typeface="Gill Sans MT" panose="020B0502020104020203" pitchFamily="34" charset="0"/>
              <a:cs typeface="Helvetica" panose="020B0604020202020204" pitchFamily="34" charset="0"/>
            </a:endParaRPr>
          </a:p>
        </p:txBody>
      </p:sp>
    </p:spTree>
    <p:extLst>
      <p:ext uri="{BB962C8B-B14F-4D97-AF65-F5344CB8AC3E}">
        <p14:creationId xmlns:p14="http://schemas.microsoft.com/office/powerpoint/2010/main" val="305944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D8D97C3-EA09-41CD-8A2A-67569D4CAD55}"/>
              </a:ext>
            </a:extLst>
          </p:cNvPr>
          <p:cNvSpPr>
            <a:spLocks noGrp="1"/>
          </p:cNvSpPr>
          <p:nvPr>
            <p:ph type="title"/>
          </p:nvPr>
        </p:nvSpPr>
        <p:spPr/>
        <p:txBody>
          <a:bodyPr/>
          <a:lstStyle/>
          <a:p>
            <a:r>
              <a:rPr lang="en-US" altLang="ko-KR" dirty="0"/>
              <a:t>Optimization Techniques for RO</a:t>
            </a:r>
            <a:endParaRPr lang="ko-KR" altLang="en-US" dirty="0"/>
          </a:p>
        </p:txBody>
      </p:sp>
      <p:sp>
        <p:nvSpPr>
          <p:cNvPr id="3" name="내용 개체 틀 2">
            <a:extLst>
              <a:ext uri="{FF2B5EF4-FFF2-40B4-BE49-F238E27FC236}">
                <a16:creationId xmlns:a16="http://schemas.microsoft.com/office/drawing/2014/main" id="{1AD1670F-D2AC-4319-81C8-229EDCBA6382}"/>
              </a:ext>
            </a:extLst>
          </p:cNvPr>
          <p:cNvSpPr>
            <a:spLocks noGrp="1"/>
          </p:cNvSpPr>
          <p:nvPr>
            <p:ph idx="1"/>
          </p:nvPr>
        </p:nvSpPr>
        <p:spPr>
          <a:xfrm>
            <a:off x="628650" y="1268760"/>
            <a:ext cx="7886700" cy="5328592"/>
          </a:xfrm>
        </p:spPr>
        <p:txBody>
          <a:bodyPr>
            <a:normAutofit/>
          </a:bodyPr>
          <a:lstStyle/>
          <a:p>
            <a:r>
              <a:rPr lang="en-US" altLang="ko-KR" dirty="0"/>
              <a:t> Selected Optimization Algorithms</a:t>
            </a:r>
          </a:p>
          <a:p>
            <a:pPr lvl="1"/>
            <a:r>
              <a:rPr lang="en-US" altLang="ko-KR" dirty="0"/>
              <a:t> Dynamic Programming </a:t>
            </a:r>
          </a:p>
          <a:p>
            <a:pPr lvl="2"/>
            <a:r>
              <a:rPr lang="en-US" altLang="ko-KR" dirty="0"/>
              <a:t>Discretizes the entire range of state, decision, and disturbance variables for iterative calculation that lead to the steady-state solution</a:t>
            </a:r>
          </a:p>
          <a:p>
            <a:pPr lvl="2"/>
            <a:r>
              <a:rPr lang="en-US" altLang="ko-KR" dirty="0"/>
              <a:t>Deterministic and stochastic versions of the DP models depending on the available information</a:t>
            </a:r>
          </a:p>
          <a:p>
            <a:pPr lvl="1"/>
            <a:r>
              <a:rPr lang="en-US" altLang="ko-KR" dirty="0"/>
              <a:t> Evolutionary Multi-Objective Direct Policy Search </a:t>
            </a:r>
            <a:r>
              <a:rPr lang="en-US" altLang="ko-KR" b="1" dirty="0"/>
              <a:t>(EMODPS) </a:t>
            </a:r>
          </a:p>
          <a:p>
            <a:pPr lvl="2"/>
            <a:r>
              <a:rPr lang="en-US" altLang="ko-KR" b="1" dirty="0"/>
              <a:t>Direct Policy Search (DPS)</a:t>
            </a:r>
            <a:r>
              <a:rPr lang="en-US" altLang="ko-KR" dirty="0"/>
              <a:t> </a:t>
            </a:r>
            <a:r>
              <a:rPr lang="en-US" altLang="ko-KR" sz="1200" dirty="0"/>
              <a:t>(Rosenstein and </a:t>
            </a:r>
            <a:r>
              <a:rPr lang="en-US" altLang="ko-KR" sz="1200" dirty="0" err="1"/>
              <a:t>Barto</a:t>
            </a:r>
            <a:r>
              <a:rPr lang="en-US" altLang="ko-KR" sz="1200" dirty="0"/>
              <a:t>, 2001)</a:t>
            </a:r>
            <a:endParaRPr lang="en-US" altLang="ko-KR" dirty="0"/>
          </a:p>
          <a:p>
            <a:pPr lvl="3"/>
            <a:r>
              <a:rPr lang="en-US" altLang="ko-KR" dirty="0"/>
              <a:t>A type of parameterization-simulation-optimization (PSO) approach in which the decision variable directly operates in the policy space</a:t>
            </a:r>
            <a:endParaRPr lang="en-US" altLang="ko-KR" sz="800" dirty="0"/>
          </a:p>
          <a:p>
            <a:pPr lvl="2"/>
            <a:r>
              <a:rPr lang="en-US" altLang="ko-KR" dirty="0"/>
              <a:t>Nonlinear approximating networks: </a:t>
            </a:r>
            <a:r>
              <a:rPr lang="en-US" altLang="ko-KR" b="1" dirty="0"/>
              <a:t>Radial Basis Function (RBFs)</a:t>
            </a:r>
          </a:p>
          <a:p>
            <a:pPr lvl="3"/>
            <a:r>
              <a:rPr lang="en-US" altLang="ko-KR" dirty="0"/>
              <a:t>Approximating function that determines the value of the release decisions</a:t>
            </a:r>
          </a:p>
          <a:p>
            <a:pPr lvl="2"/>
            <a:r>
              <a:rPr lang="en-US" altLang="ko-KR" b="1" dirty="0"/>
              <a:t>MOEAs</a:t>
            </a:r>
            <a:r>
              <a:rPr lang="en-US" altLang="ko-KR" dirty="0"/>
              <a:t> during the solution searching process</a:t>
            </a:r>
          </a:p>
          <a:p>
            <a:pPr lvl="3"/>
            <a:r>
              <a:rPr lang="en-US" altLang="ko-KR" dirty="0"/>
              <a:t>Iterative search algorithm that evolve a Pareto-approximate set of solutions in a multi-objective problem</a:t>
            </a:r>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36C3204F-D916-4F8A-851C-F3AD08784F17}"/>
              </a:ext>
            </a:extLst>
          </p:cNvPr>
          <p:cNvSpPr>
            <a:spLocks noGrp="1"/>
          </p:cNvSpPr>
          <p:nvPr>
            <p:ph type="sldNum" sz="quarter" idx="12"/>
          </p:nvPr>
        </p:nvSpPr>
        <p:spPr/>
        <p:txBody>
          <a:bodyPr/>
          <a:lstStyle/>
          <a:p>
            <a:fld id="{79822AFB-C284-4A8E-A6EE-41BAA9C576A0}" type="slidenum">
              <a:rPr lang="ko-KR" altLang="en-US" smtClean="0"/>
              <a:t>6</a:t>
            </a:fld>
            <a:endParaRPr lang="ko-KR" altLang="en-US"/>
          </a:p>
        </p:txBody>
      </p:sp>
      <p:sp>
        <p:nvSpPr>
          <p:cNvPr id="5" name="날짜 개체 틀 4">
            <a:extLst>
              <a:ext uri="{FF2B5EF4-FFF2-40B4-BE49-F238E27FC236}">
                <a16:creationId xmlns:a16="http://schemas.microsoft.com/office/drawing/2014/main" id="{BCB892D0-4A7C-4E05-B9AB-486D82447201}"/>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spTree>
    <p:extLst>
      <p:ext uri="{BB962C8B-B14F-4D97-AF65-F5344CB8AC3E}">
        <p14:creationId xmlns:p14="http://schemas.microsoft.com/office/powerpoint/2010/main" val="3557697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3CADA3B-7954-4346-A60A-979261E91565}"/>
              </a:ext>
            </a:extLst>
          </p:cNvPr>
          <p:cNvSpPr>
            <a:spLocks noGrp="1"/>
          </p:cNvSpPr>
          <p:nvPr>
            <p:ph type="title"/>
          </p:nvPr>
        </p:nvSpPr>
        <p:spPr>
          <a:xfrm>
            <a:off x="628650" y="365127"/>
            <a:ext cx="7327726" cy="759618"/>
          </a:xfrm>
        </p:spPr>
        <p:txBody>
          <a:bodyPr>
            <a:noAutofit/>
          </a:bodyPr>
          <a:lstStyle/>
          <a:p>
            <a:r>
              <a:rPr lang="en-US" altLang="ko-KR" sz="2900" dirty="0"/>
              <a:t>Case</a:t>
            </a:r>
            <a:r>
              <a:rPr lang="ko-KR" altLang="en-US" sz="2900" dirty="0"/>
              <a:t> </a:t>
            </a:r>
            <a:r>
              <a:rPr lang="en-US" altLang="ko-KR" sz="2900" dirty="0"/>
              <a:t>Study: </a:t>
            </a:r>
            <a:r>
              <a:rPr lang="en-US" altLang="ko-KR" sz="2900" dirty="0" err="1"/>
              <a:t>Boryeong</a:t>
            </a:r>
            <a:r>
              <a:rPr lang="en-US" altLang="ko-KR" sz="2900" dirty="0"/>
              <a:t> Multipurpose Reservoir</a:t>
            </a:r>
            <a:endParaRPr lang="ko-KR" altLang="en-US" sz="2900" dirty="0"/>
          </a:p>
        </p:txBody>
      </p:sp>
      <p:sp>
        <p:nvSpPr>
          <p:cNvPr id="3" name="내용 개체 틀 2">
            <a:extLst>
              <a:ext uri="{FF2B5EF4-FFF2-40B4-BE49-F238E27FC236}">
                <a16:creationId xmlns:a16="http://schemas.microsoft.com/office/drawing/2014/main" id="{0FA75CDD-8AEE-4A10-ABFD-8A3859D573B1}"/>
              </a:ext>
            </a:extLst>
          </p:cNvPr>
          <p:cNvSpPr>
            <a:spLocks noGrp="1"/>
          </p:cNvSpPr>
          <p:nvPr>
            <p:ph idx="1"/>
          </p:nvPr>
        </p:nvSpPr>
        <p:spPr>
          <a:xfrm>
            <a:off x="628650" y="1268760"/>
            <a:ext cx="7886700" cy="4908203"/>
          </a:xfrm>
        </p:spPr>
        <p:txBody>
          <a:bodyPr/>
          <a:lstStyle/>
          <a:p>
            <a:r>
              <a:rPr lang="en-US" altLang="ko-KR" dirty="0"/>
              <a:t> Watershed Area: 2,860 km</a:t>
            </a:r>
            <a:r>
              <a:rPr lang="en-US" altLang="ko-KR" baseline="30000" dirty="0"/>
              <a:t>2</a:t>
            </a:r>
          </a:p>
          <a:p>
            <a:r>
              <a:rPr lang="en-US" altLang="ko-KR" dirty="0"/>
              <a:t> Water Supply Districts (8, Light Gray)</a:t>
            </a:r>
            <a:br>
              <a:rPr lang="en-US" altLang="ko-KR" dirty="0"/>
            </a:br>
            <a:r>
              <a:rPr lang="en-US" altLang="ko-KR" dirty="0"/>
              <a:t> </a:t>
            </a:r>
            <a:r>
              <a:rPr lang="en-US" altLang="ko-KR" dirty="0" err="1"/>
              <a:t>Boryeong</a:t>
            </a:r>
            <a:r>
              <a:rPr lang="en-US" altLang="ko-KR" dirty="0"/>
              <a:t> (Dark Gray), </a:t>
            </a:r>
            <a:r>
              <a:rPr lang="en-US" altLang="ko-KR" dirty="0" err="1"/>
              <a:t>Seosan</a:t>
            </a:r>
            <a:r>
              <a:rPr lang="en-US" altLang="ko-KR" dirty="0"/>
              <a:t>, </a:t>
            </a:r>
            <a:r>
              <a:rPr lang="en-US" altLang="ko-KR" dirty="0" err="1"/>
              <a:t>Dangjin</a:t>
            </a:r>
            <a:r>
              <a:rPr lang="en-US" altLang="ko-KR" dirty="0"/>
              <a:t>, </a:t>
            </a:r>
            <a:r>
              <a:rPr lang="en-US" altLang="ko-KR" dirty="0" err="1"/>
              <a:t>Seocheon</a:t>
            </a:r>
            <a:r>
              <a:rPr lang="en-US" altLang="ko-KR" dirty="0"/>
              <a:t>, </a:t>
            </a:r>
            <a:r>
              <a:rPr lang="en-US" altLang="ko-KR" dirty="0" err="1"/>
              <a:t>Cheongyang</a:t>
            </a:r>
            <a:r>
              <a:rPr lang="en-US" altLang="ko-KR" dirty="0"/>
              <a:t>, </a:t>
            </a:r>
            <a:r>
              <a:rPr lang="en-US" altLang="ko-KR" dirty="0" err="1"/>
              <a:t>Hongseong</a:t>
            </a:r>
            <a:r>
              <a:rPr lang="en-US" altLang="ko-KR" dirty="0"/>
              <a:t>, </a:t>
            </a:r>
            <a:r>
              <a:rPr lang="en-US" altLang="ko-KR" dirty="0" err="1"/>
              <a:t>Yesan</a:t>
            </a:r>
            <a:r>
              <a:rPr lang="en-US" altLang="ko-KR" dirty="0"/>
              <a:t>, </a:t>
            </a:r>
            <a:r>
              <a:rPr lang="en-US" altLang="ko-KR" dirty="0" err="1"/>
              <a:t>Taean</a:t>
            </a:r>
            <a:endParaRPr lang="en-US" altLang="ko-KR" dirty="0"/>
          </a:p>
          <a:p>
            <a:r>
              <a:rPr lang="en-US" altLang="ko-KR" dirty="0"/>
              <a:t> Water Use: 106.6 MCM/year </a:t>
            </a:r>
            <a:r>
              <a:rPr lang="en-US" altLang="ko-KR" dirty="0">
                <a:solidFill>
                  <a:srgbClr val="FF0000"/>
                </a:solidFill>
              </a:rPr>
              <a:t>(Reservoir Capacity: 116.9 MCM)</a:t>
            </a:r>
            <a:br>
              <a:rPr lang="en-US" altLang="ko-KR" dirty="0"/>
            </a:br>
            <a:r>
              <a:rPr lang="en-US" altLang="ko-KR" dirty="0"/>
              <a:t> (</a:t>
            </a:r>
            <a:r>
              <a:rPr lang="en-US" altLang="ko-KR" b="1" dirty="0"/>
              <a:t>Municipal &amp; Industrial water demand: 84%,</a:t>
            </a:r>
            <a:r>
              <a:rPr lang="en-US" altLang="ko-KR" dirty="0"/>
              <a:t> </a:t>
            </a:r>
            <a:br>
              <a:rPr lang="en-US" altLang="ko-KR" dirty="0"/>
            </a:br>
            <a:r>
              <a:rPr lang="en-US" altLang="ko-KR" dirty="0"/>
              <a:t> Agricultural water demand: 5%, Environmental water demand: 11%)</a:t>
            </a:r>
          </a:p>
          <a:p>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7460A1A4-1CD7-4EEC-941D-B7D2D90B4387}"/>
              </a:ext>
            </a:extLst>
          </p:cNvPr>
          <p:cNvSpPr>
            <a:spLocks noGrp="1"/>
          </p:cNvSpPr>
          <p:nvPr>
            <p:ph type="sldNum" sz="quarter" idx="12"/>
          </p:nvPr>
        </p:nvSpPr>
        <p:spPr/>
        <p:txBody>
          <a:bodyPr/>
          <a:lstStyle/>
          <a:p>
            <a:fld id="{79822AFB-C284-4A8E-A6EE-41BAA9C576A0}" type="slidenum">
              <a:rPr lang="ko-KR" altLang="en-US" smtClean="0"/>
              <a:t>7</a:t>
            </a:fld>
            <a:endParaRPr lang="ko-KR" altLang="en-US"/>
          </a:p>
        </p:txBody>
      </p:sp>
      <p:sp>
        <p:nvSpPr>
          <p:cNvPr id="5" name="날짜 개체 틀 4">
            <a:extLst>
              <a:ext uri="{FF2B5EF4-FFF2-40B4-BE49-F238E27FC236}">
                <a16:creationId xmlns:a16="http://schemas.microsoft.com/office/drawing/2014/main" id="{9A89116A-F96D-4907-AB18-6B6316EB5919}"/>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내용 개체 틀 6">
            <a:extLst>
              <a:ext uri="{FF2B5EF4-FFF2-40B4-BE49-F238E27FC236}">
                <a16:creationId xmlns:a16="http://schemas.microsoft.com/office/drawing/2014/main" id="{DEC927A8-C5F9-4BA3-85D6-817968E79CA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7880" b="23709"/>
          <a:stretch/>
        </p:blipFill>
        <p:spPr>
          <a:xfrm>
            <a:off x="1298941" y="4293095"/>
            <a:ext cx="6546118" cy="2376265"/>
          </a:xfrm>
          <a:prstGeom prst="rect">
            <a:avLst/>
          </a:prstGeom>
        </p:spPr>
      </p:pic>
      <p:sp>
        <p:nvSpPr>
          <p:cNvPr id="7" name="TextBox 6">
            <a:extLst>
              <a:ext uri="{FF2B5EF4-FFF2-40B4-BE49-F238E27FC236}">
                <a16:creationId xmlns:a16="http://schemas.microsoft.com/office/drawing/2014/main" id="{256CF0BC-EBB6-453E-9F86-9A30C7E6B2D3}"/>
              </a:ext>
            </a:extLst>
          </p:cNvPr>
          <p:cNvSpPr txBox="1"/>
          <p:nvPr/>
        </p:nvSpPr>
        <p:spPr>
          <a:xfrm>
            <a:off x="3419872" y="6556918"/>
            <a:ext cx="1973425" cy="276999"/>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Fig. 4. Map of the study basin</a:t>
            </a:r>
            <a:endParaRPr lang="ko-KR" altLang="en-US" sz="1200" dirty="0">
              <a:latin typeface="Gill Sans MT" panose="020B0502020104020203" pitchFamily="34" charset="0"/>
              <a:cs typeface="Helvetica" panose="020B0604020202020204" pitchFamily="34" charset="0"/>
            </a:endParaRPr>
          </a:p>
        </p:txBody>
      </p:sp>
    </p:spTree>
    <p:extLst>
      <p:ext uri="{BB962C8B-B14F-4D97-AF65-F5344CB8AC3E}">
        <p14:creationId xmlns:p14="http://schemas.microsoft.com/office/powerpoint/2010/main" val="1224303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EC6AB235-53EA-4534-9CCD-CA6EF3862010}"/>
              </a:ext>
            </a:extLst>
          </p:cNvPr>
          <p:cNvSpPr>
            <a:spLocks noGrp="1"/>
          </p:cNvSpPr>
          <p:nvPr>
            <p:ph idx="1"/>
          </p:nvPr>
        </p:nvSpPr>
        <p:spPr/>
        <p:txBody>
          <a:bodyPr/>
          <a:lstStyle/>
          <a:p>
            <a:r>
              <a:rPr lang="en-US" altLang="ko-KR" dirty="0"/>
              <a:t> Recent Multi-year Drought in </a:t>
            </a:r>
            <a:r>
              <a:rPr lang="en-US" altLang="ko-KR" dirty="0" err="1"/>
              <a:t>Boryeong</a:t>
            </a:r>
            <a:r>
              <a:rPr lang="en-US" altLang="ko-KR" dirty="0"/>
              <a:t> Dam Basin (2014-2019)</a:t>
            </a:r>
          </a:p>
          <a:p>
            <a:pPr lvl="1"/>
            <a:r>
              <a:rPr lang="en-US" altLang="ko-KR" dirty="0"/>
              <a:t> Consecutive decrease in the total annual precipitation (6 water years)</a:t>
            </a:r>
          </a:p>
          <a:p>
            <a:pPr lvl="1"/>
            <a:r>
              <a:rPr lang="en-US" altLang="ko-KR" dirty="0"/>
              <a:t> Both structural/non-structural measures to mitigate the effects from the long-lasting drought</a:t>
            </a:r>
          </a:p>
          <a:p>
            <a:pPr lvl="2"/>
            <a:r>
              <a:rPr lang="en-US" altLang="ko-KR" dirty="0"/>
              <a:t>Conduit Construction Project (2016-2017, $62,500,000+$2,600,000/year)</a:t>
            </a:r>
          </a:p>
          <a:p>
            <a:pPr lvl="2"/>
            <a:r>
              <a:rPr lang="en-US" altLang="ko-KR" dirty="0"/>
              <a:t>Enforcement of Pressure Reduction in Water Supply Systems (127 days)</a:t>
            </a:r>
          </a:p>
          <a:p>
            <a:pPr lvl="2"/>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6E105223-D22C-45D3-A54A-8E6200EF25B9}"/>
              </a:ext>
            </a:extLst>
          </p:cNvPr>
          <p:cNvSpPr>
            <a:spLocks noGrp="1"/>
          </p:cNvSpPr>
          <p:nvPr>
            <p:ph type="sldNum" sz="quarter" idx="12"/>
          </p:nvPr>
        </p:nvSpPr>
        <p:spPr/>
        <p:txBody>
          <a:bodyPr/>
          <a:lstStyle/>
          <a:p>
            <a:fld id="{79822AFB-C284-4A8E-A6EE-41BAA9C576A0}" type="slidenum">
              <a:rPr lang="ko-KR" altLang="en-US" smtClean="0"/>
              <a:t>8</a:t>
            </a:fld>
            <a:endParaRPr lang="ko-KR" altLang="en-US"/>
          </a:p>
        </p:txBody>
      </p:sp>
      <p:sp>
        <p:nvSpPr>
          <p:cNvPr id="5" name="날짜 개체 틀 4">
            <a:extLst>
              <a:ext uri="{FF2B5EF4-FFF2-40B4-BE49-F238E27FC236}">
                <a16:creationId xmlns:a16="http://schemas.microsoft.com/office/drawing/2014/main" id="{2833DAE4-615A-4CAF-8407-A2FAB4E98034}"/>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그림 5">
            <a:extLst>
              <a:ext uri="{FF2B5EF4-FFF2-40B4-BE49-F238E27FC236}">
                <a16:creationId xmlns:a16="http://schemas.microsoft.com/office/drawing/2014/main" id="{1979C689-F60E-4A73-BF55-E0B5DDD08A87}"/>
              </a:ext>
            </a:extLst>
          </p:cNvPr>
          <p:cNvPicPr>
            <a:picLocks noChangeAspect="1"/>
          </p:cNvPicPr>
          <p:nvPr/>
        </p:nvPicPr>
        <p:blipFill>
          <a:blip r:embed="rId2"/>
          <a:stretch>
            <a:fillRect/>
          </a:stretch>
        </p:blipFill>
        <p:spPr>
          <a:xfrm>
            <a:off x="4648158" y="3798254"/>
            <a:ext cx="4392488" cy="2740657"/>
          </a:xfrm>
          <a:prstGeom prst="rect">
            <a:avLst/>
          </a:prstGeom>
        </p:spPr>
      </p:pic>
      <p:sp>
        <p:nvSpPr>
          <p:cNvPr id="7" name="TextBox 6">
            <a:extLst>
              <a:ext uri="{FF2B5EF4-FFF2-40B4-BE49-F238E27FC236}">
                <a16:creationId xmlns:a16="http://schemas.microsoft.com/office/drawing/2014/main" id="{23F09B9C-30D0-4DD7-8CCC-41B8D0A8AAC5}"/>
              </a:ext>
            </a:extLst>
          </p:cNvPr>
          <p:cNvSpPr txBox="1"/>
          <p:nvPr/>
        </p:nvSpPr>
        <p:spPr>
          <a:xfrm>
            <a:off x="5185286" y="4079017"/>
            <a:ext cx="2962257" cy="461665"/>
          </a:xfrm>
          <a:prstGeom prst="rect">
            <a:avLst/>
          </a:prstGeom>
          <a:noFill/>
        </p:spPr>
        <p:txBody>
          <a:bodyPr wrap="square" rtlCol="0">
            <a:spAutoFit/>
          </a:bodyPr>
          <a:lstStyle/>
          <a:p>
            <a:pPr algn="ctr"/>
            <a:r>
              <a:rPr lang="en-US" altLang="ko-KR" sz="1200" dirty="0">
                <a:solidFill>
                  <a:srgbClr val="FF0000"/>
                </a:solidFill>
                <a:latin typeface="Gill Sans MT" panose="020B0502020104020203" pitchFamily="34" charset="0"/>
                <a:ea typeface="08서울남산체 M" panose="02020603020101020101" pitchFamily="18" charset="-127"/>
                <a:cs typeface="Arial" panose="020B0604020202020204" pitchFamily="34" charset="0"/>
              </a:rPr>
              <a:t>(a)~(f): cumulative rainfall during water years 2013-2014 through 2018-2019</a:t>
            </a:r>
            <a:endParaRPr lang="ko-KR" altLang="en-US" sz="1200" dirty="0">
              <a:solidFill>
                <a:srgbClr val="FF0000"/>
              </a:solidFill>
              <a:latin typeface="Gill Sans MT" panose="020B0502020104020203" pitchFamily="34" charset="0"/>
              <a:ea typeface="08서울남산체 M" panose="02020603020101020101" pitchFamily="18" charset="-127"/>
              <a:cs typeface="Arial" panose="020B0604020202020204" pitchFamily="34" charset="0"/>
            </a:endParaRPr>
          </a:p>
        </p:txBody>
      </p:sp>
      <p:sp>
        <p:nvSpPr>
          <p:cNvPr id="9" name="제목 8">
            <a:extLst>
              <a:ext uri="{FF2B5EF4-FFF2-40B4-BE49-F238E27FC236}">
                <a16:creationId xmlns:a16="http://schemas.microsoft.com/office/drawing/2014/main" id="{48453286-997E-45BB-B3FD-56D0017B2132}"/>
              </a:ext>
            </a:extLst>
          </p:cNvPr>
          <p:cNvSpPr>
            <a:spLocks noGrp="1"/>
          </p:cNvSpPr>
          <p:nvPr>
            <p:ph type="title"/>
          </p:nvPr>
        </p:nvSpPr>
        <p:spPr>
          <a:xfrm>
            <a:off x="628650" y="365127"/>
            <a:ext cx="7687766" cy="759618"/>
          </a:xfrm>
        </p:spPr>
        <p:txBody>
          <a:bodyPr>
            <a:normAutofit fontScale="90000"/>
          </a:bodyPr>
          <a:lstStyle/>
          <a:p>
            <a:r>
              <a:rPr lang="en-US" altLang="ko-KR" dirty="0"/>
              <a:t>Case</a:t>
            </a:r>
            <a:r>
              <a:rPr lang="ko-KR" altLang="en-US" dirty="0"/>
              <a:t> </a:t>
            </a:r>
            <a:r>
              <a:rPr lang="en-US" altLang="ko-KR" dirty="0"/>
              <a:t>Study: </a:t>
            </a:r>
            <a:r>
              <a:rPr lang="en-US" altLang="ko-KR" dirty="0" err="1"/>
              <a:t>Boryeong</a:t>
            </a:r>
            <a:r>
              <a:rPr lang="en-US" altLang="ko-KR" dirty="0"/>
              <a:t> Multipurpose Reservoir</a:t>
            </a:r>
            <a:endParaRPr lang="ko-KR" altLang="en-US" dirty="0"/>
          </a:p>
        </p:txBody>
      </p:sp>
      <p:sp>
        <p:nvSpPr>
          <p:cNvPr id="8" name="직사각형 7">
            <a:extLst>
              <a:ext uri="{FF2B5EF4-FFF2-40B4-BE49-F238E27FC236}">
                <a16:creationId xmlns:a16="http://schemas.microsoft.com/office/drawing/2014/main" id="{3084BFFF-9737-4D09-92E9-D00A4D93D62C}"/>
              </a:ext>
            </a:extLst>
          </p:cNvPr>
          <p:cNvSpPr/>
          <p:nvPr/>
        </p:nvSpPr>
        <p:spPr>
          <a:xfrm rot="16200000">
            <a:off x="-382984" y="4993579"/>
            <a:ext cx="1044116" cy="3960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rPr>
              <a:t>Inflow (</a:t>
            </a:r>
            <a:r>
              <a:rPr lang="en-US" altLang="ko-KR" sz="1200" dirty="0" err="1">
                <a:solidFill>
                  <a:schemeClr val="tx1"/>
                </a:solidFill>
              </a:rPr>
              <a:t>cms</a:t>
            </a:r>
            <a:r>
              <a:rPr lang="en-US" altLang="ko-KR" sz="1200" dirty="0">
                <a:solidFill>
                  <a:schemeClr val="tx1"/>
                </a:solidFill>
              </a:rPr>
              <a:t>)</a:t>
            </a:r>
            <a:endParaRPr lang="ko-KR" altLang="en-US" sz="1200" dirty="0">
              <a:solidFill>
                <a:schemeClr val="tx1"/>
              </a:solidFill>
            </a:endParaRPr>
          </a:p>
        </p:txBody>
      </p:sp>
      <p:graphicFrame>
        <p:nvGraphicFramePr>
          <p:cNvPr id="10" name="차트 9">
            <a:extLst>
              <a:ext uri="{FF2B5EF4-FFF2-40B4-BE49-F238E27FC236}">
                <a16:creationId xmlns:a16="http://schemas.microsoft.com/office/drawing/2014/main" id="{926A384D-C00E-4724-8EC6-B4218D45EAC3}"/>
              </a:ext>
            </a:extLst>
          </p:cNvPr>
          <p:cNvGraphicFramePr>
            <a:graphicFrameLocks/>
          </p:cNvGraphicFramePr>
          <p:nvPr>
            <p:extLst>
              <p:ext uri="{D42A27DB-BD31-4B8C-83A1-F6EECF244321}">
                <p14:modId xmlns:p14="http://schemas.microsoft.com/office/powerpoint/2010/main" val="614969732"/>
              </p:ext>
            </p:extLst>
          </p:nvPr>
        </p:nvGraphicFramePr>
        <p:xfrm>
          <a:off x="335725" y="3844291"/>
          <a:ext cx="4150069" cy="2694620"/>
        </p:xfrm>
        <a:graphic>
          <a:graphicData uri="http://schemas.openxmlformats.org/drawingml/2006/chart">
            <c:chart xmlns:c="http://schemas.openxmlformats.org/drawingml/2006/chart" xmlns:r="http://schemas.openxmlformats.org/officeDocument/2006/relationships" r:id="rId3"/>
          </a:graphicData>
        </a:graphic>
      </p:graphicFrame>
      <p:sp>
        <p:nvSpPr>
          <p:cNvPr id="11" name="직사각형 10">
            <a:extLst>
              <a:ext uri="{FF2B5EF4-FFF2-40B4-BE49-F238E27FC236}">
                <a16:creationId xmlns:a16="http://schemas.microsoft.com/office/drawing/2014/main" id="{131AF6CC-3124-4461-8B6D-1447C595BA2C}"/>
              </a:ext>
            </a:extLst>
          </p:cNvPr>
          <p:cNvSpPr/>
          <p:nvPr/>
        </p:nvSpPr>
        <p:spPr>
          <a:xfrm>
            <a:off x="806395" y="4309849"/>
            <a:ext cx="1271117" cy="738664"/>
          </a:xfrm>
          <a:prstGeom prst="rect">
            <a:avLst/>
          </a:prstGeom>
        </p:spPr>
        <p:txBody>
          <a:bodyPr wrap="square">
            <a:spAutoFit/>
          </a:bodyPr>
          <a:lstStyle/>
          <a:p>
            <a:pPr algn="ctr"/>
            <a:r>
              <a:rPr lang="en-US" altLang="ko-KR" sz="1400" dirty="0">
                <a:solidFill>
                  <a:srgbClr val="FF0000"/>
                </a:solidFill>
                <a:latin typeface="Gill Sans MT" panose="020B0502020104020203" pitchFamily="34" charset="0"/>
              </a:rPr>
              <a:t>29% Decrease </a:t>
            </a:r>
          </a:p>
          <a:p>
            <a:pPr algn="ctr"/>
            <a:r>
              <a:rPr lang="en-US" altLang="ko-KR" sz="1400" dirty="0">
                <a:solidFill>
                  <a:srgbClr val="FF0000"/>
                </a:solidFill>
                <a:latin typeface="Gill Sans MT" panose="020B0502020104020203" pitchFamily="34" charset="0"/>
              </a:rPr>
              <a:t>In Total Inflow </a:t>
            </a:r>
            <a:br>
              <a:rPr lang="en-US" altLang="ko-KR" sz="1400" dirty="0">
                <a:solidFill>
                  <a:srgbClr val="FF0000"/>
                </a:solidFill>
                <a:latin typeface="Gill Sans MT" panose="020B0502020104020203" pitchFamily="34" charset="0"/>
              </a:rPr>
            </a:br>
            <a:r>
              <a:rPr lang="en-US" altLang="ko-KR" sz="1400" dirty="0">
                <a:solidFill>
                  <a:srgbClr val="FF0000"/>
                </a:solidFill>
                <a:latin typeface="Gill Sans MT" panose="020B0502020104020203" pitchFamily="34" charset="0"/>
              </a:rPr>
              <a:t>(2015-2017)</a:t>
            </a:r>
            <a:endParaRPr lang="ko-KR" altLang="en-US" sz="1400" dirty="0">
              <a:solidFill>
                <a:srgbClr val="FF0000"/>
              </a:solidFill>
              <a:latin typeface="Gill Sans MT" panose="020B0502020104020203" pitchFamily="34" charset="0"/>
            </a:endParaRPr>
          </a:p>
        </p:txBody>
      </p:sp>
      <p:sp>
        <p:nvSpPr>
          <p:cNvPr id="12" name="TextBox 11">
            <a:extLst>
              <a:ext uri="{FF2B5EF4-FFF2-40B4-BE49-F238E27FC236}">
                <a16:creationId xmlns:a16="http://schemas.microsoft.com/office/drawing/2014/main" id="{8858D1E9-642F-4956-89F0-197ECA6C5D16}"/>
              </a:ext>
            </a:extLst>
          </p:cNvPr>
          <p:cNvSpPr txBox="1"/>
          <p:nvPr/>
        </p:nvSpPr>
        <p:spPr>
          <a:xfrm>
            <a:off x="2754017" y="6581001"/>
            <a:ext cx="3788281" cy="276999"/>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Fig. 5. Graphs of recent inflow decrease of </a:t>
            </a:r>
            <a:r>
              <a:rPr lang="en-US" altLang="ko-KR" sz="1200" dirty="0" err="1">
                <a:latin typeface="Gill Sans MT" panose="020B0502020104020203" pitchFamily="34" charset="0"/>
                <a:cs typeface="Helvetica" panose="020B0604020202020204" pitchFamily="34" charset="0"/>
              </a:rPr>
              <a:t>Boryeong</a:t>
            </a:r>
            <a:r>
              <a:rPr lang="en-US" altLang="ko-KR" sz="1200" dirty="0">
                <a:latin typeface="Gill Sans MT" panose="020B0502020104020203" pitchFamily="34" charset="0"/>
                <a:cs typeface="Helvetica" panose="020B0604020202020204" pitchFamily="34" charset="0"/>
              </a:rPr>
              <a:t> Dam</a:t>
            </a:r>
            <a:endParaRPr lang="ko-KR" altLang="en-US" sz="1200" dirty="0">
              <a:latin typeface="Gill Sans MT" panose="020B0502020104020203" pitchFamily="34" charset="0"/>
              <a:cs typeface="Helvetica" panose="020B0604020202020204" pitchFamily="34" charset="0"/>
            </a:endParaRPr>
          </a:p>
        </p:txBody>
      </p:sp>
    </p:spTree>
    <p:extLst>
      <p:ext uri="{BB962C8B-B14F-4D97-AF65-F5344CB8AC3E}">
        <p14:creationId xmlns:p14="http://schemas.microsoft.com/office/powerpoint/2010/main" val="981068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Graphic spid="10" grpId="0">
        <p:bldAsOne/>
      </p:bldGraphic>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2AE48A-A071-4546-871D-1070F6006DFB}"/>
              </a:ext>
            </a:extLst>
          </p:cNvPr>
          <p:cNvSpPr>
            <a:spLocks noGrp="1"/>
          </p:cNvSpPr>
          <p:nvPr>
            <p:ph type="title"/>
          </p:nvPr>
        </p:nvSpPr>
        <p:spPr/>
        <p:txBody>
          <a:bodyPr/>
          <a:lstStyle/>
          <a:p>
            <a:r>
              <a:rPr lang="en-US" altLang="ko-KR" dirty="0"/>
              <a:t>Problem Formulation: Objectives</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206FC029-DF23-4821-A646-58C64F847676}"/>
                  </a:ext>
                </a:extLst>
              </p:cNvPr>
              <p:cNvSpPr>
                <a:spLocks noGrp="1"/>
              </p:cNvSpPr>
              <p:nvPr>
                <p:ph idx="1"/>
              </p:nvPr>
            </p:nvSpPr>
            <p:spPr/>
            <p:txBody>
              <a:bodyPr/>
              <a:lstStyle/>
              <a:p>
                <a:r>
                  <a:rPr lang="en-US" altLang="ko-KR" dirty="0"/>
                  <a:t> Reservoir Problem with Conflicting Objectives: </a:t>
                </a:r>
                <a14:m>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𝐽</m:t>
                        </m:r>
                      </m:e>
                      <m:sup>
                        <m:r>
                          <a:rPr lang="en-US" altLang="ko-KR" i="1">
                            <a:latin typeface="Cambria Math" panose="02040503050406030204" pitchFamily="18" charset="0"/>
                          </a:rPr>
                          <m:t>𝑠𝑢𝑝𝑝𝑙𝑦</m:t>
                        </m:r>
                      </m:sup>
                    </m:sSup>
                  </m:oMath>
                </a14:m>
                <a:r>
                  <a:rPr lang="en-US" altLang="ko-KR" dirty="0"/>
                  <a:t> vs </a:t>
                </a:r>
                <a14:m>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𝐽</m:t>
                        </m:r>
                      </m:e>
                      <m:sup>
                        <m:r>
                          <a:rPr lang="en-US" altLang="ko-KR" i="1">
                            <a:latin typeface="Cambria Math" panose="02040503050406030204" pitchFamily="18" charset="0"/>
                          </a:rPr>
                          <m:t>𝑑𝑒𝑚𝑎𝑛𝑑</m:t>
                        </m:r>
                      </m:sup>
                    </m:sSup>
                  </m:oMath>
                </a14:m>
                <a:endParaRPr lang="en-US" altLang="ko-KR" dirty="0"/>
              </a:p>
              <a:p>
                <a:pPr marL="457200" lvl="1" indent="0">
                  <a:buNone/>
                </a:pPr>
                <a:r>
                  <a:rPr lang="en-US" altLang="ko-KR" dirty="0"/>
                  <a:t>(both objectives to be minimized)</a:t>
                </a:r>
              </a:p>
              <a:p>
                <a:pPr lvl="1"/>
                <a:r>
                  <a:rPr lang="en-US" altLang="ko-KR" dirty="0"/>
                  <a:t> </a:t>
                </a:r>
                <a14:m>
                  <m:oMath xmlns:m="http://schemas.openxmlformats.org/officeDocument/2006/math">
                    <m:sSup>
                      <m:sSupPr>
                        <m:ctrlPr>
                          <a:rPr lang="en-US" altLang="ko-KR" b="1" i="1" smtClean="0">
                            <a:solidFill>
                              <a:srgbClr val="FF0000"/>
                            </a:solidFill>
                            <a:latin typeface="Cambria Math" panose="02040503050406030204" pitchFamily="18" charset="0"/>
                          </a:rPr>
                        </m:ctrlPr>
                      </m:sSupPr>
                      <m:e>
                        <m:r>
                          <a:rPr lang="en-US" altLang="ko-KR" b="1" i="1">
                            <a:solidFill>
                              <a:srgbClr val="FF0000"/>
                            </a:solidFill>
                            <a:latin typeface="Cambria Math" panose="02040503050406030204" pitchFamily="18" charset="0"/>
                          </a:rPr>
                          <m:t>𝑱</m:t>
                        </m:r>
                      </m:e>
                      <m:sup>
                        <m:r>
                          <a:rPr lang="en-US" altLang="ko-KR" b="1" i="1">
                            <a:solidFill>
                              <a:srgbClr val="FF0000"/>
                            </a:solidFill>
                            <a:latin typeface="Cambria Math" panose="02040503050406030204" pitchFamily="18" charset="0"/>
                          </a:rPr>
                          <m:t>𝒔𝒖𝒑𝒑𝒍𝒚</m:t>
                        </m:r>
                      </m:sup>
                    </m:sSup>
                  </m:oMath>
                </a14:m>
                <a:r>
                  <a:rPr lang="en-US" altLang="ko-KR" dirty="0">
                    <a:solidFill>
                      <a:srgbClr val="FF0000"/>
                    </a:solidFill>
                  </a:rPr>
                  <a:t>: measures the magnitude of failure from the supply side</a:t>
                </a:r>
                <a:endParaRPr lang="en-US" altLang="ko-KR" dirty="0"/>
              </a:p>
              <a:p>
                <a:pPr lvl="1"/>
                <a:endParaRPr lang="en-US" altLang="ko-KR" dirty="0"/>
              </a:p>
              <a:p>
                <a:pPr lvl="1"/>
                <a:endParaRPr lang="en-US" altLang="ko-KR" dirty="0"/>
              </a:p>
              <a:p>
                <a:pPr lvl="1"/>
                <a:r>
                  <a:rPr lang="en-US" altLang="ko-KR" b="1" dirty="0">
                    <a:solidFill>
                      <a:srgbClr val="0070C0"/>
                    </a:solidFill>
                  </a:rPr>
                  <a:t> </a:t>
                </a:r>
                <a14:m>
                  <m:oMath xmlns:m="http://schemas.openxmlformats.org/officeDocument/2006/math">
                    <m:sSup>
                      <m:sSupPr>
                        <m:ctrlPr>
                          <a:rPr lang="en-US" altLang="ko-KR" b="1" i="1">
                            <a:solidFill>
                              <a:srgbClr val="0070C0"/>
                            </a:solidFill>
                            <a:latin typeface="Cambria Math" panose="02040503050406030204" pitchFamily="18" charset="0"/>
                          </a:rPr>
                        </m:ctrlPr>
                      </m:sSupPr>
                      <m:e>
                        <m:r>
                          <a:rPr lang="en-US" altLang="ko-KR" b="1" i="1">
                            <a:solidFill>
                              <a:srgbClr val="0070C0"/>
                            </a:solidFill>
                            <a:latin typeface="Cambria Math" panose="02040503050406030204" pitchFamily="18" charset="0"/>
                          </a:rPr>
                          <m:t>𝑱</m:t>
                        </m:r>
                      </m:e>
                      <m:sup>
                        <m:r>
                          <a:rPr lang="en-US" altLang="ko-KR" b="1" i="1">
                            <a:solidFill>
                              <a:srgbClr val="0070C0"/>
                            </a:solidFill>
                            <a:latin typeface="Cambria Math" panose="02040503050406030204" pitchFamily="18" charset="0"/>
                          </a:rPr>
                          <m:t>𝒅𝒆𝒎𝒂𝒏𝒅</m:t>
                        </m:r>
                      </m:sup>
                    </m:sSup>
                  </m:oMath>
                </a14:m>
                <a:r>
                  <a:rPr lang="en-US" altLang="ko-KR" dirty="0">
                    <a:solidFill>
                      <a:srgbClr val="0070C0"/>
                    </a:solidFill>
                  </a:rPr>
                  <a:t>: measures the magnitude of failure from the demand side</a:t>
                </a:r>
              </a:p>
              <a:p>
                <a:pPr marL="0" indent="0">
                  <a:buNone/>
                </a:pPr>
                <a:endParaRPr lang="ko-KR" altLang="en-US" dirty="0"/>
              </a:p>
              <a:p>
                <a:endParaRPr lang="ko-KR" altLang="en-US" dirty="0"/>
              </a:p>
            </p:txBody>
          </p:sp>
        </mc:Choice>
        <mc:Fallback xmlns="">
          <p:sp>
            <p:nvSpPr>
              <p:cNvPr id="3" name="내용 개체 틀 2">
                <a:extLst>
                  <a:ext uri="{FF2B5EF4-FFF2-40B4-BE49-F238E27FC236}">
                    <a16:creationId xmlns:a16="http://schemas.microsoft.com/office/drawing/2014/main" id="{206FC029-DF23-4821-A646-58C64F847676}"/>
                  </a:ext>
                </a:extLst>
              </p:cNvPr>
              <p:cNvSpPr>
                <a:spLocks noGrp="1" noRot="1" noChangeAspect="1" noMove="1" noResize="1" noEditPoints="1" noAdjustHandles="1" noChangeArrowheads="1" noChangeShapeType="1" noTextEdit="1"/>
              </p:cNvSpPr>
              <p:nvPr>
                <p:ph idx="1"/>
              </p:nvPr>
            </p:nvSpPr>
            <p:spPr>
              <a:blipFill>
                <a:blip r:embed="rId3"/>
                <a:stretch>
                  <a:fillRect l="-696"/>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9515024E-A5E5-423A-9008-CD2BBE788FD1}"/>
              </a:ext>
            </a:extLst>
          </p:cNvPr>
          <p:cNvSpPr>
            <a:spLocks noGrp="1"/>
          </p:cNvSpPr>
          <p:nvPr>
            <p:ph type="sldNum" sz="quarter" idx="12"/>
          </p:nvPr>
        </p:nvSpPr>
        <p:spPr/>
        <p:txBody>
          <a:bodyPr/>
          <a:lstStyle/>
          <a:p>
            <a:fld id="{79822AFB-C284-4A8E-A6EE-41BAA9C576A0}" type="slidenum">
              <a:rPr lang="ko-KR" altLang="en-US" smtClean="0"/>
              <a:t>9</a:t>
            </a:fld>
            <a:endParaRPr lang="ko-KR" altLang="en-US"/>
          </a:p>
        </p:txBody>
      </p:sp>
      <p:sp>
        <p:nvSpPr>
          <p:cNvPr id="5" name="날짜 개체 틀 4">
            <a:extLst>
              <a:ext uri="{FF2B5EF4-FFF2-40B4-BE49-F238E27FC236}">
                <a16:creationId xmlns:a16="http://schemas.microsoft.com/office/drawing/2014/main" id="{A4615551-5C8C-4E87-B340-5386FE32E7E9}"/>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graphicFrame>
        <p:nvGraphicFramePr>
          <p:cNvPr id="6" name="개체 5">
            <a:extLst>
              <a:ext uri="{FF2B5EF4-FFF2-40B4-BE49-F238E27FC236}">
                <a16:creationId xmlns:a16="http://schemas.microsoft.com/office/drawing/2014/main" id="{731D39F3-41EA-472A-B17D-6919390A4B8F}"/>
              </a:ext>
            </a:extLst>
          </p:cNvPr>
          <p:cNvGraphicFramePr>
            <a:graphicFrameLocks noChangeAspect="1"/>
          </p:cNvGraphicFramePr>
          <p:nvPr>
            <p:extLst>
              <p:ext uri="{D42A27DB-BD31-4B8C-83A1-F6EECF244321}">
                <p14:modId xmlns:p14="http://schemas.microsoft.com/office/powerpoint/2010/main" val="1730745997"/>
              </p:ext>
            </p:extLst>
          </p:nvPr>
        </p:nvGraphicFramePr>
        <p:xfrm>
          <a:off x="2944220" y="2580295"/>
          <a:ext cx="3598505" cy="648072"/>
        </p:xfrm>
        <a:graphic>
          <a:graphicData uri="http://schemas.openxmlformats.org/presentationml/2006/ole">
            <mc:AlternateContent xmlns:mc="http://schemas.openxmlformats.org/markup-compatibility/2006">
              <mc:Choice xmlns:v="urn:schemas-microsoft-com:vml" Requires="v">
                <p:oleObj spid="_x0000_s2138" name="Equation" r:id="rId4" imgW="2679480" imgH="482400" progId="Equation.DSMT4">
                  <p:embed/>
                </p:oleObj>
              </mc:Choice>
              <mc:Fallback>
                <p:oleObj name="Equation" r:id="rId4" imgW="2679480" imgH="482400" progId="Equation.DSMT4">
                  <p:embed/>
                  <p:pic>
                    <p:nvPicPr>
                      <p:cNvPr id="5" name="개체 4">
                        <a:extLst>
                          <a:ext uri="{FF2B5EF4-FFF2-40B4-BE49-F238E27FC236}">
                            <a16:creationId xmlns:a16="http://schemas.microsoft.com/office/drawing/2014/main" id="{0E54F01B-08EA-4299-BDD2-7F41178B55C9}"/>
                          </a:ext>
                        </a:extLst>
                      </p:cNvPr>
                      <p:cNvPicPr/>
                      <p:nvPr/>
                    </p:nvPicPr>
                    <p:blipFill>
                      <a:blip r:embed="rId5"/>
                      <a:stretch>
                        <a:fillRect/>
                      </a:stretch>
                    </p:blipFill>
                    <p:spPr>
                      <a:xfrm>
                        <a:off x="2944220" y="2580295"/>
                        <a:ext cx="3598505" cy="648072"/>
                      </a:xfrm>
                      <a:prstGeom prst="rect">
                        <a:avLst/>
                      </a:prstGeom>
                    </p:spPr>
                  </p:pic>
                </p:oleObj>
              </mc:Fallback>
            </mc:AlternateContent>
          </a:graphicData>
        </a:graphic>
      </p:graphicFrame>
      <p:graphicFrame>
        <p:nvGraphicFramePr>
          <p:cNvPr id="7" name="개체 6">
            <a:extLst>
              <a:ext uri="{FF2B5EF4-FFF2-40B4-BE49-F238E27FC236}">
                <a16:creationId xmlns:a16="http://schemas.microsoft.com/office/drawing/2014/main" id="{96D89821-D256-4104-8983-F2D688597B3E}"/>
              </a:ext>
            </a:extLst>
          </p:cNvPr>
          <p:cNvGraphicFramePr>
            <a:graphicFrameLocks noChangeAspect="1"/>
          </p:cNvGraphicFramePr>
          <p:nvPr>
            <p:extLst>
              <p:ext uri="{D42A27DB-BD31-4B8C-83A1-F6EECF244321}">
                <p14:modId xmlns:p14="http://schemas.microsoft.com/office/powerpoint/2010/main" val="3053055895"/>
              </p:ext>
            </p:extLst>
          </p:nvPr>
        </p:nvGraphicFramePr>
        <p:xfrm>
          <a:off x="3029767" y="3707606"/>
          <a:ext cx="3427412" cy="647700"/>
        </p:xfrm>
        <a:graphic>
          <a:graphicData uri="http://schemas.openxmlformats.org/presentationml/2006/ole">
            <mc:AlternateContent xmlns:mc="http://schemas.openxmlformats.org/markup-compatibility/2006">
              <mc:Choice xmlns:v="urn:schemas-microsoft-com:vml" Requires="v">
                <p:oleObj spid="_x0000_s2139" name="Equation" r:id="rId6" imgW="2552400" imgH="482400" progId="Equation.DSMT4">
                  <p:embed/>
                </p:oleObj>
              </mc:Choice>
              <mc:Fallback>
                <p:oleObj name="Equation" r:id="rId6" imgW="2552400" imgH="482400" progId="Equation.DSMT4">
                  <p:embed/>
                  <p:pic>
                    <p:nvPicPr>
                      <p:cNvPr id="6" name="개체 5">
                        <a:extLst>
                          <a:ext uri="{FF2B5EF4-FFF2-40B4-BE49-F238E27FC236}">
                            <a16:creationId xmlns:a16="http://schemas.microsoft.com/office/drawing/2014/main" id="{B7BF4107-80BC-4615-8832-365921A6B960}"/>
                          </a:ext>
                        </a:extLst>
                      </p:cNvPr>
                      <p:cNvPicPr/>
                      <p:nvPr/>
                    </p:nvPicPr>
                    <p:blipFill>
                      <a:blip r:embed="rId7"/>
                      <a:stretch>
                        <a:fillRect/>
                      </a:stretch>
                    </p:blipFill>
                    <p:spPr>
                      <a:xfrm>
                        <a:off x="3029767" y="3707606"/>
                        <a:ext cx="3427412" cy="647700"/>
                      </a:xfrm>
                      <a:prstGeom prst="rect">
                        <a:avLst/>
                      </a:prstGeom>
                    </p:spPr>
                  </p:pic>
                </p:oleObj>
              </mc:Fallback>
            </mc:AlternateContent>
          </a:graphicData>
        </a:graphic>
      </p:graphicFrame>
      <p:pic>
        <p:nvPicPr>
          <p:cNvPr id="8" name="그림 7">
            <a:extLst>
              <a:ext uri="{FF2B5EF4-FFF2-40B4-BE49-F238E27FC236}">
                <a16:creationId xmlns:a16="http://schemas.microsoft.com/office/drawing/2014/main" id="{A3EF11C2-C11B-4F2F-9FA3-3269B945E23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3349" y="4343689"/>
            <a:ext cx="3695078" cy="2123027"/>
          </a:xfrm>
          <a:prstGeom prst="rect">
            <a:avLst/>
          </a:prstGeom>
        </p:spPr>
      </p:pic>
      <p:pic>
        <p:nvPicPr>
          <p:cNvPr id="9" name="그림 8">
            <a:extLst>
              <a:ext uri="{FF2B5EF4-FFF2-40B4-BE49-F238E27FC236}">
                <a16:creationId xmlns:a16="http://schemas.microsoft.com/office/drawing/2014/main" id="{8C747A3C-E110-42D1-9C8D-B5A03CC8117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04048" y="4404681"/>
            <a:ext cx="3427412" cy="2144042"/>
          </a:xfrm>
          <a:prstGeom prst="rect">
            <a:avLst/>
          </a:prstGeom>
        </p:spPr>
      </p:pic>
      <p:sp>
        <p:nvSpPr>
          <p:cNvPr id="10" name="TextBox 9">
            <a:extLst>
              <a:ext uri="{FF2B5EF4-FFF2-40B4-BE49-F238E27FC236}">
                <a16:creationId xmlns:a16="http://schemas.microsoft.com/office/drawing/2014/main" id="{B44A8E76-E2B2-4F79-9F8D-5AF4638D9CE7}"/>
              </a:ext>
            </a:extLst>
          </p:cNvPr>
          <p:cNvSpPr txBox="1"/>
          <p:nvPr/>
        </p:nvSpPr>
        <p:spPr>
          <a:xfrm>
            <a:off x="755576" y="4465199"/>
            <a:ext cx="349776" cy="276999"/>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(a)</a:t>
            </a:r>
            <a:endParaRPr lang="ko-KR" altLang="en-US" sz="1200" dirty="0">
              <a:latin typeface="Gill Sans MT" panose="020B0502020104020203" pitchFamily="34" charset="0"/>
              <a:cs typeface="Helvetica" panose="020B0604020202020204" pitchFamily="34" charset="0"/>
            </a:endParaRPr>
          </a:p>
        </p:txBody>
      </p:sp>
      <p:sp>
        <p:nvSpPr>
          <p:cNvPr id="11" name="TextBox 10">
            <a:extLst>
              <a:ext uri="{FF2B5EF4-FFF2-40B4-BE49-F238E27FC236}">
                <a16:creationId xmlns:a16="http://schemas.microsoft.com/office/drawing/2014/main" id="{443B68FF-1182-48FA-828C-B715DC606C3A}"/>
              </a:ext>
            </a:extLst>
          </p:cNvPr>
          <p:cNvSpPr txBox="1"/>
          <p:nvPr/>
        </p:nvSpPr>
        <p:spPr>
          <a:xfrm>
            <a:off x="4951888" y="4465200"/>
            <a:ext cx="370614" cy="276999"/>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(b)</a:t>
            </a:r>
            <a:endParaRPr lang="ko-KR" altLang="en-US" sz="1200" dirty="0">
              <a:latin typeface="Gill Sans MT" panose="020B0502020104020203"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759647E-45CB-424E-84AF-6478BC711DE6}"/>
                  </a:ext>
                </a:extLst>
              </p:cNvPr>
              <p:cNvSpPr txBox="1"/>
              <p:nvPr/>
            </p:nvSpPr>
            <p:spPr>
              <a:xfrm>
                <a:off x="3180634" y="6516091"/>
                <a:ext cx="3149195" cy="280333"/>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Fig. 6. Illustration of (a) </a:t>
                </a:r>
                <a14:m>
                  <m:oMath xmlns:m="http://schemas.openxmlformats.org/officeDocument/2006/math">
                    <m:sSup>
                      <m:sSupPr>
                        <m:ctrlPr>
                          <a:rPr lang="en-US" altLang="ko-KR" sz="1200" i="1" smtClean="0">
                            <a:latin typeface="Cambria Math" panose="02040503050406030204" pitchFamily="18" charset="0"/>
                            <a:cs typeface="Helvetica" panose="020B0604020202020204" pitchFamily="34" charset="0"/>
                          </a:rPr>
                        </m:ctrlPr>
                      </m:sSupPr>
                      <m:e>
                        <m:r>
                          <a:rPr lang="en-US" altLang="ko-KR" sz="1200" b="0" i="1" smtClean="0">
                            <a:latin typeface="Cambria Math" panose="02040503050406030204" pitchFamily="18" charset="0"/>
                            <a:cs typeface="Helvetica" panose="020B0604020202020204" pitchFamily="34" charset="0"/>
                          </a:rPr>
                          <m:t>𝐽</m:t>
                        </m:r>
                      </m:e>
                      <m:sup>
                        <m:r>
                          <a:rPr lang="en-US" altLang="ko-KR" sz="1200" b="0" i="1" smtClean="0">
                            <a:latin typeface="Cambria Math" panose="02040503050406030204" pitchFamily="18" charset="0"/>
                            <a:cs typeface="Helvetica" panose="020B0604020202020204" pitchFamily="34" charset="0"/>
                          </a:rPr>
                          <m:t>𝑠𝑢𝑝𝑝𝑙𝑦</m:t>
                        </m:r>
                      </m:sup>
                    </m:sSup>
                  </m:oMath>
                </a14:m>
                <a:r>
                  <a:rPr lang="ko-KR" altLang="en-US" sz="1200" dirty="0">
                    <a:latin typeface="Gill Sans MT" panose="020B0502020104020203" pitchFamily="34" charset="0"/>
                    <a:cs typeface="Helvetica" panose="020B0604020202020204" pitchFamily="34" charset="0"/>
                  </a:rPr>
                  <a:t> </a:t>
                </a:r>
                <a:r>
                  <a:rPr lang="en-US" altLang="ko-KR" sz="1200" dirty="0">
                    <a:latin typeface="Gill Sans MT" panose="020B0502020104020203" pitchFamily="34" charset="0"/>
                    <a:cs typeface="Helvetica" panose="020B0604020202020204" pitchFamily="34" charset="0"/>
                  </a:rPr>
                  <a:t>and (b) </a:t>
                </a:r>
                <a14:m>
                  <m:oMath xmlns:m="http://schemas.openxmlformats.org/officeDocument/2006/math">
                    <m:sSup>
                      <m:sSupPr>
                        <m:ctrlPr>
                          <a:rPr lang="en-US" altLang="ko-KR" sz="1200" i="1">
                            <a:latin typeface="Cambria Math" panose="02040503050406030204" pitchFamily="18" charset="0"/>
                            <a:cs typeface="Helvetica" panose="020B0604020202020204" pitchFamily="34" charset="0"/>
                          </a:rPr>
                        </m:ctrlPr>
                      </m:sSupPr>
                      <m:e>
                        <m:r>
                          <a:rPr lang="en-US" altLang="ko-KR" sz="1200" i="1">
                            <a:latin typeface="Cambria Math" panose="02040503050406030204" pitchFamily="18" charset="0"/>
                            <a:cs typeface="Helvetica" panose="020B0604020202020204" pitchFamily="34" charset="0"/>
                          </a:rPr>
                          <m:t>𝐽</m:t>
                        </m:r>
                      </m:e>
                      <m:sup>
                        <m:r>
                          <a:rPr lang="en-US" altLang="ko-KR" sz="1200" b="0" i="1" smtClean="0">
                            <a:latin typeface="Cambria Math" panose="02040503050406030204" pitchFamily="18" charset="0"/>
                            <a:cs typeface="Helvetica" panose="020B0604020202020204" pitchFamily="34" charset="0"/>
                          </a:rPr>
                          <m:t>𝑑𝑒𝑚𝑎𝑛𝑑</m:t>
                        </m:r>
                      </m:sup>
                    </m:sSup>
                  </m:oMath>
                </a14:m>
                <a:endParaRPr lang="ko-KR" altLang="en-US" sz="1200" dirty="0">
                  <a:latin typeface="Gill Sans MT" panose="020B0502020104020203" pitchFamily="34" charset="0"/>
                  <a:cs typeface="Helvetica" panose="020B0604020202020204" pitchFamily="34" charset="0"/>
                </a:endParaRPr>
              </a:p>
            </p:txBody>
          </p:sp>
        </mc:Choice>
        <mc:Fallback xmlns="">
          <p:sp>
            <p:nvSpPr>
              <p:cNvPr id="12" name="TextBox 11">
                <a:extLst>
                  <a:ext uri="{FF2B5EF4-FFF2-40B4-BE49-F238E27FC236}">
                    <a16:creationId xmlns:a16="http://schemas.microsoft.com/office/drawing/2014/main" id="{3759647E-45CB-424E-84AF-6478BC711DE6}"/>
                  </a:ext>
                </a:extLst>
              </p:cNvPr>
              <p:cNvSpPr txBox="1">
                <a:spLocks noRot="1" noChangeAspect="1" noMove="1" noResize="1" noEditPoints="1" noAdjustHandles="1" noChangeArrowheads="1" noChangeShapeType="1" noTextEdit="1"/>
              </p:cNvSpPr>
              <p:nvPr/>
            </p:nvSpPr>
            <p:spPr>
              <a:xfrm>
                <a:off x="3180634" y="6516091"/>
                <a:ext cx="3149195" cy="280333"/>
              </a:xfrm>
              <a:prstGeom prst="rect">
                <a:avLst/>
              </a:prstGeom>
              <a:blipFill>
                <a:blip r:embed="rId10"/>
                <a:stretch>
                  <a:fillRect l="-194" b="-1739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4100540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985F88-EA98-41A1-ACFC-B0B42AF9EBA9}"/>
              </a:ext>
            </a:extLst>
          </p:cNvPr>
          <p:cNvSpPr>
            <a:spLocks noGrp="1"/>
          </p:cNvSpPr>
          <p:nvPr>
            <p:ph type="title"/>
          </p:nvPr>
        </p:nvSpPr>
        <p:spPr>
          <a:xfrm>
            <a:off x="628650" y="365127"/>
            <a:ext cx="7471742" cy="759618"/>
          </a:xfrm>
        </p:spPr>
        <p:txBody>
          <a:bodyPr>
            <a:normAutofit/>
          </a:bodyPr>
          <a:lstStyle/>
          <a:p>
            <a:r>
              <a:rPr lang="en-US" altLang="ko-KR" dirty="0"/>
              <a:t>Problem Formulation: Optimization Models</a:t>
            </a:r>
            <a:endParaRPr lang="ko-KR" altLang="en-US" dirty="0"/>
          </a:p>
        </p:txBody>
      </p:sp>
      <p:sp>
        <p:nvSpPr>
          <p:cNvPr id="3" name="내용 개체 틀 2">
            <a:extLst>
              <a:ext uri="{FF2B5EF4-FFF2-40B4-BE49-F238E27FC236}">
                <a16:creationId xmlns:a16="http://schemas.microsoft.com/office/drawing/2014/main" id="{6AB4D284-D832-4B2D-855A-94C10247737A}"/>
              </a:ext>
            </a:extLst>
          </p:cNvPr>
          <p:cNvSpPr>
            <a:spLocks noGrp="1"/>
          </p:cNvSpPr>
          <p:nvPr>
            <p:ph idx="1"/>
          </p:nvPr>
        </p:nvSpPr>
        <p:spPr/>
        <p:txBody>
          <a:bodyPr/>
          <a:lstStyle/>
          <a:p>
            <a:r>
              <a:rPr lang="en-US" altLang="ko-KR" dirty="0"/>
              <a:t> 2-Obj. Optimization Models for Optimal Reservoir Operations</a:t>
            </a:r>
          </a:p>
          <a:p>
            <a:pPr lvl="1"/>
            <a:r>
              <a:rPr lang="en-US" altLang="ko-KR" dirty="0"/>
              <a:t> Dynamic Programming-based Models with different information</a:t>
            </a:r>
          </a:p>
          <a:p>
            <a:pPr lvl="2"/>
            <a:r>
              <a:rPr lang="en-US" altLang="ko-KR" dirty="0"/>
              <a:t>Deterministic DP-Perfect (DDP-Perfect)</a:t>
            </a:r>
          </a:p>
          <a:p>
            <a:pPr lvl="2"/>
            <a:r>
              <a:rPr lang="en-US" altLang="ko-KR" dirty="0"/>
              <a:t>Deterministic DP-Monthly Average (DDP-Average)</a:t>
            </a:r>
          </a:p>
          <a:p>
            <a:pPr lvl="2"/>
            <a:r>
              <a:rPr lang="en-US" altLang="ko-KR" dirty="0"/>
              <a:t>Stochastic DP (SDP): Assuming lognormal distribution of inflows</a:t>
            </a:r>
          </a:p>
          <a:p>
            <a:pPr lvl="2"/>
            <a:endParaRPr lang="en-US" altLang="ko-KR" dirty="0"/>
          </a:p>
          <a:p>
            <a:pPr lvl="2"/>
            <a:endParaRPr lang="en-US" altLang="ko-KR" dirty="0"/>
          </a:p>
          <a:p>
            <a:pPr lvl="1"/>
            <a:r>
              <a:rPr lang="en-US" altLang="ko-KR" dirty="0"/>
              <a:t> Evolutionary Multi-Objective Direct Policy Search (EMODPS) Models with different RBF shapes &amp; number of parameters</a:t>
            </a:r>
          </a:p>
          <a:p>
            <a:pPr lvl="2"/>
            <a:r>
              <a:rPr lang="en-US" altLang="ko-KR" dirty="0"/>
              <a:t>EMODPS-Linear: Linearly shaped RBF with 4 policy parameters </a:t>
            </a:r>
          </a:p>
          <a:p>
            <a:pPr lvl="2"/>
            <a:r>
              <a:rPr lang="en-US" altLang="ko-KR" dirty="0"/>
              <a:t>EMODPS-Gaussian: Gaussian shaped RBF with 3 policy parameters</a:t>
            </a:r>
          </a:p>
          <a:p>
            <a:pPr lvl="2"/>
            <a:r>
              <a:rPr lang="en-US" altLang="ko-KR" b="1" dirty="0"/>
              <a:t>EMODPS-Root</a:t>
            </a:r>
            <a:r>
              <a:rPr lang="en-US" altLang="ko-KR" dirty="0"/>
              <a:t>: Root shaped RBF with </a:t>
            </a:r>
            <a:r>
              <a:rPr lang="en-US" altLang="ko-KR" dirty="0">
                <a:solidFill>
                  <a:srgbClr val="0417CC"/>
                </a:solidFill>
              </a:rPr>
              <a:t>6 policy parameters (j=2)</a:t>
            </a:r>
            <a:endParaRPr lang="ko-KR" altLang="en-US" dirty="0">
              <a:solidFill>
                <a:srgbClr val="0417CC"/>
              </a:solidFill>
            </a:endParaRPr>
          </a:p>
          <a:p>
            <a:endParaRPr lang="ko-KR" altLang="en-US" dirty="0"/>
          </a:p>
        </p:txBody>
      </p:sp>
      <p:sp>
        <p:nvSpPr>
          <p:cNvPr id="4" name="슬라이드 번호 개체 틀 3">
            <a:extLst>
              <a:ext uri="{FF2B5EF4-FFF2-40B4-BE49-F238E27FC236}">
                <a16:creationId xmlns:a16="http://schemas.microsoft.com/office/drawing/2014/main" id="{570DA505-0E64-40AF-A41A-025A698DE067}"/>
              </a:ext>
            </a:extLst>
          </p:cNvPr>
          <p:cNvSpPr>
            <a:spLocks noGrp="1"/>
          </p:cNvSpPr>
          <p:nvPr>
            <p:ph type="sldNum" sz="quarter" idx="12"/>
          </p:nvPr>
        </p:nvSpPr>
        <p:spPr/>
        <p:txBody>
          <a:bodyPr/>
          <a:lstStyle/>
          <a:p>
            <a:fld id="{79822AFB-C284-4A8E-A6EE-41BAA9C576A0}" type="slidenum">
              <a:rPr lang="ko-KR" altLang="en-US" smtClean="0"/>
              <a:t>10</a:t>
            </a:fld>
            <a:endParaRPr lang="ko-KR" altLang="en-US"/>
          </a:p>
        </p:txBody>
      </p:sp>
      <p:sp>
        <p:nvSpPr>
          <p:cNvPr id="5" name="날짜 개체 틀 4">
            <a:extLst>
              <a:ext uri="{FF2B5EF4-FFF2-40B4-BE49-F238E27FC236}">
                <a16:creationId xmlns:a16="http://schemas.microsoft.com/office/drawing/2014/main" id="{E06341F2-449A-4B63-95AE-E0A02C2E8422}"/>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graphicFrame>
        <p:nvGraphicFramePr>
          <p:cNvPr id="6" name="개체 5">
            <a:extLst>
              <a:ext uri="{FF2B5EF4-FFF2-40B4-BE49-F238E27FC236}">
                <a16:creationId xmlns:a16="http://schemas.microsoft.com/office/drawing/2014/main" id="{A456EAEB-A7FB-43EE-B21E-B56D060547DE}"/>
              </a:ext>
            </a:extLst>
          </p:cNvPr>
          <p:cNvGraphicFramePr>
            <a:graphicFrameLocks noChangeAspect="1"/>
          </p:cNvGraphicFramePr>
          <p:nvPr>
            <p:extLst>
              <p:ext uri="{D42A27DB-BD31-4B8C-83A1-F6EECF244321}">
                <p14:modId xmlns:p14="http://schemas.microsoft.com/office/powerpoint/2010/main" val="2312361808"/>
              </p:ext>
            </p:extLst>
          </p:nvPr>
        </p:nvGraphicFramePr>
        <p:xfrm>
          <a:off x="2627784" y="5768181"/>
          <a:ext cx="4416425" cy="817563"/>
        </p:xfrm>
        <a:graphic>
          <a:graphicData uri="http://schemas.openxmlformats.org/presentationml/2006/ole">
            <mc:AlternateContent xmlns:mc="http://schemas.openxmlformats.org/markup-compatibility/2006">
              <mc:Choice xmlns:v="urn:schemas-microsoft-com:vml" Requires="v">
                <p:oleObj spid="_x0000_s3206" name="Equation" r:id="rId3" imgW="3288960" imgH="609480" progId="Equation.DSMT4">
                  <p:embed/>
                </p:oleObj>
              </mc:Choice>
              <mc:Fallback>
                <p:oleObj name="Equation" r:id="rId3" imgW="3288960" imgH="609480" progId="Equation.DSMT4">
                  <p:embed/>
                  <p:pic>
                    <p:nvPicPr>
                      <p:cNvPr id="10" name="개체 9">
                        <a:extLst>
                          <a:ext uri="{FF2B5EF4-FFF2-40B4-BE49-F238E27FC236}">
                            <a16:creationId xmlns:a16="http://schemas.microsoft.com/office/drawing/2014/main" id="{5227F07F-4CB5-4E5F-BF09-3B5295644559}"/>
                          </a:ext>
                        </a:extLst>
                      </p:cNvPr>
                      <p:cNvPicPr/>
                      <p:nvPr/>
                    </p:nvPicPr>
                    <p:blipFill>
                      <a:blip r:embed="rId4"/>
                      <a:stretch>
                        <a:fillRect/>
                      </a:stretch>
                    </p:blipFill>
                    <p:spPr>
                      <a:xfrm>
                        <a:off x="2627784" y="5768181"/>
                        <a:ext cx="4416425" cy="817563"/>
                      </a:xfrm>
                      <a:prstGeom prst="rect">
                        <a:avLst/>
                      </a:prstGeom>
                    </p:spPr>
                  </p:pic>
                </p:oleObj>
              </mc:Fallback>
            </mc:AlternateContent>
          </a:graphicData>
        </a:graphic>
      </p:graphicFrame>
      <p:sp>
        <p:nvSpPr>
          <p:cNvPr id="7" name="타원 6">
            <a:extLst>
              <a:ext uri="{FF2B5EF4-FFF2-40B4-BE49-F238E27FC236}">
                <a16:creationId xmlns:a16="http://schemas.microsoft.com/office/drawing/2014/main" id="{46B3868A-7A63-4EA6-BCB0-7B98994AEE7E}"/>
              </a:ext>
            </a:extLst>
          </p:cNvPr>
          <p:cNvSpPr/>
          <p:nvPr/>
        </p:nvSpPr>
        <p:spPr>
          <a:xfrm>
            <a:off x="4271392" y="6032946"/>
            <a:ext cx="288032" cy="288032"/>
          </a:xfrm>
          <a:prstGeom prst="ellipse">
            <a:avLst/>
          </a:prstGeom>
          <a:noFill/>
          <a:ln>
            <a:solidFill>
              <a:srgbClr val="0417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타원 7">
            <a:extLst>
              <a:ext uri="{FF2B5EF4-FFF2-40B4-BE49-F238E27FC236}">
                <a16:creationId xmlns:a16="http://schemas.microsoft.com/office/drawing/2014/main" id="{0906B5DF-2925-462D-90C7-02A55125C726}"/>
              </a:ext>
            </a:extLst>
          </p:cNvPr>
          <p:cNvSpPr/>
          <p:nvPr/>
        </p:nvSpPr>
        <p:spPr>
          <a:xfrm>
            <a:off x="5436096" y="5903887"/>
            <a:ext cx="288032" cy="288032"/>
          </a:xfrm>
          <a:prstGeom prst="ellipse">
            <a:avLst/>
          </a:prstGeom>
          <a:noFill/>
          <a:ln>
            <a:solidFill>
              <a:srgbClr val="0417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a:extLst>
              <a:ext uri="{FF2B5EF4-FFF2-40B4-BE49-F238E27FC236}">
                <a16:creationId xmlns:a16="http://schemas.microsoft.com/office/drawing/2014/main" id="{2826F9D7-D9D0-4474-82DD-82C64729CA89}"/>
              </a:ext>
            </a:extLst>
          </p:cNvPr>
          <p:cNvSpPr/>
          <p:nvPr/>
        </p:nvSpPr>
        <p:spPr>
          <a:xfrm>
            <a:off x="5220072" y="6189042"/>
            <a:ext cx="288032" cy="288032"/>
          </a:xfrm>
          <a:prstGeom prst="ellipse">
            <a:avLst/>
          </a:prstGeom>
          <a:noFill/>
          <a:ln>
            <a:solidFill>
              <a:srgbClr val="0417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10" name="개체 9">
            <a:extLst>
              <a:ext uri="{FF2B5EF4-FFF2-40B4-BE49-F238E27FC236}">
                <a16:creationId xmlns:a16="http://schemas.microsoft.com/office/drawing/2014/main" id="{F3A826E4-5A9B-49AE-B417-39839626630A}"/>
              </a:ext>
            </a:extLst>
          </p:cNvPr>
          <p:cNvGraphicFramePr>
            <a:graphicFrameLocks noChangeAspect="1"/>
          </p:cNvGraphicFramePr>
          <p:nvPr>
            <p:extLst>
              <p:ext uri="{D42A27DB-BD31-4B8C-83A1-F6EECF244321}">
                <p14:modId xmlns:p14="http://schemas.microsoft.com/office/powerpoint/2010/main" val="2668279721"/>
              </p:ext>
            </p:extLst>
          </p:nvPr>
        </p:nvGraphicFramePr>
        <p:xfrm>
          <a:off x="1331640" y="3256757"/>
          <a:ext cx="4724401" cy="509587"/>
        </p:xfrm>
        <a:graphic>
          <a:graphicData uri="http://schemas.openxmlformats.org/presentationml/2006/ole">
            <mc:AlternateContent xmlns:mc="http://schemas.openxmlformats.org/markup-compatibility/2006">
              <mc:Choice xmlns:v="urn:schemas-microsoft-com:vml" Requires="v">
                <p:oleObj spid="_x0000_s3207" name="Equation" r:id="rId5" imgW="3517560" imgH="380880" progId="Equation.DSMT4">
                  <p:embed/>
                </p:oleObj>
              </mc:Choice>
              <mc:Fallback>
                <p:oleObj name="Equation" r:id="rId5" imgW="3517560" imgH="380880" progId="Equation.DSMT4">
                  <p:embed/>
                  <p:pic>
                    <p:nvPicPr>
                      <p:cNvPr id="14" name="개체 13">
                        <a:extLst>
                          <a:ext uri="{FF2B5EF4-FFF2-40B4-BE49-F238E27FC236}">
                            <a16:creationId xmlns:a16="http://schemas.microsoft.com/office/drawing/2014/main" id="{F4FE44EA-2C4A-4AB7-A8DA-073A3AE61ABC}"/>
                          </a:ext>
                        </a:extLst>
                      </p:cNvPr>
                      <p:cNvPicPr/>
                      <p:nvPr/>
                    </p:nvPicPr>
                    <p:blipFill>
                      <a:blip r:embed="rId6"/>
                      <a:stretch>
                        <a:fillRect/>
                      </a:stretch>
                    </p:blipFill>
                    <p:spPr>
                      <a:xfrm>
                        <a:off x="1331640" y="3256757"/>
                        <a:ext cx="4724401" cy="509587"/>
                      </a:xfrm>
                      <a:prstGeom prst="rect">
                        <a:avLst/>
                      </a:prstGeom>
                    </p:spPr>
                  </p:pic>
                </p:oleObj>
              </mc:Fallback>
            </mc:AlternateContent>
          </a:graphicData>
        </a:graphic>
      </p:graphicFrame>
      <p:graphicFrame>
        <p:nvGraphicFramePr>
          <p:cNvPr id="11" name="개체 10">
            <a:extLst>
              <a:ext uri="{FF2B5EF4-FFF2-40B4-BE49-F238E27FC236}">
                <a16:creationId xmlns:a16="http://schemas.microsoft.com/office/drawing/2014/main" id="{BD264B6E-5396-4F72-BDCE-994865A5EF21}"/>
              </a:ext>
            </a:extLst>
          </p:cNvPr>
          <p:cNvGraphicFramePr>
            <a:graphicFrameLocks noChangeAspect="1"/>
          </p:cNvGraphicFramePr>
          <p:nvPr>
            <p:extLst>
              <p:ext uri="{D42A27DB-BD31-4B8C-83A1-F6EECF244321}">
                <p14:modId xmlns:p14="http://schemas.microsoft.com/office/powerpoint/2010/main" val="432832130"/>
              </p:ext>
            </p:extLst>
          </p:nvPr>
        </p:nvGraphicFramePr>
        <p:xfrm>
          <a:off x="6416675" y="3349625"/>
          <a:ext cx="2609850" cy="323850"/>
        </p:xfrm>
        <a:graphic>
          <a:graphicData uri="http://schemas.openxmlformats.org/presentationml/2006/ole">
            <mc:AlternateContent xmlns:mc="http://schemas.openxmlformats.org/markup-compatibility/2006">
              <mc:Choice xmlns:v="urn:schemas-microsoft-com:vml" Requires="v">
                <p:oleObj spid="_x0000_s3208" name="Equation" r:id="rId7" imgW="1942920" imgH="241200" progId="Equation.DSMT4">
                  <p:embed/>
                </p:oleObj>
              </mc:Choice>
              <mc:Fallback>
                <p:oleObj name="Equation" r:id="rId7" imgW="1942920" imgH="241200" progId="Equation.DSMT4">
                  <p:embed/>
                  <p:pic>
                    <p:nvPicPr>
                      <p:cNvPr id="15" name="개체 14">
                        <a:extLst>
                          <a:ext uri="{FF2B5EF4-FFF2-40B4-BE49-F238E27FC236}">
                            <a16:creationId xmlns:a16="http://schemas.microsoft.com/office/drawing/2014/main" id="{F3F5A94D-86AC-44FE-95E1-F21A0C94BE46}"/>
                          </a:ext>
                        </a:extLst>
                      </p:cNvPr>
                      <p:cNvPicPr/>
                      <p:nvPr/>
                    </p:nvPicPr>
                    <p:blipFill>
                      <a:blip r:embed="rId8"/>
                      <a:stretch>
                        <a:fillRect/>
                      </a:stretch>
                    </p:blipFill>
                    <p:spPr>
                      <a:xfrm>
                        <a:off x="6416675" y="3349625"/>
                        <a:ext cx="2609850" cy="323850"/>
                      </a:xfrm>
                      <a:prstGeom prst="rect">
                        <a:avLst/>
                      </a:prstGeom>
                    </p:spPr>
                  </p:pic>
                </p:oleObj>
              </mc:Fallback>
            </mc:AlternateContent>
          </a:graphicData>
        </a:graphic>
      </p:graphicFrame>
    </p:spTree>
    <p:extLst>
      <p:ext uri="{BB962C8B-B14F-4D97-AF65-F5344CB8AC3E}">
        <p14:creationId xmlns:p14="http://schemas.microsoft.com/office/powerpoint/2010/main" val="2095431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19F5AE2-21BD-4CC0-8A92-EE68C1ECDA83}"/>
              </a:ext>
            </a:extLst>
          </p:cNvPr>
          <p:cNvSpPr>
            <a:spLocks noGrp="1"/>
          </p:cNvSpPr>
          <p:nvPr>
            <p:ph type="title"/>
          </p:nvPr>
        </p:nvSpPr>
        <p:spPr/>
        <p:txBody>
          <a:bodyPr>
            <a:normAutofit/>
          </a:bodyPr>
          <a:lstStyle/>
          <a:p>
            <a:r>
              <a:rPr lang="en-US" altLang="ko-KR" dirty="0"/>
              <a:t>Problem Formulation: Simulation</a:t>
            </a:r>
            <a:endParaRPr lang="ko-KR" altLang="en-US" dirty="0"/>
          </a:p>
        </p:txBody>
      </p:sp>
      <p:sp>
        <p:nvSpPr>
          <p:cNvPr id="3" name="내용 개체 틀 2">
            <a:extLst>
              <a:ext uri="{FF2B5EF4-FFF2-40B4-BE49-F238E27FC236}">
                <a16:creationId xmlns:a16="http://schemas.microsoft.com/office/drawing/2014/main" id="{6F4E740C-5343-470C-81C2-3FEF21F251C7}"/>
              </a:ext>
            </a:extLst>
          </p:cNvPr>
          <p:cNvSpPr>
            <a:spLocks noGrp="1"/>
          </p:cNvSpPr>
          <p:nvPr>
            <p:ph idx="1"/>
          </p:nvPr>
        </p:nvSpPr>
        <p:spPr>
          <a:xfrm>
            <a:off x="696890" y="1245562"/>
            <a:ext cx="7886700" cy="4908203"/>
          </a:xfrm>
        </p:spPr>
        <p:txBody>
          <a:bodyPr/>
          <a:lstStyle/>
          <a:p>
            <a:r>
              <a:rPr lang="en-US" altLang="ko-KR" dirty="0"/>
              <a:t> K-fold Cross Validation (CV) Formulation </a:t>
            </a:r>
            <a:endParaRPr lang="ko-KR" altLang="en-US" dirty="0"/>
          </a:p>
          <a:p>
            <a:endParaRPr lang="ko-KR" altLang="en-US" dirty="0"/>
          </a:p>
        </p:txBody>
      </p:sp>
      <p:sp>
        <p:nvSpPr>
          <p:cNvPr id="5" name="날짜 개체 틀 4">
            <a:extLst>
              <a:ext uri="{FF2B5EF4-FFF2-40B4-BE49-F238E27FC236}">
                <a16:creationId xmlns:a16="http://schemas.microsoft.com/office/drawing/2014/main" id="{7F992819-0AB8-499D-855A-2059D0B3DB63}"/>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그림 5">
            <a:extLst>
              <a:ext uri="{FF2B5EF4-FFF2-40B4-BE49-F238E27FC236}">
                <a16:creationId xmlns:a16="http://schemas.microsoft.com/office/drawing/2014/main" id="{CCAB2579-A5C1-4B95-AAC4-162A0DFC3443}"/>
              </a:ext>
            </a:extLst>
          </p:cNvPr>
          <p:cNvPicPr>
            <a:picLocks noChangeAspect="1"/>
          </p:cNvPicPr>
          <p:nvPr/>
        </p:nvPicPr>
        <p:blipFill>
          <a:blip r:embed="rId2"/>
          <a:stretch>
            <a:fillRect/>
          </a:stretch>
        </p:blipFill>
        <p:spPr>
          <a:xfrm>
            <a:off x="887414" y="1819547"/>
            <a:ext cx="7369172" cy="2845585"/>
          </a:xfrm>
          <a:prstGeom prst="rect">
            <a:avLst/>
          </a:prstGeom>
        </p:spPr>
      </p:pic>
      <p:sp>
        <p:nvSpPr>
          <p:cNvPr id="7" name="TextBox 6">
            <a:extLst>
              <a:ext uri="{FF2B5EF4-FFF2-40B4-BE49-F238E27FC236}">
                <a16:creationId xmlns:a16="http://schemas.microsoft.com/office/drawing/2014/main" id="{A6CBA945-D229-49A5-8F60-5660BB05F85C}"/>
              </a:ext>
            </a:extLst>
          </p:cNvPr>
          <p:cNvSpPr txBox="1"/>
          <p:nvPr/>
        </p:nvSpPr>
        <p:spPr>
          <a:xfrm>
            <a:off x="887414" y="1789312"/>
            <a:ext cx="4914872" cy="276999"/>
          </a:xfrm>
          <a:prstGeom prst="rect">
            <a:avLst/>
          </a:prstGeom>
          <a:solidFill>
            <a:schemeClr val="bg1"/>
          </a:solidFill>
        </p:spPr>
        <p:txBody>
          <a:bodyPr wrap="none" rtlCol="0">
            <a:spAutoFit/>
          </a:bodyPr>
          <a:lstStyle/>
          <a:p>
            <a:r>
              <a:rPr lang="en-US" altLang="ko-KR" sz="1200" dirty="0">
                <a:latin typeface="Gill Sans MT" panose="020B0502020104020203" pitchFamily="34" charset="0"/>
                <a:cs typeface="Helvetica" panose="020B0604020202020204" pitchFamily="34" charset="0"/>
              </a:rPr>
              <a:t>Table 2. Specific formulations for each subgroup by K-fold Cross Validation</a:t>
            </a:r>
            <a:endParaRPr lang="ko-KR" altLang="en-US" sz="1200" dirty="0">
              <a:latin typeface="Gill Sans MT" panose="020B0502020104020203" pitchFamily="34" charset="0"/>
              <a:cs typeface="Helvetica" panose="020B0604020202020204" pitchFamily="34" charset="0"/>
            </a:endParaRPr>
          </a:p>
        </p:txBody>
      </p:sp>
      <p:sp>
        <p:nvSpPr>
          <p:cNvPr id="8" name="타원 7">
            <a:extLst>
              <a:ext uri="{FF2B5EF4-FFF2-40B4-BE49-F238E27FC236}">
                <a16:creationId xmlns:a16="http://schemas.microsoft.com/office/drawing/2014/main" id="{9D6D492A-2739-4D8E-A4D6-3033A3A74CBD}"/>
              </a:ext>
            </a:extLst>
          </p:cNvPr>
          <p:cNvSpPr/>
          <p:nvPr/>
        </p:nvSpPr>
        <p:spPr>
          <a:xfrm>
            <a:off x="5067090" y="3979787"/>
            <a:ext cx="648072" cy="43204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TextBox 8">
            <a:extLst>
              <a:ext uri="{FF2B5EF4-FFF2-40B4-BE49-F238E27FC236}">
                <a16:creationId xmlns:a16="http://schemas.microsoft.com/office/drawing/2014/main" id="{8E21AC17-C44F-44FD-9895-911F16661B3D}"/>
              </a:ext>
            </a:extLst>
          </p:cNvPr>
          <p:cNvSpPr txBox="1"/>
          <p:nvPr/>
        </p:nvSpPr>
        <p:spPr>
          <a:xfrm>
            <a:off x="7099589" y="4710002"/>
            <a:ext cx="1946687" cy="738664"/>
          </a:xfrm>
          <a:prstGeom prst="rect">
            <a:avLst/>
          </a:prstGeom>
          <a:noFill/>
        </p:spPr>
        <p:txBody>
          <a:bodyPr wrap="none" rtlCol="0">
            <a:spAutoFit/>
          </a:bodyPr>
          <a:lstStyle/>
          <a:p>
            <a:pPr algn="ctr"/>
            <a:r>
              <a:rPr lang="en-US" altLang="ko-KR" sz="1400" b="1" dirty="0">
                <a:solidFill>
                  <a:srgbClr val="FF0000"/>
                </a:solidFill>
                <a:latin typeface="Gill Sans MT" panose="020B0502020104020203" pitchFamily="34" charset="0"/>
                <a:cs typeface="Helvetica" panose="020B0604020202020204" pitchFamily="34" charset="0"/>
              </a:rPr>
              <a:t>Drought</a:t>
            </a:r>
            <a:r>
              <a:rPr lang="ko-KR" altLang="en-US" sz="1400" b="1" dirty="0">
                <a:solidFill>
                  <a:srgbClr val="FF0000"/>
                </a:solidFill>
                <a:latin typeface="Gill Sans MT" panose="020B0502020104020203" pitchFamily="34" charset="0"/>
                <a:cs typeface="Helvetica" panose="020B0604020202020204" pitchFamily="34" charset="0"/>
              </a:rPr>
              <a:t> </a:t>
            </a:r>
            <a:r>
              <a:rPr lang="en-US" altLang="ko-KR" sz="1400" b="1" dirty="0">
                <a:solidFill>
                  <a:srgbClr val="FF0000"/>
                </a:solidFill>
                <a:latin typeface="Gill Sans MT" panose="020B0502020104020203" pitchFamily="34" charset="0"/>
                <a:cs typeface="Helvetica" panose="020B0604020202020204" pitchFamily="34" charset="0"/>
              </a:rPr>
              <a:t>period with </a:t>
            </a:r>
          </a:p>
          <a:p>
            <a:pPr algn="ctr"/>
            <a:r>
              <a:rPr lang="en-US" altLang="ko-KR" sz="1400" b="1" dirty="0">
                <a:solidFill>
                  <a:srgbClr val="FF0000"/>
                </a:solidFill>
                <a:latin typeface="Gill Sans MT" panose="020B0502020104020203" pitchFamily="34" charset="0"/>
                <a:cs typeface="Helvetica" panose="020B0604020202020204" pitchFamily="34" charset="0"/>
              </a:rPr>
              <a:t>low starting storage</a:t>
            </a:r>
          </a:p>
          <a:p>
            <a:pPr algn="ctr"/>
            <a:r>
              <a:rPr lang="en-US" altLang="ko-KR" sz="1400" b="1" dirty="0">
                <a:solidFill>
                  <a:srgbClr val="FF0000"/>
                </a:solidFill>
                <a:latin typeface="Gill Sans MT" panose="020B0502020104020203" pitchFamily="34" charset="0"/>
                <a:cs typeface="Helvetica" panose="020B0604020202020204" pitchFamily="34" charset="0"/>
              </a:rPr>
              <a:t>(K=4)</a:t>
            </a:r>
            <a:endParaRPr lang="ko-KR" altLang="en-US" sz="1400" b="1" dirty="0">
              <a:solidFill>
                <a:srgbClr val="FF0000"/>
              </a:solidFill>
              <a:latin typeface="Gill Sans MT" panose="020B0502020104020203" pitchFamily="34" charset="0"/>
              <a:cs typeface="Helvetica" panose="020B0604020202020204" pitchFamily="34" charset="0"/>
            </a:endParaRPr>
          </a:p>
        </p:txBody>
      </p:sp>
      <p:sp>
        <p:nvSpPr>
          <p:cNvPr id="10" name="직사각형 9">
            <a:extLst>
              <a:ext uri="{FF2B5EF4-FFF2-40B4-BE49-F238E27FC236}">
                <a16:creationId xmlns:a16="http://schemas.microsoft.com/office/drawing/2014/main" id="{F9CFBAAF-92F2-43BA-A32D-434C90838F6A}"/>
              </a:ext>
            </a:extLst>
          </p:cNvPr>
          <p:cNvSpPr/>
          <p:nvPr/>
        </p:nvSpPr>
        <p:spPr>
          <a:xfrm>
            <a:off x="6776790" y="4051795"/>
            <a:ext cx="1296143" cy="57952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슬라이드 번호 개체 틀 3">
            <a:extLst>
              <a:ext uri="{FF2B5EF4-FFF2-40B4-BE49-F238E27FC236}">
                <a16:creationId xmlns:a16="http://schemas.microsoft.com/office/drawing/2014/main" id="{E49EA61A-6CEA-4DC2-881B-9678215ACCA3}"/>
              </a:ext>
            </a:extLst>
          </p:cNvPr>
          <p:cNvSpPr>
            <a:spLocks noGrp="1"/>
          </p:cNvSpPr>
          <p:nvPr>
            <p:ph type="sldNum" sz="quarter" idx="12"/>
          </p:nvPr>
        </p:nvSpPr>
        <p:spPr>
          <a:xfrm>
            <a:off x="3543300" y="6356349"/>
            <a:ext cx="2057400" cy="365125"/>
          </a:xfrm>
        </p:spPr>
        <p:txBody>
          <a:bodyPr/>
          <a:lstStyle/>
          <a:p>
            <a:fld id="{79822AFB-C284-4A8E-A6EE-41BAA9C576A0}" type="slidenum">
              <a:rPr lang="ko-KR" altLang="en-US" smtClean="0"/>
              <a:t>11</a:t>
            </a:fld>
            <a:endParaRPr lang="ko-KR" altLang="en-US" dirty="0"/>
          </a:p>
        </p:txBody>
      </p:sp>
      <p:pic>
        <p:nvPicPr>
          <p:cNvPr id="32" name="그림 31">
            <a:extLst>
              <a:ext uri="{FF2B5EF4-FFF2-40B4-BE49-F238E27FC236}">
                <a16:creationId xmlns:a16="http://schemas.microsoft.com/office/drawing/2014/main" id="{9F53238D-0361-4C69-9235-90A077355A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4796162"/>
            <a:ext cx="2965295" cy="1560187"/>
          </a:xfrm>
          <a:prstGeom prst="rect">
            <a:avLst/>
          </a:prstGeom>
        </p:spPr>
      </p:pic>
      <p:sp>
        <p:nvSpPr>
          <p:cNvPr id="12" name="TextBox 11">
            <a:extLst>
              <a:ext uri="{FF2B5EF4-FFF2-40B4-BE49-F238E27FC236}">
                <a16:creationId xmlns:a16="http://schemas.microsoft.com/office/drawing/2014/main" id="{97FB0669-254F-4017-B05F-3263CE9B2C7F}"/>
              </a:ext>
            </a:extLst>
          </p:cNvPr>
          <p:cNvSpPr txBox="1"/>
          <p:nvPr/>
        </p:nvSpPr>
        <p:spPr>
          <a:xfrm>
            <a:off x="2438646" y="6374498"/>
            <a:ext cx="1936556" cy="276999"/>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Fig. 7. Concept of K-fold CV</a:t>
            </a:r>
            <a:endParaRPr lang="ko-KR" altLang="en-US" sz="1200" dirty="0">
              <a:latin typeface="Gill Sans MT" panose="020B0502020104020203" pitchFamily="34" charset="0"/>
              <a:cs typeface="Helvetica" panose="020B0604020202020204" pitchFamily="34" charset="0"/>
            </a:endParaRPr>
          </a:p>
        </p:txBody>
      </p:sp>
    </p:spTree>
    <p:extLst>
      <p:ext uri="{BB962C8B-B14F-4D97-AF65-F5344CB8AC3E}">
        <p14:creationId xmlns:p14="http://schemas.microsoft.com/office/powerpoint/2010/main" val="3557841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D78DEB7-AFBC-4141-9908-10035966221D}"/>
              </a:ext>
            </a:extLst>
          </p:cNvPr>
          <p:cNvSpPr>
            <a:spLocks noGrp="1"/>
          </p:cNvSpPr>
          <p:nvPr>
            <p:ph type="title"/>
          </p:nvPr>
        </p:nvSpPr>
        <p:spPr/>
        <p:txBody>
          <a:bodyPr/>
          <a:lstStyle/>
          <a:p>
            <a:r>
              <a:rPr lang="en-US" altLang="ko-KR" dirty="0"/>
              <a:t>Results: Comparison among Models </a:t>
            </a:r>
            <a:endParaRPr lang="ko-KR" altLang="en-US" dirty="0"/>
          </a:p>
        </p:txBody>
      </p:sp>
      <p:sp>
        <p:nvSpPr>
          <p:cNvPr id="4" name="슬라이드 번호 개체 틀 3">
            <a:extLst>
              <a:ext uri="{FF2B5EF4-FFF2-40B4-BE49-F238E27FC236}">
                <a16:creationId xmlns:a16="http://schemas.microsoft.com/office/drawing/2014/main" id="{46FA1E9E-C5CE-4ECA-9C96-090C1B919469}"/>
              </a:ext>
            </a:extLst>
          </p:cNvPr>
          <p:cNvSpPr>
            <a:spLocks noGrp="1"/>
          </p:cNvSpPr>
          <p:nvPr>
            <p:ph type="sldNum" sz="quarter" idx="12"/>
          </p:nvPr>
        </p:nvSpPr>
        <p:spPr/>
        <p:txBody>
          <a:bodyPr/>
          <a:lstStyle/>
          <a:p>
            <a:fld id="{79822AFB-C284-4A8E-A6EE-41BAA9C576A0}" type="slidenum">
              <a:rPr lang="ko-KR" altLang="en-US" smtClean="0"/>
              <a:t>12</a:t>
            </a:fld>
            <a:endParaRPr lang="ko-KR" altLang="en-US"/>
          </a:p>
        </p:txBody>
      </p:sp>
      <p:sp>
        <p:nvSpPr>
          <p:cNvPr id="5" name="날짜 개체 틀 4">
            <a:extLst>
              <a:ext uri="{FF2B5EF4-FFF2-40B4-BE49-F238E27FC236}">
                <a16:creationId xmlns:a16="http://schemas.microsoft.com/office/drawing/2014/main" id="{A79CD8AA-6466-4553-9B42-B0CEB4E2F2C7}"/>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8" name="내용 개체 틀 6">
            <a:extLst>
              <a:ext uri="{FF2B5EF4-FFF2-40B4-BE49-F238E27FC236}">
                <a16:creationId xmlns:a16="http://schemas.microsoft.com/office/drawing/2014/main" id="{8065B853-7340-4D74-8E7C-CF42CBDA8BBF}"/>
              </a:ext>
            </a:extLst>
          </p:cNvPr>
          <p:cNvPicPr>
            <a:picLocks noChangeAspect="1"/>
          </p:cNvPicPr>
          <p:nvPr/>
        </p:nvPicPr>
        <p:blipFill>
          <a:blip r:embed="rId2"/>
          <a:stretch>
            <a:fillRect/>
          </a:stretch>
        </p:blipFill>
        <p:spPr>
          <a:xfrm>
            <a:off x="971550" y="1366291"/>
            <a:ext cx="7543800" cy="4769944"/>
          </a:xfrm>
          <a:prstGeom prst="rect">
            <a:avLst/>
          </a:prstGeom>
        </p:spPr>
      </p:pic>
      <p:sp>
        <p:nvSpPr>
          <p:cNvPr id="9" name="TextBox 8">
            <a:extLst>
              <a:ext uri="{FF2B5EF4-FFF2-40B4-BE49-F238E27FC236}">
                <a16:creationId xmlns:a16="http://schemas.microsoft.com/office/drawing/2014/main" id="{20E3D7D0-7842-4ED8-BA8D-3D870E7784D7}"/>
              </a:ext>
            </a:extLst>
          </p:cNvPr>
          <p:cNvSpPr txBox="1"/>
          <p:nvPr/>
        </p:nvSpPr>
        <p:spPr>
          <a:xfrm>
            <a:off x="2195736" y="6136235"/>
            <a:ext cx="5233036" cy="461665"/>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Fig. 8. Pareto Fronts of the solution sets derived by each subgroup in K-fold CV</a:t>
            </a:r>
          </a:p>
          <a:p>
            <a:r>
              <a:rPr lang="en-US" altLang="ko-KR" sz="1200" dirty="0">
                <a:latin typeface="Gill Sans MT" panose="020B0502020104020203" pitchFamily="34" charset="0"/>
                <a:cs typeface="Helvetica" panose="020B0604020202020204" pitchFamily="34" charset="0"/>
              </a:rPr>
              <a:t>(a) Subgroup K=1, (b) Subgroup K=2, (c) Subgroup K=3, and (d) Subgroup K=4</a:t>
            </a:r>
            <a:endParaRPr lang="ko-KR" altLang="en-US" sz="1200" dirty="0">
              <a:latin typeface="Gill Sans MT" panose="020B0502020104020203" pitchFamily="34" charset="0"/>
              <a:cs typeface="Helvetica" panose="020B0604020202020204" pitchFamily="34" charset="0"/>
            </a:endParaRPr>
          </a:p>
        </p:txBody>
      </p:sp>
    </p:spTree>
    <p:extLst>
      <p:ext uri="{BB962C8B-B14F-4D97-AF65-F5344CB8AC3E}">
        <p14:creationId xmlns:p14="http://schemas.microsoft.com/office/powerpoint/2010/main" val="4244121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그룹 6">
            <a:extLst>
              <a:ext uri="{FF2B5EF4-FFF2-40B4-BE49-F238E27FC236}">
                <a16:creationId xmlns:a16="http://schemas.microsoft.com/office/drawing/2014/main" id="{D61F3D79-16AB-47D6-B582-A211FE878682}"/>
              </a:ext>
            </a:extLst>
          </p:cNvPr>
          <p:cNvGrpSpPr/>
          <p:nvPr/>
        </p:nvGrpSpPr>
        <p:grpSpPr>
          <a:xfrm>
            <a:off x="5407062" y="4215829"/>
            <a:ext cx="3367284" cy="2520280"/>
            <a:chOff x="5004048" y="2708920"/>
            <a:chExt cx="3888432" cy="2952777"/>
          </a:xfrm>
        </p:grpSpPr>
        <p:pic>
          <p:nvPicPr>
            <p:cNvPr id="8" name="내용 개체 틀 6">
              <a:extLst>
                <a:ext uri="{FF2B5EF4-FFF2-40B4-BE49-F238E27FC236}">
                  <a16:creationId xmlns:a16="http://schemas.microsoft.com/office/drawing/2014/main" id="{9FCA8999-93B1-4C96-AF57-15D42EFDCEE4}"/>
                </a:ext>
              </a:extLst>
            </p:cNvPr>
            <p:cNvPicPr>
              <a:picLocks noChangeAspect="1"/>
            </p:cNvPicPr>
            <p:nvPr/>
          </p:nvPicPr>
          <p:blipFill rotWithShape="1">
            <a:blip r:embed="rId2"/>
            <a:srcRect l="40561" t="50706" r="18394"/>
            <a:stretch/>
          </p:blipFill>
          <p:spPr>
            <a:xfrm>
              <a:off x="5004048" y="2708920"/>
              <a:ext cx="3888432" cy="2952777"/>
            </a:xfrm>
            <a:prstGeom prst="rect">
              <a:avLst/>
            </a:prstGeom>
          </p:spPr>
        </p:pic>
        <p:pic>
          <p:nvPicPr>
            <p:cNvPr id="9" name="그림 8">
              <a:extLst>
                <a:ext uri="{FF2B5EF4-FFF2-40B4-BE49-F238E27FC236}">
                  <a16:creationId xmlns:a16="http://schemas.microsoft.com/office/drawing/2014/main" id="{9AB2BE99-B308-4E50-B695-EA4C55D34DF1}"/>
                </a:ext>
              </a:extLst>
            </p:cNvPr>
            <p:cNvPicPr>
              <a:picLocks noChangeAspect="1"/>
            </p:cNvPicPr>
            <p:nvPr/>
          </p:nvPicPr>
          <p:blipFill>
            <a:blip r:embed="rId3"/>
            <a:stretch>
              <a:fillRect/>
            </a:stretch>
          </p:blipFill>
          <p:spPr>
            <a:xfrm>
              <a:off x="7452320" y="2896184"/>
              <a:ext cx="1146387" cy="1304354"/>
            </a:xfrm>
            <a:prstGeom prst="rect">
              <a:avLst/>
            </a:prstGeom>
          </p:spPr>
        </p:pic>
        <p:sp>
          <p:nvSpPr>
            <p:cNvPr id="10" name="직사각형 9">
              <a:extLst>
                <a:ext uri="{FF2B5EF4-FFF2-40B4-BE49-F238E27FC236}">
                  <a16:creationId xmlns:a16="http://schemas.microsoft.com/office/drawing/2014/main" id="{C36E1CB9-D255-4EA6-9B9B-85428080A009}"/>
                </a:ext>
              </a:extLst>
            </p:cNvPr>
            <p:cNvSpPr/>
            <p:nvPr/>
          </p:nvSpPr>
          <p:spPr>
            <a:xfrm>
              <a:off x="7499130" y="3717031"/>
              <a:ext cx="1063028" cy="14401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 name="제목 1">
            <a:extLst>
              <a:ext uri="{FF2B5EF4-FFF2-40B4-BE49-F238E27FC236}">
                <a16:creationId xmlns:a16="http://schemas.microsoft.com/office/drawing/2014/main" id="{C28B8CA9-6672-45CC-A34F-49E3E6F7B955}"/>
              </a:ext>
            </a:extLst>
          </p:cNvPr>
          <p:cNvSpPr>
            <a:spLocks noGrp="1"/>
          </p:cNvSpPr>
          <p:nvPr>
            <p:ph type="title"/>
          </p:nvPr>
        </p:nvSpPr>
        <p:spPr/>
        <p:txBody>
          <a:bodyPr/>
          <a:lstStyle/>
          <a:p>
            <a:r>
              <a:rPr lang="en-US" altLang="ko-KR" dirty="0"/>
              <a:t>Results: Comparison among Models </a:t>
            </a:r>
            <a:endParaRPr lang="ko-KR" altLang="en-US" dirty="0"/>
          </a:p>
        </p:txBody>
      </p:sp>
      <p:sp>
        <p:nvSpPr>
          <p:cNvPr id="3" name="내용 개체 틀 2">
            <a:extLst>
              <a:ext uri="{FF2B5EF4-FFF2-40B4-BE49-F238E27FC236}">
                <a16:creationId xmlns:a16="http://schemas.microsoft.com/office/drawing/2014/main" id="{71FAF827-EE62-41D1-B7FB-065E56EB9AA6}"/>
              </a:ext>
            </a:extLst>
          </p:cNvPr>
          <p:cNvSpPr>
            <a:spLocks noGrp="1"/>
          </p:cNvSpPr>
          <p:nvPr>
            <p:ph idx="1"/>
          </p:nvPr>
        </p:nvSpPr>
        <p:spPr>
          <a:xfrm>
            <a:off x="628650" y="1268761"/>
            <a:ext cx="7886700" cy="2932434"/>
          </a:xfrm>
        </p:spPr>
        <p:txBody>
          <a:bodyPr/>
          <a:lstStyle/>
          <a:p>
            <a:r>
              <a:rPr lang="en-US" altLang="ko-KR" dirty="0"/>
              <a:t> Insights from comparison among optimization models</a:t>
            </a:r>
          </a:p>
          <a:p>
            <a:pPr lvl="1"/>
            <a:r>
              <a:rPr lang="en-US" altLang="ko-KR" dirty="0"/>
              <a:t> Among the EMODPS models, EMODPS-Gaussian model (</a:t>
            </a:r>
            <a:r>
              <a:rPr lang="ko-KR" altLang="en-US" dirty="0">
                <a:solidFill>
                  <a:schemeClr val="bg1">
                    <a:lumMod val="65000"/>
                  </a:schemeClr>
                </a:solidFill>
              </a:rPr>
              <a:t>●</a:t>
            </a:r>
            <a:r>
              <a:rPr lang="en-US" altLang="ko-KR" dirty="0"/>
              <a:t>) with least number of parameters (3) performed best among all other models</a:t>
            </a:r>
          </a:p>
          <a:p>
            <a:pPr lvl="2"/>
            <a:r>
              <a:rPr lang="en-US" altLang="ko-KR" dirty="0"/>
              <a:t>Shape of the approximating function is</a:t>
            </a:r>
            <a:r>
              <a:rPr lang="ko-KR" altLang="en-US" dirty="0"/>
              <a:t> </a:t>
            </a:r>
            <a:r>
              <a:rPr lang="en-US" altLang="ko-KR" dirty="0"/>
              <a:t>more important than the number of parameters in this case </a:t>
            </a:r>
          </a:p>
          <a:p>
            <a:pPr lvl="1"/>
            <a:r>
              <a:rPr lang="en-US" altLang="ko-KR" dirty="0"/>
              <a:t> Solutions from the SDP model (</a:t>
            </a:r>
            <a:r>
              <a:rPr lang="en-US" altLang="ko-KR" dirty="0">
                <a:solidFill>
                  <a:schemeClr val="bg1">
                    <a:lumMod val="50000"/>
                  </a:schemeClr>
                </a:solidFill>
              </a:rPr>
              <a:t>Ⅹ</a:t>
            </a:r>
            <a:r>
              <a:rPr lang="en-US" altLang="ko-KR" dirty="0"/>
              <a:t>) performed as well as the EMODPS-Gaussian model (</a:t>
            </a:r>
            <a:r>
              <a:rPr lang="ko-KR" altLang="en-US" dirty="0">
                <a:solidFill>
                  <a:schemeClr val="bg1">
                    <a:lumMod val="65000"/>
                  </a:schemeClr>
                </a:solidFill>
              </a:rPr>
              <a:t>●</a:t>
            </a:r>
            <a:r>
              <a:rPr lang="en-US" altLang="ko-KR" dirty="0"/>
              <a:t>) in most of the subgroups, but they failed in terms of solution diversity (due to commensuration of objectives)</a:t>
            </a:r>
            <a:endParaRPr lang="ko-KR" altLang="en-US" dirty="0"/>
          </a:p>
        </p:txBody>
      </p:sp>
      <p:sp>
        <p:nvSpPr>
          <p:cNvPr id="4" name="슬라이드 번호 개체 틀 3">
            <a:extLst>
              <a:ext uri="{FF2B5EF4-FFF2-40B4-BE49-F238E27FC236}">
                <a16:creationId xmlns:a16="http://schemas.microsoft.com/office/drawing/2014/main" id="{4B13B831-CD9B-47CD-9580-404262563CC2}"/>
              </a:ext>
            </a:extLst>
          </p:cNvPr>
          <p:cNvSpPr>
            <a:spLocks noGrp="1"/>
          </p:cNvSpPr>
          <p:nvPr>
            <p:ph type="sldNum" sz="quarter" idx="12"/>
          </p:nvPr>
        </p:nvSpPr>
        <p:spPr/>
        <p:txBody>
          <a:bodyPr/>
          <a:lstStyle/>
          <a:p>
            <a:fld id="{79822AFB-C284-4A8E-A6EE-41BAA9C576A0}" type="slidenum">
              <a:rPr lang="ko-KR" altLang="en-US" smtClean="0"/>
              <a:t>13</a:t>
            </a:fld>
            <a:endParaRPr lang="ko-KR" altLang="en-US"/>
          </a:p>
        </p:txBody>
      </p:sp>
      <p:sp>
        <p:nvSpPr>
          <p:cNvPr id="5" name="날짜 개체 틀 4">
            <a:extLst>
              <a:ext uri="{FF2B5EF4-FFF2-40B4-BE49-F238E27FC236}">
                <a16:creationId xmlns:a16="http://schemas.microsoft.com/office/drawing/2014/main" id="{5F079367-4104-4B1E-9CF0-7654AA279A91}"/>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sp>
        <p:nvSpPr>
          <p:cNvPr id="13" name="내용 개체 틀 2">
            <a:extLst>
              <a:ext uri="{FF2B5EF4-FFF2-40B4-BE49-F238E27FC236}">
                <a16:creationId xmlns:a16="http://schemas.microsoft.com/office/drawing/2014/main" id="{3D601F7D-63D2-4421-97E2-7005BB74329F}"/>
              </a:ext>
            </a:extLst>
          </p:cNvPr>
          <p:cNvSpPr txBox="1">
            <a:spLocks/>
          </p:cNvSpPr>
          <p:nvPr/>
        </p:nvSpPr>
        <p:spPr>
          <a:xfrm>
            <a:off x="634132" y="4184761"/>
            <a:ext cx="4752528" cy="2582416"/>
          </a:xfrm>
          <a:prstGeom prst="rect">
            <a:avLst/>
          </a:prstGeom>
        </p:spPr>
        <p:txBody>
          <a:bodyPr vert="horz" lIns="91440" tIns="45720" rIns="91440" bIns="45720" rtlCol="0">
            <a:normAutofit lnSpcReduction="10000"/>
          </a:bodyPr>
          <a:lst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ko-KR" dirty="0"/>
              <a:t> Policy searching closed-loop models (SDP &amp; EMODPS models) were more flexible than the deterministic open-loop models (DDP-Average, </a:t>
            </a:r>
            <a:r>
              <a:rPr lang="ko-KR" altLang="en-US" dirty="0">
                <a:solidFill>
                  <a:schemeClr val="bg1">
                    <a:lumMod val="65000"/>
                  </a:schemeClr>
                </a:solidFill>
              </a:rPr>
              <a:t>▲</a:t>
            </a:r>
            <a:r>
              <a:rPr lang="en-US" altLang="ko-KR" dirty="0"/>
              <a:t>)</a:t>
            </a:r>
          </a:p>
          <a:p>
            <a:pPr lvl="1"/>
            <a:r>
              <a:rPr lang="en-US" altLang="ko-KR" dirty="0"/>
              <a:t> Actual operation based on the SQ policy (</a:t>
            </a:r>
            <a:r>
              <a:rPr lang="ko-KR" altLang="en-US" dirty="0">
                <a:solidFill>
                  <a:srgbClr val="FF0000"/>
                </a:solidFill>
              </a:rPr>
              <a:t>◆</a:t>
            </a:r>
            <a:r>
              <a:rPr lang="en-US" altLang="ko-KR" dirty="0"/>
              <a:t>) based on zone-based hedging rules hold value under drought conditions (K=4)</a:t>
            </a:r>
            <a:endParaRPr lang="ko-KR" altLang="en-US" dirty="0"/>
          </a:p>
        </p:txBody>
      </p:sp>
    </p:spTree>
    <p:extLst>
      <p:ext uri="{BB962C8B-B14F-4D97-AF65-F5344CB8AC3E}">
        <p14:creationId xmlns:p14="http://schemas.microsoft.com/office/powerpoint/2010/main" val="1206546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A9C04B-040D-4678-BEE5-3F36B20A5272}"/>
              </a:ext>
            </a:extLst>
          </p:cNvPr>
          <p:cNvSpPr>
            <a:spLocks noGrp="1"/>
          </p:cNvSpPr>
          <p:nvPr>
            <p:ph type="title"/>
          </p:nvPr>
        </p:nvSpPr>
        <p:spPr/>
        <p:txBody>
          <a:bodyPr/>
          <a:lstStyle/>
          <a:p>
            <a:r>
              <a:rPr lang="en-US" altLang="ko-KR" dirty="0"/>
              <a:t>Results: Coupling of Real-world Policy </a:t>
            </a:r>
            <a:endParaRPr lang="ko-KR" altLang="en-US" dirty="0"/>
          </a:p>
        </p:txBody>
      </p:sp>
      <p:sp>
        <p:nvSpPr>
          <p:cNvPr id="3" name="내용 개체 틀 2">
            <a:extLst>
              <a:ext uri="{FF2B5EF4-FFF2-40B4-BE49-F238E27FC236}">
                <a16:creationId xmlns:a16="http://schemas.microsoft.com/office/drawing/2014/main" id="{62403FA0-3E62-4076-B907-C95A8C6FD712}"/>
              </a:ext>
            </a:extLst>
          </p:cNvPr>
          <p:cNvSpPr>
            <a:spLocks noGrp="1"/>
          </p:cNvSpPr>
          <p:nvPr>
            <p:ph idx="1"/>
          </p:nvPr>
        </p:nvSpPr>
        <p:spPr/>
        <p:txBody>
          <a:bodyPr/>
          <a:lstStyle/>
          <a:p>
            <a:r>
              <a:rPr lang="en-US" altLang="ko-KR" dirty="0"/>
              <a:t> During simulation, real-world reservoir operating policy is coupled with the best performing optimization model: </a:t>
            </a:r>
            <a:r>
              <a:rPr lang="en-US" altLang="ko-KR" b="1" dirty="0"/>
              <a:t>EMODPS-Gaussian</a:t>
            </a:r>
            <a:endParaRPr lang="ko-KR" altLang="en-US" b="1" dirty="0"/>
          </a:p>
          <a:p>
            <a:endParaRPr lang="ko-KR" altLang="en-US" dirty="0"/>
          </a:p>
        </p:txBody>
      </p:sp>
      <p:sp>
        <p:nvSpPr>
          <p:cNvPr id="4" name="슬라이드 번호 개체 틀 3">
            <a:extLst>
              <a:ext uri="{FF2B5EF4-FFF2-40B4-BE49-F238E27FC236}">
                <a16:creationId xmlns:a16="http://schemas.microsoft.com/office/drawing/2014/main" id="{42D9CF6A-817F-4574-AA66-7F6279CBD126}"/>
              </a:ext>
            </a:extLst>
          </p:cNvPr>
          <p:cNvSpPr>
            <a:spLocks noGrp="1"/>
          </p:cNvSpPr>
          <p:nvPr>
            <p:ph type="sldNum" sz="quarter" idx="12"/>
          </p:nvPr>
        </p:nvSpPr>
        <p:spPr/>
        <p:txBody>
          <a:bodyPr/>
          <a:lstStyle/>
          <a:p>
            <a:fld id="{79822AFB-C284-4A8E-A6EE-41BAA9C576A0}" type="slidenum">
              <a:rPr lang="ko-KR" altLang="en-US" smtClean="0"/>
              <a:t>14</a:t>
            </a:fld>
            <a:endParaRPr lang="ko-KR" altLang="en-US" dirty="0"/>
          </a:p>
        </p:txBody>
      </p:sp>
      <p:sp>
        <p:nvSpPr>
          <p:cNvPr id="5" name="날짜 개체 틀 4">
            <a:extLst>
              <a:ext uri="{FF2B5EF4-FFF2-40B4-BE49-F238E27FC236}">
                <a16:creationId xmlns:a16="http://schemas.microsoft.com/office/drawing/2014/main" id="{E4EAF87F-D52C-49D9-B431-B851775BDBB0}"/>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grpSp>
        <p:nvGrpSpPr>
          <p:cNvPr id="6" name="그룹 5">
            <a:extLst>
              <a:ext uri="{FF2B5EF4-FFF2-40B4-BE49-F238E27FC236}">
                <a16:creationId xmlns:a16="http://schemas.microsoft.com/office/drawing/2014/main" id="{C9C7D83B-4086-4F09-9437-E912D46986DC}"/>
              </a:ext>
            </a:extLst>
          </p:cNvPr>
          <p:cNvGrpSpPr/>
          <p:nvPr/>
        </p:nvGrpSpPr>
        <p:grpSpPr>
          <a:xfrm>
            <a:off x="849372" y="3016758"/>
            <a:ext cx="3367284" cy="2520280"/>
            <a:chOff x="5004048" y="2708920"/>
            <a:chExt cx="3888432" cy="2952777"/>
          </a:xfrm>
        </p:grpSpPr>
        <p:pic>
          <p:nvPicPr>
            <p:cNvPr id="7" name="내용 개체 틀 6">
              <a:extLst>
                <a:ext uri="{FF2B5EF4-FFF2-40B4-BE49-F238E27FC236}">
                  <a16:creationId xmlns:a16="http://schemas.microsoft.com/office/drawing/2014/main" id="{6B2DAE57-AF76-42B7-8DFD-7690A3BCFCC6}"/>
                </a:ext>
              </a:extLst>
            </p:cNvPr>
            <p:cNvPicPr>
              <a:picLocks noChangeAspect="1"/>
            </p:cNvPicPr>
            <p:nvPr/>
          </p:nvPicPr>
          <p:blipFill rotWithShape="1">
            <a:blip r:embed="rId2"/>
            <a:srcRect l="40561" t="50706" r="18394"/>
            <a:stretch/>
          </p:blipFill>
          <p:spPr>
            <a:xfrm>
              <a:off x="5004048" y="2708920"/>
              <a:ext cx="3888432" cy="2952777"/>
            </a:xfrm>
            <a:prstGeom prst="rect">
              <a:avLst/>
            </a:prstGeom>
          </p:spPr>
        </p:pic>
        <p:pic>
          <p:nvPicPr>
            <p:cNvPr id="8" name="그림 7">
              <a:extLst>
                <a:ext uri="{FF2B5EF4-FFF2-40B4-BE49-F238E27FC236}">
                  <a16:creationId xmlns:a16="http://schemas.microsoft.com/office/drawing/2014/main" id="{30EEF8A9-0FE2-41A3-82E3-24815D0551A6}"/>
                </a:ext>
              </a:extLst>
            </p:cNvPr>
            <p:cNvPicPr>
              <a:picLocks noChangeAspect="1"/>
            </p:cNvPicPr>
            <p:nvPr/>
          </p:nvPicPr>
          <p:blipFill>
            <a:blip r:embed="rId3"/>
            <a:stretch>
              <a:fillRect/>
            </a:stretch>
          </p:blipFill>
          <p:spPr>
            <a:xfrm>
              <a:off x="7452320" y="2896184"/>
              <a:ext cx="1146387" cy="1304354"/>
            </a:xfrm>
            <a:prstGeom prst="rect">
              <a:avLst/>
            </a:prstGeom>
          </p:spPr>
        </p:pic>
        <p:sp>
          <p:nvSpPr>
            <p:cNvPr id="9" name="직사각형 8">
              <a:extLst>
                <a:ext uri="{FF2B5EF4-FFF2-40B4-BE49-F238E27FC236}">
                  <a16:creationId xmlns:a16="http://schemas.microsoft.com/office/drawing/2014/main" id="{726BD79A-ADFD-47F7-AFBC-0C8A0BF4372F}"/>
                </a:ext>
              </a:extLst>
            </p:cNvPr>
            <p:cNvSpPr/>
            <p:nvPr/>
          </p:nvSpPr>
          <p:spPr>
            <a:xfrm>
              <a:off x="7499130" y="3717031"/>
              <a:ext cx="1063028" cy="14401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십자형 9">
            <a:extLst>
              <a:ext uri="{FF2B5EF4-FFF2-40B4-BE49-F238E27FC236}">
                <a16:creationId xmlns:a16="http://schemas.microsoft.com/office/drawing/2014/main" id="{C4B6B76C-5816-456B-A0A9-19F2543C8050}"/>
              </a:ext>
            </a:extLst>
          </p:cNvPr>
          <p:cNvSpPr/>
          <p:nvPr/>
        </p:nvSpPr>
        <p:spPr>
          <a:xfrm>
            <a:off x="4135258" y="3872471"/>
            <a:ext cx="792088" cy="808853"/>
          </a:xfrm>
          <a:prstGeom prst="plus">
            <a:avLst>
              <a:gd name="adj" fmla="val 44227"/>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330DE48A-C5E7-4B0F-9656-E88E0AE239A4}"/>
              </a:ext>
            </a:extLst>
          </p:cNvPr>
          <p:cNvPicPr>
            <a:picLocks noChangeAspect="1"/>
          </p:cNvPicPr>
          <p:nvPr/>
        </p:nvPicPr>
        <p:blipFill>
          <a:blip r:embed="rId4"/>
          <a:stretch>
            <a:fillRect/>
          </a:stretch>
        </p:blipFill>
        <p:spPr>
          <a:xfrm>
            <a:off x="5225616" y="5199767"/>
            <a:ext cx="3459087" cy="1388368"/>
          </a:xfrm>
          <a:prstGeom prst="rect">
            <a:avLst/>
          </a:prstGeom>
        </p:spPr>
      </p:pic>
      <p:grpSp>
        <p:nvGrpSpPr>
          <p:cNvPr id="12" name="그룹 11">
            <a:extLst>
              <a:ext uri="{FF2B5EF4-FFF2-40B4-BE49-F238E27FC236}">
                <a16:creationId xmlns:a16="http://schemas.microsoft.com/office/drawing/2014/main" id="{34F70379-6C27-4342-BDCF-DE14B38F083B}"/>
              </a:ext>
            </a:extLst>
          </p:cNvPr>
          <p:cNvGrpSpPr/>
          <p:nvPr/>
        </p:nvGrpSpPr>
        <p:grpSpPr>
          <a:xfrm>
            <a:off x="5053928" y="2487488"/>
            <a:ext cx="3800128" cy="2245311"/>
            <a:chOff x="5053928" y="2487488"/>
            <a:chExt cx="3800128" cy="2245311"/>
          </a:xfrm>
        </p:grpSpPr>
        <p:pic>
          <p:nvPicPr>
            <p:cNvPr id="13" name="그림 12">
              <a:extLst>
                <a:ext uri="{FF2B5EF4-FFF2-40B4-BE49-F238E27FC236}">
                  <a16:creationId xmlns:a16="http://schemas.microsoft.com/office/drawing/2014/main" id="{B129AF46-AE16-482D-8695-1692A6FD6C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53928" y="2487488"/>
              <a:ext cx="3800128" cy="2245311"/>
            </a:xfrm>
            <a:prstGeom prst="rect">
              <a:avLst/>
            </a:prstGeom>
          </p:spPr>
        </p:pic>
        <p:sp>
          <p:nvSpPr>
            <p:cNvPr id="14" name="TextBox 13">
              <a:extLst>
                <a:ext uri="{FF2B5EF4-FFF2-40B4-BE49-F238E27FC236}">
                  <a16:creationId xmlns:a16="http://schemas.microsoft.com/office/drawing/2014/main" id="{9B074C8B-9A9E-4EE5-B018-369EEB983F2A}"/>
                </a:ext>
              </a:extLst>
            </p:cNvPr>
            <p:cNvSpPr txBox="1"/>
            <p:nvPr/>
          </p:nvSpPr>
          <p:spPr>
            <a:xfrm>
              <a:off x="7394603" y="2595006"/>
              <a:ext cx="889987" cy="230832"/>
            </a:xfrm>
            <a:prstGeom prst="rect">
              <a:avLst/>
            </a:prstGeom>
            <a:noFill/>
          </p:spPr>
          <p:txBody>
            <a:bodyPr wrap="none" rtlCol="0">
              <a:spAutoFit/>
            </a:bodyPr>
            <a:lstStyle/>
            <a:p>
              <a:r>
                <a:rPr lang="en-US" altLang="ko-KR" sz="900" b="1" dirty="0">
                  <a:latin typeface="Helvetica" panose="020B0604020202020204" pitchFamily="34" charset="0"/>
                  <a:cs typeface="Helvetica" panose="020B0604020202020204" pitchFamily="34" charset="0"/>
                </a:rPr>
                <a:t>Normal Zone</a:t>
              </a:r>
              <a:endParaRPr lang="ko-KR" altLang="en-US" sz="900" b="1" dirty="0">
                <a:latin typeface="Helvetica" panose="020B0604020202020204" pitchFamily="34" charset="0"/>
                <a:cs typeface="Helvetica" panose="020B0604020202020204" pitchFamily="34" charset="0"/>
              </a:endParaRPr>
            </a:p>
          </p:txBody>
        </p:sp>
        <p:sp>
          <p:nvSpPr>
            <p:cNvPr id="15" name="TextBox 14">
              <a:extLst>
                <a:ext uri="{FF2B5EF4-FFF2-40B4-BE49-F238E27FC236}">
                  <a16:creationId xmlns:a16="http://schemas.microsoft.com/office/drawing/2014/main" id="{E61D895E-94E2-4A78-8CFC-CEF24D135E34}"/>
                </a:ext>
              </a:extLst>
            </p:cNvPr>
            <p:cNvSpPr txBox="1"/>
            <p:nvPr/>
          </p:nvSpPr>
          <p:spPr>
            <a:xfrm>
              <a:off x="7561318" y="2867744"/>
              <a:ext cx="556563" cy="230832"/>
            </a:xfrm>
            <a:prstGeom prst="rect">
              <a:avLst/>
            </a:prstGeom>
            <a:noFill/>
          </p:spPr>
          <p:txBody>
            <a:bodyPr wrap="none" rtlCol="0">
              <a:spAutoFit/>
            </a:bodyPr>
            <a:lstStyle/>
            <a:p>
              <a:r>
                <a:rPr lang="en-US" altLang="ko-KR" sz="900" b="1" dirty="0">
                  <a:solidFill>
                    <a:schemeClr val="accent1"/>
                  </a:solidFill>
                  <a:latin typeface="Helvetica" panose="020B0604020202020204" pitchFamily="34" charset="0"/>
                  <a:cs typeface="Helvetica" panose="020B0604020202020204" pitchFamily="34" charset="0"/>
                </a:rPr>
                <a:t>Zone 1</a:t>
              </a:r>
              <a:endParaRPr lang="ko-KR" altLang="en-US" sz="900" b="1" dirty="0">
                <a:solidFill>
                  <a:schemeClr val="accent1"/>
                </a:solidFill>
                <a:latin typeface="Helvetica" panose="020B0604020202020204" pitchFamily="34" charset="0"/>
                <a:cs typeface="Helvetica" panose="020B0604020202020204" pitchFamily="34" charset="0"/>
              </a:endParaRPr>
            </a:p>
          </p:txBody>
        </p:sp>
        <p:sp>
          <p:nvSpPr>
            <p:cNvPr id="16" name="TextBox 15">
              <a:extLst>
                <a:ext uri="{FF2B5EF4-FFF2-40B4-BE49-F238E27FC236}">
                  <a16:creationId xmlns:a16="http://schemas.microsoft.com/office/drawing/2014/main" id="{0659DA10-DD9A-412B-AF5A-245C291EE5B3}"/>
                </a:ext>
              </a:extLst>
            </p:cNvPr>
            <p:cNvSpPr txBox="1"/>
            <p:nvPr/>
          </p:nvSpPr>
          <p:spPr>
            <a:xfrm>
              <a:off x="7561317" y="3164188"/>
              <a:ext cx="556563" cy="230832"/>
            </a:xfrm>
            <a:prstGeom prst="rect">
              <a:avLst/>
            </a:prstGeom>
            <a:noFill/>
          </p:spPr>
          <p:txBody>
            <a:bodyPr wrap="none" rtlCol="0">
              <a:spAutoFit/>
            </a:bodyPr>
            <a:lstStyle/>
            <a:p>
              <a:r>
                <a:rPr lang="en-US" altLang="ko-KR" sz="900" b="1" dirty="0">
                  <a:solidFill>
                    <a:schemeClr val="accent4"/>
                  </a:solidFill>
                  <a:latin typeface="Helvetica" panose="020B0604020202020204" pitchFamily="34" charset="0"/>
                  <a:cs typeface="Helvetica" panose="020B0604020202020204" pitchFamily="34" charset="0"/>
                </a:rPr>
                <a:t>Zone 2</a:t>
              </a:r>
              <a:endParaRPr lang="ko-KR" altLang="en-US" sz="900" b="1" dirty="0">
                <a:solidFill>
                  <a:schemeClr val="accent4"/>
                </a:solidFill>
                <a:latin typeface="Helvetica" panose="020B0604020202020204" pitchFamily="34" charset="0"/>
                <a:cs typeface="Helvetica" panose="020B0604020202020204" pitchFamily="34" charset="0"/>
              </a:endParaRPr>
            </a:p>
          </p:txBody>
        </p:sp>
        <p:sp>
          <p:nvSpPr>
            <p:cNvPr id="17" name="TextBox 16">
              <a:extLst>
                <a:ext uri="{FF2B5EF4-FFF2-40B4-BE49-F238E27FC236}">
                  <a16:creationId xmlns:a16="http://schemas.microsoft.com/office/drawing/2014/main" id="{317D8154-675D-4ABB-8495-B39DF8CDF25F}"/>
                </a:ext>
              </a:extLst>
            </p:cNvPr>
            <p:cNvSpPr txBox="1"/>
            <p:nvPr/>
          </p:nvSpPr>
          <p:spPr>
            <a:xfrm>
              <a:off x="7561316" y="3610143"/>
              <a:ext cx="556563" cy="230832"/>
            </a:xfrm>
            <a:prstGeom prst="rect">
              <a:avLst/>
            </a:prstGeom>
            <a:noFill/>
          </p:spPr>
          <p:txBody>
            <a:bodyPr wrap="none" rtlCol="0">
              <a:spAutoFit/>
            </a:bodyPr>
            <a:lstStyle/>
            <a:p>
              <a:r>
                <a:rPr lang="en-US" altLang="ko-KR" sz="900" b="1" dirty="0">
                  <a:solidFill>
                    <a:schemeClr val="accent2"/>
                  </a:solidFill>
                  <a:latin typeface="Helvetica" panose="020B0604020202020204" pitchFamily="34" charset="0"/>
                  <a:cs typeface="Helvetica" panose="020B0604020202020204" pitchFamily="34" charset="0"/>
                </a:rPr>
                <a:t>Zone 3</a:t>
              </a:r>
              <a:endParaRPr lang="ko-KR" altLang="en-US" sz="900" b="1" dirty="0">
                <a:solidFill>
                  <a:schemeClr val="accent2"/>
                </a:solidFill>
                <a:latin typeface="Helvetica" panose="020B0604020202020204" pitchFamily="34" charset="0"/>
                <a:cs typeface="Helvetica" panose="020B0604020202020204" pitchFamily="34" charset="0"/>
              </a:endParaRPr>
            </a:p>
          </p:txBody>
        </p:sp>
        <p:sp>
          <p:nvSpPr>
            <p:cNvPr id="18" name="TextBox 17">
              <a:extLst>
                <a:ext uri="{FF2B5EF4-FFF2-40B4-BE49-F238E27FC236}">
                  <a16:creationId xmlns:a16="http://schemas.microsoft.com/office/drawing/2014/main" id="{1875B572-D9AC-4D89-82C5-2B47C03FA6E3}"/>
                </a:ext>
              </a:extLst>
            </p:cNvPr>
            <p:cNvSpPr txBox="1"/>
            <p:nvPr/>
          </p:nvSpPr>
          <p:spPr>
            <a:xfrm>
              <a:off x="7561316" y="4121710"/>
              <a:ext cx="556563" cy="230832"/>
            </a:xfrm>
            <a:prstGeom prst="rect">
              <a:avLst/>
            </a:prstGeom>
            <a:noFill/>
          </p:spPr>
          <p:txBody>
            <a:bodyPr wrap="none" rtlCol="0">
              <a:spAutoFit/>
            </a:bodyPr>
            <a:lstStyle/>
            <a:p>
              <a:r>
                <a:rPr lang="en-US" altLang="ko-KR" sz="900" b="1" dirty="0">
                  <a:solidFill>
                    <a:srgbClr val="FF0000"/>
                  </a:solidFill>
                  <a:latin typeface="Helvetica" panose="020B0604020202020204" pitchFamily="34" charset="0"/>
                  <a:cs typeface="Helvetica" panose="020B0604020202020204" pitchFamily="34" charset="0"/>
                </a:rPr>
                <a:t>Zone 4</a:t>
              </a:r>
              <a:endParaRPr lang="ko-KR" altLang="en-US" sz="900" b="1" dirty="0">
                <a:solidFill>
                  <a:srgbClr val="FF0000"/>
                </a:solidFill>
                <a:latin typeface="Helvetica" panose="020B0604020202020204" pitchFamily="34" charset="0"/>
                <a:cs typeface="Helvetica" panose="020B0604020202020204" pitchFamily="34" charset="0"/>
              </a:endParaRPr>
            </a:p>
          </p:txBody>
        </p:sp>
      </p:grpSp>
      <p:sp>
        <p:nvSpPr>
          <p:cNvPr id="19" name="TextBox 18">
            <a:extLst>
              <a:ext uri="{FF2B5EF4-FFF2-40B4-BE49-F238E27FC236}">
                <a16:creationId xmlns:a16="http://schemas.microsoft.com/office/drawing/2014/main" id="{58AA66D4-55D1-4DA8-9555-47C38048576C}"/>
              </a:ext>
            </a:extLst>
          </p:cNvPr>
          <p:cNvSpPr txBox="1"/>
          <p:nvPr/>
        </p:nvSpPr>
        <p:spPr>
          <a:xfrm>
            <a:off x="5207143" y="4680645"/>
            <a:ext cx="3636060" cy="276999"/>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Fig. 9. Actual Rule Curves of </a:t>
            </a:r>
            <a:r>
              <a:rPr lang="en-US" altLang="ko-KR" sz="1200" dirty="0" err="1">
                <a:latin typeface="Gill Sans MT" panose="020B0502020104020203" pitchFamily="34" charset="0"/>
                <a:cs typeface="Helvetica" panose="020B0604020202020204" pitchFamily="34" charset="0"/>
              </a:rPr>
              <a:t>Boryeong</a:t>
            </a:r>
            <a:r>
              <a:rPr lang="en-US" altLang="ko-KR" sz="1200" dirty="0">
                <a:latin typeface="Gill Sans MT" panose="020B0502020104020203" pitchFamily="34" charset="0"/>
                <a:cs typeface="Helvetica" panose="020B0604020202020204" pitchFamily="34" charset="0"/>
              </a:rPr>
              <a:t> Reservoir, Korea</a:t>
            </a:r>
            <a:endParaRPr lang="ko-KR" altLang="en-US" sz="1200" dirty="0">
              <a:latin typeface="Gill Sans MT" panose="020B0502020104020203" pitchFamily="34" charset="0"/>
              <a:cs typeface="Helvetica" panose="020B0604020202020204" pitchFamily="34" charset="0"/>
            </a:endParaRPr>
          </a:p>
        </p:txBody>
      </p:sp>
      <p:sp>
        <p:nvSpPr>
          <p:cNvPr id="20" name="TextBox 19">
            <a:extLst>
              <a:ext uri="{FF2B5EF4-FFF2-40B4-BE49-F238E27FC236}">
                <a16:creationId xmlns:a16="http://schemas.microsoft.com/office/drawing/2014/main" id="{035CF6E0-1583-4E6E-9A82-E35076CBCF63}"/>
              </a:ext>
            </a:extLst>
          </p:cNvPr>
          <p:cNvSpPr txBox="1"/>
          <p:nvPr/>
        </p:nvSpPr>
        <p:spPr>
          <a:xfrm>
            <a:off x="5145101" y="4957644"/>
            <a:ext cx="2881558" cy="276999"/>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Table 3. Ratios implemented during hedging</a:t>
            </a:r>
            <a:endParaRPr lang="ko-KR" altLang="en-US" sz="1200" dirty="0">
              <a:latin typeface="Gill Sans MT" panose="020B0502020104020203" pitchFamily="34" charset="0"/>
              <a:cs typeface="Helvetica" panose="020B0604020202020204" pitchFamily="34" charset="0"/>
            </a:endParaRPr>
          </a:p>
        </p:txBody>
      </p:sp>
      <p:sp>
        <p:nvSpPr>
          <p:cNvPr id="21" name="TextBox 20">
            <a:extLst>
              <a:ext uri="{FF2B5EF4-FFF2-40B4-BE49-F238E27FC236}">
                <a16:creationId xmlns:a16="http://schemas.microsoft.com/office/drawing/2014/main" id="{503D5851-11E2-4245-99B3-D597AC060D00}"/>
              </a:ext>
            </a:extLst>
          </p:cNvPr>
          <p:cNvSpPr txBox="1"/>
          <p:nvPr/>
        </p:nvSpPr>
        <p:spPr>
          <a:xfrm>
            <a:off x="1117440" y="5531664"/>
            <a:ext cx="2878481" cy="461665"/>
          </a:xfrm>
          <a:prstGeom prst="rect">
            <a:avLst/>
          </a:prstGeom>
          <a:noFill/>
        </p:spPr>
        <p:txBody>
          <a:bodyPr wrap="none" rtlCol="0">
            <a:spAutoFit/>
          </a:bodyPr>
          <a:lstStyle/>
          <a:p>
            <a:pPr algn="ctr"/>
            <a:r>
              <a:rPr lang="en-US" altLang="ko-KR" sz="1200" dirty="0">
                <a:latin typeface="Gill Sans MT" panose="020B0502020104020203" pitchFamily="34" charset="0"/>
                <a:cs typeface="Helvetica" panose="020B0604020202020204" pitchFamily="34" charset="0"/>
              </a:rPr>
              <a:t>Fig. 8(d). Pareto Fronts of the solution sets </a:t>
            </a:r>
          </a:p>
          <a:p>
            <a:pPr algn="ctr"/>
            <a:r>
              <a:rPr lang="en-US" altLang="ko-KR" sz="1200" dirty="0">
                <a:latin typeface="Gill Sans MT" panose="020B0502020104020203" pitchFamily="34" charset="0"/>
                <a:cs typeface="Helvetica" panose="020B0604020202020204" pitchFamily="34" charset="0"/>
              </a:rPr>
              <a:t>derived from Subgroup K=4</a:t>
            </a:r>
            <a:endParaRPr lang="ko-KR" altLang="en-US" sz="1200" dirty="0">
              <a:latin typeface="Gill Sans MT" panose="020B0502020104020203" pitchFamily="34" charset="0"/>
              <a:cs typeface="Helvetica" panose="020B0604020202020204" pitchFamily="34" charset="0"/>
            </a:endParaRPr>
          </a:p>
        </p:txBody>
      </p:sp>
    </p:spTree>
    <p:extLst>
      <p:ext uri="{BB962C8B-B14F-4D97-AF65-F5344CB8AC3E}">
        <p14:creationId xmlns:p14="http://schemas.microsoft.com/office/powerpoint/2010/main" val="2547299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9"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C29D0EC-5051-4EF6-BC2E-DDEA82FCB5D1}"/>
              </a:ext>
            </a:extLst>
          </p:cNvPr>
          <p:cNvSpPr>
            <a:spLocks noGrp="1"/>
          </p:cNvSpPr>
          <p:nvPr>
            <p:ph type="title"/>
          </p:nvPr>
        </p:nvSpPr>
        <p:spPr/>
        <p:txBody>
          <a:bodyPr/>
          <a:lstStyle/>
          <a:p>
            <a:r>
              <a:rPr lang="en-US" altLang="ko-KR" dirty="0"/>
              <a:t>Results: Coupling of Real-world Policy </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99CE74D7-4EC8-494A-A5FA-A54D0E40FF66}"/>
                  </a:ext>
                </a:extLst>
              </p:cNvPr>
              <p:cNvSpPr>
                <a:spLocks noGrp="1"/>
              </p:cNvSpPr>
              <p:nvPr>
                <p:ph idx="1"/>
              </p:nvPr>
            </p:nvSpPr>
            <p:spPr>
              <a:xfrm>
                <a:off x="628650" y="1268760"/>
                <a:ext cx="7886700" cy="4908203"/>
              </a:xfrm>
            </p:spPr>
            <p:txBody>
              <a:bodyPr/>
              <a:lstStyle/>
              <a:p>
                <a:r>
                  <a:rPr lang="en-US" altLang="ko-KR" dirty="0"/>
                  <a:t> Selected Performance Indices</a:t>
                </a:r>
              </a:p>
              <a:p>
                <a:pPr lvl="1"/>
                <a:r>
                  <a:rPr lang="en-US" altLang="ko-KR" dirty="0"/>
                  <a:t> Risk, Resiliency, and vulnerability (Hashimoto et al. 1982)</a:t>
                </a:r>
              </a:p>
              <a:p>
                <a:pPr lvl="2"/>
                <a:r>
                  <a:rPr lang="en-US" altLang="ko-KR" dirty="0"/>
                  <a:t>Risk (frequency): How frequent was the failure?</a:t>
                </a:r>
              </a:p>
              <a:p>
                <a:pPr lvl="2"/>
                <a:r>
                  <a:rPr lang="en-US" altLang="ko-KR" dirty="0"/>
                  <a:t>Resiliency (duration): How fast does the system come back from failure?</a:t>
                </a:r>
              </a:p>
              <a:p>
                <a:pPr lvl="2"/>
                <a:r>
                  <a:rPr lang="en-US" altLang="ko-KR" dirty="0"/>
                  <a:t>Vulnerability (magnitude): How big is the magnitude of the failure? </a:t>
                </a:r>
              </a:p>
              <a:p>
                <a:pPr lvl="2"/>
                <a:endParaRPr lang="en-US" altLang="ko-KR" dirty="0"/>
              </a:p>
              <a:p>
                <a:pPr lvl="1"/>
                <a:r>
                  <a:rPr lang="en-US" altLang="ko-KR" dirty="0"/>
                  <a:t> Evaluation of performance both from the Supply &amp; Demand side (Definition of Failures)</a:t>
                </a:r>
              </a:p>
              <a:p>
                <a:pPr lvl="2"/>
                <a:r>
                  <a:rPr lang="en-US" altLang="ko-KR" dirty="0"/>
                  <a:t>Supply side (= </a:t>
                </a:r>
                <a14:m>
                  <m:oMath xmlns:m="http://schemas.openxmlformats.org/officeDocument/2006/math">
                    <m:sSup>
                      <m:sSupPr>
                        <m:ctrlPr>
                          <a:rPr lang="en-US" altLang="ko-KR" i="1">
                            <a:solidFill>
                              <a:schemeClr val="tx1"/>
                            </a:solidFill>
                            <a:latin typeface="Cambria Math" panose="02040503050406030204" pitchFamily="18" charset="0"/>
                          </a:rPr>
                        </m:ctrlPr>
                      </m:sSupPr>
                      <m:e>
                        <m:r>
                          <a:rPr lang="en-US" altLang="ko-KR" b="0" i="1">
                            <a:solidFill>
                              <a:schemeClr val="tx1"/>
                            </a:solidFill>
                            <a:latin typeface="Cambria Math" panose="02040503050406030204" pitchFamily="18" charset="0"/>
                          </a:rPr>
                          <m:t>𝐽</m:t>
                        </m:r>
                      </m:e>
                      <m:sup>
                        <m:r>
                          <a:rPr lang="en-US" altLang="ko-KR" b="0" i="1">
                            <a:solidFill>
                              <a:schemeClr val="tx1"/>
                            </a:solidFill>
                            <a:latin typeface="Cambria Math" panose="02040503050406030204" pitchFamily="18" charset="0"/>
                          </a:rPr>
                          <m:t>𝑠𝑢𝑝𝑝𝑙𝑦</m:t>
                        </m:r>
                      </m:sup>
                    </m:sSup>
                  </m:oMath>
                </a14:m>
                <a:r>
                  <a:rPr lang="en-US" altLang="ko-KR" dirty="0"/>
                  <a:t>):  </a:t>
                </a:r>
                <a14:m>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𝑆</m:t>
                        </m:r>
                      </m:e>
                      <m:sub>
                        <m:r>
                          <a:rPr lang="en-US" altLang="ko-KR" b="0" i="1" smtClean="0">
                            <a:latin typeface="Cambria Math" panose="02040503050406030204" pitchFamily="18" charset="0"/>
                          </a:rPr>
                          <m:t>𝑡</m:t>
                        </m:r>
                      </m:sub>
                    </m:sSub>
                    <m:r>
                      <a:rPr lang="en-US" altLang="ko-KR" b="0" i="1" smtClean="0">
                        <a:latin typeface="Cambria Math" panose="02040503050406030204" pitchFamily="18" charset="0"/>
                      </a:rPr>
                      <m:t>&lt;</m:t>
                    </m:r>
                    <m:sSubSup>
                      <m:sSubSupPr>
                        <m:ctrlPr>
                          <a:rPr lang="en-US" altLang="ko-KR" b="0" i="1" smtClean="0">
                            <a:latin typeface="Cambria Math" panose="02040503050406030204" pitchFamily="18" charset="0"/>
                          </a:rPr>
                        </m:ctrlPr>
                      </m:sSubSupPr>
                      <m:e>
                        <m:r>
                          <a:rPr lang="en-US" altLang="ko-KR" b="0" i="1" smtClean="0">
                            <a:latin typeface="Cambria Math" panose="02040503050406030204" pitchFamily="18" charset="0"/>
                          </a:rPr>
                          <m:t>𝑆</m:t>
                        </m:r>
                      </m:e>
                      <m:sub>
                        <m:r>
                          <a:rPr lang="en-US" altLang="ko-KR" b="0" i="1" smtClean="0">
                            <a:latin typeface="Cambria Math" panose="02040503050406030204" pitchFamily="18" charset="0"/>
                          </a:rPr>
                          <m:t>𝑡</m:t>
                        </m:r>
                      </m:sub>
                      <m:sup>
                        <m:r>
                          <a:rPr lang="en-US" altLang="ko-KR" b="0" i="1" smtClean="0">
                            <a:latin typeface="Cambria Math" panose="02040503050406030204" pitchFamily="18" charset="0"/>
                          </a:rPr>
                          <m:t>𝑡𝑎𝑟𝑔𝑒𝑡</m:t>
                        </m:r>
                      </m:sup>
                    </m:sSubSup>
                  </m:oMath>
                </a14:m>
                <a:r>
                  <a:rPr lang="en-US" altLang="ko-KR" dirty="0"/>
                  <a:t>	</a:t>
                </a:r>
              </a:p>
              <a:p>
                <a:pPr lvl="2"/>
                <a:r>
                  <a:rPr lang="en-US" altLang="ko-KR" dirty="0"/>
                  <a:t>Demand side: </a:t>
                </a:r>
                <a14:m>
                  <m:oMath xmlns:m="http://schemas.openxmlformats.org/officeDocument/2006/math">
                    <m:sSub>
                      <m:sSubPr>
                        <m:ctrlPr>
                          <a:rPr lang="en-US" altLang="ko-KR" i="1">
                            <a:latin typeface="Cambria Math" panose="02040503050406030204" pitchFamily="18" charset="0"/>
                          </a:rPr>
                        </m:ctrlPr>
                      </m:sSubPr>
                      <m:e>
                        <m:r>
                          <a:rPr lang="en-US" altLang="ko-KR" b="0" i="1" smtClean="0">
                            <a:latin typeface="Cambria Math" panose="02040503050406030204" pitchFamily="18" charset="0"/>
                          </a:rPr>
                          <m:t>𝑅</m:t>
                        </m:r>
                      </m:e>
                      <m:sub>
                        <m:r>
                          <a:rPr lang="en-US" altLang="ko-KR" i="1">
                            <a:latin typeface="Cambria Math" panose="02040503050406030204" pitchFamily="18" charset="0"/>
                          </a:rPr>
                          <m:t>𝑡</m:t>
                        </m:r>
                      </m:sub>
                    </m:sSub>
                    <m:r>
                      <a:rPr lang="en-US" altLang="ko-KR" i="1">
                        <a:latin typeface="Cambria Math" panose="02040503050406030204" pitchFamily="18" charset="0"/>
                      </a:rPr>
                      <m:t>&lt;</m:t>
                    </m:r>
                    <m:sSubSup>
                      <m:sSubSupPr>
                        <m:ctrlPr>
                          <a:rPr lang="en-US" altLang="ko-KR" i="1">
                            <a:latin typeface="Cambria Math" panose="02040503050406030204" pitchFamily="18" charset="0"/>
                          </a:rPr>
                        </m:ctrlPr>
                      </m:sSubSupPr>
                      <m:e>
                        <m:r>
                          <a:rPr lang="en-US" altLang="ko-KR" b="0" i="1" smtClean="0">
                            <a:latin typeface="Cambria Math" panose="02040503050406030204" pitchFamily="18" charset="0"/>
                          </a:rPr>
                          <m:t>𝐷</m:t>
                        </m:r>
                      </m:e>
                      <m:sub>
                        <m:r>
                          <a:rPr lang="en-US" altLang="ko-KR" i="1">
                            <a:latin typeface="Cambria Math" panose="02040503050406030204" pitchFamily="18" charset="0"/>
                          </a:rPr>
                          <m:t>𝑡</m:t>
                        </m:r>
                      </m:sub>
                      <m:sup>
                        <m:r>
                          <a:rPr lang="en-US" altLang="ko-KR" b="0" i="1" smtClean="0">
                            <a:latin typeface="Cambria Math" panose="02040503050406030204" pitchFamily="18" charset="0"/>
                          </a:rPr>
                          <m:t>𝑀</m:t>
                        </m:r>
                        <m:r>
                          <a:rPr lang="en-US" altLang="ko-KR" b="0" i="1" smtClean="0">
                            <a:latin typeface="Cambria Math" panose="02040503050406030204" pitchFamily="18" charset="0"/>
                          </a:rPr>
                          <m:t>&amp;</m:t>
                        </m:r>
                        <m:r>
                          <a:rPr lang="en-US" altLang="ko-KR" b="0" i="1" smtClean="0">
                            <a:latin typeface="Cambria Math" panose="02040503050406030204" pitchFamily="18" charset="0"/>
                          </a:rPr>
                          <m:t>𝐼</m:t>
                        </m:r>
                      </m:sup>
                    </m:sSubSup>
                  </m:oMath>
                </a14:m>
                <a:r>
                  <a:rPr lang="ko-KR" altLang="en-US" dirty="0"/>
                  <a:t> </a:t>
                </a:r>
                <a:r>
                  <a:rPr lang="en-US" altLang="ko-KR" dirty="0"/>
                  <a:t>or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𝑅</m:t>
                        </m:r>
                      </m:e>
                      <m:sub>
                        <m:r>
                          <a:rPr lang="en-US" altLang="ko-KR" i="1">
                            <a:latin typeface="Cambria Math" panose="02040503050406030204" pitchFamily="18" charset="0"/>
                          </a:rPr>
                          <m:t>𝑡</m:t>
                        </m:r>
                      </m:sub>
                    </m:sSub>
                    <m:r>
                      <a:rPr lang="en-US" altLang="ko-KR" i="1">
                        <a:latin typeface="Cambria Math" panose="02040503050406030204" pitchFamily="18" charset="0"/>
                      </a:rPr>
                      <m:t>&lt;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𝐷</m:t>
                        </m:r>
                      </m:e>
                      <m:sub>
                        <m:r>
                          <a:rPr lang="en-US" altLang="ko-KR" i="1">
                            <a:latin typeface="Cambria Math" panose="02040503050406030204" pitchFamily="18" charset="0"/>
                          </a:rPr>
                          <m:t>𝑡</m:t>
                        </m:r>
                      </m:sub>
                      <m:sup>
                        <m:r>
                          <a:rPr lang="en-US" altLang="ko-KR" b="0" i="1" smtClean="0">
                            <a:latin typeface="Cambria Math" panose="02040503050406030204" pitchFamily="18" charset="0"/>
                          </a:rPr>
                          <m:t>𝐴𝑔𝑟</m:t>
                        </m:r>
                      </m:sup>
                    </m:sSubSup>
                  </m:oMath>
                </a14:m>
                <a:r>
                  <a:rPr lang="en-US" altLang="ko-KR" dirty="0"/>
                  <a:t> </a:t>
                </a:r>
                <a:endParaRPr lang="ko-KR" altLang="en-US" dirty="0"/>
              </a:p>
            </p:txBody>
          </p:sp>
        </mc:Choice>
        <mc:Fallback xmlns="">
          <p:sp>
            <p:nvSpPr>
              <p:cNvPr id="3" name="내용 개체 틀 2">
                <a:extLst>
                  <a:ext uri="{FF2B5EF4-FFF2-40B4-BE49-F238E27FC236}">
                    <a16:creationId xmlns:a16="http://schemas.microsoft.com/office/drawing/2014/main" id="{99CE74D7-4EC8-494A-A5FA-A54D0E40FF66}"/>
                  </a:ext>
                </a:extLst>
              </p:cNvPr>
              <p:cNvSpPr>
                <a:spLocks noGrp="1" noRot="1" noChangeAspect="1" noMove="1" noResize="1" noEditPoints="1" noAdjustHandles="1" noChangeArrowheads="1" noChangeShapeType="1" noTextEdit="1"/>
              </p:cNvSpPr>
              <p:nvPr>
                <p:ph idx="1"/>
              </p:nvPr>
            </p:nvSpPr>
            <p:spPr>
              <a:xfrm>
                <a:off x="628650" y="1268760"/>
                <a:ext cx="7886700" cy="4908203"/>
              </a:xfrm>
              <a:blipFill>
                <a:blip r:embed="rId2"/>
                <a:stretch>
                  <a:fillRect l="-696"/>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1DF70CB5-B686-4188-8B89-02705F656727}"/>
              </a:ext>
            </a:extLst>
          </p:cNvPr>
          <p:cNvSpPr>
            <a:spLocks noGrp="1"/>
          </p:cNvSpPr>
          <p:nvPr>
            <p:ph type="sldNum" sz="quarter" idx="12"/>
          </p:nvPr>
        </p:nvSpPr>
        <p:spPr/>
        <p:txBody>
          <a:bodyPr/>
          <a:lstStyle/>
          <a:p>
            <a:fld id="{79822AFB-C284-4A8E-A6EE-41BAA9C576A0}" type="slidenum">
              <a:rPr lang="ko-KR" altLang="en-US" smtClean="0"/>
              <a:t>15</a:t>
            </a:fld>
            <a:endParaRPr lang="ko-KR" altLang="en-US"/>
          </a:p>
        </p:txBody>
      </p:sp>
      <p:sp>
        <p:nvSpPr>
          <p:cNvPr id="5" name="날짜 개체 틀 4">
            <a:extLst>
              <a:ext uri="{FF2B5EF4-FFF2-40B4-BE49-F238E27FC236}">
                <a16:creationId xmlns:a16="http://schemas.microsoft.com/office/drawing/2014/main" id="{2A7F3B86-7A4C-4F8F-B78E-08752C0BA47A}"/>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spTree>
    <p:extLst>
      <p:ext uri="{BB962C8B-B14F-4D97-AF65-F5344CB8AC3E}">
        <p14:creationId xmlns:p14="http://schemas.microsoft.com/office/powerpoint/2010/main" val="4232032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642801-F903-4A12-81C5-80E98039FFFC}"/>
              </a:ext>
            </a:extLst>
          </p:cNvPr>
          <p:cNvSpPr>
            <a:spLocks noGrp="1"/>
          </p:cNvSpPr>
          <p:nvPr>
            <p:ph type="title"/>
          </p:nvPr>
        </p:nvSpPr>
        <p:spPr/>
        <p:txBody>
          <a:bodyPr/>
          <a:lstStyle/>
          <a:p>
            <a:r>
              <a:rPr lang="en-US" altLang="ko-KR" dirty="0"/>
              <a:t>Results: Coupling of Real-world Policy </a:t>
            </a:r>
            <a:endParaRPr lang="ko-KR" altLang="en-US" dirty="0"/>
          </a:p>
        </p:txBody>
      </p:sp>
      <p:sp>
        <p:nvSpPr>
          <p:cNvPr id="4" name="슬라이드 번호 개체 틀 3">
            <a:extLst>
              <a:ext uri="{FF2B5EF4-FFF2-40B4-BE49-F238E27FC236}">
                <a16:creationId xmlns:a16="http://schemas.microsoft.com/office/drawing/2014/main" id="{03D03E06-6A74-4428-8BBF-D4E91CC830C7}"/>
              </a:ext>
            </a:extLst>
          </p:cNvPr>
          <p:cNvSpPr>
            <a:spLocks noGrp="1"/>
          </p:cNvSpPr>
          <p:nvPr>
            <p:ph type="sldNum" sz="quarter" idx="12"/>
          </p:nvPr>
        </p:nvSpPr>
        <p:spPr/>
        <p:txBody>
          <a:bodyPr/>
          <a:lstStyle/>
          <a:p>
            <a:fld id="{79822AFB-C284-4A8E-A6EE-41BAA9C576A0}" type="slidenum">
              <a:rPr lang="ko-KR" altLang="en-US" smtClean="0"/>
              <a:t>16</a:t>
            </a:fld>
            <a:endParaRPr lang="ko-KR" altLang="en-US"/>
          </a:p>
        </p:txBody>
      </p:sp>
      <p:sp>
        <p:nvSpPr>
          <p:cNvPr id="5" name="날짜 개체 틀 4">
            <a:extLst>
              <a:ext uri="{FF2B5EF4-FFF2-40B4-BE49-F238E27FC236}">
                <a16:creationId xmlns:a16="http://schemas.microsoft.com/office/drawing/2014/main" id="{ABCBDD3D-32B5-4DC4-9813-99B17D8DA877}"/>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그림 5">
            <a:extLst>
              <a:ext uri="{FF2B5EF4-FFF2-40B4-BE49-F238E27FC236}">
                <a16:creationId xmlns:a16="http://schemas.microsoft.com/office/drawing/2014/main" id="{D501457D-97D5-4EFE-B6B9-B62594DAA080}"/>
              </a:ext>
            </a:extLst>
          </p:cNvPr>
          <p:cNvPicPr>
            <a:picLocks noChangeAspect="1"/>
          </p:cNvPicPr>
          <p:nvPr/>
        </p:nvPicPr>
        <p:blipFill rotWithShape="1">
          <a:blip r:embed="rId2"/>
          <a:srcRect l="7515" r="7114" b="23239"/>
          <a:stretch/>
        </p:blipFill>
        <p:spPr>
          <a:xfrm>
            <a:off x="267784" y="2311036"/>
            <a:ext cx="4879454" cy="2016225"/>
          </a:xfrm>
          <a:prstGeom prst="rect">
            <a:avLst/>
          </a:prstGeom>
        </p:spPr>
      </p:pic>
      <p:pic>
        <p:nvPicPr>
          <p:cNvPr id="7" name="그림 6">
            <a:extLst>
              <a:ext uri="{FF2B5EF4-FFF2-40B4-BE49-F238E27FC236}">
                <a16:creationId xmlns:a16="http://schemas.microsoft.com/office/drawing/2014/main" id="{3230008B-482E-4D5C-8592-7DD38BBF93CC}"/>
              </a:ext>
            </a:extLst>
          </p:cNvPr>
          <p:cNvPicPr>
            <a:picLocks noChangeAspect="1"/>
          </p:cNvPicPr>
          <p:nvPr/>
        </p:nvPicPr>
        <p:blipFill rotWithShape="1">
          <a:blip r:embed="rId3"/>
          <a:srcRect l="17124" r="18660" b="20423"/>
          <a:stretch/>
        </p:blipFill>
        <p:spPr>
          <a:xfrm>
            <a:off x="5363010" y="1687941"/>
            <a:ext cx="3240360" cy="3482117"/>
          </a:xfrm>
          <a:prstGeom prst="rect">
            <a:avLst/>
          </a:prstGeom>
        </p:spPr>
      </p:pic>
      <p:sp>
        <p:nvSpPr>
          <p:cNvPr id="8" name="TextBox 7">
            <a:extLst>
              <a:ext uri="{FF2B5EF4-FFF2-40B4-BE49-F238E27FC236}">
                <a16:creationId xmlns:a16="http://schemas.microsoft.com/office/drawing/2014/main" id="{C88E677F-5F2A-43DC-9715-7657C5C66813}"/>
              </a:ext>
            </a:extLst>
          </p:cNvPr>
          <p:cNvSpPr txBox="1"/>
          <p:nvPr/>
        </p:nvSpPr>
        <p:spPr>
          <a:xfrm>
            <a:off x="5507026" y="5204856"/>
            <a:ext cx="3168352" cy="1015663"/>
          </a:xfrm>
          <a:prstGeom prst="rect">
            <a:avLst/>
          </a:prstGeom>
          <a:noFill/>
        </p:spPr>
        <p:txBody>
          <a:bodyPr wrap="square" rtlCol="0">
            <a:spAutoFit/>
          </a:bodyPr>
          <a:lstStyle/>
          <a:p>
            <a:pPr algn="ctr"/>
            <a:r>
              <a:rPr lang="en-US" altLang="ko-KR" sz="1200" dirty="0">
                <a:latin typeface="Gill Sans MT" panose="020B0502020104020203" pitchFamily="34" charset="0"/>
                <a:cs typeface="Helvetica" panose="020B0604020202020204" pitchFamily="34" charset="0"/>
              </a:rPr>
              <a:t>Fig. 11. Performance indices measured from the demand side: (a) risk of water for A uses, (b) vulnerability of water for A uses, (c) risk of water for M&amp;I uses, (d) vulnerability of water for M&amp;I uses,</a:t>
            </a:r>
            <a:endParaRPr lang="ko-KR" altLang="en-US" sz="1200" dirty="0">
              <a:latin typeface="Gill Sans MT" panose="020B0502020104020203" pitchFamily="34" charset="0"/>
              <a:cs typeface="Helvetica" panose="020B0604020202020204" pitchFamily="34" charset="0"/>
            </a:endParaRPr>
          </a:p>
        </p:txBody>
      </p:sp>
      <p:sp>
        <p:nvSpPr>
          <p:cNvPr id="9" name="TextBox 8">
            <a:extLst>
              <a:ext uri="{FF2B5EF4-FFF2-40B4-BE49-F238E27FC236}">
                <a16:creationId xmlns:a16="http://schemas.microsoft.com/office/drawing/2014/main" id="{A0C0FEF4-0AF0-43C1-90B8-7D35D707B686}"/>
              </a:ext>
            </a:extLst>
          </p:cNvPr>
          <p:cNvSpPr txBox="1"/>
          <p:nvPr/>
        </p:nvSpPr>
        <p:spPr>
          <a:xfrm>
            <a:off x="823855" y="4327261"/>
            <a:ext cx="3767312" cy="461665"/>
          </a:xfrm>
          <a:prstGeom prst="rect">
            <a:avLst/>
          </a:prstGeom>
          <a:noFill/>
        </p:spPr>
        <p:txBody>
          <a:bodyPr wrap="square" rtlCol="0">
            <a:spAutoFit/>
          </a:bodyPr>
          <a:lstStyle/>
          <a:p>
            <a:pPr algn="ctr"/>
            <a:r>
              <a:rPr lang="en-US" altLang="ko-KR" sz="1200" dirty="0">
                <a:latin typeface="Gill Sans MT" panose="020B0502020104020203" pitchFamily="34" charset="0"/>
                <a:cs typeface="Helvetica" panose="020B0604020202020204" pitchFamily="34" charset="0"/>
              </a:rPr>
              <a:t>Fig. 10. Performance indices measured from the supply side: (a) risk, (b) resiliency, and (c) vulnerability</a:t>
            </a:r>
            <a:endParaRPr lang="ko-KR" altLang="en-US" sz="1200" dirty="0">
              <a:latin typeface="Gill Sans MT" panose="020B0502020104020203" pitchFamily="34" charset="0"/>
              <a:cs typeface="Helvetica" panose="020B0604020202020204" pitchFamily="34" charset="0"/>
            </a:endParaRPr>
          </a:p>
        </p:txBody>
      </p:sp>
      <p:sp>
        <p:nvSpPr>
          <p:cNvPr id="3" name="TextBox 2">
            <a:extLst>
              <a:ext uri="{FF2B5EF4-FFF2-40B4-BE49-F238E27FC236}">
                <a16:creationId xmlns:a16="http://schemas.microsoft.com/office/drawing/2014/main" id="{733E9D9F-5972-44F7-A558-A727AB5622ED}"/>
              </a:ext>
            </a:extLst>
          </p:cNvPr>
          <p:cNvSpPr txBox="1"/>
          <p:nvPr/>
        </p:nvSpPr>
        <p:spPr>
          <a:xfrm>
            <a:off x="6947851" y="1318609"/>
            <a:ext cx="1835952" cy="369332"/>
          </a:xfrm>
          <a:prstGeom prst="rect">
            <a:avLst/>
          </a:prstGeom>
          <a:noFill/>
        </p:spPr>
        <p:txBody>
          <a:bodyPr wrap="none" rtlCol="0">
            <a:spAutoFit/>
          </a:bodyPr>
          <a:lstStyle/>
          <a:p>
            <a:r>
              <a:rPr lang="en-US" altLang="ko-KR" b="1" dirty="0">
                <a:solidFill>
                  <a:srgbClr val="FF0000"/>
                </a:solidFill>
                <a:latin typeface="Gill Sans MT" panose="020B0502020104020203" pitchFamily="34" charset="0"/>
              </a:rPr>
              <a:t>*Risk Aversion*</a:t>
            </a:r>
            <a:endParaRPr lang="ko-KR" altLang="en-US" b="1" dirty="0">
              <a:solidFill>
                <a:srgbClr val="FF0000"/>
              </a:solidFill>
              <a:latin typeface="Gill Sans MT" panose="020B0502020104020203" pitchFamily="34" charset="0"/>
            </a:endParaRPr>
          </a:p>
        </p:txBody>
      </p:sp>
      <p:sp>
        <p:nvSpPr>
          <p:cNvPr id="10" name="직사각형 9">
            <a:extLst>
              <a:ext uri="{FF2B5EF4-FFF2-40B4-BE49-F238E27FC236}">
                <a16:creationId xmlns:a16="http://schemas.microsoft.com/office/drawing/2014/main" id="{31AA6500-1C3E-4171-8CDC-CC2A2A4D0893}"/>
              </a:ext>
            </a:extLst>
          </p:cNvPr>
          <p:cNvSpPr/>
          <p:nvPr/>
        </p:nvSpPr>
        <p:spPr>
          <a:xfrm>
            <a:off x="6983190" y="1687941"/>
            <a:ext cx="1765274" cy="303720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645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658587-39D5-4763-BDE8-E6FA4A65D1E9}"/>
              </a:ext>
            </a:extLst>
          </p:cNvPr>
          <p:cNvSpPr>
            <a:spLocks noGrp="1"/>
          </p:cNvSpPr>
          <p:nvPr>
            <p:ph type="title"/>
          </p:nvPr>
        </p:nvSpPr>
        <p:spPr/>
        <p:txBody>
          <a:bodyPr/>
          <a:lstStyle/>
          <a:p>
            <a:r>
              <a:rPr lang="en-US" altLang="ko-KR" dirty="0"/>
              <a:t>Conclusion: Take-home Messages</a:t>
            </a:r>
            <a:endParaRPr lang="ko-KR" altLang="en-US" dirty="0"/>
          </a:p>
        </p:txBody>
      </p:sp>
      <p:sp>
        <p:nvSpPr>
          <p:cNvPr id="3" name="내용 개체 틀 2">
            <a:extLst>
              <a:ext uri="{FF2B5EF4-FFF2-40B4-BE49-F238E27FC236}">
                <a16:creationId xmlns:a16="http://schemas.microsoft.com/office/drawing/2014/main" id="{C36FA7BD-4A5B-4BB0-8FFE-E85CEDD358D2}"/>
              </a:ext>
            </a:extLst>
          </p:cNvPr>
          <p:cNvSpPr>
            <a:spLocks noGrp="1"/>
          </p:cNvSpPr>
          <p:nvPr>
            <p:ph idx="1"/>
          </p:nvPr>
        </p:nvSpPr>
        <p:spPr/>
        <p:txBody>
          <a:bodyPr/>
          <a:lstStyle/>
          <a:p>
            <a:r>
              <a:rPr lang="en-US" altLang="ko-KR" dirty="0"/>
              <a:t> Under normal conditions, solutions from optimization models surpassed the results from actual operations </a:t>
            </a:r>
          </a:p>
          <a:p>
            <a:pPr lvl="1"/>
            <a:r>
              <a:rPr lang="en-US" altLang="ko-KR" dirty="0"/>
              <a:t> There are definitely potential room for improvements with the introduction of optimization models!</a:t>
            </a:r>
          </a:p>
          <a:p>
            <a:pPr lvl="1"/>
            <a:endParaRPr lang="en-US" altLang="ko-KR" dirty="0"/>
          </a:p>
          <a:p>
            <a:r>
              <a:rPr lang="en-US" altLang="ko-KR" dirty="0"/>
              <a:t> Among the optimization models, solutions from the EMODPS models dominated those from the DP models both in terms of proximity to the ideal point and the variety of solutions across the Pareto front</a:t>
            </a:r>
          </a:p>
          <a:p>
            <a:pPr lvl="1"/>
            <a:endParaRPr lang="en-US" altLang="ko-KR" dirty="0"/>
          </a:p>
          <a:p>
            <a:r>
              <a:rPr lang="en-US" altLang="ko-KR" dirty="0"/>
              <a:t> Coupling of zone-based hedging rule with the solutions from the optimization models resulted in outcomes favorable to risk-averse real-world water users (may hold promise)</a:t>
            </a:r>
            <a:endParaRPr lang="ko-KR" altLang="en-US" dirty="0"/>
          </a:p>
        </p:txBody>
      </p:sp>
      <p:sp>
        <p:nvSpPr>
          <p:cNvPr id="4" name="슬라이드 번호 개체 틀 3">
            <a:extLst>
              <a:ext uri="{FF2B5EF4-FFF2-40B4-BE49-F238E27FC236}">
                <a16:creationId xmlns:a16="http://schemas.microsoft.com/office/drawing/2014/main" id="{20D64689-47FE-40B1-8D07-659FD08F693B}"/>
              </a:ext>
            </a:extLst>
          </p:cNvPr>
          <p:cNvSpPr>
            <a:spLocks noGrp="1"/>
          </p:cNvSpPr>
          <p:nvPr>
            <p:ph type="sldNum" sz="quarter" idx="12"/>
          </p:nvPr>
        </p:nvSpPr>
        <p:spPr/>
        <p:txBody>
          <a:bodyPr/>
          <a:lstStyle/>
          <a:p>
            <a:fld id="{79822AFB-C284-4A8E-A6EE-41BAA9C576A0}" type="slidenum">
              <a:rPr lang="ko-KR" altLang="en-US" smtClean="0"/>
              <a:t>17</a:t>
            </a:fld>
            <a:endParaRPr lang="ko-KR" altLang="en-US"/>
          </a:p>
        </p:txBody>
      </p:sp>
      <p:sp>
        <p:nvSpPr>
          <p:cNvPr id="5" name="날짜 개체 틀 4">
            <a:extLst>
              <a:ext uri="{FF2B5EF4-FFF2-40B4-BE49-F238E27FC236}">
                <a16:creationId xmlns:a16="http://schemas.microsoft.com/office/drawing/2014/main" id="{A378FAFA-AA5A-4975-9A71-CB7AE3FCAADF}"/>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spTree>
    <p:extLst>
      <p:ext uri="{BB962C8B-B14F-4D97-AF65-F5344CB8AC3E}">
        <p14:creationId xmlns:p14="http://schemas.microsoft.com/office/powerpoint/2010/main" val="963914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00814196-D2C6-4489-91D3-A21FC87D1304}"/>
              </a:ext>
            </a:extLst>
          </p:cNvPr>
          <p:cNvSpPr>
            <a:spLocks noGrp="1"/>
          </p:cNvSpPr>
          <p:nvPr>
            <p:ph type="title"/>
          </p:nvPr>
        </p:nvSpPr>
        <p:spPr/>
        <p:txBody>
          <a:bodyPr/>
          <a:lstStyle/>
          <a:p>
            <a:r>
              <a:rPr lang="en-US" altLang="ko-KR" dirty="0"/>
              <a:t>Related Publication</a:t>
            </a:r>
            <a:endParaRPr lang="ko-KR" altLang="en-US" dirty="0"/>
          </a:p>
        </p:txBody>
      </p:sp>
      <p:sp>
        <p:nvSpPr>
          <p:cNvPr id="3" name="내용 개체 틀 2">
            <a:extLst>
              <a:ext uri="{FF2B5EF4-FFF2-40B4-BE49-F238E27FC236}">
                <a16:creationId xmlns:a16="http://schemas.microsoft.com/office/drawing/2014/main" id="{83860319-1529-4C5D-A3AB-DCFB232C6018}"/>
              </a:ext>
            </a:extLst>
          </p:cNvPr>
          <p:cNvSpPr>
            <a:spLocks noGrp="1"/>
          </p:cNvSpPr>
          <p:nvPr>
            <p:ph idx="1"/>
          </p:nvPr>
        </p:nvSpPr>
        <p:spPr/>
        <p:txBody>
          <a:bodyPr/>
          <a:lstStyle/>
          <a:p>
            <a:pPr marL="0" indent="0">
              <a:buNone/>
            </a:pPr>
            <a:r>
              <a:rPr lang="en-US" altLang="ko-KR" dirty="0"/>
              <a:t>For More… </a:t>
            </a:r>
          </a:p>
          <a:p>
            <a:r>
              <a:rPr lang="en-US" altLang="ko-KR" sz="1800" u="sng" dirty="0"/>
              <a:t>Kim, G. J.</a:t>
            </a:r>
            <a:r>
              <a:rPr lang="en-US" altLang="ko-KR" sz="1800" dirty="0"/>
              <a:t> and Kim, Y.-O.* “How does the coupling of real-world policies with optimization models expand the practicality of solutions in reservoir operation problems?” </a:t>
            </a:r>
            <a:r>
              <a:rPr lang="en-US" altLang="ko-KR" sz="1800" i="1" dirty="0"/>
              <a:t>Water Resources Management.</a:t>
            </a:r>
            <a:r>
              <a:rPr lang="en-US" altLang="ko-KR" sz="1800" dirty="0"/>
              <a:t> (in</a:t>
            </a:r>
            <a:r>
              <a:rPr lang="ko-KR" altLang="en-US" sz="1800" dirty="0"/>
              <a:t> </a:t>
            </a:r>
            <a:r>
              <a:rPr lang="en-US" altLang="ko-KR" sz="1800" dirty="0"/>
              <a:t>press)</a:t>
            </a:r>
            <a:endParaRPr lang="ko-KR" altLang="en-US" sz="1800" dirty="0"/>
          </a:p>
        </p:txBody>
      </p:sp>
      <p:sp>
        <p:nvSpPr>
          <p:cNvPr id="4" name="슬라이드 번호 개체 틀 3">
            <a:extLst>
              <a:ext uri="{FF2B5EF4-FFF2-40B4-BE49-F238E27FC236}">
                <a16:creationId xmlns:a16="http://schemas.microsoft.com/office/drawing/2014/main" id="{84D43E71-C495-4CDE-8EBB-0DC37626CBD1}"/>
              </a:ext>
            </a:extLst>
          </p:cNvPr>
          <p:cNvSpPr>
            <a:spLocks noGrp="1"/>
          </p:cNvSpPr>
          <p:nvPr>
            <p:ph type="sldNum" sz="quarter" idx="12"/>
          </p:nvPr>
        </p:nvSpPr>
        <p:spPr/>
        <p:txBody>
          <a:bodyPr/>
          <a:lstStyle/>
          <a:p>
            <a:fld id="{79822AFB-C284-4A8E-A6EE-41BAA9C576A0}" type="slidenum">
              <a:rPr lang="ko-KR" altLang="en-US" smtClean="0"/>
              <a:t>18</a:t>
            </a:fld>
            <a:endParaRPr lang="ko-KR" altLang="en-US"/>
          </a:p>
        </p:txBody>
      </p:sp>
      <p:sp>
        <p:nvSpPr>
          <p:cNvPr id="5" name="날짜 개체 틀 4">
            <a:extLst>
              <a:ext uri="{FF2B5EF4-FFF2-40B4-BE49-F238E27FC236}">
                <a16:creationId xmlns:a16="http://schemas.microsoft.com/office/drawing/2014/main" id="{41C88BDD-66BD-4B84-87D3-3ADEFFED4D18}"/>
              </a:ext>
            </a:extLst>
          </p:cNvPr>
          <p:cNvSpPr>
            <a:spLocks noGrp="1"/>
          </p:cNvSpPr>
          <p:nvPr>
            <p:ph type="dt" sz="half" idx="2"/>
          </p:nvPr>
        </p:nvSpPr>
        <p:spPr/>
        <p:txBody>
          <a:bodyPr/>
          <a:lstStyle/>
          <a:p>
            <a:fld id="{ACE8CD8D-67D3-4251-B7D9-12E9DB56539A}" type="datetime1">
              <a:rPr lang="ko-KR" altLang="en-US" smtClean="0"/>
              <a:t>2022-06-23</a:t>
            </a:fld>
            <a:endParaRPr lang="ko-KR" altLang="en-US" dirty="0"/>
          </a:p>
        </p:txBody>
      </p:sp>
      <p:pic>
        <p:nvPicPr>
          <p:cNvPr id="2" name="그림 1">
            <a:extLst>
              <a:ext uri="{FF2B5EF4-FFF2-40B4-BE49-F238E27FC236}">
                <a16:creationId xmlns:a16="http://schemas.microsoft.com/office/drawing/2014/main" id="{22872EFF-201C-468C-B035-58E28F5F8CEA}"/>
              </a:ext>
            </a:extLst>
          </p:cNvPr>
          <p:cNvPicPr>
            <a:picLocks noChangeAspect="1"/>
          </p:cNvPicPr>
          <p:nvPr/>
        </p:nvPicPr>
        <p:blipFill>
          <a:blip r:embed="rId2"/>
          <a:stretch>
            <a:fillRect/>
          </a:stretch>
        </p:blipFill>
        <p:spPr>
          <a:xfrm>
            <a:off x="1688988" y="3284984"/>
            <a:ext cx="5766023" cy="2680968"/>
          </a:xfrm>
          <a:prstGeom prst="rect">
            <a:avLst/>
          </a:prstGeom>
          <a:ln>
            <a:solidFill>
              <a:schemeClr val="tx1"/>
            </a:solidFill>
          </a:ln>
        </p:spPr>
      </p:pic>
    </p:spTree>
    <p:extLst>
      <p:ext uri="{BB962C8B-B14F-4D97-AF65-F5344CB8AC3E}">
        <p14:creationId xmlns:p14="http://schemas.microsoft.com/office/powerpoint/2010/main" val="730772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F36EF18A-8E7E-489D-B7B2-1B5D2330C5A5}"/>
              </a:ext>
            </a:extLst>
          </p:cNvPr>
          <p:cNvSpPr>
            <a:spLocks noGrp="1"/>
          </p:cNvSpPr>
          <p:nvPr>
            <p:ph type="sldNum" sz="quarter" idx="12"/>
          </p:nvPr>
        </p:nvSpPr>
        <p:spPr/>
        <p:txBody>
          <a:bodyPr/>
          <a:lstStyle/>
          <a:p>
            <a:fld id="{79822AFB-C284-4A8E-A6EE-41BAA9C576A0}" type="slidenum">
              <a:rPr lang="ko-KR" altLang="en-US" smtClean="0"/>
              <a:pPr/>
              <a:t>19</a:t>
            </a:fld>
            <a:endParaRPr lang="ko-KR" altLang="en-US"/>
          </a:p>
        </p:txBody>
      </p:sp>
      <p:sp>
        <p:nvSpPr>
          <p:cNvPr id="5" name="날짜 개체 틀 4">
            <a:extLst>
              <a:ext uri="{FF2B5EF4-FFF2-40B4-BE49-F238E27FC236}">
                <a16:creationId xmlns:a16="http://schemas.microsoft.com/office/drawing/2014/main" id="{326834B4-5154-4407-BC6D-2C9F3E2B7E1F}"/>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15" name="그림 14">
            <a:extLst>
              <a:ext uri="{FF2B5EF4-FFF2-40B4-BE49-F238E27FC236}">
                <a16:creationId xmlns:a16="http://schemas.microsoft.com/office/drawing/2014/main" id="{F2459183-A2AA-465B-85B3-CAAE17BEF751}"/>
              </a:ext>
            </a:extLst>
          </p:cNvPr>
          <p:cNvPicPr>
            <a:picLocks noChangeAspect="1"/>
          </p:cNvPicPr>
          <p:nvPr/>
        </p:nvPicPr>
        <p:blipFill>
          <a:blip r:embed="rId2"/>
          <a:stretch>
            <a:fillRect/>
          </a:stretch>
        </p:blipFill>
        <p:spPr>
          <a:xfrm>
            <a:off x="210444" y="409548"/>
            <a:ext cx="8723112" cy="5818701"/>
          </a:xfrm>
          <a:prstGeom prst="rect">
            <a:avLst/>
          </a:prstGeom>
        </p:spPr>
      </p:pic>
      <p:sp>
        <p:nvSpPr>
          <p:cNvPr id="16" name="TextBox 15">
            <a:extLst>
              <a:ext uri="{FF2B5EF4-FFF2-40B4-BE49-F238E27FC236}">
                <a16:creationId xmlns:a16="http://schemas.microsoft.com/office/drawing/2014/main" id="{880BB3F3-F067-4D03-95DA-95D31C530AAA}"/>
              </a:ext>
            </a:extLst>
          </p:cNvPr>
          <p:cNvSpPr txBox="1"/>
          <p:nvPr/>
        </p:nvSpPr>
        <p:spPr>
          <a:xfrm>
            <a:off x="6880466" y="5906205"/>
            <a:ext cx="2263534" cy="276999"/>
          </a:xfrm>
          <a:prstGeom prst="rect">
            <a:avLst/>
          </a:prstGeom>
          <a:noFill/>
        </p:spPr>
        <p:txBody>
          <a:bodyPr wrap="square" rtlCol="0">
            <a:spAutoFit/>
          </a:bodyPr>
          <a:lstStyle/>
          <a:p>
            <a:pPr algn="ctr"/>
            <a:r>
              <a:rPr lang="en-US" altLang="ko-KR" sz="1200" dirty="0">
                <a:solidFill>
                  <a:schemeClr val="bg1"/>
                </a:solidFill>
                <a:latin typeface="Arial" panose="020B0604020202020204" pitchFamily="34" charset="0"/>
                <a:ea typeface="08서울남산체 M" panose="02020603020101020101" pitchFamily="18" charset="-127"/>
                <a:cs typeface="Arial" panose="020B0604020202020204" pitchFamily="34" charset="0"/>
              </a:rPr>
              <a:t>(</a:t>
            </a:r>
            <a:r>
              <a:rPr lang="en-US" altLang="ko-KR" sz="1200" dirty="0" err="1">
                <a:solidFill>
                  <a:schemeClr val="bg1"/>
                </a:solidFill>
                <a:latin typeface="Arial" panose="020B0604020202020204" pitchFamily="34" charset="0"/>
                <a:ea typeface="08서울남산체 M" panose="02020603020101020101" pitchFamily="18" charset="-127"/>
                <a:cs typeface="Arial" panose="020B0604020202020204" pitchFamily="34" charset="0"/>
              </a:rPr>
              <a:t>Boryeong-si</a:t>
            </a:r>
            <a:r>
              <a:rPr lang="en-US" altLang="ko-KR" sz="1200" dirty="0">
                <a:solidFill>
                  <a:schemeClr val="bg1"/>
                </a:solidFill>
                <a:latin typeface="Arial" panose="020B0604020202020204" pitchFamily="34" charset="0"/>
                <a:ea typeface="08서울남산체 M" panose="02020603020101020101" pitchFamily="18" charset="-127"/>
                <a:cs typeface="Arial" panose="020B0604020202020204" pitchFamily="34" charset="0"/>
              </a:rPr>
              <a:t>, 2020.05.)</a:t>
            </a:r>
            <a:endParaRPr lang="ko-KR" altLang="en-US" sz="1200" dirty="0">
              <a:solidFill>
                <a:schemeClr val="bg1"/>
              </a:solidFill>
              <a:latin typeface="Arial" panose="020B0604020202020204" pitchFamily="34" charset="0"/>
              <a:ea typeface="08서울남산체 M" panose="02020603020101020101" pitchFamily="18" charset="-127"/>
              <a:cs typeface="Arial" panose="020B0604020202020204" pitchFamily="34" charset="0"/>
            </a:endParaRPr>
          </a:p>
        </p:txBody>
      </p:sp>
      <p:sp>
        <p:nvSpPr>
          <p:cNvPr id="17" name="직사각형 16">
            <a:extLst>
              <a:ext uri="{FF2B5EF4-FFF2-40B4-BE49-F238E27FC236}">
                <a16:creationId xmlns:a16="http://schemas.microsoft.com/office/drawing/2014/main" id="{92E940DB-F54A-4953-8E59-049DCB7C5DF7}"/>
              </a:ext>
            </a:extLst>
          </p:cNvPr>
          <p:cNvSpPr/>
          <p:nvPr/>
        </p:nvSpPr>
        <p:spPr>
          <a:xfrm>
            <a:off x="2924177" y="1196752"/>
            <a:ext cx="3295646" cy="923330"/>
          </a:xfrm>
          <a:prstGeom prst="rect">
            <a:avLst/>
          </a:prstGeom>
          <a:noFill/>
        </p:spPr>
        <p:txBody>
          <a:bodyPr wrap="none" lIns="91440" tIns="45720" rIns="91440" bIns="45720">
            <a:spAutoFit/>
          </a:bodyPr>
          <a:lstStyle/>
          <a:p>
            <a:pPr algn="ctr"/>
            <a:r>
              <a:rPr lang="en-US" altLang="ko-KR" sz="5400" b="0" cap="none" spc="0" dirty="0">
                <a:ln w="0"/>
                <a:solidFill>
                  <a:schemeClr val="tx1"/>
                </a:solidFill>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342125704"/>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20873</TotalTime>
  <Words>1510</Words>
  <Application>Microsoft Office PowerPoint</Application>
  <PresentationFormat>화면 슬라이드 쇼(4:3)</PresentationFormat>
  <Paragraphs>177</Paragraphs>
  <Slides>19</Slides>
  <Notes>2</Notes>
  <HiddenSlides>0</HiddenSlides>
  <MMClips>0</MMClips>
  <ScaleCrop>false</ScaleCrop>
  <HeadingPairs>
    <vt:vector size="8" baseType="variant">
      <vt:variant>
        <vt:lpstr>사용한 글꼴</vt:lpstr>
      </vt:variant>
      <vt:variant>
        <vt:i4>10</vt:i4>
      </vt:variant>
      <vt:variant>
        <vt:lpstr>테마</vt:lpstr>
      </vt:variant>
      <vt:variant>
        <vt:i4>1</vt:i4>
      </vt:variant>
      <vt:variant>
        <vt:lpstr>포함된 OLE 서버</vt:lpstr>
      </vt:variant>
      <vt:variant>
        <vt:i4>1</vt:i4>
      </vt:variant>
      <vt:variant>
        <vt:lpstr>슬라이드 제목</vt:lpstr>
      </vt:variant>
      <vt:variant>
        <vt:i4>19</vt:i4>
      </vt:variant>
    </vt:vector>
  </HeadingPairs>
  <TitlesOfParts>
    <vt:vector size="31" baseType="lpstr">
      <vt:lpstr>08서울남산체 M</vt:lpstr>
      <vt:lpstr>나눔고딕 ExtraBold</vt:lpstr>
      <vt:lpstr>나눔고딕 Light</vt:lpstr>
      <vt:lpstr>맑은 고딕</vt:lpstr>
      <vt:lpstr>Arial</vt:lpstr>
      <vt:lpstr>Calibri</vt:lpstr>
      <vt:lpstr>Cambria Math</vt:lpstr>
      <vt:lpstr>Gill Sans MT</vt:lpstr>
      <vt:lpstr>Helvetica</vt:lpstr>
      <vt:lpstr>Wingdings</vt:lpstr>
      <vt:lpstr>Office 테마</vt:lpstr>
      <vt:lpstr>Equation</vt:lpstr>
      <vt:lpstr>Comparative Analysis of Optimization Algorithms and the Effects of Coupling Hedging Rules in Reservoir Operations</vt:lpstr>
      <vt:lpstr>Recent multi-year droughts in Korea</vt:lpstr>
      <vt:lpstr>Real-world policy in Reservoir Operations</vt:lpstr>
      <vt:lpstr>Key Research Questions</vt:lpstr>
      <vt:lpstr>Flow Chart of Overall Research</vt:lpstr>
      <vt:lpstr>Optimization Techniques for RO</vt:lpstr>
      <vt:lpstr>Case Study: Boryeong Multipurpose Reservoir</vt:lpstr>
      <vt:lpstr>Case Study: Boryeong Multipurpose Reservoir</vt:lpstr>
      <vt:lpstr>Problem Formulation: Objectives</vt:lpstr>
      <vt:lpstr>Problem Formulation: Optimization Models</vt:lpstr>
      <vt:lpstr>Problem Formulation: Simulation</vt:lpstr>
      <vt:lpstr>Results: Comparison among Models </vt:lpstr>
      <vt:lpstr>Results: Comparison among Models </vt:lpstr>
      <vt:lpstr>Results: Coupling of Real-world Policy </vt:lpstr>
      <vt:lpstr>Results: Coupling of Real-world Policy </vt:lpstr>
      <vt:lpstr>Results: Coupling of Real-world Policy </vt:lpstr>
      <vt:lpstr>Conclusion: Take-home Messages</vt:lpstr>
      <vt:lpstr>Related Publication</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Kim Gi Joo</dc:creator>
  <cp:lastModifiedBy> </cp:lastModifiedBy>
  <cp:revision>693</cp:revision>
  <cp:lastPrinted>2021-05-27T04:28:47Z</cp:lastPrinted>
  <dcterms:created xsi:type="dcterms:W3CDTF">2020-01-02T02:18:47Z</dcterms:created>
  <dcterms:modified xsi:type="dcterms:W3CDTF">2022-06-23T02:10:57Z</dcterms:modified>
</cp:coreProperties>
</file>