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63" r:id="rId2"/>
    <p:sldId id="258" r:id="rId3"/>
    <p:sldId id="271" r:id="rId4"/>
    <p:sldId id="272" r:id="rId5"/>
    <p:sldId id="273" r:id="rId6"/>
    <p:sldId id="276" r:id="rId7"/>
    <p:sldId id="275" r:id="rId8"/>
    <p:sldId id="277" r:id="rId9"/>
    <p:sldId id="278" r:id="rId10"/>
    <p:sldId id="279" r:id="rId11"/>
    <p:sldId id="260" r:id="rId12"/>
    <p:sldId id="261" r:id="rId13"/>
    <p:sldId id="280" r:id="rId14"/>
    <p:sldId id="281" r:id="rId15"/>
    <p:sldId id="264" r:id="rId16"/>
    <p:sldId id="265" r:id="rId17"/>
    <p:sldId id="266" r:id="rId18"/>
    <p:sldId id="267" r:id="rId19"/>
    <p:sldId id="268" r:id="rId20"/>
    <p:sldId id="274" r:id="rId21"/>
    <p:sldId id="282" r:id="rId22"/>
    <p:sldId id="283" r:id="rId23"/>
    <p:sldId id="284" r:id="rId24"/>
    <p:sldId id="259" r:id="rId25"/>
    <p:sldId id="269" r:id="rId26"/>
    <p:sldId id="270" r:id="rId27"/>
  </p:sldIdLst>
  <p:sldSz cx="9144000" cy="6858000" type="screen4x3"/>
  <p:notesSz cx="6735763" cy="98663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7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50" autoAdjust="0"/>
    <p:restoredTop sz="85129" autoAdjust="0"/>
  </p:normalViewPr>
  <p:slideViewPr>
    <p:cSldViewPr>
      <p:cViewPr varScale="1">
        <p:scale>
          <a:sx n="94" d="100"/>
          <a:sy n="94" d="100"/>
        </p:scale>
        <p:origin x="183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53685;&#54633;%20&#47928;&#49436;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scatterChart>
        <c:scatterStyle val="lineMarker"/>
        <c:varyColors val="0"/>
        <c:ser>
          <c:idx val="0"/>
          <c:order val="0"/>
          <c:tx>
            <c:strRef>
              <c:f>Sheet1!$C$4</c:f>
              <c:strCache>
                <c:ptCount val="1"/>
                <c:pt idx="0">
                  <c:v>For Design (1967-1988)</c:v>
                </c:pt>
              </c:strCache>
            </c:strRef>
          </c:tx>
          <c:spPr>
            <a:ln w="19050" cap="rnd">
              <a:solidFill>
                <a:schemeClr val="dk1">
                  <a:tint val="88500"/>
                </a:schemeClr>
              </a:solidFill>
              <a:prstDash val="lgDash"/>
              <a:round/>
            </a:ln>
            <a:effectLst/>
          </c:spPr>
          <c:marker>
            <c:symbol val="circle"/>
            <c:size val="5"/>
            <c:spPr>
              <a:solidFill>
                <a:schemeClr val="dk1">
                  <a:tint val="88500"/>
                </a:schemeClr>
              </a:solidFill>
              <a:ln w="9525">
                <a:solidFill>
                  <a:schemeClr val="dk1">
                    <a:tint val="88500"/>
                  </a:schemeClr>
                </a:solidFill>
                <a:prstDash val="lgDash"/>
              </a:ln>
              <a:effectLst/>
            </c:spPr>
          </c:marker>
          <c:xVal>
            <c:strRef>
              <c:f>Sheet1!$B$5:$B$16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xVal>
          <c:yVal>
            <c:numRef>
              <c:f>Sheet1!$C$5:$C$16</c:f>
              <c:numCache>
                <c:formatCode>General</c:formatCode>
                <c:ptCount val="12"/>
                <c:pt idx="0">
                  <c:v>1.42</c:v>
                </c:pt>
                <c:pt idx="1">
                  <c:v>1.99</c:v>
                </c:pt>
                <c:pt idx="2">
                  <c:v>2.79</c:v>
                </c:pt>
                <c:pt idx="3">
                  <c:v>3.81</c:v>
                </c:pt>
                <c:pt idx="4">
                  <c:v>2.58</c:v>
                </c:pt>
                <c:pt idx="5">
                  <c:v>3.68</c:v>
                </c:pt>
                <c:pt idx="6">
                  <c:v>10.87</c:v>
                </c:pt>
                <c:pt idx="7">
                  <c:v>8.7200000000000006</c:v>
                </c:pt>
                <c:pt idx="8">
                  <c:v>5.8</c:v>
                </c:pt>
                <c:pt idx="9">
                  <c:v>2.1</c:v>
                </c:pt>
                <c:pt idx="10">
                  <c:v>2.0299999999999998</c:v>
                </c:pt>
                <c:pt idx="11">
                  <c:v>1.78</c:v>
                </c:pt>
              </c:numCache>
            </c:numRef>
          </c:yVal>
          <c:smooth val="0"/>
          <c:extLst>
            <c:ext xmlns:c16="http://schemas.microsoft.com/office/drawing/2014/chart" uri="{C3380CC4-5D6E-409C-BE32-E72D297353CC}">
              <c16:uniqueId val="{00000000-8FEE-482C-BE10-3921362A6AF3}"/>
            </c:ext>
          </c:extLst>
        </c:ser>
        <c:ser>
          <c:idx val="1"/>
          <c:order val="1"/>
          <c:tx>
            <c:strRef>
              <c:f>Sheet1!$D$4</c:f>
              <c:strCache>
                <c:ptCount val="1"/>
                <c:pt idx="0">
                  <c:v>After Construction (1998-2015)</c:v>
                </c:pt>
              </c:strCache>
            </c:strRef>
          </c:tx>
          <c:spPr>
            <a:ln w="19050" cap="rnd">
              <a:solidFill>
                <a:schemeClr val="bg2">
                  <a:lumMod val="50000"/>
                  <a:alpha val="99000"/>
                </a:schemeClr>
              </a:solidFill>
              <a:prstDash val="sysDot"/>
              <a:round/>
            </a:ln>
            <a:effectLst/>
          </c:spPr>
          <c:marker>
            <c:symbol val="circle"/>
            <c:size val="5"/>
            <c:spPr>
              <a:solidFill>
                <a:schemeClr val="bg2">
                  <a:lumMod val="50000"/>
                </a:schemeClr>
              </a:solidFill>
              <a:ln w="9525">
                <a:solidFill>
                  <a:schemeClr val="bg2">
                    <a:lumMod val="50000"/>
                  </a:schemeClr>
                </a:solidFill>
                <a:prstDash val="sysDot"/>
              </a:ln>
              <a:effectLst/>
            </c:spPr>
          </c:marker>
          <c:xVal>
            <c:strRef>
              <c:f>Sheet1!$B$5:$B$16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xVal>
          <c:yVal>
            <c:numRef>
              <c:f>Sheet1!$D$5:$D$16</c:f>
              <c:numCache>
                <c:formatCode>General</c:formatCode>
                <c:ptCount val="12"/>
                <c:pt idx="0">
                  <c:v>0.63</c:v>
                </c:pt>
                <c:pt idx="1">
                  <c:v>0.98</c:v>
                </c:pt>
                <c:pt idx="2">
                  <c:v>1.07</c:v>
                </c:pt>
                <c:pt idx="3">
                  <c:v>2.21</c:v>
                </c:pt>
                <c:pt idx="4">
                  <c:v>2.92</c:v>
                </c:pt>
                <c:pt idx="5">
                  <c:v>3.83</c:v>
                </c:pt>
                <c:pt idx="6">
                  <c:v>14.47</c:v>
                </c:pt>
                <c:pt idx="7">
                  <c:v>12.17</c:v>
                </c:pt>
                <c:pt idx="8">
                  <c:v>8.1999999999999993</c:v>
                </c:pt>
                <c:pt idx="9">
                  <c:v>2.17</c:v>
                </c:pt>
                <c:pt idx="10">
                  <c:v>0.73</c:v>
                </c:pt>
                <c:pt idx="11">
                  <c:v>0.74</c:v>
                </c:pt>
              </c:numCache>
            </c:numRef>
          </c:yVal>
          <c:smooth val="0"/>
          <c:extLst>
            <c:ext xmlns:c16="http://schemas.microsoft.com/office/drawing/2014/chart" uri="{C3380CC4-5D6E-409C-BE32-E72D297353CC}">
              <c16:uniqueId val="{00000001-8FEE-482C-BE10-3921362A6AF3}"/>
            </c:ext>
          </c:extLst>
        </c:ser>
        <c:ser>
          <c:idx val="2"/>
          <c:order val="2"/>
          <c:tx>
            <c:strRef>
              <c:f>Sheet1!$E$4</c:f>
              <c:strCache>
                <c:ptCount val="1"/>
                <c:pt idx="0">
                  <c:v>Recent (2015-2017)</c:v>
                </c:pt>
              </c:strCache>
            </c:strRef>
          </c:tx>
          <c:spPr>
            <a:ln w="19050" cap="rnd">
              <a:solidFill>
                <a:srgbClr val="FF0000"/>
              </a:solidFill>
              <a:round/>
            </a:ln>
            <a:effectLst/>
          </c:spPr>
          <c:marker>
            <c:symbol val="circle"/>
            <c:size val="5"/>
            <c:spPr>
              <a:solidFill>
                <a:srgbClr val="FF0000"/>
              </a:solidFill>
              <a:ln w="9525">
                <a:solidFill>
                  <a:srgbClr val="FF0000"/>
                </a:solidFill>
              </a:ln>
              <a:effectLst/>
            </c:spPr>
          </c:marker>
          <c:xVal>
            <c:strRef>
              <c:f>Sheet1!$B$5:$B$16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xVal>
          <c:yVal>
            <c:numRef>
              <c:f>Sheet1!$E$5:$E$16</c:f>
              <c:numCache>
                <c:formatCode>General</c:formatCode>
                <c:ptCount val="12"/>
                <c:pt idx="0">
                  <c:v>1.26</c:v>
                </c:pt>
                <c:pt idx="1">
                  <c:v>1.69</c:v>
                </c:pt>
                <c:pt idx="2">
                  <c:v>1.38</c:v>
                </c:pt>
                <c:pt idx="3">
                  <c:v>3.72</c:v>
                </c:pt>
                <c:pt idx="4">
                  <c:v>2.97</c:v>
                </c:pt>
                <c:pt idx="5">
                  <c:v>1.17</c:v>
                </c:pt>
                <c:pt idx="6">
                  <c:v>7.25</c:v>
                </c:pt>
                <c:pt idx="7">
                  <c:v>2.94</c:v>
                </c:pt>
                <c:pt idx="8">
                  <c:v>1.56</c:v>
                </c:pt>
                <c:pt idx="9">
                  <c:v>1.52</c:v>
                </c:pt>
                <c:pt idx="10">
                  <c:v>1.81</c:v>
                </c:pt>
                <c:pt idx="11">
                  <c:v>2.08</c:v>
                </c:pt>
              </c:numCache>
            </c:numRef>
          </c:yVal>
          <c:smooth val="0"/>
          <c:extLst>
            <c:ext xmlns:c16="http://schemas.microsoft.com/office/drawing/2014/chart" uri="{C3380CC4-5D6E-409C-BE32-E72D297353CC}">
              <c16:uniqueId val="{00000002-8FEE-482C-BE10-3921362A6AF3}"/>
            </c:ext>
          </c:extLst>
        </c:ser>
        <c:dLbls>
          <c:showLegendKey val="0"/>
          <c:showVal val="0"/>
          <c:showCatName val="0"/>
          <c:showSerName val="0"/>
          <c:showPercent val="0"/>
          <c:showBubbleSize val="0"/>
        </c:dLbls>
        <c:axId val="1823847456"/>
        <c:axId val="1877906880"/>
      </c:scatterChart>
      <c:valAx>
        <c:axId val="1823847456"/>
        <c:scaling>
          <c:orientation val="minMax"/>
          <c:max val="12"/>
          <c:min val="1"/>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나눔고딕 ExtraBold" panose="020D0904000000000000" pitchFamily="50" charset="-127"/>
                <a:ea typeface="나눔고딕 ExtraBold" panose="020D0904000000000000" pitchFamily="50" charset="-127"/>
                <a:cs typeface="+mn-cs"/>
              </a:defRPr>
            </a:pPr>
            <a:endParaRPr lang="ko-KR"/>
          </a:p>
        </c:txPr>
        <c:crossAx val="1877906880"/>
        <c:crosses val="autoZero"/>
        <c:crossBetween val="midCat"/>
        <c:majorUnit val="1"/>
      </c:valAx>
      <c:valAx>
        <c:axId val="18779068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나눔고딕 ExtraBold" panose="020D0904000000000000" pitchFamily="50" charset="-127"/>
                <a:ea typeface="나눔고딕 ExtraBold" panose="020D0904000000000000" pitchFamily="50" charset="-127"/>
                <a:cs typeface="+mn-cs"/>
              </a:defRPr>
            </a:pPr>
            <a:endParaRPr lang="ko-KR"/>
          </a:p>
        </c:txPr>
        <c:crossAx val="1823847456"/>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ysClr val="windowText" lastClr="000000"/>
              </a:solidFill>
              <a:latin typeface="나눔고딕 ExtraBold" panose="020D0904000000000000" pitchFamily="50" charset="-127"/>
              <a:ea typeface="나눔고딕 ExtraBold" panose="020D0904000000000000" pitchFamily="50" charset="-127"/>
              <a:cs typeface="+mn-cs"/>
            </a:defRPr>
          </a:pPr>
          <a:endParaRPr lang="ko-K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solidFill>
            <a:sysClr val="windowText" lastClr="000000"/>
          </a:solidFill>
          <a:latin typeface="나눔고딕 ExtraBold" panose="020D0904000000000000" pitchFamily="50" charset="-127"/>
          <a:ea typeface="나눔고딕 ExtraBold" panose="020D0904000000000000" pitchFamily="50" charset="-127"/>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0.wmf"/><Relationship Id="rId4" Type="http://schemas.openxmlformats.org/officeDocument/2006/relationships/image" Target="../media/image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18830" cy="495029"/>
          </a:xfrm>
          <a:prstGeom prst="rect">
            <a:avLst/>
          </a:prstGeom>
        </p:spPr>
        <p:txBody>
          <a:bodyPr vert="horz" lIns="90763" tIns="45382" rIns="90763" bIns="45382" rtlCol="0"/>
          <a:lstStyle>
            <a:lvl1pPr algn="l">
              <a:defRPr sz="1200"/>
            </a:lvl1pPr>
          </a:lstStyle>
          <a:p>
            <a:endParaRPr lang="ko-KR" altLang="en-US"/>
          </a:p>
        </p:txBody>
      </p:sp>
      <p:sp>
        <p:nvSpPr>
          <p:cNvPr id="3" name="날짜 개체 틀 2"/>
          <p:cNvSpPr>
            <a:spLocks noGrp="1"/>
          </p:cNvSpPr>
          <p:nvPr>
            <p:ph type="dt" idx="1"/>
          </p:nvPr>
        </p:nvSpPr>
        <p:spPr>
          <a:xfrm>
            <a:off x="3815375" y="0"/>
            <a:ext cx="2918830" cy="495029"/>
          </a:xfrm>
          <a:prstGeom prst="rect">
            <a:avLst/>
          </a:prstGeom>
        </p:spPr>
        <p:txBody>
          <a:bodyPr vert="horz" lIns="90763" tIns="45382" rIns="90763" bIns="45382" rtlCol="0"/>
          <a:lstStyle>
            <a:lvl1pPr algn="r">
              <a:defRPr sz="1200"/>
            </a:lvl1pPr>
          </a:lstStyle>
          <a:p>
            <a:fld id="{E1DBA18E-019D-4DB5-9C84-C80C9EC0EDE4}" type="datetimeFigureOut">
              <a:rPr lang="ko-KR" altLang="en-US" smtClean="0"/>
              <a:t>2022-06-23</a:t>
            </a:fld>
            <a:endParaRPr lang="ko-KR" altLang="en-US"/>
          </a:p>
        </p:txBody>
      </p:sp>
      <p:sp>
        <p:nvSpPr>
          <p:cNvPr id="4" name="슬라이드 이미지 개체 틀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0763" tIns="45382" rIns="90763" bIns="45382" rtlCol="0" anchor="ctr"/>
          <a:lstStyle/>
          <a:p>
            <a:endParaRPr lang="ko-KR" altLang="en-US"/>
          </a:p>
        </p:txBody>
      </p:sp>
      <p:sp>
        <p:nvSpPr>
          <p:cNvPr id="5" name="슬라이드 노트 개체 틀 4"/>
          <p:cNvSpPr>
            <a:spLocks noGrp="1"/>
          </p:cNvSpPr>
          <p:nvPr>
            <p:ph type="body" sz="quarter" idx="3"/>
          </p:nvPr>
        </p:nvSpPr>
        <p:spPr>
          <a:xfrm>
            <a:off x="673577" y="4748163"/>
            <a:ext cx="5388610" cy="3884861"/>
          </a:xfrm>
          <a:prstGeom prst="rect">
            <a:avLst/>
          </a:prstGeom>
        </p:spPr>
        <p:txBody>
          <a:bodyPr vert="horz" lIns="90763" tIns="45382" rIns="90763" bIns="45382"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371286"/>
            <a:ext cx="2918830" cy="495028"/>
          </a:xfrm>
          <a:prstGeom prst="rect">
            <a:avLst/>
          </a:prstGeom>
        </p:spPr>
        <p:txBody>
          <a:bodyPr vert="horz" lIns="90763" tIns="45382" rIns="90763" bIns="45382"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15375" y="9371286"/>
            <a:ext cx="2918830" cy="495028"/>
          </a:xfrm>
          <a:prstGeom prst="rect">
            <a:avLst/>
          </a:prstGeom>
        </p:spPr>
        <p:txBody>
          <a:bodyPr vert="horz" lIns="90763" tIns="45382" rIns="90763" bIns="45382" rtlCol="0" anchor="b"/>
          <a:lstStyle>
            <a:lvl1pPr algn="r">
              <a:defRPr sz="1200"/>
            </a:lvl1pPr>
          </a:lstStyle>
          <a:p>
            <a:fld id="{3B93C0B1-E0F9-447B-AFB5-BCC5935C28C8}" type="slidenum">
              <a:rPr lang="ko-KR" altLang="en-US" smtClean="0"/>
              <a:t>‹#›</a:t>
            </a:fld>
            <a:endParaRPr lang="ko-KR" altLang="en-US"/>
          </a:p>
        </p:txBody>
      </p:sp>
    </p:spTree>
    <p:extLst>
      <p:ext uri="{BB962C8B-B14F-4D97-AF65-F5344CB8AC3E}">
        <p14:creationId xmlns:p14="http://schemas.microsoft.com/office/powerpoint/2010/main" val="277698145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자기소개 </a:t>
            </a:r>
            <a:endParaRPr lang="en-US" altLang="ko-KR" dirty="0"/>
          </a:p>
          <a:p>
            <a:r>
              <a:rPr lang="en-US" altLang="ko-KR" dirty="0"/>
              <a:t>&amp; Summary of the PhD Dissertation I presented last year in my final defense.</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a:t>
            </a:fld>
            <a:endParaRPr lang="ko-KR" altLang="en-US"/>
          </a:p>
        </p:txBody>
      </p:sp>
    </p:spTree>
    <p:extLst>
      <p:ext uri="{BB962C8B-B14F-4D97-AF65-F5344CB8AC3E}">
        <p14:creationId xmlns:p14="http://schemas.microsoft.com/office/powerpoint/2010/main" val="2202844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My dissertation is titled “</a:t>
            </a:r>
            <a:r>
              <a:rPr lang="en-US" altLang="ko-KR" sz="1200" b="1" dirty="0"/>
              <a:t>Improving On-site Reservoir Operation Policies by Robust and Adaptive Optimization Models</a:t>
            </a:r>
            <a:r>
              <a:rPr lang="en-US" altLang="ko-KR" dirty="0"/>
              <a:t>”, and in today’s presentation I</a:t>
            </a:r>
            <a:r>
              <a:rPr lang="ko-KR" altLang="en-US" dirty="0"/>
              <a:t> </a:t>
            </a:r>
            <a:r>
              <a:rPr lang="en-US" altLang="ko-KR" dirty="0"/>
              <a:t>will</a:t>
            </a:r>
            <a:r>
              <a:rPr lang="ko-KR" altLang="en-US" dirty="0"/>
              <a:t> </a:t>
            </a:r>
            <a:r>
              <a:rPr lang="en-US" altLang="ko-KR" dirty="0"/>
              <a:t>be</a:t>
            </a:r>
            <a:r>
              <a:rPr lang="ko-KR" altLang="en-US" dirty="0"/>
              <a:t> </a:t>
            </a:r>
            <a:r>
              <a:rPr lang="en-US" altLang="ko-KR" dirty="0"/>
              <a:t>covering chapters 4 and 6 briefly, and will present mainly focusing on</a:t>
            </a:r>
            <a:r>
              <a:rPr lang="ko-KR" altLang="en-US" dirty="0"/>
              <a:t> </a:t>
            </a:r>
            <a:r>
              <a:rPr lang="en-US" altLang="ko-KR" dirty="0"/>
              <a:t>chapter 5 which was recently accepted and in press under the journal Water Resources Management.</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2</a:t>
            </a:fld>
            <a:endParaRPr lang="ko-KR" altLang="en-US"/>
          </a:p>
        </p:txBody>
      </p:sp>
    </p:spTree>
    <p:extLst>
      <p:ext uri="{BB962C8B-B14F-4D97-AF65-F5344CB8AC3E}">
        <p14:creationId xmlns:p14="http://schemas.microsoft.com/office/powerpoint/2010/main" val="1552452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The following figure shows the overall flowchart of the dissertation. Although each study in the dissertation are separately conducted, the tools utilized in the dissertation and the outcomes from each study are interconnected, and they are expressed in the figure.</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3</a:t>
            </a:fld>
            <a:endParaRPr lang="ko-KR" altLang="en-US"/>
          </a:p>
        </p:txBody>
      </p:sp>
    </p:spTree>
    <p:extLst>
      <p:ext uri="{BB962C8B-B14F-4D97-AF65-F5344CB8AC3E}">
        <p14:creationId xmlns:p14="http://schemas.microsoft.com/office/powerpoint/2010/main" val="1157151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I recall presenting this topic in the group meeting last year, but let me briefly summarize this chapter as it is closely connected to today’s main presentation.</a:t>
            </a:r>
          </a:p>
          <a:p>
            <a:r>
              <a:rPr lang="en-US" altLang="ko-KR" dirty="0"/>
              <a:t>The key research questions of this chapter is divided into these three: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4</a:t>
            </a:fld>
            <a:endParaRPr lang="ko-KR" altLang="en-US"/>
          </a:p>
        </p:txBody>
      </p:sp>
    </p:spTree>
    <p:extLst>
      <p:ext uri="{BB962C8B-B14F-4D97-AF65-F5344CB8AC3E}">
        <p14:creationId xmlns:p14="http://schemas.microsoft.com/office/powerpoint/2010/main" val="1680888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The optimization models with the two objectives are formulated using the dynamic programming model with different information: perfect forecast, monthly average forecast, and stochastic model assuming lognormal distribution of inflows. The EMODPS models were also formulated with different shapes and number of parameters of the RBFs</a:t>
            </a:r>
            <a:endParaRPr lang="ko-KR" altLang="ko-KR" sz="1200" kern="1200" dirty="0">
              <a:solidFill>
                <a:schemeClr val="tx1"/>
              </a:solidFill>
              <a:effectLst/>
              <a:latin typeface="+mn-lt"/>
              <a:ea typeface="+mn-ea"/>
              <a:cs typeface="+mn-cs"/>
            </a:endParaRPr>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5</a:t>
            </a:fld>
            <a:endParaRPr lang="ko-KR" altLang="en-US"/>
          </a:p>
        </p:txBody>
      </p:sp>
    </p:spTree>
    <p:extLst>
      <p:ext uri="{BB962C8B-B14F-4D97-AF65-F5344CB8AC3E}">
        <p14:creationId xmlns:p14="http://schemas.microsoft.com/office/powerpoint/2010/main" val="4026780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This figure demonstrates the Pareto fronts derived from each of the subgroups of the k-fold cross validation. In most of the cases, the EMODPS-Gaussian model yielded the best possible results regarding the proximity to the ideal points and solution diversity.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6</a:t>
            </a:fld>
            <a:endParaRPr lang="ko-KR" altLang="en-US"/>
          </a:p>
        </p:txBody>
      </p:sp>
    </p:spTree>
    <p:extLst>
      <p:ext uri="{BB962C8B-B14F-4D97-AF65-F5344CB8AC3E}">
        <p14:creationId xmlns:p14="http://schemas.microsoft.com/office/powerpoint/2010/main" val="2324472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For the last portion of this study, one of the EMODPS model, EMODPS-Gaussian is then coupled with the actual zone-based hedging rule during simulation. Then, their performance under the drought conditions were tested and analyzed in terms of frequency, duration, and magnitude.</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7</a:t>
            </a:fld>
            <a:endParaRPr lang="ko-KR" altLang="en-US"/>
          </a:p>
        </p:txBody>
      </p:sp>
    </p:spTree>
    <p:extLst>
      <p:ext uri="{BB962C8B-B14F-4D97-AF65-F5344CB8AC3E}">
        <p14:creationId xmlns:p14="http://schemas.microsoft.com/office/powerpoint/2010/main" val="1211159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In this section, the concepts of FDM were utilized to measure the system’s performance in both supply side and the demand side. In the demand side, the failure was divided into different water usages.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8</a:t>
            </a:fld>
            <a:endParaRPr lang="ko-KR" altLang="en-US"/>
          </a:p>
        </p:txBody>
      </p:sp>
    </p:spTree>
    <p:extLst>
      <p:ext uri="{BB962C8B-B14F-4D97-AF65-F5344CB8AC3E}">
        <p14:creationId xmlns:p14="http://schemas.microsoft.com/office/powerpoint/2010/main" val="305338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This result shows that coupling hedging betters the performance measured from the supply side. Although the degrading performance in the demand side is expected, we could observe the trade-off relationship between risk and vulnerability. </a:t>
            </a:r>
            <a:endParaRPr lang="ko-KR"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Also, given the risk </a:t>
            </a:r>
            <a:r>
              <a:rPr lang="en-US" altLang="ko-KR" sz="1200" kern="1200" dirty="0" err="1">
                <a:solidFill>
                  <a:schemeClr val="tx1"/>
                </a:solidFill>
                <a:effectLst/>
                <a:latin typeface="+mn-lt"/>
                <a:ea typeface="+mn-ea"/>
                <a:cs typeface="+mn-cs"/>
              </a:rPr>
              <a:t>aversing</a:t>
            </a:r>
            <a:r>
              <a:rPr lang="en-US" altLang="ko-KR" sz="1200" kern="1200" dirty="0">
                <a:solidFill>
                  <a:schemeClr val="tx1"/>
                </a:solidFill>
                <a:effectLst/>
                <a:latin typeface="+mn-lt"/>
                <a:ea typeface="+mn-ea"/>
                <a:cs typeface="+mn-cs"/>
              </a:rPr>
              <a:t> nature of the water users, it can be concluded that the outcomes of coupling the hedging rules during operation hold promise and may be extended with further studies.</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9</a:t>
            </a:fld>
            <a:endParaRPr lang="ko-KR" altLang="en-US"/>
          </a:p>
        </p:txBody>
      </p:sp>
    </p:spTree>
    <p:extLst>
      <p:ext uri="{BB962C8B-B14F-4D97-AF65-F5344CB8AC3E}">
        <p14:creationId xmlns:p14="http://schemas.microsoft.com/office/powerpoint/2010/main" val="38489126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kern="1200" dirty="0">
                <a:solidFill>
                  <a:schemeClr val="tx1"/>
                </a:solidFill>
                <a:effectLst/>
                <a:latin typeface="+mn-lt"/>
                <a:ea typeface="+mn-ea"/>
                <a:cs typeface="+mn-cs"/>
              </a:rPr>
              <a:t>The second case study includes a method in which the SQ rules are reformed against multi-year droughts and operated under adaptive concepts. </a:t>
            </a:r>
            <a:endParaRPr lang="ko-KR" altLang="ko-KR" sz="1200" kern="1200" dirty="0">
              <a:solidFill>
                <a:schemeClr val="tx1"/>
              </a:solidFill>
              <a:effectLst/>
              <a:latin typeface="+mn-lt"/>
              <a:ea typeface="+mn-ea"/>
              <a:cs typeface="+mn-cs"/>
            </a:endParaRPr>
          </a:p>
          <a:p>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10</a:t>
            </a:fld>
            <a:endParaRPr lang="ko-KR" altLang="en-US"/>
          </a:p>
        </p:txBody>
      </p:sp>
    </p:spTree>
    <p:extLst>
      <p:ext uri="{BB962C8B-B14F-4D97-AF65-F5344CB8AC3E}">
        <p14:creationId xmlns:p14="http://schemas.microsoft.com/office/powerpoint/2010/main" val="4292535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보령댐도</a:t>
            </a:r>
            <a:r>
              <a:rPr lang="ko-KR" altLang="en-US" dirty="0"/>
              <a:t> 실제로는 이 중 하나인 </a:t>
            </a:r>
            <a:r>
              <a:rPr lang="en-US" altLang="ko-KR" dirty="0"/>
              <a:t>Zone-based hedging rule</a:t>
            </a:r>
            <a:r>
              <a:rPr lang="ko-KR" altLang="en-US" dirty="0"/>
              <a:t>에 기반해서 운영되고 있음을 설명</a:t>
            </a:r>
            <a:endParaRPr lang="en-US" altLang="ko-KR" dirty="0"/>
          </a:p>
          <a:p>
            <a:r>
              <a:rPr lang="en-US" altLang="ko-KR" sz="1200" kern="1200" dirty="0">
                <a:solidFill>
                  <a:schemeClr val="tx1"/>
                </a:solidFill>
                <a:effectLst/>
                <a:latin typeface="+mn-lt"/>
                <a:ea typeface="+mn-ea"/>
                <a:cs typeface="+mn-cs"/>
              </a:rPr>
              <a:t>The first methodology this study includes is the hedging rules. Differently from the standard operating policy where meeting the demand is the primary objective under all circumstances, hedging, or rationing operations, provides only a portion of the target even when greater release is possible. The figure below shows a type of hedging rule, zone-based hedging rule where the release is determined according to the storage level of the reservoir.</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11</a:t>
            </a:fld>
            <a:endParaRPr lang="ko-KR" altLang="en-US"/>
          </a:p>
        </p:txBody>
      </p:sp>
    </p:spTree>
    <p:extLst>
      <p:ext uri="{BB962C8B-B14F-4D97-AF65-F5344CB8AC3E}">
        <p14:creationId xmlns:p14="http://schemas.microsoft.com/office/powerpoint/2010/main" val="1427576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The second methodology in this study is the long memory time series generation. We focused on the concept of the Hurst Phenomenon, which stresses long term persistence in the time series. The measure of the long memory is the Hurst coefficient, in which the value greater than 0.5 indicates long memory. </a:t>
            </a:r>
            <a:endParaRPr lang="ko-KR"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For incorporation of long memory, the autoregressive fractionally integrated moving average model was selected in which the coefficient d holds information regarding the long-term persistence.</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12</a:t>
            </a:fld>
            <a:endParaRPr lang="ko-KR" altLang="en-US"/>
          </a:p>
        </p:txBody>
      </p:sp>
    </p:spTree>
    <p:extLst>
      <p:ext uri="{BB962C8B-B14F-4D97-AF65-F5344CB8AC3E}">
        <p14:creationId xmlns:p14="http://schemas.microsoft.com/office/powerpoint/2010/main" val="2619073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Two main notable characteristics 1) small difference between the annual water use and the reservoir capacity, </a:t>
            </a:r>
          </a:p>
          <a:p>
            <a:r>
              <a:rPr lang="en-US" altLang="ko-KR" dirty="0"/>
              <a:t>2) And the high ratio for M&amp;I water demand the reservoir is responsible for.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13</a:t>
            </a:fld>
            <a:endParaRPr lang="ko-KR" altLang="en-US"/>
          </a:p>
        </p:txBody>
      </p:sp>
    </p:spTree>
    <p:extLst>
      <p:ext uri="{BB962C8B-B14F-4D97-AF65-F5344CB8AC3E}">
        <p14:creationId xmlns:p14="http://schemas.microsoft.com/office/powerpoint/2010/main" val="3185592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For the application process, a total of seven cases of synthetic inflow series were generated. While keeping the average and the standard deviations constant with the historical statistics, </a:t>
            </a:r>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seven cases of synthetic inflow series were generated and utilized during the rule curve generation process.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The procedures for the hedging rule generation is demonstrated in the figure. Iterative simulations of the reservoir for 500 years is conducted with the prespecified inflow and demand, and the lowest storage value that satisfies the 95% percentile is selected as the storage corresponding to the rule curve. </a:t>
            </a:r>
            <a:endParaRPr lang="ko-KR" altLang="ko-KR" sz="1200" kern="1200" dirty="0">
              <a:solidFill>
                <a:schemeClr val="tx1"/>
              </a:solidFill>
              <a:effectLst/>
              <a:latin typeface="+mn-lt"/>
              <a:ea typeface="+mn-ea"/>
              <a:cs typeface="+mn-cs"/>
            </a:endParaRPr>
          </a:p>
          <a:p>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15</a:t>
            </a:fld>
            <a:endParaRPr lang="ko-KR" altLang="en-US"/>
          </a:p>
        </p:txBody>
      </p:sp>
    </p:spTree>
    <p:extLst>
      <p:ext uri="{BB962C8B-B14F-4D97-AF65-F5344CB8AC3E}">
        <p14:creationId xmlns:p14="http://schemas.microsoft.com/office/powerpoint/2010/main" val="2991909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This slide shows the results for the synthetic inflow generation. After generating the annual series of 500 years, they were disaggregated using the K Nearest Neighbor disaggregation method in which the distributional statistics of the historical records were preserved.</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16</a:t>
            </a:fld>
            <a:endParaRPr lang="ko-KR" altLang="en-US"/>
          </a:p>
        </p:txBody>
      </p:sp>
    </p:spTree>
    <p:extLst>
      <p:ext uri="{BB962C8B-B14F-4D97-AF65-F5344CB8AC3E}">
        <p14:creationId xmlns:p14="http://schemas.microsoft.com/office/powerpoint/2010/main" val="2308273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kern="1200" dirty="0">
                <a:solidFill>
                  <a:schemeClr val="tx1"/>
                </a:solidFill>
                <a:effectLst/>
                <a:latin typeface="+mn-lt"/>
                <a:ea typeface="+mn-ea"/>
                <a:cs typeface="+mn-cs"/>
              </a:rPr>
              <a:t>With the disaggregated inflow series, the rule curves were generated using 100 sets of 500-year series. The figure shows zone 1, 2, 3, and 4 curves where darker boxplots indicates curves generated with stronger long-term persistence inflow series.</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17</a:t>
            </a:fld>
            <a:endParaRPr lang="ko-KR" altLang="en-US"/>
          </a:p>
        </p:txBody>
      </p:sp>
    </p:spTree>
    <p:extLst>
      <p:ext uri="{BB962C8B-B14F-4D97-AF65-F5344CB8AC3E}">
        <p14:creationId xmlns:p14="http://schemas.microsoft.com/office/powerpoint/2010/main" val="15869029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The alternative rule curves generated from this study were then applied with adaptive, or dynamic, decision making technique. This study refers to adaptive decisions as decisions that are iteratively updated by the results of its previous outcomes and also new information. Therefore, in addition to the storage values this study selected SRI-12 as another trigger and utilized the policy according to the standards in the table. </a:t>
            </a:r>
            <a:endParaRPr lang="ko-KR"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Compared to the SQ operations in which relatively simple release rules in only feasible, the adaptive operation proposed in this study diversifies the release decisions according to both the storage and the SRI values.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18</a:t>
            </a:fld>
            <a:endParaRPr lang="ko-KR" altLang="en-US"/>
          </a:p>
        </p:txBody>
      </p:sp>
    </p:spTree>
    <p:extLst>
      <p:ext uri="{BB962C8B-B14F-4D97-AF65-F5344CB8AC3E}">
        <p14:creationId xmlns:p14="http://schemas.microsoft.com/office/powerpoint/2010/main" val="490111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Two rules were simulated under historical inflow of 1998 through 2020. They were once again evaluated in terms of supply, or storage, and demand, or water deficit ratio. </a:t>
            </a:r>
            <a:endParaRPr lang="ko-KR" altLang="ko-KR" sz="1200" kern="1200" dirty="0">
              <a:solidFill>
                <a:schemeClr val="tx1"/>
              </a:solidFill>
              <a:effectLst/>
              <a:latin typeface="+mn-lt"/>
              <a:ea typeface="+mn-ea"/>
              <a:cs typeface="+mn-cs"/>
            </a:endParaRPr>
          </a:p>
          <a:p>
            <a:pPr latinLnBrk="1"/>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This figure shows the performance of the two policies. </a:t>
            </a:r>
            <a:endParaRPr lang="ko-KR"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First, the results from the adaptive operations yielded better results measured in terms of storage. </a:t>
            </a:r>
            <a:r>
              <a:rPr lang="en-US" altLang="ko-KR" sz="1200" b="1" kern="1200" dirty="0">
                <a:solidFill>
                  <a:schemeClr val="tx1"/>
                </a:solidFill>
                <a:effectLst/>
                <a:latin typeface="+mn-lt"/>
                <a:ea typeface="+mn-ea"/>
                <a:cs typeface="+mn-cs"/>
              </a:rPr>
              <a:t>((ANIMATION)) ((ANIMATION)) </a:t>
            </a:r>
            <a:r>
              <a:rPr lang="en-US" altLang="ko-KR" sz="1200" kern="1200" dirty="0">
                <a:solidFill>
                  <a:schemeClr val="tx1"/>
                </a:solidFill>
                <a:effectLst/>
                <a:latin typeface="+mn-lt"/>
                <a:ea typeface="+mn-ea"/>
                <a:cs typeface="+mn-cs"/>
              </a:rPr>
              <a:t>Secondly, in terms of overall reliability, the K-water SQ rules were slightly better than the adaptive operations, and finally, </a:t>
            </a:r>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the frequency of the critical failures dramatically decreased under adaptive operations.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19</a:t>
            </a:fld>
            <a:endParaRPr lang="ko-KR" altLang="en-US"/>
          </a:p>
        </p:txBody>
      </p:sp>
    </p:spTree>
    <p:extLst>
      <p:ext uri="{BB962C8B-B14F-4D97-AF65-F5344CB8AC3E}">
        <p14:creationId xmlns:p14="http://schemas.microsoft.com/office/powerpoint/2010/main" val="55300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For summary, the different long-term persistence was revealed mostly during the flooding seasons, especially through May to September. Also, curves generated with stronger long memory led to higher, or more conservative rule curves in zones 1, 2 and 4. </a:t>
            </a:r>
            <a:endParaRPr lang="ko-KR"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((ANIMATION))</a:t>
            </a:r>
            <a:r>
              <a:rPr lang="en-US" altLang="ko-KR" sz="1200" kern="1200" dirty="0">
                <a:solidFill>
                  <a:schemeClr val="tx1"/>
                </a:solidFill>
                <a:effectLst/>
                <a:latin typeface="+mn-lt"/>
                <a:ea typeface="+mn-ea"/>
                <a:cs typeface="+mn-cs"/>
              </a:rPr>
              <a:t> Moreover, the alternative rule curves were utilized in adaptive operations, in which the decisions are updated with SRI values. Under adaptive operations, more flexible decisions were possible and also the frequency of critical failures decreased which can be further utilized under extreme drought conditions in future operations.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20</a:t>
            </a:fld>
            <a:endParaRPr lang="ko-KR" altLang="en-US"/>
          </a:p>
        </p:txBody>
      </p:sp>
    </p:spTree>
    <p:extLst>
      <p:ext uri="{BB962C8B-B14F-4D97-AF65-F5344CB8AC3E}">
        <p14:creationId xmlns:p14="http://schemas.microsoft.com/office/powerpoint/2010/main" val="26554169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Stochastic dynamic programming is a specific type of dynamic programming model, in which the release decisions are decided based on the iterative calculation results of the recursive equation. </a:t>
            </a:r>
            <a:endParaRPr lang="ko-KR"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This dissertation aims to couple the stochastic dynamic programming with robust optimization, as demonstrated in the equations below. The objective function in the RO model includes the robustness penalty function that measures the amount of the constraint violation.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21</a:t>
            </a:fld>
            <a:endParaRPr lang="ko-KR" altLang="en-US"/>
          </a:p>
        </p:txBody>
      </p:sp>
    </p:spTree>
    <p:extLst>
      <p:ext uri="{BB962C8B-B14F-4D97-AF65-F5344CB8AC3E}">
        <p14:creationId xmlns:p14="http://schemas.microsoft.com/office/powerpoint/2010/main" val="746108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More specifically, the concepts of robustness included in the RO model can be classified into feasibility and solution robustness. Whereas the feasibility robustness extends the range of potential solutions with soft constraints and corresponding penalty term, solution robustness penalizes the variance of the initial objective from its best or most frequent values. </a:t>
            </a:r>
            <a:endParaRPr lang="ko-KR" altLang="ko-KR" sz="1200" kern="1200" dirty="0">
              <a:solidFill>
                <a:schemeClr val="tx1"/>
              </a:solidFill>
              <a:effectLst/>
              <a:latin typeface="+mn-lt"/>
              <a:ea typeface="+mn-ea"/>
              <a:cs typeface="+mn-cs"/>
            </a:endParaRPr>
          </a:p>
          <a:p>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Because these features are easily implementable into the model formulation of the dynamic programming models, both concepts are incorporated into the SDP model to form RSDP-F and RSDP-S models. </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22</a:t>
            </a:fld>
            <a:endParaRPr lang="ko-KR" altLang="en-US"/>
          </a:p>
        </p:txBody>
      </p:sp>
    </p:spTree>
    <p:extLst>
      <p:ext uri="{BB962C8B-B14F-4D97-AF65-F5344CB8AC3E}">
        <p14:creationId xmlns:p14="http://schemas.microsoft.com/office/powerpoint/2010/main" val="525274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Finally, this shows the performance measured in regret-based robustness metric, which measures the ninety-</a:t>
            </a:r>
            <a:r>
              <a:rPr lang="en-US" altLang="ko-KR" sz="1200" kern="1200" dirty="0" err="1">
                <a:solidFill>
                  <a:schemeClr val="tx1"/>
                </a:solidFill>
                <a:effectLst/>
                <a:latin typeface="+mn-lt"/>
                <a:ea typeface="+mn-ea"/>
                <a:cs typeface="+mn-cs"/>
              </a:rPr>
              <a:t>th</a:t>
            </a:r>
            <a:r>
              <a:rPr lang="en-US" altLang="ko-KR" sz="1200" kern="1200" dirty="0">
                <a:solidFill>
                  <a:schemeClr val="tx1"/>
                </a:solidFill>
                <a:effectLst/>
                <a:latin typeface="+mn-lt"/>
                <a:ea typeface="+mn-ea"/>
                <a:cs typeface="+mn-cs"/>
              </a:rPr>
              <a:t> percentile deviation from the average performance using the baseline scenario. </a:t>
            </a:r>
            <a:endParaRPr lang="ko-KR" altLang="ko-KR" sz="1200" kern="1200" dirty="0">
              <a:solidFill>
                <a:schemeClr val="tx1"/>
              </a:solidFill>
              <a:effectLst/>
              <a:latin typeface="+mn-lt"/>
              <a:ea typeface="+mn-ea"/>
              <a:cs typeface="+mn-cs"/>
            </a:endParaRPr>
          </a:p>
          <a:p>
            <a:pPr latinLnBrk="1"/>
            <a:r>
              <a:rPr lang="en-US" altLang="ko-KR" sz="1200" b="1" kern="1200" dirty="0">
                <a:solidFill>
                  <a:schemeClr val="tx1"/>
                </a:solidFill>
                <a:effectLst/>
                <a:latin typeface="+mn-lt"/>
                <a:ea typeface="+mn-ea"/>
                <a:cs typeface="+mn-cs"/>
              </a:rPr>
              <a:t>((ANIMATION)) </a:t>
            </a:r>
            <a:r>
              <a:rPr lang="en-US" altLang="ko-KR" sz="1200" kern="1200" dirty="0">
                <a:solidFill>
                  <a:schemeClr val="tx1"/>
                </a:solidFill>
                <a:effectLst/>
                <a:latin typeface="+mn-lt"/>
                <a:ea typeface="+mn-ea"/>
                <a:cs typeface="+mn-cs"/>
              </a:rPr>
              <a:t>The result imply that the RSDP-S model is about twice better than the CSDP model measured in terms of robustness in magnitude and duration.</a:t>
            </a:r>
            <a:endParaRPr lang="ko-KR" altLang="ko-KR" sz="1200" kern="1200" dirty="0">
              <a:solidFill>
                <a:schemeClr val="tx1"/>
              </a:solidFill>
              <a:effectLst/>
              <a:latin typeface="+mn-lt"/>
              <a:ea typeface="+mn-ea"/>
              <a:cs typeface="+mn-cs"/>
            </a:endParaRPr>
          </a:p>
          <a:p>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23</a:t>
            </a:fld>
            <a:endParaRPr lang="ko-KR" altLang="en-US"/>
          </a:p>
        </p:txBody>
      </p:sp>
    </p:spTree>
    <p:extLst>
      <p:ext uri="{BB962C8B-B14F-4D97-AF65-F5344CB8AC3E}">
        <p14:creationId xmlns:p14="http://schemas.microsoft.com/office/powerpoint/2010/main" val="3122948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Reliable drought prediction should be preceded in order to respond properly to potential droughts. Therefore, this study developed a hydrological drought prediction method in order to reflect drought-related information with the ensemble drought prediction (EDP). The ensemble of the standardized runoff index (SRI) was generated by converting the ensemble streamflow prediction results and was used as the prior distribution. Then, precipitation forecast and soil moisture were used to update the prior EDP. First, the precipitation forecast was included in the EDP with the PDF-ratio method, and yielded the result named as EDP+A. The observed soil moisture index (SMI) was reflected in the EDP and EDP+A via the Bayes' theorem with a likelihood function that is formed by a linear regression model that describes the relationship between the observed SRI and SMI. Then, the results of the Bayesian update were named as the EDP+A and EDP+AS. Eight basins in Korea where dams have been operated over 30 years were selected to test the proposed methodology. As a result, the overall performance of the four EDP is better than the climatological prediction, but it became worse when trying to predict severe drought. Nonetheless, it was found that reflecting the soil moisture information was effective in every season, and the precipitation forecast was so during only non-irrigation period of Korea. This is thought because the forecast data adopted in this study was accurate during non-irrigation period.</a:t>
            </a:r>
            <a:endParaRPr lang="ko-KR" altLang="en-US" dirty="0"/>
          </a:p>
        </p:txBody>
      </p:sp>
      <p:sp>
        <p:nvSpPr>
          <p:cNvPr id="4" name="슬라이드 번호 개체 틀 3"/>
          <p:cNvSpPr>
            <a:spLocks noGrp="1"/>
          </p:cNvSpPr>
          <p:nvPr>
            <p:ph type="sldNum" sz="quarter" idx="5"/>
          </p:nvPr>
        </p:nvSpPr>
        <p:spPr/>
        <p:txBody>
          <a:bodyPr/>
          <a:lstStyle/>
          <a:p>
            <a:fld id="{3B93C0B1-E0F9-447B-AFB5-BCC5935C28C8}" type="slidenum">
              <a:rPr lang="ko-KR" altLang="en-US" smtClean="0"/>
              <a:t>24</a:t>
            </a:fld>
            <a:endParaRPr lang="ko-KR" altLang="en-US"/>
          </a:p>
        </p:txBody>
      </p:sp>
    </p:spTree>
    <p:extLst>
      <p:ext uri="{BB962C8B-B14F-4D97-AF65-F5344CB8AC3E}">
        <p14:creationId xmlns:p14="http://schemas.microsoft.com/office/powerpoint/2010/main" val="583458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normAutofit/>
          </a:bodyPr>
          <a:lstStyle>
            <a:lvl1pPr algn="ctr">
              <a:defRPr sz="4400"/>
            </a:lvl1pPr>
          </a:lstStyle>
          <a:p>
            <a:r>
              <a:rPr lang="ko-KR" altLang="en-US" dirty="0"/>
              <a:t>마스터 제목 스타일 편집</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endParaRPr lang="en-US" dirty="0"/>
          </a:p>
        </p:txBody>
      </p:sp>
      <p:sp>
        <p:nvSpPr>
          <p:cNvPr id="4" name="Date Placeholder 3"/>
          <p:cNvSpPr>
            <a:spLocks noGrp="1"/>
          </p:cNvSpPr>
          <p:nvPr>
            <p:ph type="dt" sz="half" idx="10"/>
          </p:nvPr>
        </p:nvSpPr>
        <p:spPr/>
        <p:txBody>
          <a:bodyPr/>
          <a:lstStyle/>
          <a:p>
            <a:fld id="{CA67A350-3A71-4B7D-BDC0-843F99B4F0E0}"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3340037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Body_1_Introduction">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59618"/>
          </a:xfrm>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Tree>
    <p:extLst>
      <p:ext uri="{BB962C8B-B14F-4D97-AF65-F5344CB8AC3E}">
        <p14:creationId xmlns:p14="http://schemas.microsoft.com/office/powerpoint/2010/main" val="3071219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Body_1_Introdu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85994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ody_2_Methodolog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4028205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ody_3_Applica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4164009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ody_4_Resul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t>IV. Results</a:t>
            </a:r>
          </a:p>
          <a:p>
            <a:pPr marL="0" indent="0">
              <a:lnSpc>
                <a:spcPts val="400"/>
              </a:lnSpc>
              <a:buNone/>
            </a:pPr>
            <a:r>
              <a:rPr lang="en-US" sz="1200" dirty="0">
                <a:solidFill>
                  <a:schemeClr val="bg1">
                    <a:lumMod val="85000"/>
                  </a:schemeClr>
                </a:solidFill>
              </a:rPr>
              <a:t>V. Conclusion</a:t>
            </a:r>
          </a:p>
        </p:txBody>
      </p:sp>
    </p:spTree>
    <p:extLst>
      <p:ext uri="{BB962C8B-B14F-4D97-AF65-F5344CB8AC3E}">
        <p14:creationId xmlns:p14="http://schemas.microsoft.com/office/powerpoint/2010/main" val="3182881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Body_5_Conclu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
        <p:nvSpPr>
          <p:cNvPr id="8" name="Text Placeholder 2">
            <a:extLst>
              <a:ext uri="{FF2B5EF4-FFF2-40B4-BE49-F238E27FC236}">
                <a16:creationId xmlns:a16="http://schemas.microsoft.com/office/drawing/2014/main" id="{9269657D-7D03-40D5-A61B-A02EA552AB99}"/>
              </a:ext>
            </a:extLst>
          </p:cNvPr>
          <p:cNvSpPr txBox="1">
            <a:spLocks/>
          </p:cNvSpPr>
          <p:nvPr userDrawn="1"/>
        </p:nvSpPr>
        <p:spPr>
          <a:xfrm>
            <a:off x="7830352" y="86441"/>
            <a:ext cx="1313648" cy="1152128"/>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400"/>
              </a:lnSpc>
              <a:buNone/>
            </a:pPr>
            <a:endParaRPr lang="en-US" sz="1200" dirty="0"/>
          </a:p>
          <a:p>
            <a:pPr marL="0" indent="0">
              <a:lnSpc>
                <a:spcPts val="400"/>
              </a:lnSpc>
              <a:buNone/>
            </a:pPr>
            <a:r>
              <a:rPr lang="en-US" sz="1200" dirty="0">
                <a:solidFill>
                  <a:schemeClr val="bg1">
                    <a:lumMod val="85000"/>
                  </a:schemeClr>
                </a:solidFill>
              </a:rPr>
              <a:t>I. Introduction</a:t>
            </a:r>
          </a:p>
          <a:p>
            <a:pPr marL="0" indent="0">
              <a:lnSpc>
                <a:spcPts val="400"/>
              </a:lnSpc>
              <a:buNone/>
            </a:pPr>
            <a:r>
              <a:rPr lang="en-US" sz="1200" dirty="0">
                <a:solidFill>
                  <a:schemeClr val="bg1">
                    <a:lumMod val="85000"/>
                  </a:schemeClr>
                </a:solidFill>
              </a:rPr>
              <a:t>II. Methodology</a:t>
            </a:r>
          </a:p>
          <a:p>
            <a:pPr marL="0" indent="0">
              <a:lnSpc>
                <a:spcPts val="400"/>
              </a:lnSpc>
              <a:buNone/>
            </a:pPr>
            <a:r>
              <a:rPr lang="en-US" sz="1200" dirty="0">
                <a:solidFill>
                  <a:schemeClr val="bg1">
                    <a:lumMod val="85000"/>
                  </a:schemeClr>
                </a:solidFill>
              </a:rPr>
              <a:t>III. Application</a:t>
            </a:r>
          </a:p>
          <a:p>
            <a:pPr marL="0" indent="0">
              <a:lnSpc>
                <a:spcPts val="400"/>
              </a:lnSpc>
              <a:buNone/>
            </a:pPr>
            <a:r>
              <a:rPr lang="en-US" sz="1200" dirty="0">
                <a:solidFill>
                  <a:schemeClr val="bg1">
                    <a:lumMod val="85000"/>
                  </a:schemeClr>
                </a:solidFill>
              </a:rPr>
              <a:t>IV. Results</a:t>
            </a:r>
          </a:p>
          <a:p>
            <a:pPr marL="0" indent="0">
              <a:lnSpc>
                <a:spcPts val="400"/>
              </a:lnSpc>
              <a:buNone/>
            </a:pPr>
            <a:r>
              <a:rPr lang="en-US" sz="1200" dirty="0"/>
              <a:t>V. Conclusion</a:t>
            </a:r>
          </a:p>
        </p:txBody>
      </p:sp>
    </p:spTree>
    <p:extLst>
      <p:ext uri="{BB962C8B-B14F-4D97-AF65-F5344CB8AC3E}">
        <p14:creationId xmlns:p14="http://schemas.microsoft.com/office/powerpoint/2010/main" val="2076281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Body_EN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Date Placeholder 3">
            <a:extLst>
              <a:ext uri="{FF2B5EF4-FFF2-40B4-BE49-F238E27FC236}">
                <a16:creationId xmlns:a16="http://schemas.microsoft.com/office/drawing/2014/main" id="{371ABB3D-08F4-4E8A-8883-4F196A37E3BE}"/>
              </a:ext>
            </a:extLst>
          </p:cNvPr>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33BDB8A-AC36-425A-82C8-798E2650DC6B}"/>
              </a:ext>
            </a:extLst>
          </p:cNvPr>
          <p:cNvPicPr>
            <a:picLocks noChangeAspect="1"/>
          </p:cNvPicPr>
          <p:nvPr userDrawn="1"/>
        </p:nvPicPr>
        <p:blipFill>
          <a:blip r:embed="rId2"/>
          <a:stretch>
            <a:fillRect/>
          </a:stretch>
        </p:blipFill>
        <p:spPr>
          <a:xfrm>
            <a:off x="628650" y="6250413"/>
            <a:ext cx="1711102" cy="576999"/>
          </a:xfrm>
          <a:prstGeom prst="rect">
            <a:avLst/>
          </a:prstGeom>
        </p:spPr>
      </p:pic>
    </p:spTree>
    <p:extLst>
      <p:ext uri="{BB962C8B-B14F-4D97-AF65-F5344CB8AC3E}">
        <p14:creationId xmlns:p14="http://schemas.microsoft.com/office/powerpoint/2010/main" val="1542853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F407B75B-9328-4092-9D22-1D769C8D056E}"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982775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4DF68E14-CAEA-49EF-A996-488ADFD1D606}" type="datetime1">
              <a:rPr lang="ko-KR" altLang="en-US" smtClean="0"/>
              <a:t>2022-06-23</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39544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629842" y="2505075"/>
            <a:ext cx="3868340"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4629150" y="2505075"/>
            <a:ext cx="3887391"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67897EF3-3063-423A-96A9-68BCBD8D9943}" type="datetime1">
              <a:rPr lang="ko-KR" altLang="en-US" smtClean="0"/>
              <a:t>2022-06-23</a:t>
            </a:fld>
            <a:endParaRPr lang="ko-KR" altLang="en-US"/>
          </a:p>
        </p:txBody>
      </p:sp>
      <p:sp>
        <p:nvSpPr>
          <p:cNvPr id="9" name="Slide Number Placeholder 8"/>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1899829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D85B887-8C9B-46DE-BC48-3681F906CA9B}" type="datetime1">
              <a:rPr lang="ko-KR" altLang="en-US" smtClean="0"/>
              <a:t>2022-06-23</a:t>
            </a:fld>
            <a:endParaRPr lang="ko-KR" altLang="en-US"/>
          </a:p>
        </p:txBody>
      </p:sp>
      <p:sp>
        <p:nvSpPr>
          <p:cNvPr id="5" name="Slide Number Placeholder 4"/>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2554999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47E19-6206-463B-9AE9-66BE4F630FC0}" type="datetime1">
              <a:rPr lang="ko-KR" altLang="en-US" smtClean="0"/>
              <a:t>2022-06-23</a:t>
            </a:fld>
            <a:endParaRPr lang="ko-KR" altLang="en-US"/>
          </a:p>
        </p:txBody>
      </p:sp>
      <p:sp>
        <p:nvSpPr>
          <p:cNvPr id="4" name="Slide Number Placeholder 3"/>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3" name="제목 2">
            <a:extLst>
              <a:ext uri="{FF2B5EF4-FFF2-40B4-BE49-F238E27FC236}">
                <a16:creationId xmlns:a16="http://schemas.microsoft.com/office/drawing/2014/main" id="{03339795-4603-4C4B-B582-9870510CEFD8}"/>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92793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93CDF756-7DF6-4EF7-9AE5-1CDBCC6807D0}" type="datetime1">
              <a:rPr lang="ko-KR" altLang="en-US" smtClean="0"/>
              <a:t>2022-06-23</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702833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0E00B1B8-02ED-4B71-B2A9-756D11FCE97A}" type="datetime1">
              <a:rPr lang="ko-KR" altLang="en-US" smtClean="0"/>
              <a:t>2022-06-23</a:t>
            </a:fld>
            <a:endParaRPr lang="ko-KR" altLang="en-US"/>
          </a:p>
        </p:txBody>
      </p:sp>
      <p:sp>
        <p:nvSpPr>
          <p:cNvPr id="7" name="Slide Number Placeholder 6"/>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4063382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F8842333-966D-4877-82E2-6DF5FF1AA6FD}"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Tree>
    <p:extLst>
      <p:ext uri="{BB962C8B-B14F-4D97-AF65-F5344CB8AC3E}">
        <p14:creationId xmlns:p14="http://schemas.microsoft.com/office/powerpoint/2010/main" val="6439172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365125"/>
            <a:ext cx="5800725"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C882E481-74EE-447E-B10C-224EAA33899A}" type="datetime1">
              <a:rPr lang="ko-KR" altLang="en-US" smtClean="0"/>
              <a:t>2022-06-23</a:t>
            </a:fld>
            <a:endParaRPr lang="ko-KR" altLang="en-US"/>
          </a:p>
        </p:txBody>
      </p:sp>
      <p:sp>
        <p:nvSpPr>
          <p:cNvPr id="6" name="Slide Number Placeholder 5"/>
          <p:cNvSpPr>
            <a:spLocks noGrp="1"/>
          </p:cNvSpPr>
          <p:nvPr>
            <p:ph type="sldNum" sz="quarter" idx="12"/>
          </p:nvPr>
        </p:nvSpPr>
        <p:spPr/>
        <p:txBody>
          <a:bodyPr/>
          <a:lstStyle/>
          <a:p>
            <a:fld id="{79822AFB-C284-4A8E-A6EE-41BAA9C576A0}" type="slidenum">
              <a:rPr lang="ko-KR" altLang="en-US" smtClean="0"/>
              <a:t>‹#›</a:t>
            </a:fld>
            <a:endParaRPr lang="ko-KR" altLang="en-US"/>
          </a:p>
        </p:txBody>
      </p:sp>
      <p:sp>
        <p:nvSpPr>
          <p:cNvPr id="5" name="제목 4">
            <a:extLst>
              <a:ext uri="{FF2B5EF4-FFF2-40B4-BE49-F238E27FC236}">
                <a16:creationId xmlns:a16="http://schemas.microsoft.com/office/drawing/2014/main" id="{DE5D0810-B190-47E1-A347-C4E62ABB5443}"/>
              </a:ext>
            </a:extLst>
          </p:cNvPr>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3466951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039694" cy="759618"/>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28650" y="1268760"/>
            <a:ext cx="7886700" cy="4908203"/>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6300192" y="6356349"/>
            <a:ext cx="2215158" cy="365125"/>
          </a:xfrm>
          <a:prstGeom prst="rect">
            <a:avLst/>
          </a:prstGeom>
        </p:spPr>
        <p:txBody>
          <a:bodyPr vert="horz" lIns="91440" tIns="45720" rIns="91440" bIns="45720" rtlCol="0" anchor="ctr"/>
          <a:lstStyle>
            <a:lvl1pPr algn="r">
              <a:defRPr sz="1200" b="0">
                <a:solidFill>
                  <a:schemeClr val="tx1"/>
                </a:solidFill>
              </a:defRPr>
            </a:lvl1pPr>
          </a:lstStyle>
          <a:p>
            <a:fld id="{28080433-D2C4-4873-B101-A6DE959DCCFD}" type="datetime1">
              <a:rPr lang="ko-KR" altLang="en-US" smtClean="0"/>
              <a:pPr/>
              <a:t>2022-06-23</a:t>
            </a:fld>
            <a:endParaRPr lang="ko-KR" altLang="en-US" dirty="0"/>
          </a:p>
        </p:txBody>
      </p:sp>
      <p:sp>
        <p:nvSpPr>
          <p:cNvPr id="6" name="Slide Number Placeholder 5"/>
          <p:cNvSpPr>
            <a:spLocks noGrp="1"/>
          </p:cNvSpPr>
          <p:nvPr>
            <p:ph type="sldNum" sz="quarter" idx="4"/>
          </p:nvPr>
        </p:nvSpPr>
        <p:spPr>
          <a:xfrm>
            <a:off x="3543300" y="6356349"/>
            <a:ext cx="2057400" cy="365125"/>
          </a:xfrm>
          <a:prstGeom prst="rect">
            <a:avLst/>
          </a:prstGeom>
        </p:spPr>
        <p:txBody>
          <a:bodyPr vert="horz" lIns="91440" tIns="45720" rIns="91440" bIns="45720" rtlCol="0" anchor="ctr"/>
          <a:lstStyle>
            <a:lvl1pPr algn="ctr">
              <a:defRPr sz="1200">
                <a:solidFill>
                  <a:schemeClr val="tx1"/>
                </a:solidFill>
              </a:defRPr>
            </a:lvl1pPr>
          </a:lstStyle>
          <a:p>
            <a:fld id="{79822AFB-C284-4A8E-A6EE-41BAA9C576A0}" type="slidenum">
              <a:rPr lang="ko-KR" altLang="en-US" smtClean="0"/>
              <a:pPr/>
              <a:t>‹#›</a:t>
            </a:fld>
            <a:endParaRPr lang="ko-KR" altLang="en-US" dirty="0"/>
          </a:p>
        </p:txBody>
      </p:sp>
    </p:spTree>
    <p:extLst>
      <p:ext uri="{BB962C8B-B14F-4D97-AF65-F5344CB8AC3E}">
        <p14:creationId xmlns:p14="http://schemas.microsoft.com/office/powerpoint/2010/main" val="3524399687"/>
      </p:ext>
    </p:extLst>
  </p:cSld>
  <p:clrMap bg1="lt1" tx1="dk1" bg2="lt2" tx2="dk2" accent1="accent1" accent2="accent2" accent3="accent3" accent4="accent4" accent5="accent5" accent6="accent6" hlink="hlink" folHlink="folHlink"/>
  <p:sldLayoutIdLst>
    <p:sldLayoutId id="2147483661" r:id="rId1"/>
    <p:sldLayoutId id="2147483677" r:id="rId2"/>
    <p:sldLayoutId id="2147483662" r:id="rId3"/>
    <p:sldLayoutId id="2147483672" r:id="rId4"/>
    <p:sldLayoutId id="2147483673" r:id="rId5"/>
    <p:sldLayoutId id="2147483674" r:id="rId6"/>
    <p:sldLayoutId id="2147483675" r:id="rId7"/>
    <p:sldLayoutId id="2147483676"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Lst>
  <p:hf hdr="0" ftr="0"/>
  <p:txStyles>
    <p:titleStyle>
      <a:lvl1pPr algn="l" defTabSz="914400" rtl="0" eaLnBrk="1" latinLnBrk="1" hangingPunct="1">
        <a:lnSpc>
          <a:spcPct val="90000"/>
        </a:lnSpc>
        <a:spcBef>
          <a:spcPct val="0"/>
        </a:spcBef>
        <a:buNone/>
        <a:defRPr sz="3200" kern="1200">
          <a:solidFill>
            <a:schemeClr val="tx1"/>
          </a:solidFill>
          <a:latin typeface="Gill Sans MT" panose="020B0502020104020203" pitchFamily="34" charset="0"/>
          <a:ea typeface="나눔고딕 ExtraBold" panose="020D0904000000000000" pitchFamily="50" charset="-127"/>
          <a:cs typeface="+mj-cs"/>
        </a:defRPr>
      </a:lvl1pPr>
    </p:titleStyle>
    <p:body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mn-cs"/>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mn-cs"/>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mn-cs"/>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5.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 Id="rId9" Type="http://schemas.openxmlformats.org/officeDocument/2006/relationships/image" Target="../media/image8.wm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9.wmf"/><Relationship Id="rId5" Type="http://schemas.openxmlformats.org/officeDocument/2006/relationships/oleObject" Target="../embeddings/oleObject4.bin"/><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33.wmf"/><Relationship Id="rId18" Type="http://schemas.openxmlformats.org/officeDocument/2006/relationships/oleObject" Target="../embeddings/oleObject12.bin"/><Relationship Id="rId3" Type="http://schemas.openxmlformats.org/officeDocument/2006/relationships/notesSlide" Target="../notesSlides/notesSlide20.xml"/><Relationship Id="rId7" Type="http://schemas.openxmlformats.org/officeDocument/2006/relationships/image" Target="../media/image30.wmf"/><Relationship Id="rId12" Type="http://schemas.openxmlformats.org/officeDocument/2006/relationships/oleObject" Target="../embeddings/oleObject9.bin"/><Relationship Id="rId17" Type="http://schemas.openxmlformats.org/officeDocument/2006/relationships/image" Target="../media/image35.wmf"/><Relationship Id="rId2" Type="http://schemas.openxmlformats.org/officeDocument/2006/relationships/slideLayout" Target="../slideLayouts/slideLayout2.xml"/><Relationship Id="rId16" Type="http://schemas.openxmlformats.org/officeDocument/2006/relationships/oleObject" Target="../embeddings/oleObject11.bin"/><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32.wmf"/><Relationship Id="rId5" Type="http://schemas.openxmlformats.org/officeDocument/2006/relationships/image" Target="../media/image29.wmf"/><Relationship Id="rId15" Type="http://schemas.openxmlformats.org/officeDocument/2006/relationships/image" Target="../media/image34.wmf"/><Relationship Id="rId10" Type="http://schemas.openxmlformats.org/officeDocument/2006/relationships/oleObject" Target="../embeddings/oleObject8.bin"/><Relationship Id="rId19" Type="http://schemas.openxmlformats.org/officeDocument/2006/relationships/image" Target="../media/image36.wmf"/><Relationship Id="rId4" Type="http://schemas.openxmlformats.org/officeDocument/2006/relationships/oleObject" Target="../embeddings/oleObject5.bin"/><Relationship Id="rId9" Type="http://schemas.openxmlformats.org/officeDocument/2006/relationships/image" Target="../media/image31.wmf"/><Relationship Id="rId14"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40.wmf"/><Relationship Id="rId3" Type="http://schemas.openxmlformats.org/officeDocument/2006/relationships/notesSlide" Target="../notesSlides/notesSlide21.xml"/><Relationship Id="rId7" Type="http://schemas.openxmlformats.org/officeDocument/2006/relationships/image" Target="../media/image38.wmf"/><Relationship Id="rId12"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4.bin"/><Relationship Id="rId11" Type="http://schemas.openxmlformats.org/officeDocument/2006/relationships/image" Target="../media/image39.wmf"/><Relationship Id="rId5" Type="http://schemas.openxmlformats.org/officeDocument/2006/relationships/image" Target="../media/image37.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35.wmf"/></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image" Target="../media/image43.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061/(ASCE)WR.1943-5452.0001381" TargetMode="External"/><Relationship Id="rId2" Type="http://schemas.openxmlformats.org/officeDocument/2006/relationships/hyperlink" Target="https://doi.org/10.1007/s11269-021-02862-y" TargetMode="External"/><Relationship Id="rId1" Type="http://schemas.openxmlformats.org/officeDocument/2006/relationships/slideLayout" Target="../slideLayouts/slideLayout2.xml"/><Relationship Id="rId4" Type="http://schemas.openxmlformats.org/officeDocument/2006/relationships/hyperlink" Target="https://gijookim.inf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3000"/>
            <a:lum/>
          </a:blip>
          <a:srcRect/>
          <a:stretch>
            <a:fillRect l="-7000" r="-7000"/>
          </a:stretch>
        </a:blip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979C7BD-C5FB-45FC-A41E-5629BF41736F}"/>
              </a:ext>
            </a:extLst>
          </p:cNvPr>
          <p:cNvSpPr>
            <a:spLocks noGrp="1"/>
          </p:cNvSpPr>
          <p:nvPr>
            <p:ph type="ctrTitle"/>
          </p:nvPr>
        </p:nvSpPr>
        <p:spPr>
          <a:xfrm>
            <a:off x="685800" y="692696"/>
            <a:ext cx="7772400" cy="2153667"/>
          </a:xfrm>
        </p:spPr>
        <p:txBody>
          <a:bodyPr>
            <a:normAutofit/>
          </a:bodyPr>
          <a:lstStyle/>
          <a:p>
            <a:r>
              <a:rPr lang="en-US" altLang="ko-KR" sz="4000" dirty="0"/>
              <a:t>Improving On-site Reservoir </a:t>
            </a:r>
            <a:br>
              <a:rPr lang="en-US" altLang="ko-KR" sz="4000" dirty="0"/>
            </a:br>
            <a:r>
              <a:rPr lang="en-US" altLang="ko-KR" sz="4000" dirty="0"/>
              <a:t>Operation Policies by Robust and Adaptive Optimization Models</a:t>
            </a:r>
            <a:endParaRPr lang="ko-KR" altLang="en-US" sz="4000" dirty="0"/>
          </a:p>
        </p:txBody>
      </p:sp>
      <p:sp>
        <p:nvSpPr>
          <p:cNvPr id="3" name="부제목 2">
            <a:extLst>
              <a:ext uri="{FF2B5EF4-FFF2-40B4-BE49-F238E27FC236}">
                <a16:creationId xmlns:a16="http://schemas.microsoft.com/office/drawing/2014/main" id="{2ACEF0B9-3D0C-4B7B-8850-044B6D4F5FCD}"/>
              </a:ext>
            </a:extLst>
          </p:cNvPr>
          <p:cNvSpPr>
            <a:spLocks noGrp="1"/>
          </p:cNvSpPr>
          <p:nvPr>
            <p:ph type="subTitle" idx="1"/>
          </p:nvPr>
        </p:nvSpPr>
        <p:spPr>
          <a:xfrm>
            <a:off x="1143000" y="3939630"/>
            <a:ext cx="6858000" cy="2153666"/>
          </a:xfrm>
        </p:spPr>
        <p:txBody>
          <a:bodyPr>
            <a:normAutofit/>
          </a:bodyPr>
          <a:lstStyle/>
          <a:p>
            <a:r>
              <a:rPr lang="en-US" altLang="ko-KR" sz="2800" dirty="0"/>
              <a:t>Gi Joo KIM</a:t>
            </a:r>
          </a:p>
          <a:p>
            <a:endParaRPr lang="en-US" altLang="ko-KR" sz="1050" dirty="0"/>
          </a:p>
          <a:p>
            <a:pPr>
              <a:lnSpc>
                <a:spcPct val="100000"/>
              </a:lnSpc>
            </a:pPr>
            <a:r>
              <a:rPr lang="en-US" altLang="ko-KR" dirty="0">
                <a:solidFill>
                  <a:schemeClr val="bg1"/>
                </a:solidFill>
              </a:rPr>
              <a:t>Institute</a:t>
            </a:r>
            <a:r>
              <a:rPr lang="en-US" altLang="ko-KR" dirty="0"/>
              <a:t> of Construction and Environmental Engineering</a:t>
            </a:r>
          </a:p>
          <a:p>
            <a:pPr>
              <a:lnSpc>
                <a:spcPct val="100000"/>
              </a:lnSpc>
            </a:pPr>
            <a:r>
              <a:rPr lang="en-US" altLang="ko-KR" dirty="0"/>
              <a:t>Seoul National University</a:t>
            </a:r>
            <a:endParaRPr lang="ko-KR" altLang="en-US" dirty="0"/>
          </a:p>
        </p:txBody>
      </p:sp>
      <p:sp>
        <p:nvSpPr>
          <p:cNvPr id="8" name="TextBox 7">
            <a:extLst>
              <a:ext uri="{FF2B5EF4-FFF2-40B4-BE49-F238E27FC236}">
                <a16:creationId xmlns:a16="http://schemas.microsoft.com/office/drawing/2014/main" id="{21EA693E-3601-43A1-A172-37C5BB933786}"/>
              </a:ext>
            </a:extLst>
          </p:cNvPr>
          <p:cNvSpPr txBox="1"/>
          <p:nvPr/>
        </p:nvSpPr>
        <p:spPr>
          <a:xfrm>
            <a:off x="15280" y="6576387"/>
            <a:ext cx="3681329" cy="276999"/>
          </a:xfrm>
          <a:prstGeom prst="rect">
            <a:avLst/>
          </a:prstGeom>
          <a:noFill/>
        </p:spPr>
        <p:txBody>
          <a:bodyPr wrap="none" rtlCol="0">
            <a:spAutoFit/>
          </a:bodyPr>
          <a:lstStyle/>
          <a:p>
            <a:r>
              <a:rPr lang="en-US" altLang="ko-KR" sz="1200" dirty="0">
                <a:solidFill>
                  <a:schemeClr val="bg1">
                    <a:lumMod val="85000"/>
                  </a:schemeClr>
                </a:solidFill>
              </a:rPr>
              <a:t>Photo</a:t>
            </a:r>
            <a:r>
              <a:rPr lang="ko-KR" altLang="en-US" sz="1200" dirty="0">
                <a:solidFill>
                  <a:schemeClr val="bg1">
                    <a:lumMod val="85000"/>
                  </a:schemeClr>
                </a:solidFill>
              </a:rPr>
              <a:t> </a:t>
            </a:r>
            <a:r>
              <a:rPr lang="en-US" altLang="ko-KR" sz="1200" dirty="0">
                <a:solidFill>
                  <a:schemeClr val="bg1">
                    <a:lumMod val="85000"/>
                  </a:schemeClr>
                </a:solidFill>
              </a:rPr>
              <a:t>Credit: https://blog.daum.net/lko62519/8739590 </a:t>
            </a:r>
            <a:endParaRPr lang="ko-KR" altLang="en-US" sz="1200" dirty="0">
              <a:solidFill>
                <a:schemeClr val="bg1">
                  <a:lumMod val="85000"/>
                </a:schemeClr>
              </a:solidFill>
            </a:endParaRPr>
          </a:p>
        </p:txBody>
      </p:sp>
    </p:spTree>
    <p:extLst>
      <p:ext uri="{BB962C8B-B14F-4D97-AF65-F5344CB8AC3E}">
        <p14:creationId xmlns:p14="http://schemas.microsoft.com/office/powerpoint/2010/main" val="3172748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92091AFC-C5CD-4D99-95FD-68E4E9D32645}"/>
              </a:ext>
            </a:extLst>
          </p:cNvPr>
          <p:cNvPicPr>
            <a:picLocks noChangeAspect="1"/>
          </p:cNvPicPr>
          <p:nvPr/>
        </p:nvPicPr>
        <p:blipFill>
          <a:blip r:embed="rId3"/>
          <a:stretch>
            <a:fillRect/>
          </a:stretch>
        </p:blipFill>
        <p:spPr>
          <a:xfrm>
            <a:off x="460131" y="4317207"/>
            <a:ext cx="4608512" cy="2235565"/>
          </a:xfrm>
          <a:prstGeom prst="rect">
            <a:avLst/>
          </a:prstGeom>
        </p:spPr>
      </p:pic>
      <p:sp>
        <p:nvSpPr>
          <p:cNvPr id="3" name="내용 개체 틀 2">
            <a:extLst>
              <a:ext uri="{FF2B5EF4-FFF2-40B4-BE49-F238E27FC236}">
                <a16:creationId xmlns:a16="http://schemas.microsoft.com/office/drawing/2014/main" id="{ABD856E2-5817-4D95-BDA4-993337BEC95B}"/>
              </a:ext>
            </a:extLst>
          </p:cNvPr>
          <p:cNvSpPr>
            <a:spLocks noGrp="1"/>
          </p:cNvSpPr>
          <p:nvPr>
            <p:ph idx="1"/>
          </p:nvPr>
        </p:nvSpPr>
        <p:spPr>
          <a:xfrm>
            <a:off x="628650" y="305228"/>
            <a:ext cx="7886700" cy="5700291"/>
          </a:xfrm>
        </p:spPr>
        <p:txBody>
          <a:bodyPr>
            <a:normAutofit/>
          </a:bodyPr>
          <a:lstStyle/>
          <a:p>
            <a:pPr marL="0" indent="0" algn="ctr">
              <a:buNone/>
            </a:pPr>
            <a:r>
              <a:rPr lang="en-US" altLang="ko-KR" sz="2400" b="1" dirty="0"/>
              <a:t>&lt;Improving On-site Reservoir Operation Policies </a:t>
            </a:r>
            <a:br>
              <a:rPr lang="en-US" altLang="ko-KR" sz="2400" b="1" dirty="0"/>
            </a:br>
            <a:r>
              <a:rPr lang="en-US" altLang="ko-KR" sz="2400" b="1" dirty="0"/>
              <a:t>by Robust and Adaptive Optimization Models&gt;</a:t>
            </a:r>
          </a:p>
          <a:p>
            <a:pPr marL="0" indent="0" algn="ctr">
              <a:buNone/>
            </a:pPr>
            <a:endParaRPr lang="en-US" altLang="ko-KR" sz="500" b="1" dirty="0"/>
          </a:p>
          <a:p>
            <a:pPr marL="0" indent="0">
              <a:buNone/>
            </a:pPr>
            <a:r>
              <a:rPr lang="en-US" altLang="ko-KR" dirty="0"/>
              <a:t>	C4. Coupling Hedging Rules with Optimization Models in 	Reservoir Operation Problems (Kim &amp; Kim 2021)</a:t>
            </a:r>
          </a:p>
          <a:p>
            <a:pPr marL="0" indent="0">
              <a:buNone/>
            </a:pPr>
            <a:r>
              <a:rPr lang="en-US" altLang="ko-KR" dirty="0"/>
              <a:t>	</a:t>
            </a:r>
            <a:r>
              <a:rPr lang="en-US" altLang="ko-KR" dirty="0">
                <a:solidFill>
                  <a:srgbClr val="0417CC"/>
                </a:solidFill>
              </a:rPr>
              <a:t>C5. Reforming the Hedging Rules with Adaptive Operations 	against Multi-year Droughts (</a:t>
            </a:r>
            <a:r>
              <a:rPr lang="en-US" altLang="ko-KR" i="1" dirty="0">
                <a:solidFill>
                  <a:srgbClr val="0417CC"/>
                </a:solidFill>
              </a:rPr>
              <a:t>currently in</a:t>
            </a:r>
            <a:r>
              <a:rPr lang="ko-KR" altLang="en-US" i="1" dirty="0">
                <a:solidFill>
                  <a:srgbClr val="0417CC"/>
                </a:solidFill>
              </a:rPr>
              <a:t> </a:t>
            </a:r>
            <a:r>
              <a:rPr lang="en-US" altLang="ko-KR" i="1" dirty="0">
                <a:solidFill>
                  <a:srgbClr val="0417CC"/>
                </a:solidFill>
              </a:rPr>
              <a:t>press</a:t>
            </a:r>
            <a:r>
              <a:rPr lang="en-US" altLang="ko-KR" dirty="0">
                <a:solidFill>
                  <a:srgbClr val="0417CC"/>
                </a:solidFill>
              </a:rPr>
              <a:t>)</a:t>
            </a:r>
          </a:p>
          <a:p>
            <a:pPr marL="0" indent="0">
              <a:buNone/>
            </a:pPr>
            <a:r>
              <a:rPr lang="en-US" altLang="ko-KR" dirty="0"/>
              <a:t>	C6. Improving the Robustness of Reservoir Operations with 	Stochastic Dynamic Programming (Kim et al. 2021)</a:t>
            </a:r>
            <a:br>
              <a:rPr lang="en-US" altLang="ko-KR" dirty="0"/>
            </a:br>
            <a:endParaRPr lang="ko-KR" altLang="en-US" dirty="0"/>
          </a:p>
        </p:txBody>
      </p:sp>
      <p:sp>
        <p:nvSpPr>
          <p:cNvPr id="4" name="슬라이드 번호 개체 틀 3">
            <a:extLst>
              <a:ext uri="{FF2B5EF4-FFF2-40B4-BE49-F238E27FC236}">
                <a16:creationId xmlns:a16="http://schemas.microsoft.com/office/drawing/2014/main" id="{DFD3AD88-F207-4334-A597-D9F06693A166}"/>
              </a:ext>
            </a:extLst>
          </p:cNvPr>
          <p:cNvSpPr>
            <a:spLocks noGrp="1"/>
          </p:cNvSpPr>
          <p:nvPr>
            <p:ph type="sldNum" sz="quarter" idx="12"/>
          </p:nvPr>
        </p:nvSpPr>
        <p:spPr/>
        <p:txBody>
          <a:bodyPr/>
          <a:lstStyle/>
          <a:p>
            <a:fld id="{79822AFB-C284-4A8E-A6EE-41BAA9C576A0}" type="slidenum">
              <a:rPr lang="ko-KR" altLang="en-US" smtClean="0"/>
              <a:t>2</a:t>
            </a:fld>
            <a:endParaRPr lang="ko-KR" altLang="en-US"/>
          </a:p>
        </p:txBody>
      </p:sp>
      <p:sp>
        <p:nvSpPr>
          <p:cNvPr id="5" name="날짜 개체 틀 4">
            <a:extLst>
              <a:ext uri="{FF2B5EF4-FFF2-40B4-BE49-F238E27FC236}">
                <a16:creationId xmlns:a16="http://schemas.microsoft.com/office/drawing/2014/main" id="{D9860913-14B4-46A5-AE92-63D1ADE5839C}"/>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8" name="그림 7">
            <a:extLst>
              <a:ext uri="{FF2B5EF4-FFF2-40B4-BE49-F238E27FC236}">
                <a16:creationId xmlns:a16="http://schemas.microsoft.com/office/drawing/2014/main" id="{4EEF87EE-D62E-4AFC-86DB-B663A29D32E1}"/>
              </a:ext>
            </a:extLst>
          </p:cNvPr>
          <p:cNvPicPr>
            <a:picLocks noChangeAspect="1"/>
          </p:cNvPicPr>
          <p:nvPr/>
        </p:nvPicPr>
        <p:blipFill>
          <a:blip r:embed="rId4"/>
          <a:stretch>
            <a:fillRect/>
          </a:stretch>
        </p:blipFill>
        <p:spPr>
          <a:xfrm>
            <a:off x="4355976" y="4148507"/>
            <a:ext cx="4329656" cy="2572967"/>
          </a:xfrm>
          <a:prstGeom prst="rect">
            <a:avLst/>
          </a:prstGeom>
        </p:spPr>
      </p:pic>
    </p:spTree>
    <p:extLst>
      <p:ext uri="{BB962C8B-B14F-4D97-AF65-F5344CB8AC3E}">
        <p14:creationId xmlns:p14="http://schemas.microsoft.com/office/powerpoint/2010/main" val="1276279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BD3FD2BC-B108-4792-91FA-AFBC7F1D7462}"/>
              </a:ext>
            </a:extLst>
          </p:cNvPr>
          <p:cNvSpPr>
            <a:spLocks noGrp="1"/>
          </p:cNvSpPr>
          <p:nvPr>
            <p:ph type="sldNum" sz="quarter" idx="12"/>
          </p:nvPr>
        </p:nvSpPr>
        <p:spPr/>
        <p:txBody>
          <a:bodyPr/>
          <a:lstStyle/>
          <a:p>
            <a:fld id="{79822AFB-C284-4A8E-A6EE-41BAA9C576A0}" type="slidenum">
              <a:rPr lang="ko-KR" altLang="en-US" smtClean="0"/>
              <a:t>3</a:t>
            </a:fld>
            <a:endParaRPr lang="ko-KR" altLang="en-US"/>
          </a:p>
        </p:txBody>
      </p:sp>
      <p:sp>
        <p:nvSpPr>
          <p:cNvPr id="5" name="날짜 개체 틀 4">
            <a:extLst>
              <a:ext uri="{FF2B5EF4-FFF2-40B4-BE49-F238E27FC236}">
                <a16:creationId xmlns:a16="http://schemas.microsoft.com/office/drawing/2014/main" id="{836BF40D-5007-4946-B5CD-AC6A2B33488B}"/>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내용 개체 틀 4">
            <a:extLst>
              <a:ext uri="{FF2B5EF4-FFF2-40B4-BE49-F238E27FC236}">
                <a16:creationId xmlns:a16="http://schemas.microsoft.com/office/drawing/2014/main" id="{69D46EBE-D264-4909-917E-A98EA53551A2}"/>
              </a:ext>
            </a:extLst>
          </p:cNvPr>
          <p:cNvPicPr>
            <a:picLocks noGrp="1" noChangeAspect="1"/>
          </p:cNvPicPr>
          <p:nvPr>
            <p:ph idx="1"/>
          </p:nvPr>
        </p:nvPicPr>
        <p:blipFill>
          <a:blip r:embed="rId3"/>
          <a:stretch>
            <a:fillRect/>
          </a:stretch>
        </p:blipFill>
        <p:spPr>
          <a:xfrm>
            <a:off x="255823" y="692696"/>
            <a:ext cx="8632354" cy="5184576"/>
          </a:xfrm>
          <a:prstGeom prst="rect">
            <a:avLst/>
          </a:prstGeom>
        </p:spPr>
      </p:pic>
    </p:spTree>
    <p:extLst>
      <p:ext uri="{BB962C8B-B14F-4D97-AF65-F5344CB8AC3E}">
        <p14:creationId xmlns:p14="http://schemas.microsoft.com/office/powerpoint/2010/main" val="185841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1D4B0F-992F-4C9A-AD52-0F656120B3CC}"/>
              </a:ext>
            </a:extLst>
          </p:cNvPr>
          <p:cNvSpPr>
            <a:spLocks noGrp="1"/>
          </p:cNvSpPr>
          <p:nvPr>
            <p:ph type="title"/>
          </p:nvPr>
        </p:nvSpPr>
        <p:spPr/>
        <p:txBody>
          <a:bodyPr>
            <a:normAutofit fontScale="90000"/>
          </a:bodyPr>
          <a:lstStyle/>
          <a:p>
            <a:r>
              <a:rPr lang="en-US" altLang="ko-KR" dirty="0"/>
              <a:t>C4. Coupling Hedging Rules with Optimization Models in Reservoir Operation</a:t>
            </a:r>
            <a:endParaRPr lang="ko-KR" altLang="en-US" dirty="0"/>
          </a:p>
        </p:txBody>
      </p:sp>
      <p:sp>
        <p:nvSpPr>
          <p:cNvPr id="3" name="내용 개체 틀 2">
            <a:extLst>
              <a:ext uri="{FF2B5EF4-FFF2-40B4-BE49-F238E27FC236}">
                <a16:creationId xmlns:a16="http://schemas.microsoft.com/office/drawing/2014/main" id="{069B29FB-E3CA-4B36-A99D-307DE4AC3CEC}"/>
              </a:ext>
            </a:extLst>
          </p:cNvPr>
          <p:cNvSpPr>
            <a:spLocks noGrp="1"/>
          </p:cNvSpPr>
          <p:nvPr>
            <p:ph idx="1"/>
          </p:nvPr>
        </p:nvSpPr>
        <p:spPr/>
        <p:txBody>
          <a:bodyPr/>
          <a:lstStyle/>
          <a:p>
            <a:r>
              <a:rPr lang="en-US" altLang="ko-KR" dirty="0"/>
              <a:t> How does </a:t>
            </a:r>
            <a:r>
              <a:rPr lang="en-US" altLang="ko-KR" b="1" u="sng" dirty="0">
                <a:solidFill>
                  <a:srgbClr val="0417CC"/>
                </a:solidFill>
              </a:rPr>
              <a:t>different optimization models or their formulations</a:t>
            </a:r>
            <a:r>
              <a:rPr lang="en-US" altLang="ko-KR" dirty="0">
                <a:solidFill>
                  <a:srgbClr val="0417CC"/>
                </a:solidFill>
              </a:rPr>
              <a:t> </a:t>
            </a:r>
            <a:r>
              <a:rPr lang="en-US" altLang="ko-KR" dirty="0"/>
              <a:t>affect</a:t>
            </a:r>
            <a:r>
              <a:rPr lang="ko-KR" altLang="en-US" dirty="0"/>
              <a:t> </a:t>
            </a:r>
            <a:r>
              <a:rPr lang="en-US" altLang="ko-KR" dirty="0"/>
              <a:t>both the</a:t>
            </a:r>
            <a:r>
              <a:rPr lang="ko-KR" altLang="en-US" dirty="0"/>
              <a:t> </a:t>
            </a:r>
            <a:r>
              <a:rPr lang="en-US" altLang="ko-KR" b="1" u="sng" dirty="0">
                <a:solidFill>
                  <a:srgbClr val="0417CC"/>
                </a:solidFill>
              </a:rPr>
              <a:t>quality</a:t>
            </a:r>
            <a:r>
              <a:rPr lang="ko-KR" altLang="en-US" b="1" u="sng" dirty="0">
                <a:solidFill>
                  <a:srgbClr val="0417CC"/>
                </a:solidFill>
              </a:rPr>
              <a:t> </a:t>
            </a:r>
            <a:r>
              <a:rPr lang="en-US" altLang="ko-KR" b="1" u="sng" dirty="0">
                <a:solidFill>
                  <a:srgbClr val="0417CC"/>
                </a:solidFill>
              </a:rPr>
              <a:t>and the diversity </a:t>
            </a:r>
            <a:r>
              <a:rPr lang="en-US" altLang="ko-KR" dirty="0"/>
              <a:t>of</a:t>
            </a:r>
            <a:r>
              <a:rPr lang="ko-KR" altLang="en-US" dirty="0"/>
              <a:t> </a:t>
            </a:r>
            <a:r>
              <a:rPr lang="en-US" altLang="ko-KR" dirty="0"/>
              <a:t>solutions in reservoir operation problems?</a:t>
            </a:r>
          </a:p>
          <a:p>
            <a:endParaRPr lang="en-US" altLang="ko-KR" sz="1400" dirty="0"/>
          </a:p>
          <a:p>
            <a:r>
              <a:rPr lang="en-US" altLang="ko-KR" dirty="0"/>
              <a:t> How about when the reservoir was operated with the </a:t>
            </a:r>
            <a:r>
              <a:rPr lang="en-US" altLang="ko-KR" b="1" u="sng" dirty="0">
                <a:solidFill>
                  <a:srgbClr val="0417CC"/>
                </a:solidFill>
              </a:rPr>
              <a:t>status quo (SQ)</a:t>
            </a:r>
            <a:r>
              <a:rPr lang="en-US" altLang="ko-KR" b="1" dirty="0"/>
              <a:t> </a:t>
            </a:r>
            <a:r>
              <a:rPr lang="en-US" altLang="ko-KR" dirty="0"/>
              <a:t>rules? How do they perform under both drought and normal conditions compared to optimal solutions?</a:t>
            </a:r>
          </a:p>
          <a:p>
            <a:endParaRPr lang="en-US" altLang="ko-KR" sz="1400" dirty="0"/>
          </a:p>
          <a:p>
            <a:r>
              <a:rPr lang="en-US" altLang="ko-KR" dirty="0"/>
              <a:t> How does the </a:t>
            </a:r>
            <a:r>
              <a:rPr lang="en-US" altLang="ko-KR" b="1" u="sng" dirty="0">
                <a:solidFill>
                  <a:srgbClr val="0417CC"/>
                </a:solidFill>
              </a:rPr>
              <a:t>implementation of SQ rules with the solutions from optimization algorithms</a:t>
            </a:r>
            <a:r>
              <a:rPr lang="en-US" altLang="ko-KR" b="1" dirty="0"/>
              <a:t> </a:t>
            </a:r>
            <a:r>
              <a:rPr lang="en-US" altLang="ko-KR" dirty="0"/>
              <a:t>improve (or degrade) the performance under extreme drought conditions?</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BE135D38-2A4A-4B40-8B26-D0209343596B}"/>
              </a:ext>
            </a:extLst>
          </p:cNvPr>
          <p:cNvSpPr>
            <a:spLocks noGrp="1"/>
          </p:cNvSpPr>
          <p:nvPr>
            <p:ph type="sldNum" sz="quarter" idx="12"/>
          </p:nvPr>
        </p:nvSpPr>
        <p:spPr/>
        <p:txBody>
          <a:bodyPr/>
          <a:lstStyle/>
          <a:p>
            <a:fld id="{79822AFB-C284-4A8E-A6EE-41BAA9C576A0}" type="slidenum">
              <a:rPr lang="ko-KR" altLang="en-US" smtClean="0"/>
              <a:t>4</a:t>
            </a:fld>
            <a:endParaRPr lang="ko-KR" altLang="en-US"/>
          </a:p>
        </p:txBody>
      </p:sp>
      <p:sp>
        <p:nvSpPr>
          <p:cNvPr id="5" name="날짜 개체 틀 4">
            <a:extLst>
              <a:ext uri="{FF2B5EF4-FFF2-40B4-BE49-F238E27FC236}">
                <a16:creationId xmlns:a16="http://schemas.microsoft.com/office/drawing/2014/main" id="{6CC30004-ABEA-4FB8-A415-9BC8814040EF}"/>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3464813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CE09943-0ECC-4366-8207-DA8FAA410123}"/>
              </a:ext>
            </a:extLst>
          </p:cNvPr>
          <p:cNvSpPr>
            <a:spLocks noGrp="1"/>
          </p:cNvSpPr>
          <p:nvPr>
            <p:ph type="title"/>
          </p:nvPr>
        </p:nvSpPr>
        <p:spPr/>
        <p:txBody>
          <a:bodyPr>
            <a:normAutofit fontScale="90000"/>
          </a:bodyPr>
          <a:lstStyle/>
          <a:p>
            <a:r>
              <a:rPr lang="en-US" altLang="ko-KR" dirty="0"/>
              <a:t>C4. Coupling Hedging Rules with Optimization Models in Reservoir Operation</a:t>
            </a:r>
            <a:endParaRPr lang="ko-KR" altLang="en-US" dirty="0"/>
          </a:p>
        </p:txBody>
      </p:sp>
      <p:sp>
        <p:nvSpPr>
          <p:cNvPr id="3" name="내용 개체 틀 2">
            <a:extLst>
              <a:ext uri="{FF2B5EF4-FFF2-40B4-BE49-F238E27FC236}">
                <a16:creationId xmlns:a16="http://schemas.microsoft.com/office/drawing/2014/main" id="{7FF3D946-0AB9-4A4A-A928-5266234C8BF8}"/>
              </a:ext>
            </a:extLst>
          </p:cNvPr>
          <p:cNvSpPr>
            <a:spLocks noGrp="1"/>
          </p:cNvSpPr>
          <p:nvPr>
            <p:ph idx="1"/>
          </p:nvPr>
        </p:nvSpPr>
        <p:spPr/>
        <p:txBody>
          <a:bodyPr/>
          <a:lstStyle/>
          <a:p>
            <a:r>
              <a:rPr lang="en-US" altLang="ko-KR" dirty="0"/>
              <a:t> 2-Obj. Optimization Models for Optimal Reservoir Operations</a:t>
            </a:r>
          </a:p>
          <a:p>
            <a:pPr lvl="1"/>
            <a:r>
              <a:rPr lang="en-US" altLang="ko-KR" dirty="0"/>
              <a:t> Dynamic Programming-based Models with different information</a:t>
            </a:r>
          </a:p>
          <a:p>
            <a:pPr lvl="2"/>
            <a:r>
              <a:rPr lang="en-US" altLang="ko-KR" dirty="0"/>
              <a:t>Deterministic DP-Perfect (DDP-Perfect)</a:t>
            </a:r>
          </a:p>
          <a:p>
            <a:pPr lvl="2"/>
            <a:r>
              <a:rPr lang="en-US" altLang="ko-KR" dirty="0"/>
              <a:t>Deterministic DP-Monthly Average (DDP-Average)</a:t>
            </a:r>
          </a:p>
          <a:p>
            <a:pPr lvl="2"/>
            <a:r>
              <a:rPr lang="en-US" altLang="ko-KR" dirty="0"/>
              <a:t>Stochastic DP (SDP): Assuming lognormal distribution of inflows</a:t>
            </a:r>
          </a:p>
          <a:p>
            <a:pPr lvl="2"/>
            <a:endParaRPr lang="en-US" altLang="ko-KR" dirty="0"/>
          </a:p>
          <a:p>
            <a:pPr lvl="2"/>
            <a:endParaRPr lang="en-US" altLang="ko-KR" dirty="0"/>
          </a:p>
          <a:p>
            <a:pPr lvl="1"/>
            <a:r>
              <a:rPr lang="en-US" altLang="ko-KR" dirty="0"/>
              <a:t> Evolutionary Multi-Objective Direct Policy Search (EMODPS) Models with different RBF shapes &amp; number of parameters</a:t>
            </a:r>
          </a:p>
          <a:p>
            <a:pPr lvl="2"/>
            <a:r>
              <a:rPr lang="en-US" altLang="ko-KR" dirty="0"/>
              <a:t>EMODPS-Linear: Linearly shaped RBF with 4 policy parameters </a:t>
            </a:r>
          </a:p>
          <a:p>
            <a:pPr lvl="2"/>
            <a:r>
              <a:rPr lang="en-US" altLang="ko-KR" dirty="0"/>
              <a:t>EMODPS-Gaussian: Gaussian shaped RBF with 3 policy parameters</a:t>
            </a:r>
          </a:p>
          <a:p>
            <a:pPr lvl="2"/>
            <a:r>
              <a:rPr lang="en-US" altLang="ko-KR" b="1" dirty="0"/>
              <a:t>EMODPS-Root</a:t>
            </a:r>
            <a:r>
              <a:rPr lang="en-US" altLang="ko-KR" dirty="0"/>
              <a:t>: Root shaped RBF with </a:t>
            </a:r>
            <a:r>
              <a:rPr lang="en-US" altLang="ko-KR" dirty="0">
                <a:solidFill>
                  <a:srgbClr val="0417CC"/>
                </a:solidFill>
              </a:rPr>
              <a:t>6 policy parameters (j=2)</a:t>
            </a:r>
            <a:endParaRPr lang="ko-KR" altLang="en-US" dirty="0">
              <a:solidFill>
                <a:srgbClr val="0417CC"/>
              </a:solidFill>
            </a:endParaRPr>
          </a:p>
          <a:p>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F96B27EE-4794-4274-B5DA-A8A68760B4B1}"/>
              </a:ext>
            </a:extLst>
          </p:cNvPr>
          <p:cNvSpPr>
            <a:spLocks noGrp="1"/>
          </p:cNvSpPr>
          <p:nvPr>
            <p:ph type="sldNum" sz="quarter" idx="12"/>
          </p:nvPr>
        </p:nvSpPr>
        <p:spPr/>
        <p:txBody>
          <a:bodyPr/>
          <a:lstStyle/>
          <a:p>
            <a:fld id="{79822AFB-C284-4A8E-A6EE-41BAA9C576A0}" type="slidenum">
              <a:rPr lang="ko-KR" altLang="en-US" smtClean="0"/>
              <a:t>5</a:t>
            </a:fld>
            <a:endParaRPr lang="ko-KR" altLang="en-US"/>
          </a:p>
        </p:txBody>
      </p:sp>
      <p:sp>
        <p:nvSpPr>
          <p:cNvPr id="5" name="날짜 개체 틀 4">
            <a:extLst>
              <a:ext uri="{FF2B5EF4-FFF2-40B4-BE49-F238E27FC236}">
                <a16:creationId xmlns:a16="http://schemas.microsoft.com/office/drawing/2014/main" id="{E9FFDDF7-7737-4443-ABAD-3832F26F25E7}"/>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graphicFrame>
        <p:nvGraphicFramePr>
          <p:cNvPr id="6" name="개체 5">
            <a:extLst>
              <a:ext uri="{FF2B5EF4-FFF2-40B4-BE49-F238E27FC236}">
                <a16:creationId xmlns:a16="http://schemas.microsoft.com/office/drawing/2014/main" id="{6E478090-5937-4301-A6C8-4E3204DCD487}"/>
              </a:ext>
            </a:extLst>
          </p:cNvPr>
          <p:cNvGraphicFramePr>
            <a:graphicFrameLocks noChangeAspect="1"/>
          </p:cNvGraphicFramePr>
          <p:nvPr>
            <p:extLst>
              <p:ext uri="{D42A27DB-BD31-4B8C-83A1-F6EECF244321}">
                <p14:modId xmlns:p14="http://schemas.microsoft.com/office/powerpoint/2010/main" val="1943892889"/>
              </p:ext>
            </p:extLst>
          </p:nvPr>
        </p:nvGraphicFramePr>
        <p:xfrm>
          <a:off x="1331640" y="3256757"/>
          <a:ext cx="4724401" cy="509587"/>
        </p:xfrm>
        <a:graphic>
          <a:graphicData uri="http://schemas.openxmlformats.org/presentationml/2006/ole">
            <mc:AlternateContent xmlns:mc="http://schemas.openxmlformats.org/markup-compatibility/2006">
              <mc:Choice xmlns:v="urn:schemas-microsoft-com:vml" Requires="v">
                <p:oleObj spid="_x0000_s6200" name="Equation" r:id="rId4" imgW="3517560" imgH="380880" progId="Equation.DSMT4">
                  <p:embed/>
                </p:oleObj>
              </mc:Choice>
              <mc:Fallback>
                <p:oleObj name="Equation" r:id="rId4" imgW="3517560" imgH="380880" progId="Equation.DSMT4">
                  <p:embed/>
                  <p:pic>
                    <p:nvPicPr>
                      <p:cNvPr id="10" name="개체 9">
                        <a:extLst>
                          <a:ext uri="{FF2B5EF4-FFF2-40B4-BE49-F238E27FC236}">
                            <a16:creationId xmlns:a16="http://schemas.microsoft.com/office/drawing/2014/main" id="{F3A826E4-5A9B-49AE-B417-39839626630A}"/>
                          </a:ext>
                        </a:extLst>
                      </p:cNvPr>
                      <p:cNvPicPr/>
                      <p:nvPr/>
                    </p:nvPicPr>
                    <p:blipFill>
                      <a:blip r:embed="rId5"/>
                      <a:stretch>
                        <a:fillRect/>
                      </a:stretch>
                    </p:blipFill>
                    <p:spPr>
                      <a:xfrm>
                        <a:off x="1331640" y="3256757"/>
                        <a:ext cx="4724401" cy="509587"/>
                      </a:xfrm>
                      <a:prstGeom prst="rect">
                        <a:avLst/>
                      </a:prstGeom>
                    </p:spPr>
                  </p:pic>
                </p:oleObj>
              </mc:Fallback>
            </mc:AlternateContent>
          </a:graphicData>
        </a:graphic>
      </p:graphicFrame>
      <p:graphicFrame>
        <p:nvGraphicFramePr>
          <p:cNvPr id="7" name="개체 6">
            <a:extLst>
              <a:ext uri="{FF2B5EF4-FFF2-40B4-BE49-F238E27FC236}">
                <a16:creationId xmlns:a16="http://schemas.microsoft.com/office/drawing/2014/main" id="{4F1D94D3-3742-462F-92B1-F170D4DD5F64}"/>
              </a:ext>
            </a:extLst>
          </p:cNvPr>
          <p:cNvGraphicFramePr>
            <a:graphicFrameLocks noChangeAspect="1"/>
          </p:cNvGraphicFramePr>
          <p:nvPr>
            <p:extLst>
              <p:ext uri="{D42A27DB-BD31-4B8C-83A1-F6EECF244321}">
                <p14:modId xmlns:p14="http://schemas.microsoft.com/office/powerpoint/2010/main" val="583945756"/>
              </p:ext>
            </p:extLst>
          </p:nvPr>
        </p:nvGraphicFramePr>
        <p:xfrm>
          <a:off x="6416675" y="3349625"/>
          <a:ext cx="2609850" cy="323850"/>
        </p:xfrm>
        <a:graphic>
          <a:graphicData uri="http://schemas.openxmlformats.org/presentationml/2006/ole">
            <mc:AlternateContent xmlns:mc="http://schemas.openxmlformats.org/markup-compatibility/2006">
              <mc:Choice xmlns:v="urn:schemas-microsoft-com:vml" Requires="v">
                <p:oleObj spid="_x0000_s6201" name="Equation" r:id="rId6" imgW="1942920" imgH="241200" progId="Equation.DSMT4">
                  <p:embed/>
                </p:oleObj>
              </mc:Choice>
              <mc:Fallback>
                <p:oleObj name="Equation" r:id="rId6" imgW="1942920" imgH="241200" progId="Equation.DSMT4">
                  <p:embed/>
                  <p:pic>
                    <p:nvPicPr>
                      <p:cNvPr id="11" name="개체 10">
                        <a:extLst>
                          <a:ext uri="{FF2B5EF4-FFF2-40B4-BE49-F238E27FC236}">
                            <a16:creationId xmlns:a16="http://schemas.microsoft.com/office/drawing/2014/main" id="{BD264B6E-5396-4F72-BDCE-994865A5EF21}"/>
                          </a:ext>
                        </a:extLst>
                      </p:cNvPr>
                      <p:cNvPicPr/>
                      <p:nvPr/>
                    </p:nvPicPr>
                    <p:blipFill>
                      <a:blip r:embed="rId7"/>
                      <a:stretch>
                        <a:fillRect/>
                      </a:stretch>
                    </p:blipFill>
                    <p:spPr>
                      <a:xfrm>
                        <a:off x="6416675" y="3349625"/>
                        <a:ext cx="2609850" cy="323850"/>
                      </a:xfrm>
                      <a:prstGeom prst="rect">
                        <a:avLst/>
                      </a:prstGeom>
                    </p:spPr>
                  </p:pic>
                </p:oleObj>
              </mc:Fallback>
            </mc:AlternateContent>
          </a:graphicData>
        </a:graphic>
      </p:graphicFrame>
      <p:graphicFrame>
        <p:nvGraphicFramePr>
          <p:cNvPr id="8" name="개체 7">
            <a:extLst>
              <a:ext uri="{FF2B5EF4-FFF2-40B4-BE49-F238E27FC236}">
                <a16:creationId xmlns:a16="http://schemas.microsoft.com/office/drawing/2014/main" id="{FB8D7416-45BC-4650-BC1E-3C7BE2A02849}"/>
              </a:ext>
            </a:extLst>
          </p:cNvPr>
          <p:cNvGraphicFramePr>
            <a:graphicFrameLocks noChangeAspect="1"/>
          </p:cNvGraphicFramePr>
          <p:nvPr>
            <p:extLst>
              <p:ext uri="{D42A27DB-BD31-4B8C-83A1-F6EECF244321}">
                <p14:modId xmlns:p14="http://schemas.microsoft.com/office/powerpoint/2010/main" val="3682926569"/>
              </p:ext>
            </p:extLst>
          </p:nvPr>
        </p:nvGraphicFramePr>
        <p:xfrm>
          <a:off x="2627784" y="5768181"/>
          <a:ext cx="4416425" cy="817563"/>
        </p:xfrm>
        <a:graphic>
          <a:graphicData uri="http://schemas.openxmlformats.org/presentationml/2006/ole">
            <mc:AlternateContent xmlns:mc="http://schemas.openxmlformats.org/markup-compatibility/2006">
              <mc:Choice xmlns:v="urn:schemas-microsoft-com:vml" Requires="v">
                <p:oleObj spid="_x0000_s6202" name="Equation" r:id="rId8" imgW="3288960" imgH="609480" progId="Equation.DSMT4">
                  <p:embed/>
                </p:oleObj>
              </mc:Choice>
              <mc:Fallback>
                <p:oleObj name="Equation" r:id="rId8" imgW="3288960" imgH="609480" progId="Equation.DSMT4">
                  <p:embed/>
                  <p:pic>
                    <p:nvPicPr>
                      <p:cNvPr id="6" name="개체 5">
                        <a:extLst>
                          <a:ext uri="{FF2B5EF4-FFF2-40B4-BE49-F238E27FC236}">
                            <a16:creationId xmlns:a16="http://schemas.microsoft.com/office/drawing/2014/main" id="{A456EAEB-A7FB-43EE-B21E-B56D060547DE}"/>
                          </a:ext>
                        </a:extLst>
                      </p:cNvPr>
                      <p:cNvPicPr/>
                      <p:nvPr/>
                    </p:nvPicPr>
                    <p:blipFill>
                      <a:blip r:embed="rId9"/>
                      <a:stretch>
                        <a:fillRect/>
                      </a:stretch>
                    </p:blipFill>
                    <p:spPr>
                      <a:xfrm>
                        <a:off x="2627784" y="5768181"/>
                        <a:ext cx="4416425" cy="817563"/>
                      </a:xfrm>
                      <a:prstGeom prst="rect">
                        <a:avLst/>
                      </a:prstGeom>
                    </p:spPr>
                  </p:pic>
                </p:oleObj>
              </mc:Fallback>
            </mc:AlternateContent>
          </a:graphicData>
        </a:graphic>
      </p:graphicFrame>
      <p:sp>
        <p:nvSpPr>
          <p:cNvPr id="9" name="타원 8">
            <a:extLst>
              <a:ext uri="{FF2B5EF4-FFF2-40B4-BE49-F238E27FC236}">
                <a16:creationId xmlns:a16="http://schemas.microsoft.com/office/drawing/2014/main" id="{48744269-76E1-4F9E-B28C-1E80B455FA7B}"/>
              </a:ext>
            </a:extLst>
          </p:cNvPr>
          <p:cNvSpPr/>
          <p:nvPr/>
        </p:nvSpPr>
        <p:spPr>
          <a:xfrm>
            <a:off x="4271392" y="6032946"/>
            <a:ext cx="288032" cy="288032"/>
          </a:xfrm>
          <a:prstGeom prst="ellipse">
            <a:avLst/>
          </a:prstGeom>
          <a:noFill/>
          <a:ln>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49731297-ED1F-4E27-B2D6-54BEF03B25D9}"/>
              </a:ext>
            </a:extLst>
          </p:cNvPr>
          <p:cNvSpPr/>
          <p:nvPr/>
        </p:nvSpPr>
        <p:spPr>
          <a:xfrm>
            <a:off x="5436096" y="5903887"/>
            <a:ext cx="288032" cy="288032"/>
          </a:xfrm>
          <a:prstGeom prst="ellipse">
            <a:avLst/>
          </a:prstGeom>
          <a:noFill/>
          <a:ln>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DC009303-D9AB-42D0-B8EF-2DAB7C540413}"/>
              </a:ext>
            </a:extLst>
          </p:cNvPr>
          <p:cNvSpPr/>
          <p:nvPr/>
        </p:nvSpPr>
        <p:spPr>
          <a:xfrm>
            <a:off x="5220072" y="6189042"/>
            <a:ext cx="288032" cy="288032"/>
          </a:xfrm>
          <a:prstGeom prst="ellipse">
            <a:avLst/>
          </a:prstGeom>
          <a:noFill/>
          <a:ln>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9400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F4620BB-38EB-4BFF-BE31-F5ECC66E337D}"/>
              </a:ext>
            </a:extLst>
          </p:cNvPr>
          <p:cNvSpPr>
            <a:spLocks noGrp="1"/>
          </p:cNvSpPr>
          <p:nvPr>
            <p:ph type="title"/>
          </p:nvPr>
        </p:nvSpPr>
        <p:spPr/>
        <p:txBody>
          <a:bodyPr>
            <a:normAutofit fontScale="90000"/>
          </a:bodyPr>
          <a:lstStyle/>
          <a:p>
            <a:r>
              <a:rPr lang="en-US" altLang="ko-KR" dirty="0"/>
              <a:t>C4. Coupling Hedging Rules with Optimization Models in Reservoir Operation</a:t>
            </a:r>
            <a:endParaRPr lang="ko-KR" altLang="en-US" dirty="0"/>
          </a:p>
        </p:txBody>
      </p:sp>
      <p:sp>
        <p:nvSpPr>
          <p:cNvPr id="4" name="슬라이드 번호 개체 틀 3">
            <a:extLst>
              <a:ext uri="{FF2B5EF4-FFF2-40B4-BE49-F238E27FC236}">
                <a16:creationId xmlns:a16="http://schemas.microsoft.com/office/drawing/2014/main" id="{B94FAD5E-347D-4971-BEE0-7D1A68A15A5F}"/>
              </a:ext>
            </a:extLst>
          </p:cNvPr>
          <p:cNvSpPr>
            <a:spLocks noGrp="1"/>
          </p:cNvSpPr>
          <p:nvPr>
            <p:ph type="sldNum" sz="quarter" idx="12"/>
          </p:nvPr>
        </p:nvSpPr>
        <p:spPr/>
        <p:txBody>
          <a:bodyPr/>
          <a:lstStyle/>
          <a:p>
            <a:fld id="{79822AFB-C284-4A8E-A6EE-41BAA9C576A0}" type="slidenum">
              <a:rPr lang="ko-KR" altLang="en-US" smtClean="0"/>
              <a:t>6</a:t>
            </a:fld>
            <a:endParaRPr lang="ko-KR" altLang="en-US"/>
          </a:p>
        </p:txBody>
      </p:sp>
      <p:sp>
        <p:nvSpPr>
          <p:cNvPr id="5" name="날짜 개체 틀 4">
            <a:extLst>
              <a:ext uri="{FF2B5EF4-FFF2-40B4-BE49-F238E27FC236}">
                <a16:creationId xmlns:a16="http://schemas.microsoft.com/office/drawing/2014/main" id="{3A507111-0EE2-4619-A5E5-17B07C68F57D}"/>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내용 개체 틀 6">
            <a:extLst>
              <a:ext uri="{FF2B5EF4-FFF2-40B4-BE49-F238E27FC236}">
                <a16:creationId xmlns:a16="http://schemas.microsoft.com/office/drawing/2014/main" id="{5227948C-D572-4F32-A8D1-F72755EF4A20}"/>
              </a:ext>
            </a:extLst>
          </p:cNvPr>
          <p:cNvPicPr>
            <a:picLocks noGrp="1" noChangeAspect="1"/>
          </p:cNvPicPr>
          <p:nvPr>
            <p:ph idx="1"/>
          </p:nvPr>
        </p:nvPicPr>
        <p:blipFill>
          <a:blip r:embed="rId3"/>
          <a:stretch>
            <a:fillRect/>
          </a:stretch>
        </p:blipFill>
        <p:spPr>
          <a:xfrm>
            <a:off x="690496" y="1268413"/>
            <a:ext cx="7763008" cy="4908550"/>
          </a:xfrm>
          <a:prstGeom prst="rect">
            <a:avLst/>
          </a:prstGeom>
        </p:spPr>
      </p:pic>
    </p:spTree>
    <p:extLst>
      <p:ext uri="{BB962C8B-B14F-4D97-AF65-F5344CB8AC3E}">
        <p14:creationId xmlns:p14="http://schemas.microsoft.com/office/powerpoint/2010/main" val="720799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B49B02-C4E9-4D82-BBAA-80A6D43CF98B}"/>
              </a:ext>
            </a:extLst>
          </p:cNvPr>
          <p:cNvSpPr>
            <a:spLocks noGrp="1"/>
          </p:cNvSpPr>
          <p:nvPr>
            <p:ph type="title"/>
          </p:nvPr>
        </p:nvSpPr>
        <p:spPr/>
        <p:txBody>
          <a:bodyPr>
            <a:normAutofit fontScale="90000"/>
          </a:bodyPr>
          <a:lstStyle/>
          <a:p>
            <a:r>
              <a:rPr lang="en-US" altLang="ko-KR" dirty="0"/>
              <a:t>C4. Coupling Hedging Rules with Optimization Models in Reservoir Operation</a:t>
            </a:r>
            <a:endParaRPr lang="ko-KR" altLang="en-US" dirty="0"/>
          </a:p>
        </p:txBody>
      </p:sp>
      <p:sp>
        <p:nvSpPr>
          <p:cNvPr id="3" name="내용 개체 틀 2">
            <a:extLst>
              <a:ext uri="{FF2B5EF4-FFF2-40B4-BE49-F238E27FC236}">
                <a16:creationId xmlns:a16="http://schemas.microsoft.com/office/drawing/2014/main" id="{307350B6-CC3F-4447-9361-15EE4E028C72}"/>
              </a:ext>
            </a:extLst>
          </p:cNvPr>
          <p:cNvSpPr>
            <a:spLocks noGrp="1"/>
          </p:cNvSpPr>
          <p:nvPr>
            <p:ph idx="1"/>
          </p:nvPr>
        </p:nvSpPr>
        <p:spPr/>
        <p:txBody>
          <a:bodyPr/>
          <a:lstStyle/>
          <a:p>
            <a:r>
              <a:rPr lang="en-US" altLang="ko-KR" dirty="0"/>
              <a:t> During simulation, real-world reservoir operating policy is coupled with the best performing optimization model: </a:t>
            </a:r>
            <a:r>
              <a:rPr lang="en-US" altLang="ko-KR" b="1" dirty="0"/>
              <a:t>EMODPS-Gaussian</a:t>
            </a:r>
            <a:endParaRPr lang="ko-KR" altLang="en-US" b="1" dirty="0"/>
          </a:p>
          <a:p>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FF4A5754-0B17-4A02-A6D4-FCBE8B38BE84}"/>
              </a:ext>
            </a:extLst>
          </p:cNvPr>
          <p:cNvSpPr>
            <a:spLocks noGrp="1"/>
          </p:cNvSpPr>
          <p:nvPr>
            <p:ph type="sldNum" sz="quarter" idx="12"/>
          </p:nvPr>
        </p:nvSpPr>
        <p:spPr/>
        <p:txBody>
          <a:bodyPr/>
          <a:lstStyle/>
          <a:p>
            <a:fld id="{79822AFB-C284-4A8E-A6EE-41BAA9C576A0}" type="slidenum">
              <a:rPr lang="ko-KR" altLang="en-US" smtClean="0"/>
              <a:t>7</a:t>
            </a:fld>
            <a:endParaRPr lang="ko-KR" altLang="en-US"/>
          </a:p>
        </p:txBody>
      </p:sp>
      <p:sp>
        <p:nvSpPr>
          <p:cNvPr id="5" name="날짜 개체 틀 4">
            <a:extLst>
              <a:ext uri="{FF2B5EF4-FFF2-40B4-BE49-F238E27FC236}">
                <a16:creationId xmlns:a16="http://schemas.microsoft.com/office/drawing/2014/main" id="{8A93BD50-8CE4-415D-A269-E9850902D9BB}"/>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grpSp>
        <p:nvGrpSpPr>
          <p:cNvPr id="6" name="그룹 5">
            <a:extLst>
              <a:ext uri="{FF2B5EF4-FFF2-40B4-BE49-F238E27FC236}">
                <a16:creationId xmlns:a16="http://schemas.microsoft.com/office/drawing/2014/main" id="{7BC27584-606F-4DDA-AD63-37B50033F832}"/>
              </a:ext>
            </a:extLst>
          </p:cNvPr>
          <p:cNvGrpSpPr/>
          <p:nvPr/>
        </p:nvGrpSpPr>
        <p:grpSpPr>
          <a:xfrm>
            <a:off x="849372" y="3016758"/>
            <a:ext cx="3367284" cy="2520280"/>
            <a:chOff x="5004048" y="2708920"/>
            <a:chExt cx="3888432" cy="2952777"/>
          </a:xfrm>
        </p:grpSpPr>
        <p:pic>
          <p:nvPicPr>
            <p:cNvPr id="7" name="내용 개체 틀 6">
              <a:extLst>
                <a:ext uri="{FF2B5EF4-FFF2-40B4-BE49-F238E27FC236}">
                  <a16:creationId xmlns:a16="http://schemas.microsoft.com/office/drawing/2014/main" id="{D6B1D85C-09B9-4E88-8C8F-F530FE3BBFED}"/>
                </a:ext>
              </a:extLst>
            </p:cNvPr>
            <p:cNvPicPr>
              <a:picLocks noChangeAspect="1"/>
            </p:cNvPicPr>
            <p:nvPr/>
          </p:nvPicPr>
          <p:blipFill rotWithShape="1">
            <a:blip r:embed="rId3"/>
            <a:srcRect l="40561" t="50706" r="18394"/>
            <a:stretch/>
          </p:blipFill>
          <p:spPr>
            <a:xfrm>
              <a:off x="5004048" y="2708920"/>
              <a:ext cx="3888432" cy="2952777"/>
            </a:xfrm>
            <a:prstGeom prst="rect">
              <a:avLst/>
            </a:prstGeom>
          </p:spPr>
        </p:pic>
        <p:pic>
          <p:nvPicPr>
            <p:cNvPr id="8" name="그림 7">
              <a:extLst>
                <a:ext uri="{FF2B5EF4-FFF2-40B4-BE49-F238E27FC236}">
                  <a16:creationId xmlns:a16="http://schemas.microsoft.com/office/drawing/2014/main" id="{1B1C0CBD-7546-4FA1-944F-96759BC0E99D}"/>
                </a:ext>
              </a:extLst>
            </p:cNvPr>
            <p:cNvPicPr>
              <a:picLocks noChangeAspect="1"/>
            </p:cNvPicPr>
            <p:nvPr/>
          </p:nvPicPr>
          <p:blipFill>
            <a:blip r:embed="rId4"/>
            <a:stretch>
              <a:fillRect/>
            </a:stretch>
          </p:blipFill>
          <p:spPr>
            <a:xfrm>
              <a:off x="7452320" y="2896184"/>
              <a:ext cx="1146387" cy="1304354"/>
            </a:xfrm>
            <a:prstGeom prst="rect">
              <a:avLst/>
            </a:prstGeom>
          </p:spPr>
        </p:pic>
        <p:sp>
          <p:nvSpPr>
            <p:cNvPr id="9" name="직사각형 8">
              <a:extLst>
                <a:ext uri="{FF2B5EF4-FFF2-40B4-BE49-F238E27FC236}">
                  <a16:creationId xmlns:a16="http://schemas.microsoft.com/office/drawing/2014/main" id="{86F943DA-1E10-4732-A1F8-BC7EA3FED23F}"/>
                </a:ext>
              </a:extLst>
            </p:cNvPr>
            <p:cNvSpPr/>
            <p:nvPr/>
          </p:nvSpPr>
          <p:spPr>
            <a:xfrm>
              <a:off x="7499130" y="3717031"/>
              <a:ext cx="1063028" cy="14401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십자형 9">
            <a:extLst>
              <a:ext uri="{FF2B5EF4-FFF2-40B4-BE49-F238E27FC236}">
                <a16:creationId xmlns:a16="http://schemas.microsoft.com/office/drawing/2014/main" id="{4CDEE601-34D9-4C63-9E98-8BB4625EAC16}"/>
              </a:ext>
            </a:extLst>
          </p:cNvPr>
          <p:cNvSpPr/>
          <p:nvPr/>
        </p:nvSpPr>
        <p:spPr>
          <a:xfrm>
            <a:off x="4135258" y="3872471"/>
            <a:ext cx="792088" cy="808853"/>
          </a:xfrm>
          <a:prstGeom prst="plus">
            <a:avLst>
              <a:gd name="adj" fmla="val 4422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7F46F626-2DCD-475B-A6AE-958C2DC88996}"/>
              </a:ext>
            </a:extLst>
          </p:cNvPr>
          <p:cNvPicPr>
            <a:picLocks noChangeAspect="1"/>
          </p:cNvPicPr>
          <p:nvPr/>
        </p:nvPicPr>
        <p:blipFill>
          <a:blip r:embed="rId5"/>
          <a:stretch>
            <a:fillRect/>
          </a:stretch>
        </p:blipFill>
        <p:spPr>
          <a:xfrm>
            <a:off x="5225616" y="5199767"/>
            <a:ext cx="3459087" cy="1388368"/>
          </a:xfrm>
          <a:prstGeom prst="rect">
            <a:avLst/>
          </a:prstGeom>
        </p:spPr>
      </p:pic>
      <p:grpSp>
        <p:nvGrpSpPr>
          <p:cNvPr id="12" name="그룹 11">
            <a:extLst>
              <a:ext uri="{FF2B5EF4-FFF2-40B4-BE49-F238E27FC236}">
                <a16:creationId xmlns:a16="http://schemas.microsoft.com/office/drawing/2014/main" id="{CAA48502-2B9E-4DEA-9D7A-F313193CDAB8}"/>
              </a:ext>
            </a:extLst>
          </p:cNvPr>
          <p:cNvGrpSpPr/>
          <p:nvPr/>
        </p:nvGrpSpPr>
        <p:grpSpPr>
          <a:xfrm>
            <a:off x="5053928" y="2487488"/>
            <a:ext cx="3800128" cy="2245311"/>
            <a:chOff x="5053928" y="2487488"/>
            <a:chExt cx="3800128" cy="2245311"/>
          </a:xfrm>
        </p:grpSpPr>
        <p:pic>
          <p:nvPicPr>
            <p:cNvPr id="13" name="그림 12">
              <a:extLst>
                <a:ext uri="{FF2B5EF4-FFF2-40B4-BE49-F238E27FC236}">
                  <a16:creationId xmlns:a16="http://schemas.microsoft.com/office/drawing/2014/main" id="{3841CA2A-CD0F-452D-8EDF-BCACC7B2C3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53928" y="2487488"/>
              <a:ext cx="3800128" cy="2245311"/>
            </a:xfrm>
            <a:prstGeom prst="rect">
              <a:avLst/>
            </a:prstGeom>
          </p:spPr>
        </p:pic>
        <p:sp>
          <p:nvSpPr>
            <p:cNvPr id="14" name="TextBox 13">
              <a:extLst>
                <a:ext uri="{FF2B5EF4-FFF2-40B4-BE49-F238E27FC236}">
                  <a16:creationId xmlns:a16="http://schemas.microsoft.com/office/drawing/2014/main" id="{96320637-A23D-4C28-B923-F13573994567}"/>
                </a:ext>
              </a:extLst>
            </p:cNvPr>
            <p:cNvSpPr txBox="1"/>
            <p:nvPr/>
          </p:nvSpPr>
          <p:spPr>
            <a:xfrm>
              <a:off x="7394603" y="2595006"/>
              <a:ext cx="889987" cy="230832"/>
            </a:xfrm>
            <a:prstGeom prst="rect">
              <a:avLst/>
            </a:prstGeom>
            <a:noFill/>
          </p:spPr>
          <p:txBody>
            <a:bodyPr wrap="none" rtlCol="0">
              <a:spAutoFit/>
            </a:bodyPr>
            <a:lstStyle/>
            <a:p>
              <a:r>
                <a:rPr lang="en-US" altLang="ko-KR" sz="900" b="1" dirty="0">
                  <a:latin typeface="Helvetica" panose="020B0604020202020204" pitchFamily="34" charset="0"/>
                  <a:cs typeface="Helvetica" panose="020B0604020202020204" pitchFamily="34" charset="0"/>
                </a:rPr>
                <a:t>Normal Zone</a:t>
              </a:r>
              <a:endParaRPr lang="ko-KR" altLang="en-US" sz="900" b="1" dirty="0">
                <a:latin typeface="Helvetica" panose="020B0604020202020204" pitchFamily="34" charset="0"/>
                <a:cs typeface="Helvetica" panose="020B0604020202020204" pitchFamily="34" charset="0"/>
              </a:endParaRPr>
            </a:p>
          </p:txBody>
        </p:sp>
        <p:sp>
          <p:nvSpPr>
            <p:cNvPr id="15" name="TextBox 14">
              <a:extLst>
                <a:ext uri="{FF2B5EF4-FFF2-40B4-BE49-F238E27FC236}">
                  <a16:creationId xmlns:a16="http://schemas.microsoft.com/office/drawing/2014/main" id="{57F8D796-0E31-47D2-BE1C-7FDEC12DC016}"/>
                </a:ext>
              </a:extLst>
            </p:cNvPr>
            <p:cNvSpPr txBox="1"/>
            <p:nvPr/>
          </p:nvSpPr>
          <p:spPr>
            <a:xfrm>
              <a:off x="7561318" y="2867744"/>
              <a:ext cx="556563" cy="230832"/>
            </a:xfrm>
            <a:prstGeom prst="rect">
              <a:avLst/>
            </a:prstGeom>
            <a:noFill/>
          </p:spPr>
          <p:txBody>
            <a:bodyPr wrap="none" rtlCol="0">
              <a:spAutoFit/>
            </a:bodyPr>
            <a:lstStyle/>
            <a:p>
              <a:r>
                <a:rPr lang="en-US" altLang="ko-KR" sz="900" b="1" dirty="0">
                  <a:solidFill>
                    <a:schemeClr val="accent1"/>
                  </a:solidFill>
                  <a:latin typeface="Helvetica" panose="020B0604020202020204" pitchFamily="34" charset="0"/>
                  <a:cs typeface="Helvetica" panose="020B0604020202020204" pitchFamily="34" charset="0"/>
                </a:rPr>
                <a:t>Zone 1</a:t>
              </a:r>
              <a:endParaRPr lang="ko-KR" altLang="en-US" sz="900" b="1" dirty="0">
                <a:solidFill>
                  <a:schemeClr val="accent1"/>
                </a:solidFill>
                <a:latin typeface="Helvetica" panose="020B0604020202020204" pitchFamily="34" charset="0"/>
                <a:cs typeface="Helvetica" panose="020B0604020202020204" pitchFamily="34" charset="0"/>
              </a:endParaRPr>
            </a:p>
          </p:txBody>
        </p:sp>
        <p:sp>
          <p:nvSpPr>
            <p:cNvPr id="16" name="TextBox 15">
              <a:extLst>
                <a:ext uri="{FF2B5EF4-FFF2-40B4-BE49-F238E27FC236}">
                  <a16:creationId xmlns:a16="http://schemas.microsoft.com/office/drawing/2014/main" id="{8856CB83-893E-48FD-8EAE-E55CEDFF79CC}"/>
                </a:ext>
              </a:extLst>
            </p:cNvPr>
            <p:cNvSpPr txBox="1"/>
            <p:nvPr/>
          </p:nvSpPr>
          <p:spPr>
            <a:xfrm>
              <a:off x="7561317" y="3164188"/>
              <a:ext cx="556563" cy="230832"/>
            </a:xfrm>
            <a:prstGeom prst="rect">
              <a:avLst/>
            </a:prstGeom>
            <a:noFill/>
          </p:spPr>
          <p:txBody>
            <a:bodyPr wrap="none" rtlCol="0">
              <a:spAutoFit/>
            </a:bodyPr>
            <a:lstStyle/>
            <a:p>
              <a:r>
                <a:rPr lang="en-US" altLang="ko-KR" sz="900" b="1" dirty="0">
                  <a:solidFill>
                    <a:schemeClr val="accent4"/>
                  </a:solidFill>
                  <a:latin typeface="Helvetica" panose="020B0604020202020204" pitchFamily="34" charset="0"/>
                  <a:cs typeface="Helvetica" panose="020B0604020202020204" pitchFamily="34" charset="0"/>
                </a:rPr>
                <a:t>Zone 2</a:t>
              </a:r>
              <a:endParaRPr lang="ko-KR" altLang="en-US" sz="900" b="1" dirty="0">
                <a:solidFill>
                  <a:schemeClr val="accent4"/>
                </a:solidFill>
                <a:latin typeface="Helvetica" panose="020B0604020202020204" pitchFamily="34" charset="0"/>
                <a:cs typeface="Helvetica" panose="020B0604020202020204" pitchFamily="34" charset="0"/>
              </a:endParaRPr>
            </a:p>
          </p:txBody>
        </p:sp>
        <p:sp>
          <p:nvSpPr>
            <p:cNvPr id="17" name="TextBox 16">
              <a:extLst>
                <a:ext uri="{FF2B5EF4-FFF2-40B4-BE49-F238E27FC236}">
                  <a16:creationId xmlns:a16="http://schemas.microsoft.com/office/drawing/2014/main" id="{24959D7A-19FC-49EE-92FF-5FB48AB337CC}"/>
                </a:ext>
              </a:extLst>
            </p:cNvPr>
            <p:cNvSpPr txBox="1"/>
            <p:nvPr/>
          </p:nvSpPr>
          <p:spPr>
            <a:xfrm>
              <a:off x="7561316" y="3610143"/>
              <a:ext cx="556563" cy="230832"/>
            </a:xfrm>
            <a:prstGeom prst="rect">
              <a:avLst/>
            </a:prstGeom>
            <a:noFill/>
          </p:spPr>
          <p:txBody>
            <a:bodyPr wrap="none" rtlCol="0">
              <a:spAutoFit/>
            </a:bodyPr>
            <a:lstStyle/>
            <a:p>
              <a:r>
                <a:rPr lang="en-US" altLang="ko-KR" sz="900" b="1" dirty="0">
                  <a:solidFill>
                    <a:schemeClr val="accent2"/>
                  </a:solidFill>
                  <a:latin typeface="Helvetica" panose="020B0604020202020204" pitchFamily="34" charset="0"/>
                  <a:cs typeface="Helvetica" panose="020B0604020202020204" pitchFamily="34" charset="0"/>
                </a:rPr>
                <a:t>Zone 3</a:t>
              </a:r>
              <a:endParaRPr lang="ko-KR" altLang="en-US" sz="900" b="1" dirty="0">
                <a:solidFill>
                  <a:schemeClr val="accent2"/>
                </a:solidFill>
                <a:latin typeface="Helvetica" panose="020B0604020202020204" pitchFamily="34" charset="0"/>
                <a:cs typeface="Helvetica" panose="020B0604020202020204" pitchFamily="34" charset="0"/>
              </a:endParaRPr>
            </a:p>
          </p:txBody>
        </p:sp>
        <p:sp>
          <p:nvSpPr>
            <p:cNvPr id="18" name="TextBox 17">
              <a:extLst>
                <a:ext uri="{FF2B5EF4-FFF2-40B4-BE49-F238E27FC236}">
                  <a16:creationId xmlns:a16="http://schemas.microsoft.com/office/drawing/2014/main" id="{E27E236C-ED4F-449C-BE5B-E5067ADA3CFB}"/>
                </a:ext>
              </a:extLst>
            </p:cNvPr>
            <p:cNvSpPr txBox="1"/>
            <p:nvPr/>
          </p:nvSpPr>
          <p:spPr>
            <a:xfrm>
              <a:off x="7561316" y="4121710"/>
              <a:ext cx="556563" cy="230832"/>
            </a:xfrm>
            <a:prstGeom prst="rect">
              <a:avLst/>
            </a:prstGeom>
            <a:noFill/>
          </p:spPr>
          <p:txBody>
            <a:bodyPr wrap="none" rtlCol="0">
              <a:spAutoFit/>
            </a:bodyPr>
            <a:lstStyle/>
            <a:p>
              <a:r>
                <a:rPr lang="en-US" altLang="ko-KR" sz="900" b="1" dirty="0">
                  <a:solidFill>
                    <a:srgbClr val="FF0000"/>
                  </a:solidFill>
                  <a:latin typeface="Helvetica" panose="020B0604020202020204" pitchFamily="34" charset="0"/>
                  <a:cs typeface="Helvetica" panose="020B0604020202020204" pitchFamily="34" charset="0"/>
                </a:rPr>
                <a:t>Zone 4</a:t>
              </a:r>
              <a:endParaRPr lang="ko-KR" altLang="en-US" sz="900" b="1" dirty="0">
                <a:solidFill>
                  <a:srgbClr val="FF0000"/>
                </a:solidFill>
                <a:latin typeface="Helvetica" panose="020B0604020202020204" pitchFamily="34" charset="0"/>
                <a:cs typeface="Helvetica" panose="020B0604020202020204" pitchFamily="34" charset="0"/>
              </a:endParaRPr>
            </a:p>
          </p:txBody>
        </p:sp>
      </p:grpSp>
      <p:sp>
        <p:nvSpPr>
          <p:cNvPr id="19" name="TextBox 18">
            <a:extLst>
              <a:ext uri="{FF2B5EF4-FFF2-40B4-BE49-F238E27FC236}">
                <a16:creationId xmlns:a16="http://schemas.microsoft.com/office/drawing/2014/main" id="{DE428C7E-BB7B-4966-A497-71B38578D3E6}"/>
              </a:ext>
            </a:extLst>
          </p:cNvPr>
          <p:cNvSpPr txBox="1"/>
          <p:nvPr/>
        </p:nvSpPr>
        <p:spPr>
          <a:xfrm>
            <a:off x="5207143" y="4680645"/>
            <a:ext cx="3636060"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Fig. 9. Actual Rule Curves of </a:t>
            </a:r>
            <a:r>
              <a:rPr lang="en-US" altLang="ko-KR" sz="1200" dirty="0" err="1">
                <a:latin typeface="Gill Sans MT" panose="020B0502020104020203" pitchFamily="34" charset="0"/>
                <a:cs typeface="Helvetica" panose="020B0604020202020204" pitchFamily="34" charset="0"/>
              </a:rPr>
              <a:t>Boryeong</a:t>
            </a:r>
            <a:r>
              <a:rPr lang="en-US" altLang="ko-KR" sz="1200" dirty="0">
                <a:latin typeface="Gill Sans MT" panose="020B0502020104020203" pitchFamily="34" charset="0"/>
                <a:cs typeface="Helvetica" panose="020B0604020202020204" pitchFamily="34" charset="0"/>
              </a:rPr>
              <a:t> Reservoir, Korea</a:t>
            </a:r>
            <a:endParaRPr lang="ko-KR" altLang="en-US" sz="1200" dirty="0">
              <a:latin typeface="Gill Sans MT" panose="020B0502020104020203" pitchFamily="34" charset="0"/>
              <a:cs typeface="Helvetica" panose="020B0604020202020204" pitchFamily="34" charset="0"/>
            </a:endParaRPr>
          </a:p>
        </p:txBody>
      </p:sp>
      <p:sp>
        <p:nvSpPr>
          <p:cNvPr id="20" name="TextBox 19">
            <a:extLst>
              <a:ext uri="{FF2B5EF4-FFF2-40B4-BE49-F238E27FC236}">
                <a16:creationId xmlns:a16="http://schemas.microsoft.com/office/drawing/2014/main" id="{0D15201C-4BF5-4CBB-88B5-B8CE01660424}"/>
              </a:ext>
            </a:extLst>
          </p:cNvPr>
          <p:cNvSpPr txBox="1"/>
          <p:nvPr/>
        </p:nvSpPr>
        <p:spPr>
          <a:xfrm>
            <a:off x="5145101" y="4957644"/>
            <a:ext cx="2881558" cy="276999"/>
          </a:xfrm>
          <a:prstGeom prst="rect">
            <a:avLst/>
          </a:prstGeom>
          <a:noFill/>
        </p:spPr>
        <p:txBody>
          <a:bodyPr wrap="none" rtlCol="0">
            <a:spAutoFit/>
          </a:bodyPr>
          <a:lstStyle/>
          <a:p>
            <a:r>
              <a:rPr lang="en-US" altLang="ko-KR" sz="1200" dirty="0">
                <a:latin typeface="Gill Sans MT" panose="020B0502020104020203" pitchFamily="34" charset="0"/>
                <a:cs typeface="Helvetica" panose="020B0604020202020204" pitchFamily="34" charset="0"/>
              </a:rPr>
              <a:t>Table 3. Ratios implemented during hedging</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50100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285F2A2-8BF5-485D-8456-2309E132C675}"/>
              </a:ext>
            </a:extLst>
          </p:cNvPr>
          <p:cNvSpPr>
            <a:spLocks noGrp="1"/>
          </p:cNvSpPr>
          <p:nvPr>
            <p:ph type="title"/>
          </p:nvPr>
        </p:nvSpPr>
        <p:spPr/>
        <p:txBody>
          <a:bodyPr>
            <a:normAutofit fontScale="90000"/>
          </a:bodyPr>
          <a:lstStyle/>
          <a:p>
            <a:r>
              <a:rPr lang="en-US" altLang="ko-KR" dirty="0"/>
              <a:t>C4. Coupling Hedging Rules with Optimization Models in Reservoir Operation</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63989026-9D20-4D68-BEC1-E734856D34A7}"/>
                  </a:ext>
                </a:extLst>
              </p:cNvPr>
              <p:cNvSpPr>
                <a:spLocks noGrp="1"/>
              </p:cNvSpPr>
              <p:nvPr>
                <p:ph idx="1"/>
              </p:nvPr>
            </p:nvSpPr>
            <p:spPr/>
            <p:txBody>
              <a:bodyPr/>
              <a:lstStyle/>
              <a:p>
                <a:r>
                  <a:rPr lang="en-US" altLang="ko-KR" dirty="0"/>
                  <a:t> Selected Performance Indices</a:t>
                </a:r>
              </a:p>
              <a:p>
                <a:pPr lvl="1"/>
                <a:r>
                  <a:rPr lang="en-US" altLang="ko-KR" dirty="0"/>
                  <a:t> Risk, Resiliency, and vulnerability (Hashimoto et al. 1982)</a:t>
                </a:r>
              </a:p>
              <a:p>
                <a:pPr lvl="2"/>
                <a:r>
                  <a:rPr lang="en-US" altLang="ko-KR" dirty="0"/>
                  <a:t>Risk (frequency): How frequent was the failure?</a:t>
                </a:r>
              </a:p>
              <a:p>
                <a:pPr lvl="2"/>
                <a:r>
                  <a:rPr lang="en-US" altLang="ko-KR" dirty="0"/>
                  <a:t>Resiliency (duration): How fast does the system come back from failure?</a:t>
                </a:r>
              </a:p>
              <a:p>
                <a:pPr lvl="2"/>
                <a:r>
                  <a:rPr lang="en-US" altLang="ko-KR" dirty="0"/>
                  <a:t>Vulnerability (magnitude): How big is the magnitude of the failure? </a:t>
                </a:r>
              </a:p>
              <a:p>
                <a:pPr lvl="2"/>
                <a:endParaRPr lang="en-US" altLang="ko-KR" dirty="0"/>
              </a:p>
              <a:p>
                <a:pPr lvl="1"/>
                <a:r>
                  <a:rPr lang="en-US" altLang="ko-KR" dirty="0"/>
                  <a:t> Evaluation of performance both from the Supply &amp; Demand side (Definition of Failures)</a:t>
                </a:r>
              </a:p>
              <a:p>
                <a:pPr lvl="2"/>
                <a:r>
                  <a:rPr lang="en-US" altLang="ko-KR" dirty="0"/>
                  <a:t>Supply side (=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𝐽</m:t>
                        </m:r>
                      </m:e>
                      <m:sup>
                        <m:r>
                          <a:rPr lang="en-US" altLang="ko-KR" i="1">
                            <a:latin typeface="Cambria Math" panose="02040503050406030204" pitchFamily="18" charset="0"/>
                          </a:rPr>
                          <m:t>𝑠𝑢𝑝𝑝𝑙𝑦</m:t>
                        </m:r>
                      </m:sup>
                    </m:sSup>
                  </m:oMath>
                </a14:m>
                <a:r>
                  <a:rPr lang="en-US" altLang="ko-KR" dirty="0"/>
                  <a:t>):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𝑆</m:t>
                        </m:r>
                      </m:e>
                      <m:sub>
                        <m:r>
                          <a:rPr lang="en-US" altLang="ko-KR" i="1">
                            <a:latin typeface="Cambria Math" panose="02040503050406030204" pitchFamily="18" charset="0"/>
                          </a:rPr>
                          <m:t>𝑡</m:t>
                        </m:r>
                      </m:sub>
                    </m:sSub>
                    <m:r>
                      <a:rPr lang="en-US" altLang="ko-KR" i="1">
                        <a:latin typeface="Cambria Math" panose="02040503050406030204" pitchFamily="18" charset="0"/>
                      </a:rPr>
                      <m:t>&lt;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𝑆</m:t>
                        </m:r>
                      </m:e>
                      <m:sub>
                        <m:r>
                          <a:rPr lang="en-US" altLang="ko-KR" i="1">
                            <a:latin typeface="Cambria Math" panose="02040503050406030204" pitchFamily="18" charset="0"/>
                          </a:rPr>
                          <m:t>𝑡</m:t>
                        </m:r>
                      </m:sub>
                      <m:sup>
                        <m:r>
                          <a:rPr lang="en-US" altLang="ko-KR" i="1">
                            <a:latin typeface="Cambria Math" panose="02040503050406030204" pitchFamily="18" charset="0"/>
                          </a:rPr>
                          <m:t>𝑡𝑎𝑟𝑔𝑒𝑡</m:t>
                        </m:r>
                      </m:sup>
                    </m:sSubSup>
                  </m:oMath>
                </a14:m>
                <a:r>
                  <a:rPr lang="en-US" altLang="ko-KR" dirty="0"/>
                  <a:t>	</a:t>
                </a:r>
              </a:p>
              <a:p>
                <a:pPr lvl="2"/>
                <a:r>
                  <a:rPr lang="en-US" altLang="ko-KR" dirty="0"/>
                  <a:t>Demand side: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𝑅</m:t>
                        </m:r>
                      </m:e>
                      <m:sub>
                        <m:r>
                          <a:rPr lang="en-US" altLang="ko-KR" i="1">
                            <a:latin typeface="Cambria Math" panose="02040503050406030204" pitchFamily="18" charset="0"/>
                          </a:rPr>
                          <m:t>𝑡</m:t>
                        </m:r>
                      </m:sub>
                    </m:sSub>
                    <m:r>
                      <a:rPr lang="en-US" altLang="ko-KR" i="1">
                        <a:latin typeface="Cambria Math" panose="02040503050406030204" pitchFamily="18" charset="0"/>
                      </a:rPr>
                      <m:t>&lt;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𝐷</m:t>
                        </m:r>
                      </m:e>
                      <m:sub>
                        <m:r>
                          <a:rPr lang="en-US" altLang="ko-KR" i="1">
                            <a:latin typeface="Cambria Math" panose="02040503050406030204" pitchFamily="18" charset="0"/>
                          </a:rPr>
                          <m:t>𝑡</m:t>
                        </m:r>
                      </m:sub>
                      <m:sup>
                        <m:r>
                          <a:rPr lang="en-US" altLang="ko-KR" i="1">
                            <a:latin typeface="Cambria Math" panose="02040503050406030204" pitchFamily="18" charset="0"/>
                          </a:rPr>
                          <m:t>𝑀</m:t>
                        </m:r>
                        <m:r>
                          <a:rPr lang="en-US" altLang="ko-KR" i="1">
                            <a:latin typeface="Cambria Math" panose="02040503050406030204" pitchFamily="18" charset="0"/>
                          </a:rPr>
                          <m:t>&amp;</m:t>
                        </m:r>
                        <m:r>
                          <a:rPr lang="en-US" altLang="ko-KR" i="1">
                            <a:latin typeface="Cambria Math" panose="02040503050406030204" pitchFamily="18" charset="0"/>
                          </a:rPr>
                          <m:t>𝐼</m:t>
                        </m:r>
                      </m:sup>
                    </m:sSubSup>
                  </m:oMath>
                </a14:m>
                <a:r>
                  <a:rPr lang="ko-KR" altLang="en-US" dirty="0"/>
                  <a:t> </a:t>
                </a:r>
                <a:r>
                  <a:rPr lang="en-US" altLang="ko-KR" dirty="0"/>
                  <a:t>or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𝑅</m:t>
                        </m:r>
                      </m:e>
                      <m:sub>
                        <m:r>
                          <a:rPr lang="en-US" altLang="ko-KR" i="1">
                            <a:latin typeface="Cambria Math" panose="02040503050406030204" pitchFamily="18" charset="0"/>
                          </a:rPr>
                          <m:t>𝑡</m:t>
                        </m:r>
                      </m:sub>
                    </m:sSub>
                    <m:r>
                      <a:rPr lang="en-US" altLang="ko-KR" i="1">
                        <a:latin typeface="Cambria Math" panose="02040503050406030204" pitchFamily="18" charset="0"/>
                      </a:rPr>
                      <m:t>&lt;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𝐷</m:t>
                        </m:r>
                      </m:e>
                      <m:sub>
                        <m:r>
                          <a:rPr lang="en-US" altLang="ko-KR" i="1">
                            <a:latin typeface="Cambria Math" panose="02040503050406030204" pitchFamily="18" charset="0"/>
                          </a:rPr>
                          <m:t>𝑡</m:t>
                        </m:r>
                      </m:sub>
                      <m:sup>
                        <m:r>
                          <a:rPr lang="en-US" altLang="ko-KR" i="1">
                            <a:latin typeface="Cambria Math" panose="02040503050406030204" pitchFamily="18" charset="0"/>
                          </a:rPr>
                          <m:t>𝐴𝑔𝑟</m:t>
                        </m:r>
                      </m:sup>
                    </m:sSubSup>
                  </m:oMath>
                </a14:m>
                <a:r>
                  <a:rPr lang="en-US" altLang="ko-KR" dirty="0"/>
                  <a:t> </a:t>
                </a:r>
                <a:endParaRPr lang="ko-KR" altLang="en-US" dirty="0"/>
              </a:p>
              <a:p>
                <a:endParaRPr lang="ko-KR" altLang="en-US" dirty="0"/>
              </a:p>
            </p:txBody>
          </p:sp>
        </mc:Choice>
        <mc:Fallback xmlns="">
          <p:sp>
            <p:nvSpPr>
              <p:cNvPr id="3" name="내용 개체 틀 2">
                <a:extLst>
                  <a:ext uri="{FF2B5EF4-FFF2-40B4-BE49-F238E27FC236}">
                    <a16:creationId xmlns:a16="http://schemas.microsoft.com/office/drawing/2014/main" id="{63989026-9D20-4D68-BEC1-E734856D34A7}"/>
                  </a:ext>
                </a:extLst>
              </p:cNvPr>
              <p:cNvSpPr>
                <a:spLocks noGrp="1" noRot="1" noChangeAspect="1" noMove="1" noResize="1" noEditPoints="1" noAdjustHandles="1" noChangeArrowheads="1" noChangeShapeType="1" noTextEdit="1"/>
              </p:cNvSpPr>
              <p:nvPr>
                <p:ph idx="1"/>
              </p:nvPr>
            </p:nvSpPr>
            <p:spPr>
              <a:blipFill>
                <a:blip r:embed="rId3"/>
                <a:stretch>
                  <a:fillRect l="-696"/>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FF57B80C-ABDE-4F9C-8BCC-8889E5F2867D}"/>
              </a:ext>
            </a:extLst>
          </p:cNvPr>
          <p:cNvSpPr>
            <a:spLocks noGrp="1"/>
          </p:cNvSpPr>
          <p:nvPr>
            <p:ph type="sldNum" sz="quarter" idx="12"/>
          </p:nvPr>
        </p:nvSpPr>
        <p:spPr/>
        <p:txBody>
          <a:bodyPr/>
          <a:lstStyle/>
          <a:p>
            <a:fld id="{79822AFB-C284-4A8E-A6EE-41BAA9C576A0}" type="slidenum">
              <a:rPr lang="ko-KR" altLang="en-US" smtClean="0"/>
              <a:t>8</a:t>
            </a:fld>
            <a:endParaRPr lang="ko-KR" altLang="en-US"/>
          </a:p>
        </p:txBody>
      </p:sp>
      <p:sp>
        <p:nvSpPr>
          <p:cNvPr id="5" name="날짜 개체 틀 4">
            <a:extLst>
              <a:ext uri="{FF2B5EF4-FFF2-40B4-BE49-F238E27FC236}">
                <a16:creationId xmlns:a16="http://schemas.microsoft.com/office/drawing/2014/main" id="{21DA7ADC-D7EE-4BCD-BE3A-BCC028604EB2}"/>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73374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44D0223-1AEB-44AC-BF9A-3F2E5CFB081E}"/>
              </a:ext>
            </a:extLst>
          </p:cNvPr>
          <p:cNvSpPr>
            <a:spLocks noGrp="1"/>
          </p:cNvSpPr>
          <p:nvPr>
            <p:ph type="title"/>
          </p:nvPr>
        </p:nvSpPr>
        <p:spPr/>
        <p:txBody>
          <a:bodyPr>
            <a:normAutofit fontScale="90000"/>
          </a:bodyPr>
          <a:lstStyle/>
          <a:p>
            <a:r>
              <a:rPr lang="en-US" altLang="ko-KR" dirty="0"/>
              <a:t>C4. Coupling Hedging Rules with Optimization Models in Reservoir Operation</a:t>
            </a:r>
            <a:endParaRPr lang="ko-KR" altLang="en-US" dirty="0"/>
          </a:p>
        </p:txBody>
      </p:sp>
      <p:sp>
        <p:nvSpPr>
          <p:cNvPr id="4" name="슬라이드 번호 개체 틀 3">
            <a:extLst>
              <a:ext uri="{FF2B5EF4-FFF2-40B4-BE49-F238E27FC236}">
                <a16:creationId xmlns:a16="http://schemas.microsoft.com/office/drawing/2014/main" id="{2EC51AF6-5689-4BF6-B2C9-26090D2401ED}"/>
              </a:ext>
            </a:extLst>
          </p:cNvPr>
          <p:cNvSpPr>
            <a:spLocks noGrp="1"/>
          </p:cNvSpPr>
          <p:nvPr>
            <p:ph type="sldNum" sz="quarter" idx="12"/>
          </p:nvPr>
        </p:nvSpPr>
        <p:spPr/>
        <p:txBody>
          <a:bodyPr/>
          <a:lstStyle/>
          <a:p>
            <a:fld id="{79822AFB-C284-4A8E-A6EE-41BAA9C576A0}" type="slidenum">
              <a:rPr lang="ko-KR" altLang="en-US" smtClean="0"/>
              <a:t>9</a:t>
            </a:fld>
            <a:endParaRPr lang="ko-KR" altLang="en-US"/>
          </a:p>
        </p:txBody>
      </p:sp>
      <p:sp>
        <p:nvSpPr>
          <p:cNvPr id="5" name="날짜 개체 틀 4">
            <a:extLst>
              <a:ext uri="{FF2B5EF4-FFF2-40B4-BE49-F238E27FC236}">
                <a16:creationId xmlns:a16="http://schemas.microsoft.com/office/drawing/2014/main" id="{A73672C2-B3AB-4632-96E7-2EB7EAD4D5B6}"/>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12" name="그림 11">
            <a:extLst>
              <a:ext uri="{FF2B5EF4-FFF2-40B4-BE49-F238E27FC236}">
                <a16:creationId xmlns:a16="http://schemas.microsoft.com/office/drawing/2014/main" id="{6C06A873-93F9-41E7-BC44-257AE9A9815A}"/>
              </a:ext>
            </a:extLst>
          </p:cNvPr>
          <p:cNvPicPr>
            <a:picLocks noChangeAspect="1"/>
          </p:cNvPicPr>
          <p:nvPr/>
        </p:nvPicPr>
        <p:blipFill rotWithShape="1">
          <a:blip r:embed="rId3"/>
          <a:srcRect l="7515" r="7114" b="23239"/>
          <a:stretch/>
        </p:blipFill>
        <p:spPr>
          <a:xfrm>
            <a:off x="267784" y="2311036"/>
            <a:ext cx="4879454" cy="2016225"/>
          </a:xfrm>
          <a:prstGeom prst="rect">
            <a:avLst/>
          </a:prstGeom>
        </p:spPr>
      </p:pic>
      <p:pic>
        <p:nvPicPr>
          <p:cNvPr id="13" name="그림 12">
            <a:extLst>
              <a:ext uri="{FF2B5EF4-FFF2-40B4-BE49-F238E27FC236}">
                <a16:creationId xmlns:a16="http://schemas.microsoft.com/office/drawing/2014/main" id="{4699C53A-011E-48D0-B8CD-15B0F6986014}"/>
              </a:ext>
            </a:extLst>
          </p:cNvPr>
          <p:cNvPicPr>
            <a:picLocks noChangeAspect="1"/>
          </p:cNvPicPr>
          <p:nvPr/>
        </p:nvPicPr>
        <p:blipFill rotWithShape="1">
          <a:blip r:embed="rId4"/>
          <a:srcRect l="17124" r="18660" b="20423"/>
          <a:stretch/>
        </p:blipFill>
        <p:spPr>
          <a:xfrm>
            <a:off x="5363010" y="1687941"/>
            <a:ext cx="3240360" cy="3482117"/>
          </a:xfrm>
          <a:prstGeom prst="rect">
            <a:avLst/>
          </a:prstGeom>
        </p:spPr>
      </p:pic>
      <p:sp>
        <p:nvSpPr>
          <p:cNvPr id="14" name="TextBox 13">
            <a:extLst>
              <a:ext uri="{FF2B5EF4-FFF2-40B4-BE49-F238E27FC236}">
                <a16:creationId xmlns:a16="http://schemas.microsoft.com/office/drawing/2014/main" id="{7F262B46-0F2C-42F7-AB3C-05953E82D421}"/>
              </a:ext>
            </a:extLst>
          </p:cNvPr>
          <p:cNvSpPr txBox="1"/>
          <p:nvPr/>
        </p:nvSpPr>
        <p:spPr>
          <a:xfrm>
            <a:off x="5507026" y="5204856"/>
            <a:ext cx="3168352" cy="1015663"/>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11. Performance indices measured from the demand side: (a) risk of water for A uses, (b) vulnerability of water for A uses, (c) risk of water for M&amp;I uses, (d) vulnerability of water for M&amp;I uses,</a:t>
            </a:r>
            <a:endParaRPr lang="ko-KR" altLang="en-US" sz="1200" dirty="0">
              <a:latin typeface="Gill Sans MT" panose="020B0502020104020203" pitchFamily="34" charset="0"/>
              <a:cs typeface="Helvetica" panose="020B0604020202020204" pitchFamily="34" charset="0"/>
            </a:endParaRPr>
          </a:p>
        </p:txBody>
      </p:sp>
      <p:sp>
        <p:nvSpPr>
          <p:cNvPr id="15" name="TextBox 14">
            <a:extLst>
              <a:ext uri="{FF2B5EF4-FFF2-40B4-BE49-F238E27FC236}">
                <a16:creationId xmlns:a16="http://schemas.microsoft.com/office/drawing/2014/main" id="{D50298ED-F97C-41D5-88D4-A2B84CCDC357}"/>
              </a:ext>
            </a:extLst>
          </p:cNvPr>
          <p:cNvSpPr txBox="1"/>
          <p:nvPr/>
        </p:nvSpPr>
        <p:spPr>
          <a:xfrm>
            <a:off x="823855" y="4327261"/>
            <a:ext cx="3767312" cy="461665"/>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10. Performance indices measured from the supply side: (a) risk, (b) resiliency, and (c) vulnerability</a:t>
            </a:r>
            <a:endParaRPr lang="ko-KR" altLang="en-US" sz="1200" dirty="0">
              <a:latin typeface="Gill Sans MT" panose="020B0502020104020203" pitchFamily="34" charset="0"/>
              <a:cs typeface="Helvetica" panose="020B0604020202020204" pitchFamily="34" charset="0"/>
            </a:endParaRPr>
          </a:p>
        </p:txBody>
      </p:sp>
      <p:sp>
        <p:nvSpPr>
          <p:cNvPr id="16" name="TextBox 15">
            <a:extLst>
              <a:ext uri="{FF2B5EF4-FFF2-40B4-BE49-F238E27FC236}">
                <a16:creationId xmlns:a16="http://schemas.microsoft.com/office/drawing/2014/main" id="{0F4456D7-1BB0-4FCB-9C26-228497B859B2}"/>
              </a:ext>
            </a:extLst>
          </p:cNvPr>
          <p:cNvSpPr txBox="1"/>
          <p:nvPr/>
        </p:nvSpPr>
        <p:spPr>
          <a:xfrm>
            <a:off x="6947851" y="1318609"/>
            <a:ext cx="1835952" cy="369332"/>
          </a:xfrm>
          <a:prstGeom prst="rect">
            <a:avLst/>
          </a:prstGeom>
          <a:noFill/>
        </p:spPr>
        <p:txBody>
          <a:bodyPr wrap="none" rtlCol="0">
            <a:spAutoFit/>
          </a:bodyPr>
          <a:lstStyle/>
          <a:p>
            <a:r>
              <a:rPr lang="en-US" altLang="ko-KR" b="1" dirty="0">
                <a:solidFill>
                  <a:srgbClr val="FF0000"/>
                </a:solidFill>
                <a:latin typeface="Gill Sans MT" panose="020B0502020104020203" pitchFamily="34" charset="0"/>
              </a:rPr>
              <a:t>*Risk Aversion*</a:t>
            </a:r>
            <a:endParaRPr lang="ko-KR" altLang="en-US" b="1" dirty="0">
              <a:solidFill>
                <a:srgbClr val="FF0000"/>
              </a:solidFill>
              <a:latin typeface="Gill Sans MT" panose="020B0502020104020203" pitchFamily="34" charset="0"/>
            </a:endParaRPr>
          </a:p>
        </p:txBody>
      </p:sp>
      <p:sp>
        <p:nvSpPr>
          <p:cNvPr id="17" name="직사각형 16">
            <a:extLst>
              <a:ext uri="{FF2B5EF4-FFF2-40B4-BE49-F238E27FC236}">
                <a16:creationId xmlns:a16="http://schemas.microsoft.com/office/drawing/2014/main" id="{62AC5BB8-E127-4A18-9353-1CEBC81A4A69}"/>
              </a:ext>
            </a:extLst>
          </p:cNvPr>
          <p:cNvSpPr/>
          <p:nvPr/>
        </p:nvSpPr>
        <p:spPr>
          <a:xfrm>
            <a:off x="6983190" y="1687941"/>
            <a:ext cx="1765274" cy="303720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내용 개체 틀 2">
            <a:extLst>
              <a:ext uri="{FF2B5EF4-FFF2-40B4-BE49-F238E27FC236}">
                <a16:creationId xmlns:a16="http://schemas.microsoft.com/office/drawing/2014/main" id="{F098BC2D-CE84-4308-AF80-9C44ACAB9A00}"/>
              </a:ext>
            </a:extLst>
          </p:cNvPr>
          <p:cNvSpPr>
            <a:spLocks noGrp="1"/>
          </p:cNvSpPr>
          <p:nvPr>
            <p:ph idx="1"/>
          </p:nvPr>
        </p:nvSpPr>
        <p:spPr>
          <a:xfrm>
            <a:off x="628650" y="5103522"/>
            <a:ext cx="4447406" cy="1423847"/>
          </a:xfrm>
        </p:spPr>
        <p:txBody>
          <a:bodyPr>
            <a:normAutofit fontScale="85000" lnSpcReduction="10000"/>
          </a:bodyPr>
          <a:lstStyle/>
          <a:p>
            <a:r>
              <a:rPr lang="en-US" altLang="ko-KR" dirty="0">
                <a:solidFill>
                  <a:srgbClr val="FF0000"/>
                </a:solidFill>
              </a:rPr>
              <a:t> Coupling of zone-based hedging rule with the solutions from the optimization models resulted in outcomes favorable to risk-averse real-world water users (may hold promise)</a:t>
            </a:r>
            <a:endParaRPr lang="ko-KR" altLang="en-US" dirty="0">
              <a:solidFill>
                <a:srgbClr val="FF0000"/>
              </a:solidFill>
            </a:endParaRPr>
          </a:p>
        </p:txBody>
      </p:sp>
    </p:spTree>
    <p:extLst>
      <p:ext uri="{BB962C8B-B14F-4D97-AF65-F5344CB8AC3E}">
        <p14:creationId xmlns:p14="http://schemas.microsoft.com/office/powerpoint/2010/main" val="2631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5111991-6708-457D-B9B6-AB1900036F7A}"/>
              </a:ext>
            </a:extLst>
          </p:cNvPr>
          <p:cNvSpPr>
            <a:spLocks noGrp="1"/>
          </p:cNvSpPr>
          <p:nvPr>
            <p:ph type="title"/>
          </p:nvPr>
        </p:nvSpPr>
        <p:spPr/>
        <p:txBody>
          <a:bodyPr>
            <a:normAutofit fontScale="90000"/>
          </a:bodyPr>
          <a:lstStyle/>
          <a:p>
            <a:r>
              <a:rPr lang="en-US" altLang="ko-KR" dirty="0"/>
              <a:t>C5. Reforming the Hedging Rules with Adaptive Operations 	against Multi-year Droughts</a:t>
            </a:r>
            <a:endParaRPr lang="ko-KR" altLang="en-US" dirty="0"/>
          </a:p>
        </p:txBody>
      </p:sp>
      <p:sp>
        <p:nvSpPr>
          <p:cNvPr id="4" name="슬라이드 번호 개체 틀 3">
            <a:extLst>
              <a:ext uri="{FF2B5EF4-FFF2-40B4-BE49-F238E27FC236}">
                <a16:creationId xmlns:a16="http://schemas.microsoft.com/office/drawing/2014/main" id="{13E2B63A-4C7F-46E9-AC4D-14D86C7BBBD1}"/>
              </a:ext>
            </a:extLst>
          </p:cNvPr>
          <p:cNvSpPr>
            <a:spLocks noGrp="1"/>
          </p:cNvSpPr>
          <p:nvPr>
            <p:ph type="sldNum" sz="quarter" idx="12"/>
          </p:nvPr>
        </p:nvSpPr>
        <p:spPr/>
        <p:txBody>
          <a:bodyPr/>
          <a:lstStyle/>
          <a:p>
            <a:fld id="{79822AFB-C284-4A8E-A6EE-41BAA9C576A0}" type="slidenum">
              <a:rPr lang="ko-KR" altLang="en-US" smtClean="0"/>
              <a:t>10</a:t>
            </a:fld>
            <a:endParaRPr lang="ko-KR" altLang="en-US"/>
          </a:p>
        </p:txBody>
      </p:sp>
      <p:sp>
        <p:nvSpPr>
          <p:cNvPr id="5" name="날짜 개체 틀 4">
            <a:extLst>
              <a:ext uri="{FF2B5EF4-FFF2-40B4-BE49-F238E27FC236}">
                <a16:creationId xmlns:a16="http://schemas.microsoft.com/office/drawing/2014/main" id="{32FD9FB6-E522-4F9C-99A1-04068C6A9E1C}"/>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13A6A2EF-4EE6-4B83-9F5C-0B956CD05CFE}"/>
              </a:ext>
            </a:extLst>
          </p:cNvPr>
          <p:cNvPicPr>
            <a:picLocks noChangeAspect="1"/>
          </p:cNvPicPr>
          <p:nvPr/>
        </p:nvPicPr>
        <p:blipFill>
          <a:blip r:embed="rId3"/>
          <a:stretch>
            <a:fillRect/>
          </a:stretch>
        </p:blipFill>
        <p:spPr>
          <a:xfrm>
            <a:off x="1529856" y="1323101"/>
            <a:ext cx="6084288" cy="4808252"/>
          </a:xfrm>
          <a:prstGeom prst="rect">
            <a:avLst/>
          </a:prstGeom>
        </p:spPr>
      </p:pic>
      <p:sp>
        <p:nvSpPr>
          <p:cNvPr id="7" name="내용 개체 틀 2">
            <a:extLst>
              <a:ext uri="{FF2B5EF4-FFF2-40B4-BE49-F238E27FC236}">
                <a16:creationId xmlns:a16="http://schemas.microsoft.com/office/drawing/2014/main" id="{3CF6684C-49B0-4FE9-8FF9-5AEED1287340}"/>
              </a:ext>
            </a:extLst>
          </p:cNvPr>
          <p:cNvSpPr txBox="1">
            <a:spLocks/>
          </p:cNvSpPr>
          <p:nvPr/>
        </p:nvSpPr>
        <p:spPr>
          <a:xfrm>
            <a:off x="971598" y="5982245"/>
            <a:ext cx="7543750" cy="875755"/>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Font typeface="Wingdings" panose="05000000000000000000" pitchFamily="2" charset="2"/>
              <a:buChar char="v"/>
              <a:defRPr sz="2000" kern="1200">
                <a:solidFill>
                  <a:schemeClr val="tx1"/>
                </a:solidFill>
                <a:latin typeface="Gill Sans MT" panose="020B0502020104020203" pitchFamily="34" charset="0"/>
                <a:ea typeface="나눔고딕 Light" panose="020D0904000000000000" pitchFamily="50" charset="-127"/>
                <a:cs typeface="Helvetica" panose="020B0604020202020204" pitchFamily="34" charset="0"/>
              </a:defRPr>
            </a:lvl1pPr>
            <a:lvl2pPr marL="685800" indent="-228600" algn="l" defTabSz="914400" rtl="0" eaLnBrk="1" latinLnBrk="1" hangingPunct="1">
              <a:lnSpc>
                <a:spcPct val="120000"/>
              </a:lnSpc>
              <a:spcBef>
                <a:spcPts val="500"/>
              </a:spcBef>
              <a:buFont typeface="Wingdings" panose="05000000000000000000" pitchFamily="2" charset="2"/>
              <a:buChar char="u"/>
              <a:defRPr sz="1800" kern="1200">
                <a:solidFill>
                  <a:schemeClr val="tx1"/>
                </a:solidFill>
                <a:latin typeface="Gill Sans MT" panose="020B0502020104020203" pitchFamily="34" charset="0"/>
                <a:ea typeface="나눔고딕 Light" panose="020D0904000000000000" pitchFamily="50" charset="-127"/>
                <a:cs typeface="Helvetica" panose="020B0604020202020204" pitchFamily="34" charset="0"/>
              </a:defRPr>
            </a:lvl2pPr>
            <a:lvl3pPr marL="1143000" indent="-228600" algn="l" defTabSz="914400" rtl="0" eaLnBrk="1" latinLnBrk="1" hangingPunct="1">
              <a:lnSpc>
                <a:spcPct val="120000"/>
              </a:lnSpc>
              <a:spcBef>
                <a:spcPts val="500"/>
              </a:spcBef>
              <a:buFont typeface="Arial" panose="020B0604020202020204" pitchFamily="34" charset="0"/>
              <a:buChar char="•"/>
              <a:defRPr sz="1600" kern="1200">
                <a:solidFill>
                  <a:schemeClr val="tx1"/>
                </a:solidFill>
                <a:latin typeface="Gill Sans MT" panose="020B0502020104020203" pitchFamily="34" charset="0"/>
                <a:ea typeface="나눔고딕 Light" panose="020D0904000000000000" pitchFamily="50" charset="-127"/>
                <a:cs typeface="Helvetica" panose="020B0604020202020204" pitchFamily="34" charset="0"/>
              </a:defRPr>
            </a:lvl3pPr>
            <a:lvl4pPr marL="1600200" indent="-228600" algn="l" defTabSz="914400" rtl="0" eaLnBrk="1" latinLnBrk="1" hangingPunct="1">
              <a:lnSpc>
                <a:spcPct val="120000"/>
              </a:lnSpc>
              <a:spcBef>
                <a:spcPts val="500"/>
              </a:spcBef>
              <a:buFont typeface="Wingdings" panose="05000000000000000000" pitchFamily="2" charset="2"/>
              <a:buChar char="§"/>
              <a:defRPr sz="1400" kern="1200">
                <a:solidFill>
                  <a:schemeClr val="tx1"/>
                </a:solidFill>
                <a:latin typeface="Gill Sans MT" panose="020B0502020104020203" pitchFamily="34" charset="0"/>
                <a:ea typeface="나눔고딕 Light" panose="020D0904000000000000" pitchFamily="50" charset="-127"/>
                <a:cs typeface="Helvetica" panose="020B0604020202020204" pitchFamily="34" charset="0"/>
              </a:defRPr>
            </a:lvl4pPr>
            <a:lvl5pPr marL="2057400" indent="-228600" algn="l" defTabSz="914400" rtl="0" eaLnBrk="1" latinLnBrk="1" hangingPunct="1">
              <a:lnSpc>
                <a:spcPct val="120000"/>
              </a:lnSpc>
              <a:spcBef>
                <a:spcPts val="500"/>
              </a:spcBef>
              <a:buFont typeface="Wingdings" panose="05000000000000000000" pitchFamily="2" charset="2"/>
              <a:buChar char="ü"/>
              <a:defRPr sz="1200" kern="1200">
                <a:solidFill>
                  <a:schemeClr val="tx1"/>
                </a:solidFill>
                <a:latin typeface="Gill Sans MT" panose="020B0502020104020203" pitchFamily="34" charset="0"/>
                <a:ea typeface="나눔고딕 Light" panose="020D0904000000000000" pitchFamily="50" charset="-127"/>
                <a:cs typeface="Helvetica" panose="020B0604020202020204" pitchFamily="34" charset="0"/>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sz="1800" dirty="0"/>
              <a:t> Keywords: Zone-based hedging rule, K-nearest neighbor disaggregation, Adaptive reservoir operations, Multi-year drought</a:t>
            </a:r>
            <a:endParaRPr lang="ko-KR" altLang="en-US" sz="1800" dirty="0"/>
          </a:p>
        </p:txBody>
      </p:sp>
    </p:spTree>
    <p:extLst>
      <p:ext uri="{BB962C8B-B14F-4D97-AF65-F5344CB8AC3E}">
        <p14:creationId xmlns:p14="http://schemas.microsoft.com/office/powerpoint/2010/main" val="853479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2F8D3B-F3BA-4CDA-B92A-04BC4C8311EE}"/>
              </a:ext>
            </a:extLst>
          </p:cNvPr>
          <p:cNvSpPr>
            <a:spLocks noGrp="1"/>
          </p:cNvSpPr>
          <p:nvPr>
            <p:ph type="title"/>
          </p:nvPr>
        </p:nvSpPr>
        <p:spPr/>
        <p:txBody>
          <a:bodyPr>
            <a:normAutofit/>
          </a:bodyPr>
          <a:lstStyle/>
          <a:p>
            <a:r>
              <a:rPr lang="en-US" altLang="ko-KR" dirty="0"/>
              <a:t>Methodology: Hedging Rules</a:t>
            </a:r>
          </a:p>
        </p:txBody>
      </p:sp>
      <p:sp>
        <p:nvSpPr>
          <p:cNvPr id="3" name="내용 개체 틀 2">
            <a:extLst>
              <a:ext uri="{FF2B5EF4-FFF2-40B4-BE49-F238E27FC236}">
                <a16:creationId xmlns:a16="http://schemas.microsoft.com/office/drawing/2014/main" id="{33761FE6-50BE-48BE-8C42-58AF4A320F68}"/>
              </a:ext>
            </a:extLst>
          </p:cNvPr>
          <p:cNvSpPr>
            <a:spLocks noGrp="1"/>
          </p:cNvSpPr>
          <p:nvPr>
            <p:ph idx="1"/>
          </p:nvPr>
        </p:nvSpPr>
        <p:spPr>
          <a:xfrm>
            <a:off x="628650" y="1268760"/>
            <a:ext cx="7886700" cy="4908203"/>
          </a:xfrm>
        </p:spPr>
        <p:txBody>
          <a:bodyPr/>
          <a:lstStyle/>
          <a:p>
            <a:r>
              <a:rPr lang="en-US" altLang="ko-KR" dirty="0"/>
              <a:t> Standard operating policy (SOP): release water as close to the target demand as possible (saves only surplus water for future delivery)</a:t>
            </a:r>
          </a:p>
          <a:p>
            <a:r>
              <a:rPr lang="en-US" altLang="ko-KR" dirty="0"/>
              <a:t> Hedging (rationing operation) for reservoir operations</a:t>
            </a:r>
          </a:p>
          <a:p>
            <a:pPr lvl="1"/>
            <a:r>
              <a:rPr lang="en-US" altLang="ko-KR" dirty="0"/>
              <a:t> Provides only a portion of the target when greater release is possible</a:t>
            </a:r>
          </a:p>
          <a:p>
            <a:pPr lvl="1"/>
            <a:r>
              <a:rPr lang="en-US" altLang="ko-KR" dirty="0"/>
              <a:t> Types of hedging rules: One-point,  two-point, discrete (zone-based), …</a:t>
            </a:r>
          </a:p>
          <a:p>
            <a:endParaRPr lang="ko-KR" altLang="en-US" dirty="0"/>
          </a:p>
          <a:p>
            <a:endParaRPr lang="en-US" altLang="ko-KR" dirty="0"/>
          </a:p>
          <a:p>
            <a:endParaRPr lang="ko-KR" altLang="en-US" dirty="0"/>
          </a:p>
        </p:txBody>
      </p:sp>
      <p:sp>
        <p:nvSpPr>
          <p:cNvPr id="4" name="슬라이드 번호 개체 틀 3">
            <a:extLst>
              <a:ext uri="{FF2B5EF4-FFF2-40B4-BE49-F238E27FC236}">
                <a16:creationId xmlns:a16="http://schemas.microsoft.com/office/drawing/2014/main" id="{D1A2F203-512F-4E41-A5A4-7DD83F549EEE}"/>
              </a:ext>
            </a:extLst>
          </p:cNvPr>
          <p:cNvSpPr>
            <a:spLocks noGrp="1"/>
          </p:cNvSpPr>
          <p:nvPr>
            <p:ph type="sldNum" sz="quarter" idx="12"/>
          </p:nvPr>
        </p:nvSpPr>
        <p:spPr/>
        <p:txBody>
          <a:bodyPr/>
          <a:lstStyle/>
          <a:p>
            <a:fld id="{79822AFB-C284-4A8E-A6EE-41BAA9C576A0}" type="slidenum">
              <a:rPr lang="ko-KR" altLang="en-US" smtClean="0"/>
              <a:t>11</a:t>
            </a:fld>
            <a:endParaRPr lang="ko-KR" altLang="en-US"/>
          </a:p>
        </p:txBody>
      </p:sp>
      <p:sp>
        <p:nvSpPr>
          <p:cNvPr id="5" name="날짜 개체 틀 4">
            <a:extLst>
              <a:ext uri="{FF2B5EF4-FFF2-40B4-BE49-F238E27FC236}">
                <a16:creationId xmlns:a16="http://schemas.microsoft.com/office/drawing/2014/main" id="{21BCE868-C23B-4FAF-9BF5-5BE96BAA25C4}"/>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AF780AFF-9AFD-4AAC-816D-ADE9C9370F8E}"/>
              </a:ext>
            </a:extLst>
          </p:cNvPr>
          <p:cNvPicPr>
            <a:picLocks noChangeAspect="1"/>
          </p:cNvPicPr>
          <p:nvPr/>
        </p:nvPicPr>
        <p:blipFill>
          <a:blip r:embed="rId3"/>
          <a:stretch>
            <a:fillRect/>
          </a:stretch>
        </p:blipFill>
        <p:spPr>
          <a:xfrm>
            <a:off x="658391" y="3613411"/>
            <a:ext cx="6257925" cy="2600325"/>
          </a:xfrm>
          <a:prstGeom prst="rect">
            <a:avLst/>
          </a:prstGeom>
        </p:spPr>
      </p:pic>
      <p:sp>
        <p:nvSpPr>
          <p:cNvPr id="7" name="TextBox 6">
            <a:extLst>
              <a:ext uri="{FF2B5EF4-FFF2-40B4-BE49-F238E27FC236}">
                <a16:creationId xmlns:a16="http://schemas.microsoft.com/office/drawing/2014/main" id="{8BFACBF3-263F-4F42-A1C8-1A515B6BF666}"/>
              </a:ext>
            </a:extLst>
          </p:cNvPr>
          <p:cNvSpPr txBox="1"/>
          <p:nvPr/>
        </p:nvSpPr>
        <p:spPr>
          <a:xfrm>
            <a:off x="2792971" y="6250510"/>
            <a:ext cx="3767312" cy="461665"/>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1. Concept of zone-based hedging in reservoir operations, adopted from Tu et al. (2008)</a:t>
            </a:r>
            <a:endParaRPr lang="ko-KR" altLang="en-US" sz="1200" dirty="0">
              <a:latin typeface="Gill Sans MT" panose="020B0502020104020203" pitchFamily="34" charset="0"/>
              <a:cs typeface="Helvetica" panose="020B0604020202020204" pitchFamily="34" charset="0"/>
            </a:endParaRPr>
          </a:p>
        </p:txBody>
      </p:sp>
      <p:pic>
        <p:nvPicPr>
          <p:cNvPr id="8" name="그림 7">
            <a:extLst>
              <a:ext uri="{FF2B5EF4-FFF2-40B4-BE49-F238E27FC236}">
                <a16:creationId xmlns:a16="http://schemas.microsoft.com/office/drawing/2014/main" id="{B84FCE74-63DB-4B36-AD88-606ACCF7EC69}"/>
              </a:ext>
            </a:extLst>
          </p:cNvPr>
          <p:cNvPicPr>
            <a:picLocks noChangeAspect="1"/>
          </p:cNvPicPr>
          <p:nvPr/>
        </p:nvPicPr>
        <p:blipFill>
          <a:blip r:embed="rId4"/>
          <a:stretch>
            <a:fillRect/>
          </a:stretch>
        </p:blipFill>
        <p:spPr>
          <a:xfrm>
            <a:off x="6300192" y="3581016"/>
            <a:ext cx="2591163" cy="1609195"/>
          </a:xfrm>
          <a:prstGeom prst="rect">
            <a:avLst/>
          </a:prstGeom>
          <a:ln>
            <a:solidFill>
              <a:schemeClr val="tx1"/>
            </a:solidFill>
          </a:ln>
        </p:spPr>
      </p:pic>
    </p:spTree>
    <p:extLst>
      <p:ext uri="{BB962C8B-B14F-4D97-AF65-F5344CB8AC3E}">
        <p14:creationId xmlns:p14="http://schemas.microsoft.com/office/powerpoint/2010/main" val="1805671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E031D9-26DA-4E18-9D59-3FA726422B2B}"/>
              </a:ext>
            </a:extLst>
          </p:cNvPr>
          <p:cNvSpPr>
            <a:spLocks noGrp="1"/>
          </p:cNvSpPr>
          <p:nvPr>
            <p:ph type="title"/>
          </p:nvPr>
        </p:nvSpPr>
        <p:spPr>
          <a:xfrm>
            <a:off x="628650" y="365127"/>
            <a:ext cx="8263830" cy="759618"/>
          </a:xfrm>
        </p:spPr>
        <p:txBody>
          <a:bodyPr>
            <a:normAutofit fontScale="90000"/>
          </a:bodyPr>
          <a:lstStyle/>
          <a:p>
            <a:r>
              <a:rPr lang="en-US" altLang="ko-KR" dirty="0"/>
              <a:t>Methodology: Long Memory Time Series Generation</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98B04223-85EE-426B-ADA5-35E6CEAFE644}"/>
                  </a:ext>
                </a:extLst>
              </p:cNvPr>
              <p:cNvSpPr>
                <a:spLocks noGrp="1"/>
              </p:cNvSpPr>
              <p:nvPr>
                <p:ph idx="1"/>
              </p:nvPr>
            </p:nvSpPr>
            <p:spPr/>
            <p:txBody>
              <a:bodyPr/>
              <a:lstStyle/>
              <a:p>
                <a:r>
                  <a:rPr lang="en-US" altLang="ko-KR" dirty="0"/>
                  <a:t> Hurst Phenomenon </a:t>
                </a:r>
                <a:r>
                  <a:rPr lang="en-US" altLang="ko-KR" sz="1600" dirty="0"/>
                  <a:t>(Hurst, 1951)</a:t>
                </a:r>
                <a:endParaRPr lang="en-US" altLang="ko-KR" dirty="0"/>
              </a:p>
              <a:p>
                <a:pPr lvl="1"/>
                <a:r>
                  <a:rPr lang="en-US" altLang="ko-KR" dirty="0"/>
                  <a:t> Long-range dependence (LRD), long memory, long term persistence</a:t>
                </a:r>
              </a:p>
              <a:p>
                <a:pPr lvl="1"/>
                <a:r>
                  <a:rPr lang="en-US" altLang="ko-KR" dirty="0"/>
                  <a:t> Hurst Coefficient </a:t>
                </a:r>
                <a14:m>
                  <m:oMath xmlns:m="http://schemas.openxmlformats.org/officeDocument/2006/math">
                    <m:r>
                      <a:rPr lang="en-US" altLang="ko-KR" i="1">
                        <a:latin typeface="Cambria Math" panose="02040503050406030204" pitchFamily="18" charset="0"/>
                      </a:rPr>
                      <m:t>𝐻</m:t>
                    </m:r>
                  </m:oMath>
                </a14:m>
                <a:r>
                  <a:rPr lang="en-US" altLang="ko-KR" dirty="0"/>
                  <a:t>: (</a:t>
                </a:r>
                <a14:m>
                  <m:oMath xmlns:m="http://schemas.openxmlformats.org/officeDocument/2006/math">
                    <m:r>
                      <a:rPr lang="en-US" altLang="ko-KR" i="1">
                        <a:latin typeface="Cambria Math" panose="02040503050406030204" pitchFamily="18" charset="0"/>
                      </a:rPr>
                      <m:t>0&lt;</m:t>
                    </m:r>
                    <m:r>
                      <a:rPr lang="en-US" altLang="ko-KR" i="1">
                        <a:latin typeface="Cambria Math" panose="02040503050406030204" pitchFamily="18" charset="0"/>
                      </a:rPr>
                      <m:t>𝐻</m:t>
                    </m:r>
                    <m:r>
                      <a:rPr lang="en-US" altLang="ko-KR" i="1">
                        <a:latin typeface="Cambria Math" panose="02040503050406030204" pitchFamily="18" charset="0"/>
                      </a:rPr>
                      <m:t>&lt;1</m:t>
                    </m:r>
                  </m:oMath>
                </a14:m>
                <a:r>
                  <a:rPr lang="en-US" altLang="ko-KR" dirty="0"/>
                  <a:t>)</a:t>
                </a:r>
              </a:p>
              <a:p>
                <a:pPr lvl="2"/>
                <a:r>
                  <a:rPr lang="en-US" altLang="ko-KR" dirty="0"/>
                  <a:t>Measure of long-term memory of time series (long term persistence)</a:t>
                </a:r>
              </a:p>
              <a:p>
                <a:pPr lvl="2"/>
                <a:r>
                  <a:rPr lang="en-US" altLang="ko-KR" dirty="0"/>
                  <a:t>Series with H values greater than 0.5 indicates </a:t>
                </a:r>
                <a:r>
                  <a:rPr lang="en-US" altLang="ko-KR" b="1" u="sng" dirty="0"/>
                  <a:t>long memory</a:t>
                </a:r>
                <a:r>
                  <a:rPr lang="en-US" altLang="ko-KR" dirty="0"/>
                  <a:t> </a:t>
                </a:r>
              </a:p>
              <a:p>
                <a:r>
                  <a:rPr lang="en-US" altLang="ko-KR" dirty="0"/>
                  <a:t> Autoregressive Fractionally Integrated Moving Average model </a:t>
                </a:r>
                <a:br>
                  <a:rPr lang="en-US" altLang="ko-KR" dirty="0"/>
                </a:br>
                <a:r>
                  <a:rPr lang="en-US" altLang="ko-KR" dirty="0"/>
                  <a:t>(ARFIMA)</a:t>
                </a:r>
              </a:p>
              <a:p>
                <a:pPr lvl="1"/>
                <a:r>
                  <a:rPr lang="en-US" altLang="ko-KR" dirty="0"/>
                  <a:t> ARFIMA(</a:t>
                </a:r>
                <a:r>
                  <a:rPr lang="en-US" altLang="ko-KR" dirty="0" err="1"/>
                  <a:t>p,q,d</a:t>
                </a:r>
                <a:r>
                  <a:rPr lang="en-US" altLang="ko-KR" dirty="0"/>
                  <a:t>): </a:t>
                </a:r>
              </a:p>
              <a:p>
                <a:pPr lvl="1"/>
                <a:endParaRPr lang="en-US" altLang="ko-KR" dirty="0"/>
              </a:p>
              <a:p>
                <a:pPr lvl="1"/>
                <a:r>
                  <a:rPr lang="en-US" altLang="ko-KR" dirty="0"/>
                  <a:t> Ables to capture the long term persistence in the time series:</a:t>
                </a:r>
                <a:br>
                  <a:rPr lang="en-US" altLang="ko-KR" dirty="0"/>
                </a:br>
                <a:r>
                  <a:rPr lang="en-US" altLang="ko-KR" dirty="0"/>
                  <a:t>series with d greater than 0 (i.e., H&gt;0.5) indicates series with long term positive autocorrelation: consequently to multi-year floods/droughts</a:t>
                </a:r>
              </a:p>
              <a:p>
                <a:endParaRPr lang="ko-KR" altLang="en-US" dirty="0"/>
              </a:p>
            </p:txBody>
          </p:sp>
        </mc:Choice>
        <mc:Fallback xmlns="">
          <p:sp>
            <p:nvSpPr>
              <p:cNvPr id="3" name="내용 개체 틀 2">
                <a:extLst>
                  <a:ext uri="{FF2B5EF4-FFF2-40B4-BE49-F238E27FC236}">
                    <a16:creationId xmlns:a16="http://schemas.microsoft.com/office/drawing/2014/main" id="{98B04223-85EE-426B-ADA5-35E6CEAFE644}"/>
                  </a:ext>
                </a:extLst>
              </p:cNvPr>
              <p:cNvSpPr>
                <a:spLocks noGrp="1" noRot="1" noChangeAspect="1" noMove="1" noResize="1" noEditPoints="1" noAdjustHandles="1" noChangeArrowheads="1" noChangeShapeType="1" noTextEdit="1"/>
              </p:cNvSpPr>
              <p:nvPr>
                <p:ph idx="1"/>
              </p:nvPr>
            </p:nvSpPr>
            <p:spPr>
              <a:blipFill>
                <a:blip r:embed="rId4"/>
                <a:stretch>
                  <a:fillRect l="-696"/>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CD15789D-375D-4079-B1C3-FE2F08E9407E}"/>
              </a:ext>
            </a:extLst>
          </p:cNvPr>
          <p:cNvSpPr>
            <a:spLocks noGrp="1"/>
          </p:cNvSpPr>
          <p:nvPr>
            <p:ph type="sldNum" sz="quarter" idx="12"/>
          </p:nvPr>
        </p:nvSpPr>
        <p:spPr/>
        <p:txBody>
          <a:bodyPr/>
          <a:lstStyle/>
          <a:p>
            <a:fld id="{79822AFB-C284-4A8E-A6EE-41BAA9C576A0}" type="slidenum">
              <a:rPr lang="ko-KR" altLang="en-US" smtClean="0"/>
              <a:t>12</a:t>
            </a:fld>
            <a:endParaRPr lang="ko-KR" altLang="en-US"/>
          </a:p>
        </p:txBody>
      </p:sp>
      <p:sp>
        <p:nvSpPr>
          <p:cNvPr id="5" name="날짜 개체 틀 4">
            <a:extLst>
              <a:ext uri="{FF2B5EF4-FFF2-40B4-BE49-F238E27FC236}">
                <a16:creationId xmlns:a16="http://schemas.microsoft.com/office/drawing/2014/main" id="{D63A00E1-5DDC-4FA7-AF2E-9998010D6B1C}"/>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graphicFrame>
        <p:nvGraphicFramePr>
          <p:cNvPr id="6" name="개체 5">
            <a:extLst>
              <a:ext uri="{FF2B5EF4-FFF2-40B4-BE49-F238E27FC236}">
                <a16:creationId xmlns:a16="http://schemas.microsoft.com/office/drawing/2014/main" id="{C5DA7422-75B1-444C-9E1F-F122A5DAFDC8}"/>
              </a:ext>
            </a:extLst>
          </p:cNvPr>
          <p:cNvGraphicFramePr>
            <a:graphicFrameLocks noChangeAspect="1"/>
          </p:cNvGraphicFramePr>
          <p:nvPr>
            <p:extLst>
              <p:ext uri="{D42A27DB-BD31-4B8C-83A1-F6EECF244321}">
                <p14:modId xmlns:p14="http://schemas.microsoft.com/office/powerpoint/2010/main" val="3498835872"/>
              </p:ext>
            </p:extLst>
          </p:nvPr>
        </p:nvGraphicFramePr>
        <p:xfrm>
          <a:off x="3016250" y="4077072"/>
          <a:ext cx="2584450" cy="438150"/>
        </p:xfrm>
        <a:graphic>
          <a:graphicData uri="http://schemas.openxmlformats.org/presentationml/2006/ole">
            <mc:AlternateContent xmlns:mc="http://schemas.openxmlformats.org/markup-compatibility/2006">
              <mc:Choice xmlns:v="urn:schemas-microsoft-com:vml" Requires="v">
                <p:oleObj spid="_x0000_s4132" name="Equation" r:id="rId5" imgW="1600200" imgH="241200" progId="Equation.DSMT4">
                  <p:embed/>
                </p:oleObj>
              </mc:Choice>
              <mc:Fallback>
                <p:oleObj name="Equation" r:id="rId5" imgW="1600200" imgH="241200" progId="Equation.DSMT4">
                  <p:embed/>
                  <p:pic>
                    <p:nvPicPr>
                      <p:cNvPr id="5" name="개체 4">
                        <a:extLst>
                          <a:ext uri="{FF2B5EF4-FFF2-40B4-BE49-F238E27FC236}">
                            <a16:creationId xmlns:a16="http://schemas.microsoft.com/office/drawing/2014/main" id="{5FD48DCC-610C-4C80-BC0E-F3EAD9B42E35}"/>
                          </a:ext>
                        </a:extLst>
                      </p:cNvPr>
                      <p:cNvPicPr>
                        <a:picLocks noChangeAspect="1" noChangeArrowheads="1"/>
                      </p:cNvPicPr>
                      <p:nvPr/>
                    </p:nvPicPr>
                    <p:blipFill>
                      <a:blip r:embed="rId6"/>
                      <a:srcRect/>
                      <a:stretch>
                        <a:fillRect/>
                      </a:stretch>
                    </p:blipFill>
                    <p:spPr bwMode="auto">
                      <a:xfrm>
                        <a:off x="3016250" y="4077072"/>
                        <a:ext cx="2584450" cy="438150"/>
                      </a:xfrm>
                      <a:prstGeom prst="rect">
                        <a:avLst/>
                      </a:prstGeom>
                      <a:noFill/>
                    </p:spPr>
                  </p:pic>
                </p:oleObj>
              </mc:Fallback>
            </mc:AlternateContent>
          </a:graphicData>
        </a:graphic>
      </p:graphicFrame>
      <p:sp>
        <p:nvSpPr>
          <p:cNvPr id="7" name="타원 6">
            <a:extLst>
              <a:ext uri="{FF2B5EF4-FFF2-40B4-BE49-F238E27FC236}">
                <a16:creationId xmlns:a16="http://schemas.microsoft.com/office/drawing/2014/main" id="{840C5E4A-77A6-45CB-8F42-D8B970BD0552}"/>
              </a:ext>
            </a:extLst>
          </p:cNvPr>
          <p:cNvSpPr/>
          <p:nvPr/>
        </p:nvSpPr>
        <p:spPr>
          <a:xfrm>
            <a:off x="4161829" y="4089444"/>
            <a:ext cx="216024" cy="1984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mc:AlternateContent xmlns:mc="http://schemas.openxmlformats.org/markup-compatibility/2006" xmlns:a14="http://schemas.microsoft.com/office/drawing/2010/main">
        <mc:Choice Requires="a14">
          <p:sp>
            <p:nvSpPr>
              <p:cNvPr id="8" name="직사각형 7">
                <a:extLst>
                  <a:ext uri="{FF2B5EF4-FFF2-40B4-BE49-F238E27FC236}">
                    <a16:creationId xmlns:a16="http://schemas.microsoft.com/office/drawing/2014/main" id="{7B9D5C34-3AE9-4F3A-8B34-BC30247FC91D}"/>
                  </a:ext>
                </a:extLst>
              </p:cNvPr>
              <p:cNvSpPr/>
              <p:nvPr/>
            </p:nvSpPr>
            <p:spPr>
              <a:xfrm>
                <a:off x="4656963" y="3707739"/>
                <a:ext cx="150034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smtClean="0">
                          <a:solidFill>
                            <a:srgbClr val="FF0000"/>
                          </a:solidFill>
                          <a:latin typeface="Cambria Math" panose="02040503050406030204" pitchFamily="18" charset="0"/>
                        </a:rPr>
                        <m:t>𝑑</m:t>
                      </m:r>
                      <m:r>
                        <a:rPr lang="en-US" altLang="ko-KR" b="0" i="1" smtClean="0">
                          <a:solidFill>
                            <a:srgbClr val="FF0000"/>
                          </a:solidFill>
                          <a:latin typeface="Cambria Math" panose="02040503050406030204" pitchFamily="18" charset="0"/>
                        </a:rPr>
                        <m:t>=</m:t>
                      </m:r>
                      <m:r>
                        <a:rPr lang="en-US" altLang="ko-KR" i="1">
                          <a:solidFill>
                            <a:srgbClr val="FF0000"/>
                          </a:solidFill>
                          <a:latin typeface="Cambria Math" panose="02040503050406030204" pitchFamily="18" charset="0"/>
                        </a:rPr>
                        <m:t>𝐻</m:t>
                      </m:r>
                      <m:r>
                        <a:rPr lang="en-US" altLang="ko-KR" b="0" i="1" smtClean="0">
                          <a:solidFill>
                            <a:srgbClr val="FF0000"/>
                          </a:solidFill>
                          <a:latin typeface="Cambria Math" panose="02040503050406030204" pitchFamily="18" charset="0"/>
                        </a:rPr>
                        <m:t>−</m:t>
                      </m:r>
                      <m:r>
                        <a:rPr lang="en-US" altLang="ko-KR" i="1">
                          <a:solidFill>
                            <a:srgbClr val="FF0000"/>
                          </a:solidFill>
                          <a:latin typeface="Cambria Math" panose="02040503050406030204" pitchFamily="18" charset="0"/>
                        </a:rPr>
                        <m:t>1</m:t>
                      </m:r>
                      <m:r>
                        <a:rPr lang="en-US" altLang="ko-KR" b="0" i="1" smtClean="0">
                          <a:solidFill>
                            <a:srgbClr val="FF0000"/>
                          </a:solidFill>
                          <a:latin typeface="Cambria Math" panose="02040503050406030204" pitchFamily="18" charset="0"/>
                        </a:rPr>
                        <m:t>/2</m:t>
                      </m:r>
                    </m:oMath>
                  </m:oMathPara>
                </a14:m>
                <a:endParaRPr lang="ko-KR" altLang="en-US" dirty="0">
                  <a:solidFill>
                    <a:srgbClr val="FF0000"/>
                  </a:solidFill>
                </a:endParaRPr>
              </a:p>
            </p:txBody>
          </p:sp>
        </mc:Choice>
        <mc:Fallback xmlns="">
          <p:sp>
            <p:nvSpPr>
              <p:cNvPr id="8" name="직사각형 7">
                <a:extLst>
                  <a:ext uri="{FF2B5EF4-FFF2-40B4-BE49-F238E27FC236}">
                    <a16:creationId xmlns:a16="http://schemas.microsoft.com/office/drawing/2014/main" id="{7B9D5C34-3AE9-4F3A-8B34-BC30247FC91D}"/>
                  </a:ext>
                </a:extLst>
              </p:cNvPr>
              <p:cNvSpPr>
                <a:spLocks noRot="1" noChangeAspect="1" noMove="1" noResize="1" noEditPoints="1" noAdjustHandles="1" noChangeArrowheads="1" noChangeShapeType="1" noTextEdit="1"/>
              </p:cNvSpPr>
              <p:nvPr/>
            </p:nvSpPr>
            <p:spPr>
              <a:xfrm>
                <a:off x="4656963" y="3707739"/>
                <a:ext cx="1500347" cy="369332"/>
              </a:xfrm>
              <a:prstGeom prst="rect">
                <a:avLst/>
              </a:prstGeom>
              <a:blipFill>
                <a:blip r:embed="rId7"/>
                <a:stretch>
                  <a:fillRect b="-13115"/>
                </a:stretch>
              </a:blipFill>
            </p:spPr>
            <p:txBody>
              <a:bodyPr/>
              <a:lstStyle/>
              <a:p>
                <a:r>
                  <a:rPr lang="ko-KR" altLang="en-US">
                    <a:noFill/>
                  </a:rPr>
                  <a:t> </a:t>
                </a:r>
              </a:p>
            </p:txBody>
          </p:sp>
        </mc:Fallback>
      </mc:AlternateContent>
      <p:cxnSp>
        <p:nvCxnSpPr>
          <p:cNvPr id="9" name="직선 화살표 연결선 8">
            <a:extLst>
              <a:ext uri="{FF2B5EF4-FFF2-40B4-BE49-F238E27FC236}">
                <a16:creationId xmlns:a16="http://schemas.microsoft.com/office/drawing/2014/main" id="{200233F1-9445-4678-BE27-BDD2EB41B114}"/>
              </a:ext>
            </a:extLst>
          </p:cNvPr>
          <p:cNvCxnSpPr>
            <a:cxnSpLocks/>
            <a:stCxn id="7" idx="0"/>
          </p:cNvCxnSpPr>
          <p:nvPr/>
        </p:nvCxnSpPr>
        <p:spPr>
          <a:xfrm flipV="1">
            <a:off x="4269841" y="3892405"/>
            <a:ext cx="387122" cy="1970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F2A3F56D-0ED1-429F-9DFD-5B9707A9C1B9}"/>
              </a:ext>
            </a:extLst>
          </p:cNvPr>
          <p:cNvCxnSpPr>
            <a:cxnSpLocks/>
          </p:cNvCxnSpPr>
          <p:nvPr/>
        </p:nvCxnSpPr>
        <p:spPr>
          <a:xfrm>
            <a:off x="3003178" y="4471979"/>
            <a:ext cx="5855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D20BB6F-CF2B-4560-BD25-2AE567420AFF}"/>
              </a:ext>
            </a:extLst>
          </p:cNvPr>
          <p:cNvSpPr txBox="1"/>
          <p:nvPr/>
        </p:nvSpPr>
        <p:spPr>
          <a:xfrm>
            <a:off x="2982813" y="4476475"/>
            <a:ext cx="1008112" cy="307777"/>
          </a:xfrm>
          <a:prstGeom prst="rect">
            <a:avLst/>
          </a:prstGeom>
          <a:noFill/>
        </p:spPr>
        <p:txBody>
          <a:bodyPr wrap="square" rtlCol="0">
            <a:spAutoFit/>
          </a:bodyPr>
          <a:lstStyle/>
          <a:p>
            <a:r>
              <a:rPr lang="en-US" altLang="ko-KR" sz="1400" dirty="0"/>
              <a:t>AR Term</a:t>
            </a:r>
            <a:endParaRPr lang="ko-KR" altLang="en-US" sz="1400" dirty="0"/>
          </a:p>
        </p:txBody>
      </p:sp>
      <p:sp>
        <p:nvSpPr>
          <p:cNvPr id="12" name="TextBox 11">
            <a:extLst>
              <a:ext uri="{FF2B5EF4-FFF2-40B4-BE49-F238E27FC236}">
                <a16:creationId xmlns:a16="http://schemas.microsoft.com/office/drawing/2014/main" id="{73A2A060-54AD-4CBA-94F3-A7A8668C61DA}"/>
              </a:ext>
            </a:extLst>
          </p:cNvPr>
          <p:cNvSpPr txBox="1"/>
          <p:nvPr/>
        </p:nvSpPr>
        <p:spPr>
          <a:xfrm>
            <a:off x="4792875" y="4471979"/>
            <a:ext cx="1125239" cy="307777"/>
          </a:xfrm>
          <a:prstGeom prst="rect">
            <a:avLst/>
          </a:prstGeom>
          <a:noFill/>
        </p:spPr>
        <p:txBody>
          <a:bodyPr wrap="square" rtlCol="0">
            <a:spAutoFit/>
          </a:bodyPr>
          <a:lstStyle/>
          <a:p>
            <a:r>
              <a:rPr lang="en-US" altLang="ko-KR" sz="1400" dirty="0"/>
              <a:t>MA Term</a:t>
            </a:r>
            <a:endParaRPr lang="ko-KR" altLang="en-US" sz="1400" dirty="0"/>
          </a:p>
        </p:txBody>
      </p:sp>
      <p:sp>
        <p:nvSpPr>
          <p:cNvPr id="13" name="TextBox 12">
            <a:extLst>
              <a:ext uri="{FF2B5EF4-FFF2-40B4-BE49-F238E27FC236}">
                <a16:creationId xmlns:a16="http://schemas.microsoft.com/office/drawing/2014/main" id="{8758344A-0051-4434-B786-596C7AFF3E96}"/>
              </a:ext>
            </a:extLst>
          </p:cNvPr>
          <p:cNvSpPr txBox="1"/>
          <p:nvPr/>
        </p:nvSpPr>
        <p:spPr>
          <a:xfrm>
            <a:off x="5613772" y="4471978"/>
            <a:ext cx="1917328" cy="307777"/>
          </a:xfrm>
          <a:prstGeom prst="rect">
            <a:avLst/>
          </a:prstGeom>
          <a:noFill/>
        </p:spPr>
        <p:txBody>
          <a:bodyPr wrap="square" rtlCol="0">
            <a:spAutoFit/>
          </a:bodyPr>
          <a:lstStyle/>
          <a:p>
            <a:r>
              <a:rPr lang="en-US" altLang="ko-KR" sz="1400" dirty="0"/>
              <a:t>B: Backshift Operator</a:t>
            </a:r>
            <a:endParaRPr lang="ko-KR" altLang="en-US" sz="1400" dirty="0"/>
          </a:p>
        </p:txBody>
      </p:sp>
      <p:cxnSp>
        <p:nvCxnSpPr>
          <p:cNvPr id="14" name="직선 연결선 13">
            <a:extLst>
              <a:ext uri="{FF2B5EF4-FFF2-40B4-BE49-F238E27FC236}">
                <a16:creationId xmlns:a16="http://schemas.microsoft.com/office/drawing/2014/main" id="{51F46A5E-7B45-4A55-BBAE-46442797C3B8}"/>
              </a:ext>
            </a:extLst>
          </p:cNvPr>
          <p:cNvCxnSpPr>
            <a:cxnSpLocks/>
          </p:cNvCxnSpPr>
          <p:nvPr/>
        </p:nvCxnSpPr>
        <p:spPr>
          <a:xfrm>
            <a:off x="4821547" y="4471979"/>
            <a:ext cx="5855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66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FD07E6-D9E7-4CDC-ADFD-4ADEB6D5BFBD}"/>
              </a:ext>
            </a:extLst>
          </p:cNvPr>
          <p:cNvSpPr>
            <a:spLocks noGrp="1"/>
          </p:cNvSpPr>
          <p:nvPr>
            <p:ph type="title"/>
          </p:nvPr>
        </p:nvSpPr>
        <p:spPr/>
        <p:txBody>
          <a:bodyPr/>
          <a:lstStyle/>
          <a:p>
            <a:r>
              <a:rPr lang="en-US" altLang="ko-KR" dirty="0"/>
              <a:t>Case</a:t>
            </a:r>
            <a:r>
              <a:rPr lang="ko-KR" altLang="en-US" dirty="0"/>
              <a:t> </a:t>
            </a:r>
            <a:r>
              <a:rPr lang="en-US" altLang="ko-KR" dirty="0"/>
              <a:t>Study: </a:t>
            </a:r>
            <a:r>
              <a:rPr lang="en-US" altLang="ko-KR" dirty="0" err="1"/>
              <a:t>Boryeong</a:t>
            </a:r>
            <a:r>
              <a:rPr lang="en-US" altLang="ko-KR" dirty="0"/>
              <a:t> Multipurpose Reservoir</a:t>
            </a:r>
            <a:endParaRPr lang="ko-KR" altLang="en-US" dirty="0"/>
          </a:p>
        </p:txBody>
      </p:sp>
      <p:sp>
        <p:nvSpPr>
          <p:cNvPr id="3" name="내용 개체 틀 2">
            <a:extLst>
              <a:ext uri="{FF2B5EF4-FFF2-40B4-BE49-F238E27FC236}">
                <a16:creationId xmlns:a16="http://schemas.microsoft.com/office/drawing/2014/main" id="{A0F0DC5B-E939-4C99-A533-BE42EFFE148F}"/>
              </a:ext>
            </a:extLst>
          </p:cNvPr>
          <p:cNvSpPr>
            <a:spLocks noGrp="1"/>
          </p:cNvSpPr>
          <p:nvPr>
            <p:ph idx="1"/>
          </p:nvPr>
        </p:nvSpPr>
        <p:spPr/>
        <p:txBody>
          <a:bodyPr/>
          <a:lstStyle/>
          <a:p>
            <a:r>
              <a:rPr lang="en-US" altLang="ko-KR" dirty="0"/>
              <a:t> Watershed Area: 2,860 km</a:t>
            </a:r>
            <a:r>
              <a:rPr lang="en-US" altLang="ko-KR" baseline="30000" dirty="0"/>
              <a:t>2</a:t>
            </a:r>
          </a:p>
          <a:p>
            <a:r>
              <a:rPr lang="en-US" altLang="ko-KR" dirty="0"/>
              <a:t> Water Supply Districts (8, Light Gray)</a:t>
            </a:r>
            <a:br>
              <a:rPr lang="en-US" altLang="ko-KR" dirty="0"/>
            </a:br>
            <a:r>
              <a:rPr lang="en-US" altLang="ko-KR" dirty="0"/>
              <a:t> </a:t>
            </a:r>
            <a:r>
              <a:rPr lang="en-US" altLang="ko-KR" dirty="0" err="1"/>
              <a:t>Boryeong</a:t>
            </a:r>
            <a:r>
              <a:rPr lang="en-US" altLang="ko-KR" dirty="0"/>
              <a:t> (Dark Gray), </a:t>
            </a:r>
            <a:r>
              <a:rPr lang="en-US" altLang="ko-KR" dirty="0" err="1"/>
              <a:t>Seosan</a:t>
            </a:r>
            <a:r>
              <a:rPr lang="en-US" altLang="ko-KR" dirty="0"/>
              <a:t>, </a:t>
            </a:r>
            <a:r>
              <a:rPr lang="en-US" altLang="ko-KR" dirty="0" err="1"/>
              <a:t>Dangjin</a:t>
            </a:r>
            <a:r>
              <a:rPr lang="en-US" altLang="ko-KR" dirty="0"/>
              <a:t>, </a:t>
            </a:r>
            <a:r>
              <a:rPr lang="en-US" altLang="ko-KR" dirty="0" err="1"/>
              <a:t>Seocheon</a:t>
            </a:r>
            <a:r>
              <a:rPr lang="en-US" altLang="ko-KR" dirty="0"/>
              <a:t>, </a:t>
            </a:r>
            <a:r>
              <a:rPr lang="en-US" altLang="ko-KR" dirty="0" err="1"/>
              <a:t>Cheongyang</a:t>
            </a:r>
            <a:r>
              <a:rPr lang="en-US" altLang="ko-KR" dirty="0"/>
              <a:t>, </a:t>
            </a:r>
            <a:r>
              <a:rPr lang="en-US" altLang="ko-KR" dirty="0" err="1"/>
              <a:t>Hongseong</a:t>
            </a:r>
            <a:r>
              <a:rPr lang="en-US" altLang="ko-KR" dirty="0"/>
              <a:t>, </a:t>
            </a:r>
            <a:r>
              <a:rPr lang="en-US" altLang="ko-KR" dirty="0" err="1"/>
              <a:t>Yesan</a:t>
            </a:r>
            <a:r>
              <a:rPr lang="en-US" altLang="ko-KR" dirty="0"/>
              <a:t>, </a:t>
            </a:r>
            <a:r>
              <a:rPr lang="en-US" altLang="ko-KR" dirty="0" err="1"/>
              <a:t>Taean</a:t>
            </a:r>
            <a:endParaRPr lang="en-US" altLang="ko-KR" dirty="0"/>
          </a:p>
          <a:p>
            <a:r>
              <a:rPr lang="en-US" altLang="ko-KR" dirty="0"/>
              <a:t> Water Use: 106.6 MCM/year </a:t>
            </a:r>
            <a:r>
              <a:rPr lang="en-US" altLang="ko-KR" dirty="0">
                <a:solidFill>
                  <a:srgbClr val="FF0000"/>
                </a:solidFill>
              </a:rPr>
              <a:t>(Reservoir Capacity: 116.9 MCM)</a:t>
            </a:r>
            <a:br>
              <a:rPr lang="en-US" altLang="ko-KR" dirty="0"/>
            </a:br>
            <a:r>
              <a:rPr lang="en-US" altLang="ko-KR" dirty="0"/>
              <a:t> (</a:t>
            </a:r>
            <a:r>
              <a:rPr lang="en-US" altLang="ko-KR" b="1" dirty="0"/>
              <a:t>Municipal &amp; Industrial water demand: 84%,</a:t>
            </a:r>
            <a:r>
              <a:rPr lang="en-US" altLang="ko-KR" dirty="0"/>
              <a:t> </a:t>
            </a:r>
            <a:br>
              <a:rPr lang="en-US" altLang="ko-KR" dirty="0"/>
            </a:br>
            <a:r>
              <a:rPr lang="en-US" altLang="ko-KR" dirty="0"/>
              <a:t> Agricultural water demand: 5%, Environmental water demand: 11%)</a:t>
            </a:r>
          </a:p>
          <a:p>
            <a:endParaRPr lang="ko-KR" altLang="en-US" dirty="0"/>
          </a:p>
          <a:p>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3FA1DECA-552A-4327-AB7E-07B894AC37FF}"/>
              </a:ext>
            </a:extLst>
          </p:cNvPr>
          <p:cNvSpPr>
            <a:spLocks noGrp="1"/>
          </p:cNvSpPr>
          <p:nvPr>
            <p:ph type="sldNum" sz="quarter" idx="12"/>
          </p:nvPr>
        </p:nvSpPr>
        <p:spPr/>
        <p:txBody>
          <a:bodyPr/>
          <a:lstStyle/>
          <a:p>
            <a:fld id="{79822AFB-C284-4A8E-A6EE-41BAA9C576A0}" type="slidenum">
              <a:rPr lang="ko-KR" altLang="en-US" smtClean="0"/>
              <a:t>13</a:t>
            </a:fld>
            <a:endParaRPr lang="ko-KR" altLang="en-US"/>
          </a:p>
        </p:txBody>
      </p:sp>
      <p:sp>
        <p:nvSpPr>
          <p:cNvPr id="5" name="날짜 개체 틀 4">
            <a:extLst>
              <a:ext uri="{FF2B5EF4-FFF2-40B4-BE49-F238E27FC236}">
                <a16:creationId xmlns:a16="http://schemas.microsoft.com/office/drawing/2014/main" id="{04AEC34E-442E-4522-83B8-94E80443A907}"/>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내용 개체 틀 6">
            <a:extLst>
              <a:ext uri="{FF2B5EF4-FFF2-40B4-BE49-F238E27FC236}">
                <a16:creationId xmlns:a16="http://schemas.microsoft.com/office/drawing/2014/main" id="{C16DBAD0-F0CF-417D-AE5C-E2015718ADD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7880" b="23709"/>
          <a:stretch/>
        </p:blipFill>
        <p:spPr>
          <a:xfrm>
            <a:off x="1298941" y="4293095"/>
            <a:ext cx="6546118" cy="2376265"/>
          </a:xfrm>
          <a:prstGeom prst="rect">
            <a:avLst/>
          </a:prstGeom>
        </p:spPr>
      </p:pic>
    </p:spTree>
    <p:extLst>
      <p:ext uri="{BB962C8B-B14F-4D97-AF65-F5344CB8AC3E}">
        <p14:creationId xmlns:p14="http://schemas.microsoft.com/office/powerpoint/2010/main" val="2968102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B3BB12-C3B4-46B4-8D93-14269E3AC14C}"/>
              </a:ext>
            </a:extLst>
          </p:cNvPr>
          <p:cNvSpPr>
            <a:spLocks noGrp="1"/>
          </p:cNvSpPr>
          <p:nvPr>
            <p:ph type="title"/>
          </p:nvPr>
        </p:nvSpPr>
        <p:spPr/>
        <p:txBody>
          <a:bodyPr/>
          <a:lstStyle/>
          <a:p>
            <a:r>
              <a:rPr lang="en-US" altLang="ko-KR" dirty="0"/>
              <a:t>Case</a:t>
            </a:r>
            <a:r>
              <a:rPr lang="ko-KR" altLang="en-US" dirty="0"/>
              <a:t> </a:t>
            </a:r>
            <a:r>
              <a:rPr lang="en-US" altLang="ko-KR" dirty="0"/>
              <a:t>Study: </a:t>
            </a:r>
            <a:r>
              <a:rPr lang="en-US" altLang="ko-KR" dirty="0" err="1"/>
              <a:t>Boryeong</a:t>
            </a:r>
            <a:r>
              <a:rPr lang="en-US" altLang="ko-KR" dirty="0"/>
              <a:t> Multipurpose Reservoir</a:t>
            </a:r>
            <a:endParaRPr lang="ko-KR" altLang="en-US" dirty="0"/>
          </a:p>
        </p:txBody>
      </p:sp>
      <p:sp>
        <p:nvSpPr>
          <p:cNvPr id="3" name="내용 개체 틀 2">
            <a:extLst>
              <a:ext uri="{FF2B5EF4-FFF2-40B4-BE49-F238E27FC236}">
                <a16:creationId xmlns:a16="http://schemas.microsoft.com/office/drawing/2014/main" id="{548356D2-2E36-4CF7-AE2B-FB2020B7A926}"/>
              </a:ext>
            </a:extLst>
          </p:cNvPr>
          <p:cNvSpPr>
            <a:spLocks noGrp="1"/>
          </p:cNvSpPr>
          <p:nvPr>
            <p:ph idx="1"/>
          </p:nvPr>
        </p:nvSpPr>
        <p:spPr/>
        <p:txBody>
          <a:bodyPr/>
          <a:lstStyle/>
          <a:p>
            <a:r>
              <a:rPr lang="en-US" altLang="ko-KR" dirty="0"/>
              <a:t> Recent Multi-year Drought in </a:t>
            </a:r>
            <a:r>
              <a:rPr lang="en-US" altLang="ko-KR" dirty="0" err="1"/>
              <a:t>Boryeong</a:t>
            </a:r>
            <a:r>
              <a:rPr lang="en-US" altLang="ko-KR" dirty="0"/>
              <a:t> Dam Basin (2014-2019)</a:t>
            </a:r>
          </a:p>
          <a:p>
            <a:pPr lvl="1"/>
            <a:r>
              <a:rPr lang="en-US" altLang="ko-KR" dirty="0"/>
              <a:t> Consecutive decrease in the total annual precipitation (6 water years)</a:t>
            </a:r>
          </a:p>
          <a:p>
            <a:pPr lvl="1"/>
            <a:r>
              <a:rPr lang="en-US" altLang="ko-KR" dirty="0"/>
              <a:t> Both structural/non-structural measures to mitigate the effects from the long-lasting drought</a:t>
            </a:r>
          </a:p>
          <a:p>
            <a:pPr lvl="2"/>
            <a:r>
              <a:rPr lang="en-US" altLang="ko-KR" dirty="0"/>
              <a:t>Conduit Construction Project (2016-2017, $62,500,000+$2,600,000/year)</a:t>
            </a:r>
          </a:p>
          <a:p>
            <a:pPr lvl="2"/>
            <a:r>
              <a:rPr lang="en-US" altLang="ko-KR" dirty="0"/>
              <a:t>Enforcement of Pressure Reduction in Water Supply Systems (127 days)</a:t>
            </a:r>
          </a:p>
          <a:p>
            <a:pPr lvl="2"/>
            <a:endParaRPr lang="ko-KR" altLang="en-US" dirty="0"/>
          </a:p>
          <a:p>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45A97697-36E1-4281-B53A-FEDE19C6563F}"/>
              </a:ext>
            </a:extLst>
          </p:cNvPr>
          <p:cNvSpPr>
            <a:spLocks noGrp="1"/>
          </p:cNvSpPr>
          <p:nvPr>
            <p:ph type="sldNum" sz="quarter" idx="12"/>
          </p:nvPr>
        </p:nvSpPr>
        <p:spPr/>
        <p:txBody>
          <a:bodyPr/>
          <a:lstStyle/>
          <a:p>
            <a:fld id="{79822AFB-C284-4A8E-A6EE-41BAA9C576A0}" type="slidenum">
              <a:rPr lang="ko-KR" altLang="en-US" smtClean="0"/>
              <a:t>14</a:t>
            </a:fld>
            <a:endParaRPr lang="ko-KR" altLang="en-US"/>
          </a:p>
        </p:txBody>
      </p:sp>
      <p:sp>
        <p:nvSpPr>
          <p:cNvPr id="5" name="날짜 개체 틀 4">
            <a:extLst>
              <a:ext uri="{FF2B5EF4-FFF2-40B4-BE49-F238E27FC236}">
                <a16:creationId xmlns:a16="http://schemas.microsoft.com/office/drawing/2014/main" id="{24EDD3D5-51D1-4403-BD7C-06A2195E885C}"/>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D0026644-39F5-4326-9E39-43A793BD39A3}"/>
              </a:ext>
            </a:extLst>
          </p:cNvPr>
          <p:cNvPicPr>
            <a:picLocks noChangeAspect="1"/>
          </p:cNvPicPr>
          <p:nvPr/>
        </p:nvPicPr>
        <p:blipFill>
          <a:blip r:embed="rId2"/>
          <a:stretch>
            <a:fillRect/>
          </a:stretch>
        </p:blipFill>
        <p:spPr>
          <a:xfrm>
            <a:off x="4635961" y="3752216"/>
            <a:ext cx="4392488" cy="2740657"/>
          </a:xfrm>
          <a:prstGeom prst="rect">
            <a:avLst/>
          </a:prstGeom>
        </p:spPr>
      </p:pic>
      <p:sp>
        <p:nvSpPr>
          <p:cNvPr id="7" name="TextBox 6">
            <a:extLst>
              <a:ext uri="{FF2B5EF4-FFF2-40B4-BE49-F238E27FC236}">
                <a16:creationId xmlns:a16="http://schemas.microsoft.com/office/drawing/2014/main" id="{A203BA32-B36D-401C-B1FF-2DAA5D568913}"/>
              </a:ext>
            </a:extLst>
          </p:cNvPr>
          <p:cNvSpPr txBox="1"/>
          <p:nvPr/>
        </p:nvSpPr>
        <p:spPr>
          <a:xfrm>
            <a:off x="5173089" y="4032979"/>
            <a:ext cx="2962257" cy="461665"/>
          </a:xfrm>
          <a:prstGeom prst="rect">
            <a:avLst/>
          </a:prstGeom>
          <a:noFill/>
        </p:spPr>
        <p:txBody>
          <a:bodyPr wrap="square" rtlCol="0">
            <a:spAutoFit/>
          </a:bodyPr>
          <a:lstStyle/>
          <a:p>
            <a:pPr algn="ctr"/>
            <a:r>
              <a:rPr lang="en-US" altLang="ko-KR" sz="1200" dirty="0">
                <a:solidFill>
                  <a:srgbClr val="FF0000"/>
                </a:solidFill>
                <a:latin typeface="Gill Sans MT" panose="020B0502020104020203" pitchFamily="34" charset="0"/>
                <a:ea typeface="08서울남산체 M" panose="02020603020101020101" pitchFamily="18" charset="-127"/>
                <a:cs typeface="Arial" panose="020B0604020202020204" pitchFamily="34" charset="0"/>
              </a:rPr>
              <a:t>(a)~(f): cumulative rainfall during water years 2013-2014 through 2018-2019</a:t>
            </a:r>
            <a:endParaRPr lang="ko-KR" altLang="en-US" sz="1200" dirty="0">
              <a:solidFill>
                <a:srgbClr val="FF0000"/>
              </a:solidFill>
              <a:latin typeface="Gill Sans MT" panose="020B0502020104020203" pitchFamily="34" charset="0"/>
              <a:ea typeface="08서울남산체 M" panose="02020603020101020101" pitchFamily="18" charset="-127"/>
              <a:cs typeface="Arial" panose="020B0604020202020204" pitchFamily="34" charset="0"/>
            </a:endParaRPr>
          </a:p>
        </p:txBody>
      </p:sp>
      <p:sp>
        <p:nvSpPr>
          <p:cNvPr id="8" name="직사각형 7">
            <a:extLst>
              <a:ext uri="{FF2B5EF4-FFF2-40B4-BE49-F238E27FC236}">
                <a16:creationId xmlns:a16="http://schemas.microsoft.com/office/drawing/2014/main" id="{6E180EF9-7193-461B-91A9-9DDE1FF66367}"/>
              </a:ext>
            </a:extLst>
          </p:cNvPr>
          <p:cNvSpPr/>
          <p:nvPr/>
        </p:nvSpPr>
        <p:spPr>
          <a:xfrm rot="16200000">
            <a:off x="-395181" y="4947541"/>
            <a:ext cx="1044116" cy="3960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a:solidFill>
                  <a:schemeClr val="tx1"/>
                </a:solidFill>
              </a:rPr>
              <a:t>Inflow (</a:t>
            </a:r>
            <a:r>
              <a:rPr lang="en-US" altLang="ko-KR" sz="1200" dirty="0" err="1">
                <a:solidFill>
                  <a:schemeClr val="tx1"/>
                </a:solidFill>
              </a:rPr>
              <a:t>cms</a:t>
            </a:r>
            <a:r>
              <a:rPr lang="en-US" altLang="ko-KR" sz="1200" dirty="0">
                <a:solidFill>
                  <a:schemeClr val="tx1"/>
                </a:solidFill>
              </a:rPr>
              <a:t>)</a:t>
            </a:r>
            <a:endParaRPr lang="ko-KR" altLang="en-US" sz="1200" dirty="0">
              <a:solidFill>
                <a:schemeClr val="tx1"/>
              </a:solidFill>
            </a:endParaRPr>
          </a:p>
        </p:txBody>
      </p:sp>
      <p:graphicFrame>
        <p:nvGraphicFramePr>
          <p:cNvPr id="9" name="차트 8">
            <a:extLst>
              <a:ext uri="{FF2B5EF4-FFF2-40B4-BE49-F238E27FC236}">
                <a16:creationId xmlns:a16="http://schemas.microsoft.com/office/drawing/2014/main" id="{4A5EE815-CC91-4049-AA54-36681264485F}"/>
              </a:ext>
            </a:extLst>
          </p:cNvPr>
          <p:cNvGraphicFramePr>
            <a:graphicFrameLocks/>
          </p:cNvGraphicFramePr>
          <p:nvPr>
            <p:extLst>
              <p:ext uri="{D42A27DB-BD31-4B8C-83A1-F6EECF244321}">
                <p14:modId xmlns:p14="http://schemas.microsoft.com/office/powerpoint/2010/main" val="205484271"/>
              </p:ext>
            </p:extLst>
          </p:nvPr>
        </p:nvGraphicFramePr>
        <p:xfrm>
          <a:off x="323528" y="3798253"/>
          <a:ext cx="4150069" cy="2694620"/>
        </p:xfrm>
        <a:graphic>
          <a:graphicData uri="http://schemas.openxmlformats.org/drawingml/2006/chart">
            <c:chart xmlns:c="http://schemas.openxmlformats.org/drawingml/2006/chart" xmlns:r="http://schemas.openxmlformats.org/officeDocument/2006/relationships" r:id="rId3"/>
          </a:graphicData>
        </a:graphic>
      </p:graphicFrame>
      <p:sp>
        <p:nvSpPr>
          <p:cNvPr id="10" name="직사각형 9">
            <a:extLst>
              <a:ext uri="{FF2B5EF4-FFF2-40B4-BE49-F238E27FC236}">
                <a16:creationId xmlns:a16="http://schemas.microsoft.com/office/drawing/2014/main" id="{B33E6F93-DFCD-4A95-8E79-1340DA89FE6D}"/>
              </a:ext>
            </a:extLst>
          </p:cNvPr>
          <p:cNvSpPr/>
          <p:nvPr/>
        </p:nvSpPr>
        <p:spPr>
          <a:xfrm>
            <a:off x="794198" y="4263811"/>
            <a:ext cx="1271117" cy="738664"/>
          </a:xfrm>
          <a:prstGeom prst="rect">
            <a:avLst/>
          </a:prstGeom>
        </p:spPr>
        <p:txBody>
          <a:bodyPr wrap="square">
            <a:spAutoFit/>
          </a:bodyPr>
          <a:lstStyle/>
          <a:p>
            <a:pPr algn="ctr"/>
            <a:r>
              <a:rPr lang="en-US" altLang="ko-KR" sz="1400" dirty="0">
                <a:solidFill>
                  <a:srgbClr val="FF0000"/>
                </a:solidFill>
                <a:latin typeface="Gill Sans MT" panose="020B0502020104020203" pitchFamily="34" charset="0"/>
              </a:rPr>
              <a:t>29% Decrease </a:t>
            </a:r>
          </a:p>
          <a:p>
            <a:pPr algn="ctr"/>
            <a:r>
              <a:rPr lang="en-US" altLang="ko-KR" sz="1400" dirty="0">
                <a:solidFill>
                  <a:srgbClr val="FF0000"/>
                </a:solidFill>
                <a:latin typeface="Gill Sans MT" panose="020B0502020104020203" pitchFamily="34" charset="0"/>
              </a:rPr>
              <a:t>In Total Inflow </a:t>
            </a:r>
            <a:br>
              <a:rPr lang="en-US" altLang="ko-KR" sz="1400" dirty="0">
                <a:solidFill>
                  <a:srgbClr val="FF0000"/>
                </a:solidFill>
                <a:latin typeface="Gill Sans MT" panose="020B0502020104020203" pitchFamily="34" charset="0"/>
              </a:rPr>
            </a:br>
            <a:r>
              <a:rPr lang="en-US" altLang="ko-KR" sz="1400" dirty="0">
                <a:solidFill>
                  <a:srgbClr val="FF0000"/>
                </a:solidFill>
                <a:latin typeface="Gill Sans MT" panose="020B0502020104020203" pitchFamily="34" charset="0"/>
              </a:rPr>
              <a:t>(2015-2017)</a:t>
            </a:r>
            <a:endParaRPr lang="ko-KR" altLang="en-US" sz="1400" dirty="0">
              <a:solidFill>
                <a:srgbClr val="FF0000"/>
              </a:solidFill>
              <a:latin typeface="Gill Sans MT" panose="020B0502020104020203" pitchFamily="34" charset="0"/>
            </a:endParaRPr>
          </a:p>
        </p:txBody>
      </p:sp>
    </p:spTree>
    <p:extLst>
      <p:ext uri="{BB962C8B-B14F-4D97-AF65-F5344CB8AC3E}">
        <p14:creationId xmlns:p14="http://schemas.microsoft.com/office/powerpoint/2010/main" val="391142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Graphic spid="9" grpId="0">
        <p:bldAsOne/>
      </p:bldGraphic>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그룹 11">
            <a:extLst>
              <a:ext uri="{FF2B5EF4-FFF2-40B4-BE49-F238E27FC236}">
                <a16:creationId xmlns:a16="http://schemas.microsoft.com/office/drawing/2014/main" id="{59A5A4AA-9BF1-4D33-9949-846538E6E824}"/>
              </a:ext>
            </a:extLst>
          </p:cNvPr>
          <p:cNvGrpSpPr/>
          <p:nvPr/>
        </p:nvGrpSpPr>
        <p:grpSpPr>
          <a:xfrm>
            <a:off x="1913819" y="2955664"/>
            <a:ext cx="5659309" cy="3747925"/>
            <a:chOff x="1820468" y="2706500"/>
            <a:chExt cx="5659309" cy="3747925"/>
          </a:xfrm>
        </p:grpSpPr>
        <p:pic>
          <p:nvPicPr>
            <p:cNvPr id="13" name="그림 12">
              <a:extLst>
                <a:ext uri="{FF2B5EF4-FFF2-40B4-BE49-F238E27FC236}">
                  <a16:creationId xmlns:a16="http://schemas.microsoft.com/office/drawing/2014/main" id="{BD9B80C3-F95C-4823-BA29-E1C65FD80E82}"/>
                </a:ext>
              </a:extLst>
            </p:cNvPr>
            <p:cNvPicPr>
              <a:picLocks noChangeAspect="1"/>
            </p:cNvPicPr>
            <p:nvPr/>
          </p:nvPicPr>
          <p:blipFill>
            <a:blip r:embed="rId3"/>
            <a:stretch>
              <a:fillRect/>
            </a:stretch>
          </p:blipFill>
          <p:spPr>
            <a:xfrm>
              <a:off x="1820468" y="2706500"/>
              <a:ext cx="5659309" cy="3747925"/>
            </a:xfrm>
            <a:prstGeom prst="rect">
              <a:avLst/>
            </a:prstGeom>
          </p:spPr>
        </p:pic>
        <p:sp>
          <p:nvSpPr>
            <p:cNvPr id="14" name="타원 13">
              <a:extLst>
                <a:ext uri="{FF2B5EF4-FFF2-40B4-BE49-F238E27FC236}">
                  <a16:creationId xmlns:a16="http://schemas.microsoft.com/office/drawing/2014/main" id="{6A716356-DA9E-4C70-858A-C5BEDB30D009}"/>
                </a:ext>
              </a:extLst>
            </p:cNvPr>
            <p:cNvSpPr/>
            <p:nvPr/>
          </p:nvSpPr>
          <p:spPr>
            <a:xfrm>
              <a:off x="3796669" y="3956773"/>
              <a:ext cx="1224136" cy="57606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제목 1">
            <a:extLst>
              <a:ext uri="{FF2B5EF4-FFF2-40B4-BE49-F238E27FC236}">
                <a16:creationId xmlns:a16="http://schemas.microsoft.com/office/drawing/2014/main" id="{0BCA77C1-99A4-4119-BB4F-915B4E235508}"/>
              </a:ext>
            </a:extLst>
          </p:cNvPr>
          <p:cNvSpPr>
            <a:spLocks noGrp="1"/>
          </p:cNvSpPr>
          <p:nvPr>
            <p:ph type="title"/>
          </p:nvPr>
        </p:nvSpPr>
        <p:spPr/>
        <p:txBody>
          <a:bodyPr/>
          <a:lstStyle/>
          <a:p>
            <a:r>
              <a:rPr lang="en-US" altLang="ko-KR" dirty="0"/>
              <a:t>Application: SQ Rule Generation Algorithm</a:t>
            </a:r>
            <a:endParaRPr lang="ko-KR" altLang="en-US" dirty="0"/>
          </a:p>
        </p:txBody>
      </p:sp>
      <p:sp>
        <p:nvSpPr>
          <p:cNvPr id="3" name="내용 개체 틀 2">
            <a:extLst>
              <a:ext uri="{FF2B5EF4-FFF2-40B4-BE49-F238E27FC236}">
                <a16:creationId xmlns:a16="http://schemas.microsoft.com/office/drawing/2014/main" id="{A7A7D9A5-03B4-4147-97F8-85372AD95E69}"/>
              </a:ext>
            </a:extLst>
          </p:cNvPr>
          <p:cNvSpPr>
            <a:spLocks noGrp="1"/>
          </p:cNvSpPr>
          <p:nvPr>
            <p:ph idx="1"/>
          </p:nvPr>
        </p:nvSpPr>
        <p:spPr/>
        <p:txBody>
          <a:bodyPr/>
          <a:lstStyle/>
          <a:p>
            <a:r>
              <a:rPr lang="en-US" altLang="ko-KR" dirty="0"/>
              <a:t> Inclusion of </a:t>
            </a:r>
            <a:r>
              <a:rPr lang="en-US" altLang="ko-KR" dirty="0">
                <a:solidFill>
                  <a:srgbClr val="FF0000"/>
                </a:solidFill>
              </a:rPr>
              <a:t>Long Memory Time Series </a:t>
            </a:r>
            <a:r>
              <a:rPr lang="en-US" altLang="ko-KR" dirty="0"/>
              <a:t>during rule curve generation</a:t>
            </a:r>
          </a:p>
          <a:p>
            <a:pPr lvl="1"/>
            <a:r>
              <a:rPr lang="en-US" altLang="ko-KR" dirty="0"/>
              <a:t> Statistics of synthetically generated inflow series </a:t>
            </a:r>
          </a:p>
          <a:p>
            <a:pPr lvl="2"/>
            <a:r>
              <a:rPr lang="en-US" altLang="ko-KR" dirty="0"/>
              <a:t> Average, standard deviations: Identical to historical statistics</a:t>
            </a:r>
          </a:p>
          <a:p>
            <a:pPr lvl="2"/>
            <a:r>
              <a:rPr lang="en-US" altLang="ko-KR" dirty="0"/>
              <a:t> 7 Cases of Long persistence (</a:t>
            </a:r>
            <a:r>
              <a:rPr lang="en-US" altLang="ko-KR" b="1" dirty="0">
                <a:solidFill>
                  <a:srgbClr val="FF0000"/>
                </a:solidFill>
              </a:rPr>
              <a:t>H</a:t>
            </a:r>
            <a:r>
              <a:rPr lang="en-US" altLang="ko-KR" dirty="0"/>
              <a:t> </a:t>
            </a:r>
            <a:r>
              <a:rPr lang="en-US" altLang="ko-KR" dirty="0">
                <a:solidFill>
                  <a:srgbClr val="FF0000"/>
                </a:solidFill>
              </a:rPr>
              <a:t>= 0.6, 0.65, 0.7, 0.75, 0.8, 0.85, 0.9</a:t>
            </a:r>
            <a:r>
              <a:rPr lang="en-US" altLang="ko-KR" dirty="0"/>
              <a:t>)</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55D567D7-A4DF-4DB9-9462-170DD25F6805}"/>
              </a:ext>
            </a:extLst>
          </p:cNvPr>
          <p:cNvSpPr>
            <a:spLocks noGrp="1"/>
          </p:cNvSpPr>
          <p:nvPr>
            <p:ph type="sldNum" sz="quarter" idx="12"/>
          </p:nvPr>
        </p:nvSpPr>
        <p:spPr/>
        <p:txBody>
          <a:bodyPr/>
          <a:lstStyle/>
          <a:p>
            <a:fld id="{79822AFB-C284-4A8E-A6EE-41BAA9C576A0}" type="slidenum">
              <a:rPr lang="ko-KR" altLang="en-US" smtClean="0"/>
              <a:t>15</a:t>
            </a:fld>
            <a:endParaRPr lang="ko-KR" altLang="en-US"/>
          </a:p>
        </p:txBody>
      </p:sp>
      <p:sp>
        <p:nvSpPr>
          <p:cNvPr id="5" name="날짜 개체 틀 4">
            <a:extLst>
              <a:ext uri="{FF2B5EF4-FFF2-40B4-BE49-F238E27FC236}">
                <a16:creationId xmlns:a16="http://schemas.microsoft.com/office/drawing/2014/main" id="{4A94D649-63D3-4401-806F-5E0ECDC7484A}"/>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
        <p:nvSpPr>
          <p:cNvPr id="7" name="화살표: 오른쪽 6">
            <a:extLst>
              <a:ext uri="{FF2B5EF4-FFF2-40B4-BE49-F238E27FC236}">
                <a16:creationId xmlns:a16="http://schemas.microsoft.com/office/drawing/2014/main" id="{10E82B7F-13A6-4BF5-9F3A-04487008D2D6}"/>
              </a:ext>
            </a:extLst>
          </p:cNvPr>
          <p:cNvSpPr/>
          <p:nvPr/>
        </p:nvSpPr>
        <p:spPr>
          <a:xfrm>
            <a:off x="5325505" y="2847652"/>
            <a:ext cx="1944216" cy="216024"/>
          </a:xfrm>
          <a:prstGeom prst="rightArrow">
            <a:avLst>
              <a:gd name="adj1" fmla="val 50000"/>
              <a:gd name="adj2" fmla="val 9477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996743B2-054D-43AD-90A8-FB35A9B5F9E1}"/>
              </a:ext>
            </a:extLst>
          </p:cNvPr>
          <p:cNvSpPr txBox="1"/>
          <p:nvPr/>
        </p:nvSpPr>
        <p:spPr>
          <a:xfrm>
            <a:off x="7269721" y="2787336"/>
            <a:ext cx="1886286" cy="307777"/>
          </a:xfrm>
          <a:prstGeom prst="rect">
            <a:avLst/>
          </a:prstGeom>
          <a:noFill/>
        </p:spPr>
        <p:txBody>
          <a:bodyPr wrap="none" rtlCol="0">
            <a:spAutoFit/>
          </a:bodyPr>
          <a:lstStyle/>
          <a:p>
            <a:r>
              <a:rPr lang="en-US" altLang="ko-KR" sz="1400" dirty="0">
                <a:solidFill>
                  <a:srgbClr val="FF0000"/>
                </a:solidFill>
                <a:latin typeface="Gill Sans MT" panose="020B0502020104020203" pitchFamily="34" charset="0"/>
              </a:rPr>
              <a:t>Stronger Long Memory</a:t>
            </a:r>
            <a:endParaRPr lang="ko-KR" altLang="en-US" sz="1400" dirty="0">
              <a:solidFill>
                <a:srgbClr val="FF0000"/>
              </a:solidFill>
              <a:latin typeface="Gill Sans MT" panose="020B0502020104020203"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B1425C8-9835-4484-9E2F-2C121C977D6E}"/>
                  </a:ext>
                </a:extLst>
              </p:cNvPr>
              <p:cNvSpPr txBox="1"/>
              <p:nvPr/>
            </p:nvSpPr>
            <p:spPr>
              <a:xfrm>
                <a:off x="6037413" y="1743537"/>
                <a:ext cx="520399" cy="3211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ko-KR" sz="2000" i="1" smtClean="0">
                              <a:solidFill>
                                <a:srgbClr val="FF0000"/>
                              </a:solidFill>
                              <a:latin typeface="Cambria Math" panose="02040503050406030204" pitchFamily="18" charset="0"/>
                            </a:rPr>
                          </m:ctrlPr>
                        </m:sSubPr>
                        <m:e>
                          <m:r>
                            <a:rPr lang="en-US" altLang="ko-KR" sz="2000" b="0" i="1" smtClean="0">
                              <a:solidFill>
                                <a:srgbClr val="FF0000"/>
                              </a:solidFill>
                              <a:latin typeface="Cambria Math" panose="02040503050406030204" pitchFamily="18" charset="0"/>
                            </a:rPr>
                            <m:t>𝑄</m:t>
                          </m:r>
                        </m:e>
                        <m:sub>
                          <m:r>
                            <a:rPr lang="en-US" altLang="ko-KR" sz="2000" b="0" i="1" smtClean="0">
                              <a:solidFill>
                                <a:srgbClr val="FF0000"/>
                              </a:solidFill>
                              <a:latin typeface="Cambria Math" panose="02040503050406030204" pitchFamily="18" charset="0"/>
                            </a:rPr>
                            <m:t>𝑡</m:t>
                          </m:r>
                          <m:r>
                            <a:rPr lang="en-US" altLang="ko-KR" sz="2000" b="0" i="1" smtClean="0">
                              <a:solidFill>
                                <a:srgbClr val="FF0000"/>
                              </a:solidFill>
                              <a:latin typeface="Cambria Math" panose="02040503050406030204" pitchFamily="18" charset="0"/>
                            </a:rPr>
                            <m:t>,</m:t>
                          </m:r>
                          <m:r>
                            <a:rPr lang="en-US" altLang="ko-KR" sz="2000" b="0" i="1" smtClean="0">
                              <a:solidFill>
                                <a:srgbClr val="FF0000"/>
                              </a:solidFill>
                              <a:latin typeface="Cambria Math" panose="02040503050406030204" pitchFamily="18" charset="0"/>
                            </a:rPr>
                            <m:t>𝐻</m:t>
                          </m:r>
                        </m:sub>
                      </m:sSub>
                    </m:oMath>
                  </m:oMathPara>
                </a14:m>
                <a:endParaRPr lang="ko-KR" altLang="en-US" sz="2000" dirty="0">
                  <a:solidFill>
                    <a:srgbClr val="FF0000"/>
                  </a:solidFill>
                </a:endParaRPr>
              </a:p>
            </p:txBody>
          </p:sp>
        </mc:Choice>
        <mc:Fallback xmlns="">
          <p:sp>
            <p:nvSpPr>
              <p:cNvPr id="9" name="TextBox 8">
                <a:extLst>
                  <a:ext uri="{FF2B5EF4-FFF2-40B4-BE49-F238E27FC236}">
                    <a16:creationId xmlns:a16="http://schemas.microsoft.com/office/drawing/2014/main" id="{FB1425C8-9835-4484-9E2F-2C121C977D6E}"/>
                  </a:ext>
                </a:extLst>
              </p:cNvPr>
              <p:cNvSpPr txBox="1">
                <a:spLocks noRot="1" noChangeAspect="1" noMove="1" noResize="1" noEditPoints="1" noAdjustHandles="1" noChangeArrowheads="1" noChangeShapeType="1" noTextEdit="1"/>
              </p:cNvSpPr>
              <p:nvPr/>
            </p:nvSpPr>
            <p:spPr>
              <a:xfrm>
                <a:off x="6037413" y="1743537"/>
                <a:ext cx="520399" cy="321178"/>
              </a:xfrm>
              <a:prstGeom prst="rect">
                <a:avLst/>
              </a:prstGeom>
              <a:blipFill>
                <a:blip r:embed="rId4"/>
                <a:stretch>
                  <a:fillRect l="-13953" r="-1163" b="-22642"/>
                </a:stretch>
              </a:blipFill>
            </p:spPr>
            <p:txBody>
              <a:bodyPr/>
              <a:lstStyle/>
              <a:p>
                <a:r>
                  <a:rPr lang="ko-KR" altLang="en-US">
                    <a:noFill/>
                  </a:rPr>
                  <a:t> </a:t>
                </a:r>
              </a:p>
            </p:txBody>
          </p:sp>
        </mc:Fallback>
      </mc:AlternateContent>
      <p:cxnSp>
        <p:nvCxnSpPr>
          <p:cNvPr id="10" name="직선 화살표 연결선 9">
            <a:extLst>
              <a:ext uri="{FF2B5EF4-FFF2-40B4-BE49-F238E27FC236}">
                <a16:creationId xmlns:a16="http://schemas.microsoft.com/office/drawing/2014/main" id="{A83B345A-9B30-46DC-AC5A-D637F84368AC}"/>
              </a:ext>
            </a:extLst>
          </p:cNvPr>
          <p:cNvCxnSpPr>
            <a:cxnSpLocks/>
          </p:cNvCxnSpPr>
          <p:nvPr/>
        </p:nvCxnSpPr>
        <p:spPr>
          <a:xfrm flipH="1">
            <a:off x="4502088" y="2089178"/>
            <a:ext cx="1796328" cy="211675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09E7A53-AEB8-4A73-B86F-B19C839EDBDC}"/>
              </a:ext>
            </a:extLst>
          </p:cNvPr>
          <p:cNvSpPr txBox="1"/>
          <p:nvPr/>
        </p:nvSpPr>
        <p:spPr>
          <a:xfrm>
            <a:off x="7504794" y="5476426"/>
            <a:ext cx="1594060" cy="830997"/>
          </a:xfrm>
          <a:prstGeom prst="rect">
            <a:avLst/>
          </a:prstGeom>
          <a:noFill/>
        </p:spPr>
        <p:txBody>
          <a:bodyPr wrap="square" rtlCol="0">
            <a:spAutoFit/>
          </a:bodyPr>
          <a:lstStyle/>
          <a:p>
            <a:r>
              <a:rPr lang="en-US" altLang="ko-KR" sz="1200" dirty="0">
                <a:latin typeface="Gill Sans MT" panose="020B0502020104020203" pitchFamily="34" charset="0"/>
                <a:cs typeface="Helvetica" panose="020B0604020202020204" pitchFamily="34" charset="0"/>
              </a:rPr>
              <a:t>Fig. 2. Iterative calculation process of determining the storages in each zones </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1256584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D75972-166F-49F6-ADDA-5F52B8156428}"/>
              </a:ext>
            </a:extLst>
          </p:cNvPr>
          <p:cNvSpPr>
            <a:spLocks noGrp="1"/>
          </p:cNvSpPr>
          <p:nvPr>
            <p:ph type="title"/>
          </p:nvPr>
        </p:nvSpPr>
        <p:spPr/>
        <p:txBody>
          <a:bodyPr/>
          <a:lstStyle/>
          <a:p>
            <a:r>
              <a:rPr lang="en-US" altLang="ko-KR" dirty="0"/>
              <a:t>Results: Synthetic Inflow Generation</a:t>
            </a:r>
            <a:endParaRPr lang="ko-KR" altLang="en-US" dirty="0"/>
          </a:p>
        </p:txBody>
      </p:sp>
      <p:sp>
        <p:nvSpPr>
          <p:cNvPr id="3" name="내용 개체 틀 2">
            <a:extLst>
              <a:ext uri="{FF2B5EF4-FFF2-40B4-BE49-F238E27FC236}">
                <a16:creationId xmlns:a16="http://schemas.microsoft.com/office/drawing/2014/main" id="{1D184B89-A19B-413A-95E6-A96051570BCD}"/>
              </a:ext>
            </a:extLst>
          </p:cNvPr>
          <p:cNvSpPr>
            <a:spLocks noGrp="1"/>
          </p:cNvSpPr>
          <p:nvPr>
            <p:ph idx="1"/>
          </p:nvPr>
        </p:nvSpPr>
        <p:spPr/>
        <p:txBody>
          <a:bodyPr/>
          <a:lstStyle/>
          <a:p>
            <a:r>
              <a:rPr lang="en-US" altLang="ko-KR" dirty="0"/>
              <a:t> Generation of Annual Series with different long term persistence </a:t>
            </a:r>
          </a:p>
          <a:p>
            <a:r>
              <a:rPr lang="en-US" altLang="ko-KR" dirty="0"/>
              <a:t> Disaggregation from Annual series to 10-day series</a:t>
            </a:r>
          </a:p>
          <a:p>
            <a:pPr lvl="1"/>
            <a:r>
              <a:rPr lang="en-US" altLang="ko-KR" dirty="0"/>
              <a:t> Utilization of K-nearest neighbor (KNN) Disaggregation </a:t>
            </a:r>
            <a:r>
              <a:rPr lang="en-US" altLang="ko-KR" sz="1400" dirty="0"/>
              <a:t>(Nowak et al. 2010)</a:t>
            </a:r>
            <a:endParaRPr lang="en-US" altLang="ko-KR" dirty="0"/>
          </a:p>
          <a:p>
            <a:pPr lvl="1"/>
            <a:r>
              <a:rPr lang="en-US" altLang="ko-KR" dirty="0"/>
              <a:t> Preserves the distributional statistics (i.e., mean, variance, skewness, and minimum &amp; maximum values) of the historical records</a:t>
            </a:r>
          </a:p>
          <a:p>
            <a:endParaRPr lang="ko-KR" altLang="en-US" dirty="0"/>
          </a:p>
        </p:txBody>
      </p:sp>
      <p:sp>
        <p:nvSpPr>
          <p:cNvPr id="4" name="슬라이드 번호 개체 틀 3">
            <a:extLst>
              <a:ext uri="{FF2B5EF4-FFF2-40B4-BE49-F238E27FC236}">
                <a16:creationId xmlns:a16="http://schemas.microsoft.com/office/drawing/2014/main" id="{6C2E7CB2-A1CC-436D-BDBD-D2BD1A6CECB7}"/>
              </a:ext>
            </a:extLst>
          </p:cNvPr>
          <p:cNvSpPr>
            <a:spLocks noGrp="1"/>
          </p:cNvSpPr>
          <p:nvPr>
            <p:ph type="sldNum" sz="quarter" idx="12"/>
          </p:nvPr>
        </p:nvSpPr>
        <p:spPr/>
        <p:txBody>
          <a:bodyPr/>
          <a:lstStyle/>
          <a:p>
            <a:fld id="{79822AFB-C284-4A8E-A6EE-41BAA9C576A0}" type="slidenum">
              <a:rPr lang="ko-KR" altLang="en-US" smtClean="0"/>
              <a:t>16</a:t>
            </a:fld>
            <a:endParaRPr lang="ko-KR" altLang="en-US"/>
          </a:p>
        </p:txBody>
      </p:sp>
      <p:sp>
        <p:nvSpPr>
          <p:cNvPr id="5" name="날짜 개체 틀 4">
            <a:extLst>
              <a:ext uri="{FF2B5EF4-FFF2-40B4-BE49-F238E27FC236}">
                <a16:creationId xmlns:a16="http://schemas.microsoft.com/office/drawing/2014/main" id="{56EEE90A-D3D4-4C6F-A6BF-80683BC4E7C2}"/>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F0230BF5-8979-417A-A49E-086ECDBB49EC}"/>
              </a:ext>
            </a:extLst>
          </p:cNvPr>
          <p:cNvPicPr>
            <a:picLocks noChangeAspect="1"/>
          </p:cNvPicPr>
          <p:nvPr/>
        </p:nvPicPr>
        <p:blipFill>
          <a:blip r:embed="rId3"/>
          <a:stretch>
            <a:fillRect/>
          </a:stretch>
        </p:blipFill>
        <p:spPr>
          <a:xfrm>
            <a:off x="1475656" y="3418309"/>
            <a:ext cx="6870010" cy="2798526"/>
          </a:xfrm>
          <a:prstGeom prst="rect">
            <a:avLst/>
          </a:prstGeom>
        </p:spPr>
      </p:pic>
      <p:sp>
        <p:nvSpPr>
          <p:cNvPr id="7" name="TextBox 6">
            <a:extLst>
              <a:ext uri="{FF2B5EF4-FFF2-40B4-BE49-F238E27FC236}">
                <a16:creationId xmlns:a16="http://schemas.microsoft.com/office/drawing/2014/main" id="{0222EBE9-78FB-45BA-B0F2-D4209A5068CA}"/>
              </a:ext>
            </a:extLst>
          </p:cNvPr>
          <p:cNvSpPr txBox="1"/>
          <p:nvPr/>
        </p:nvSpPr>
        <p:spPr>
          <a:xfrm>
            <a:off x="2237819" y="6193491"/>
            <a:ext cx="5155326" cy="461665"/>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3. Statistics of the generated annual inflow series with long memory: </a:t>
            </a:r>
            <a:br>
              <a:rPr lang="en-US" altLang="ko-KR" sz="1200" dirty="0">
                <a:latin typeface="Gill Sans MT" panose="020B0502020104020203" pitchFamily="34" charset="0"/>
                <a:cs typeface="Helvetica" panose="020B0604020202020204" pitchFamily="34" charset="0"/>
              </a:rPr>
            </a:br>
            <a:r>
              <a:rPr lang="en-US" altLang="ko-KR" sz="1200" dirty="0">
                <a:latin typeface="Gill Sans MT" panose="020B0502020104020203" pitchFamily="34" charset="0"/>
                <a:cs typeface="Helvetica" panose="020B0604020202020204" pitchFamily="34" charset="0"/>
              </a:rPr>
              <a:t>(a) average, (b) standard deviation, and (c) Hurst coefficient</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63952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C89322-E634-45F2-BE76-1A01B6E2733D}"/>
              </a:ext>
            </a:extLst>
          </p:cNvPr>
          <p:cNvSpPr>
            <a:spLocks noGrp="1"/>
          </p:cNvSpPr>
          <p:nvPr>
            <p:ph type="title"/>
          </p:nvPr>
        </p:nvSpPr>
        <p:spPr/>
        <p:txBody>
          <a:bodyPr/>
          <a:lstStyle/>
          <a:p>
            <a:r>
              <a:rPr lang="en-US" altLang="ko-KR" dirty="0"/>
              <a:t>Results: SQ Rule Formulations</a:t>
            </a:r>
            <a:endParaRPr lang="ko-KR" altLang="en-US" dirty="0"/>
          </a:p>
        </p:txBody>
      </p:sp>
      <p:sp>
        <p:nvSpPr>
          <p:cNvPr id="3" name="내용 개체 틀 2">
            <a:extLst>
              <a:ext uri="{FF2B5EF4-FFF2-40B4-BE49-F238E27FC236}">
                <a16:creationId xmlns:a16="http://schemas.microsoft.com/office/drawing/2014/main" id="{9FEE7074-E09A-44A8-8B93-D952B14214B0}"/>
              </a:ext>
            </a:extLst>
          </p:cNvPr>
          <p:cNvSpPr>
            <a:spLocks noGrp="1"/>
          </p:cNvSpPr>
          <p:nvPr>
            <p:ph idx="1"/>
          </p:nvPr>
        </p:nvSpPr>
        <p:spPr/>
        <p:txBody>
          <a:bodyPr/>
          <a:lstStyle/>
          <a:p>
            <a:r>
              <a:rPr lang="en-US" altLang="ko-KR" dirty="0"/>
              <a:t> Iterative calculations for rule curve generation</a:t>
            </a:r>
          </a:p>
          <a:p>
            <a:pPr lvl="1"/>
            <a:r>
              <a:rPr lang="en-US" altLang="ko-KR" dirty="0"/>
              <a:t> 100 Sets of 500-year series for more robust rule curve storage values</a:t>
            </a:r>
          </a:p>
          <a:p>
            <a:pPr lvl="1"/>
            <a:r>
              <a:rPr lang="en-US" altLang="ko-KR" dirty="0"/>
              <a:t> Fig. 4 shows 3 representative cases where </a:t>
            </a:r>
            <a:br>
              <a:rPr lang="en-US" altLang="ko-KR" dirty="0"/>
            </a:br>
            <a:r>
              <a:rPr lang="en-US" altLang="ko-KR" dirty="0"/>
              <a:t>darker = stronger long term persistence (H=0.6, 0.75, 0.9)</a:t>
            </a:r>
          </a:p>
          <a:p>
            <a:endParaRPr lang="ko-KR" altLang="en-US" dirty="0"/>
          </a:p>
        </p:txBody>
      </p:sp>
      <p:sp>
        <p:nvSpPr>
          <p:cNvPr id="4" name="슬라이드 번호 개체 틀 3">
            <a:extLst>
              <a:ext uri="{FF2B5EF4-FFF2-40B4-BE49-F238E27FC236}">
                <a16:creationId xmlns:a16="http://schemas.microsoft.com/office/drawing/2014/main" id="{604AE0E1-B30F-4E25-B30D-3928311BF90C}"/>
              </a:ext>
            </a:extLst>
          </p:cNvPr>
          <p:cNvSpPr>
            <a:spLocks noGrp="1"/>
          </p:cNvSpPr>
          <p:nvPr>
            <p:ph type="sldNum" sz="quarter" idx="12"/>
          </p:nvPr>
        </p:nvSpPr>
        <p:spPr/>
        <p:txBody>
          <a:bodyPr/>
          <a:lstStyle/>
          <a:p>
            <a:fld id="{79822AFB-C284-4A8E-A6EE-41BAA9C576A0}" type="slidenum">
              <a:rPr lang="ko-KR" altLang="en-US" smtClean="0"/>
              <a:t>17</a:t>
            </a:fld>
            <a:endParaRPr lang="ko-KR" altLang="en-US"/>
          </a:p>
        </p:txBody>
      </p:sp>
      <p:sp>
        <p:nvSpPr>
          <p:cNvPr id="5" name="날짜 개체 틀 4">
            <a:extLst>
              <a:ext uri="{FF2B5EF4-FFF2-40B4-BE49-F238E27FC236}">
                <a16:creationId xmlns:a16="http://schemas.microsoft.com/office/drawing/2014/main" id="{F494A702-A1F4-4F08-BC92-60AEA8CC7B56}"/>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0637E962-E35F-4D10-9216-F609C9D63AAB}"/>
              </a:ext>
            </a:extLst>
          </p:cNvPr>
          <p:cNvPicPr>
            <a:picLocks noChangeAspect="1"/>
          </p:cNvPicPr>
          <p:nvPr/>
        </p:nvPicPr>
        <p:blipFill>
          <a:blip r:embed="rId3"/>
          <a:stretch>
            <a:fillRect/>
          </a:stretch>
        </p:blipFill>
        <p:spPr>
          <a:xfrm>
            <a:off x="1850380" y="2843182"/>
            <a:ext cx="5443240" cy="3513167"/>
          </a:xfrm>
          <a:prstGeom prst="rect">
            <a:avLst/>
          </a:prstGeom>
        </p:spPr>
      </p:pic>
      <p:sp>
        <p:nvSpPr>
          <p:cNvPr id="7" name="TextBox 6">
            <a:extLst>
              <a:ext uri="{FF2B5EF4-FFF2-40B4-BE49-F238E27FC236}">
                <a16:creationId xmlns:a16="http://schemas.microsoft.com/office/drawing/2014/main" id="{72BE6FBE-E97F-4C15-AE11-2961FBEAE237}"/>
              </a:ext>
            </a:extLst>
          </p:cNvPr>
          <p:cNvSpPr txBox="1"/>
          <p:nvPr/>
        </p:nvSpPr>
        <p:spPr>
          <a:xfrm>
            <a:off x="2021854" y="6349998"/>
            <a:ext cx="5443240" cy="461665"/>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4. Generated alternative storage zones: </a:t>
            </a:r>
            <a:br>
              <a:rPr lang="en-US" altLang="ko-KR" sz="1200" dirty="0">
                <a:latin typeface="Gill Sans MT" panose="020B0502020104020203" pitchFamily="34" charset="0"/>
                <a:cs typeface="Helvetica" panose="020B0604020202020204" pitchFamily="34" charset="0"/>
              </a:rPr>
            </a:br>
            <a:r>
              <a:rPr lang="en-US" altLang="ko-KR" sz="1200" dirty="0">
                <a:latin typeface="Gill Sans MT" panose="020B0502020104020203" pitchFamily="34" charset="0"/>
                <a:cs typeface="Helvetica" panose="020B0604020202020204" pitchFamily="34" charset="0"/>
              </a:rPr>
              <a:t>(a) zone 1 (b) zone 2 (c) zone 3 (d) zone 4 (attention-caution-alert-critical)</a:t>
            </a:r>
            <a:endParaRPr lang="ko-KR" altLang="en-US" sz="1200" dirty="0">
              <a:latin typeface="Gill Sans MT" panose="020B0502020104020203" pitchFamily="34" charset="0"/>
              <a:cs typeface="Helvetica" panose="020B0604020202020204" pitchFamily="34" charset="0"/>
            </a:endParaRPr>
          </a:p>
        </p:txBody>
      </p:sp>
      <p:pic>
        <p:nvPicPr>
          <p:cNvPr id="8" name="그림 7">
            <a:extLst>
              <a:ext uri="{FF2B5EF4-FFF2-40B4-BE49-F238E27FC236}">
                <a16:creationId xmlns:a16="http://schemas.microsoft.com/office/drawing/2014/main" id="{68F9F187-0457-4DA0-933C-77A3B40C4E68}"/>
              </a:ext>
            </a:extLst>
          </p:cNvPr>
          <p:cNvPicPr>
            <a:picLocks noChangeAspect="1"/>
          </p:cNvPicPr>
          <p:nvPr/>
        </p:nvPicPr>
        <p:blipFill>
          <a:blip r:embed="rId4"/>
          <a:stretch>
            <a:fillRect/>
          </a:stretch>
        </p:blipFill>
        <p:spPr>
          <a:xfrm>
            <a:off x="6300192" y="140678"/>
            <a:ext cx="2591163" cy="1609195"/>
          </a:xfrm>
          <a:prstGeom prst="rect">
            <a:avLst/>
          </a:prstGeom>
          <a:ln>
            <a:solidFill>
              <a:schemeClr val="tx1"/>
            </a:solidFill>
          </a:ln>
        </p:spPr>
      </p:pic>
    </p:spTree>
    <p:extLst>
      <p:ext uri="{BB962C8B-B14F-4D97-AF65-F5344CB8AC3E}">
        <p14:creationId xmlns:p14="http://schemas.microsoft.com/office/powerpoint/2010/main" val="2115521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DD8C4B8-3516-4581-8241-5DA5DBA777F5}"/>
              </a:ext>
            </a:extLst>
          </p:cNvPr>
          <p:cNvSpPr>
            <a:spLocks noGrp="1"/>
          </p:cNvSpPr>
          <p:nvPr>
            <p:ph type="title"/>
          </p:nvPr>
        </p:nvSpPr>
        <p:spPr/>
        <p:txBody>
          <a:bodyPr/>
          <a:lstStyle/>
          <a:p>
            <a:r>
              <a:rPr lang="en-US" altLang="ko-KR" dirty="0"/>
              <a:t>Results:  Adaptive RO with Alternative Rules</a:t>
            </a:r>
            <a:endParaRPr lang="ko-KR" altLang="en-US" dirty="0"/>
          </a:p>
        </p:txBody>
      </p:sp>
      <p:sp>
        <p:nvSpPr>
          <p:cNvPr id="3" name="내용 개체 틀 2">
            <a:extLst>
              <a:ext uri="{FF2B5EF4-FFF2-40B4-BE49-F238E27FC236}">
                <a16:creationId xmlns:a16="http://schemas.microsoft.com/office/drawing/2014/main" id="{445F4C93-7311-4331-B9C6-597225B6DCC2}"/>
              </a:ext>
            </a:extLst>
          </p:cNvPr>
          <p:cNvSpPr>
            <a:spLocks noGrp="1"/>
          </p:cNvSpPr>
          <p:nvPr>
            <p:ph idx="1"/>
          </p:nvPr>
        </p:nvSpPr>
        <p:spPr/>
        <p:txBody>
          <a:bodyPr/>
          <a:lstStyle/>
          <a:p>
            <a:r>
              <a:rPr lang="en-US" altLang="ko-KR" dirty="0"/>
              <a:t> Adaptive Reservoir Operations with Alternative Rule Curves</a:t>
            </a:r>
          </a:p>
          <a:p>
            <a:pPr lvl="1"/>
            <a:r>
              <a:rPr lang="en-US" altLang="ko-KR" dirty="0"/>
              <a:t> </a:t>
            </a:r>
            <a:r>
              <a:rPr lang="en-US" altLang="ko-KR" b="1" dirty="0"/>
              <a:t>Adaptive (or dynamic) DM</a:t>
            </a:r>
            <a:r>
              <a:rPr lang="en-US" altLang="ko-KR" dirty="0"/>
              <a:t> = decisions are iteratively updated by the results of its previous outcomes and new information </a:t>
            </a:r>
            <a:r>
              <a:rPr lang="en-US" altLang="ko-KR" sz="1400" dirty="0"/>
              <a:t>(</a:t>
            </a:r>
            <a:r>
              <a:rPr lang="en-US" altLang="ko-KR" sz="1400" dirty="0" err="1"/>
              <a:t>Kolokytha</a:t>
            </a:r>
            <a:r>
              <a:rPr lang="en-US" altLang="ko-KR" sz="1400" dirty="0"/>
              <a:t> et al. 2017) </a:t>
            </a:r>
            <a:endParaRPr lang="en-US" altLang="ko-KR" dirty="0"/>
          </a:p>
          <a:p>
            <a:pPr lvl="1"/>
            <a:r>
              <a:rPr lang="en-US" altLang="ko-KR" dirty="0"/>
              <a:t> Selected Trigger: Standard Runoff Index (SRI) 12</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EB44778E-15A3-420A-B83B-E7EB57F42C48}"/>
              </a:ext>
            </a:extLst>
          </p:cNvPr>
          <p:cNvSpPr>
            <a:spLocks noGrp="1"/>
          </p:cNvSpPr>
          <p:nvPr>
            <p:ph type="sldNum" sz="quarter" idx="12"/>
          </p:nvPr>
        </p:nvSpPr>
        <p:spPr/>
        <p:txBody>
          <a:bodyPr/>
          <a:lstStyle/>
          <a:p>
            <a:fld id="{79822AFB-C284-4A8E-A6EE-41BAA9C576A0}" type="slidenum">
              <a:rPr lang="ko-KR" altLang="en-US" smtClean="0"/>
              <a:t>18</a:t>
            </a:fld>
            <a:endParaRPr lang="ko-KR" altLang="en-US"/>
          </a:p>
        </p:txBody>
      </p:sp>
      <p:sp>
        <p:nvSpPr>
          <p:cNvPr id="5" name="날짜 개체 틀 4">
            <a:extLst>
              <a:ext uri="{FF2B5EF4-FFF2-40B4-BE49-F238E27FC236}">
                <a16:creationId xmlns:a16="http://schemas.microsoft.com/office/drawing/2014/main" id="{1067E2DF-BAB6-45CA-ACA2-EFDECC9E5AB3}"/>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2785241E-EC52-47C4-B559-26D98EED9F9E}"/>
              </a:ext>
            </a:extLst>
          </p:cNvPr>
          <p:cNvPicPr>
            <a:picLocks noChangeAspect="1"/>
          </p:cNvPicPr>
          <p:nvPr/>
        </p:nvPicPr>
        <p:blipFill>
          <a:blip r:embed="rId3"/>
          <a:stretch>
            <a:fillRect/>
          </a:stretch>
        </p:blipFill>
        <p:spPr>
          <a:xfrm>
            <a:off x="1763688" y="2886347"/>
            <a:ext cx="4990107" cy="3835127"/>
          </a:xfrm>
          <a:prstGeom prst="rect">
            <a:avLst/>
          </a:prstGeom>
        </p:spPr>
      </p:pic>
      <p:pic>
        <p:nvPicPr>
          <p:cNvPr id="7" name="그림 6">
            <a:extLst>
              <a:ext uri="{FF2B5EF4-FFF2-40B4-BE49-F238E27FC236}">
                <a16:creationId xmlns:a16="http://schemas.microsoft.com/office/drawing/2014/main" id="{03643B1D-05B8-4A60-A997-8E8BBB8562C1}"/>
              </a:ext>
            </a:extLst>
          </p:cNvPr>
          <p:cNvPicPr>
            <a:picLocks noChangeAspect="1"/>
          </p:cNvPicPr>
          <p:nvPr/>
        </p:nvPicPr>
        <p:blipFill>
          <a:blip r:embed="rId4"/>
          <a:stretch>
            <a:fillRect/>
          </a:stretch>
        </p:blipFill>
        <p:spPr>
          <a:xfrm>
            <a:off x="2668934" y="3394323"/>
            <a:ext cx="6228184" cy="2675274"/>
          </a:xfrm>
          <a:prstGeom prst="rect">
            <a:avLst/>
          </a:prstGeom>
        </p:spPr>
      </p:pic>
    </p:spTree>
    <p:extLst>
      <p:ext uri="{BB962C8B-B14F-4D97-AF65-F5344CB8AC3E}">
        <p14:creationId xmlns:p14="http://schemas.microsoft.com/office/powerpoint/2010/main" val="249200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980CDC-6DC2-491A-9E29-6AB58FFD28EC}"/>
              </a:ext>
            </a:extLst>
          </p:cNvPr>
          <p:cNvSpPr>
            <a:spLocks noGrp="1"/>
          </p:cNvSpPr>
          <p:nvPr>
            <p:ph type="title"/>
          </p:nvPr>
        </p:nvSpPr>
        <p:spPr/>
        <p:txBody>
          <a:bodyPr/>
          <a:lstStyle/>
          <a:p>
            <a:r>
              <a:rPr lang="en-US" altLang="ko-KR" dirty="0"/>
              <a:t>Results:  Adaptive RO with Alternative Rules</a:t>
            </a:r>
            <a:endParaRPr lang="ko-KR" altLang="en-US" dirty="0"/>
          </a:p>
        </p:txBody>
      </p:sp>
      <p:sp>
        <p:nvSpPr>
          <p:cNvPr id="3" name="내용 개체 틀 2">
            <a:extLst>
              <a:ext uri="{FF2B5EF4-FFF2-40B4-BE49-F238E27FC236}">
                <a16:creationId xmlns:a16="http://schemas.microsoft.com/office/drawing/2014/main" id="{5E8D29D8-FA5B-4093-AB0C-8CAA3B9B5406}"/>
              </a:ext>
            </a:extLst>
          </p:cNvPr>
          <p:cNvSpPr>
            <a:spLocks noGrp="1"/>
          </p:cNvSpPr>
          <p:nvPr>
            <p:ph idx="1"/>
          </p:nvPr>
        </p:nvSpPr>
        <p:spPr/>
        <p:txBody>
          <a:bodyPr/>
          <a:lstStyle/>
          <a:p>
            <a:r>
              <a:rPr lang="en-US" altLang="ko-KR" dirty="0"/>
              <a:t> Reservoir Simulation Comparison (under historical inflow, 1998-2020)</a:t>
            </a:r>
            <a:br>
              <a:rPr lang="en-US" altLang="ko-KR" dirty="0"/>
            </a:br>
            <a:r>
              <a:rPr lang="en-US" altLang="ko-KR" dirty="0">
                <a:solidFill>
                  <a:srgbClr val="FF0000"/>
                </a:solidFill>
              </a:rPr>
              <a:t>K-water SQ Rule</a:t>
            </a:r>
            <a:r>
              <a:rPr lang="en-US" altLang="ko-KR" dirty="0"/>
              <a:t>  vs.  </a:t>
            </a:r>
            <a:r>
              <a:rPr lang="en-US" altLang="ko-KR" dirty="0">
                <a:solidFill>
                  <a:srgbClr val="0417CC"/>
                </a:solidFill>
              </a:rPr>
              <a:t>Adaptive Operations</a:t>
            </a:r>
            <a:r>
              <a:rPr lang="en-US" altLang="ko-KR" dirty="0"/>
              <a:t> (proposed in this research)</a:t>
            </a:r>
          </a:p>
          <a:p>
            <a:pPr lvl="1"/>
            <a:r>
              <a:rPr lang="en-US" altLang="ko-KR" dirty="0"/>
              <a:t> Supply (a): Storage (%), darker columns indicate lower storage</a:t>
            </a:r>
          </a:p>
          <a:p>
            <a:pPr lvl="1"/>
            <a:r>
              <a:rPr lang="en-US" altLang="ko-KR" dirty="0"/>
              <a:t> Demand (b): Water Deficit Ratio (%), darker columns indicate greater water deficit ratio </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4086E35C-E232-415B-B945-F9C2B4A02F47}"/>
              </a:ext>
            </a:extLst>
          </p:cNvPr>
          <p:cNvSpPr>
            <a:spLocks noGrp="1"/>
          </p:cNvSpPr>
          <p:nvPr>
            <p:ph type="sldNum" sz="quarter" idx="12"/>
          </p:nvPr>
        </p:nvSpPr>
        <p:spPr/>
        <p:txBody>
          <a:bodyPr/>
          <a:lstStyle/>
          <a:p>
            <a:fld id="{79822AFB-C284-4A8E-A6EE-41BAA9C576A0}" type="slidenum">
              <a:rPr lang="ko-KR" altLang="en-US" smtClean="0"/>
              <a:t>19</a:t>
            </a:fld>
            <a:endParaRPr lang="ko-KR" altLang="en-US"/>
          </a:p>
        </p:txBody>
      </p:sp>
      <p:sp>
        <p:nvSpPr>
          <p:cNvPr id="5" name="날짜 개체 틀 4">
            <a:extLst>
              <a:ext uri="{FF2B5EF4-FFF2-40B4-BE49-F238E27FC236}">
                <a16:creationId xmlns:a16="http://schemas.microsoft.com/office/drawing/2014/main" id="{2328CABD-1689-4AA0-B3DD-45D4D6177504}"/>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7" name="그림 6">
            <a:extLst>
              <a:ext uri="{FF2B5EF4-FFF2-40B4-BE49-F238E27FC236}">
                <a16:creationId xmlns:a16="http://schemas.microsoft.com/office/drawing/2014/main" id="{8A72BCCC-3CE1-4BDE-B515-DBBC1800B1C7}"/>
              </a:ext>
            </a:extLst>
          </p:cNvPr>
          <p:cNvPicPr>
            <a:picLocks noChangeAspect="1"/>
          </p:cNvPicPr>
          <p:nvPr/>
        </p:nvPicPr>
        <p:blipFill>
          <a:blip r:embed="rId3"/>
          <a:stretch>
            <a:fillRect/>
          </a:stretch>
        </p:blipFill>
        <p:spPr>
          <a:xfrm>
            <a:off x="1619672" y="3305184"/>
            <a:ext cx="6474124" cy="3186151"/>
          </a:xfrm>
          <a:prstGeom prst="rect">
            <a:avLst/>
          </a:prstGeom>
        </p:spPr>
      </p:pic>
      <p:sp>
        <p:nvSpPr>
          <p:cNvPr id="8" name="직사각형 7">
            <a:extLst>
              <a:ext uri="{FF2B5EF4-FFF2-40B4-BE49-F238E27FC236}">
                <a16:creationId xmlns:a16="http://schemas.microsoft.com/office/drawing/2014/main" id="{A441734B-D2EA-45DC-85C1-1CF43160B54C}"/>
              </a:ext>
            </a:extLst>
          </p:cNvPr>
          <p:cNvSpPr/>
          <p:nvPr/>
        </p:nvSpPr>
        <p:spPr>
          <a:xfrm>
            <a:off x="5792838" y="5229200"/>
            <a:ext cx="2019522" cy="10604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DABDB226-F29A-44C0-9C88-A174DCDC7FD8}"/>
              </a:ext>
            </a:extLst>
          </p:cNvPr>
          <p:cNvSpPr/>
          <p:nvPr/>
        </p:nvSpPr>
        <p:spPr>
          <a:xfrm>
            <a:off x="3480859" y="5507140"/>
            <a:ext cx="2311979" cy="584775"/>
          </a:xfrm>
          <a:prstGeom prst="rect">
            <a:avLst/>
          </a:prstGeom>
        </p:spPr>
        <p:txBody>
          <a:bodyPr wrap="none">
            <a:spAutoFit/>
          </a:bodyPr>
          <a:lstStyle/>
          <a:p>
            <a:pPr algn="ctr"/>
            <a:r>
              <a:rPr lang="en-US" altLang="ko-KR" sz="1600" dirty="0">
                <a:solidFill>
                  <a:srgbClr val="FF0000"/>
                </a:solidFill>
                <a:latin typeface="Gill Sans MT" panose="020B0502020104020203" pitchFamily="34" charset="0"/>
              </a:rPr>
              <a:t>Overall Reliability:</a:t>
            </a:r>
          </a:p>
          <a:p>
            <a:pPr algn="ctr"/>
            <a:r>
              <a:rPr lang="en-US" altLang="ko-KR" sz="1600" dirty="0">
                <a:solidFill>
                  <a:srgbClr val="FF0000"/>
                </a:solidFill>
                <a:latin typeface="Gill Sans MT" panose="020B0502020104020203" pitchFamily="34" charset="0"/>
              </a:rPr>
              <a:t>SQ 34.30% vs AO 29.11%</a:t>
            </a:r>
            <a:endParaRPr lang="ko-KR" altLang="en-US" sz="1600" dirty="0">
              <a:solidFill>
                <a:srgbClr val="FF0000"/>
              </a:solidFill>
              <a:latin typeface="Gill Sans MT" panose="020B0502020104020203" pitchFamily="34" charset="0"/>
            </a:endParaRPr>
          </a:p>
        </p:txBody>
      </p:sp>
      <p:sp>
        <p:nvSpPr>
          <p:cNvPr id="10" name="직사각형 9">
            <a:extLst>
              <a:ext uri="{FF2B5EF4-FFF2-40B4-BE49-F238E27FC236}">
                <a16:creationId xmlns:a16="http://schemas.microsoft.com/office/drawing/2014/main" id="{F530F973-88C5-413D-8BE9-8FEF33D6B240}"/>
              </a:ext>
            </a:extLst>
          </p:cNvPr>
          <p:cNvSpPr/>
          <p:nvPr/>
        </p:nvSpPr>
        <p:spPr>
          <a:xfrm>
            <a:off x="5792838" y="3550259"/>
            <a:ext cx="2379562" cy="454805"/>
          </a:xfrm>
          <a:prstGeom prst="rect">
            <a:avLst/>
          </a:prstGeom>
          <a:noFill/>
          <a:ln w="38100">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417CC"/>
              </a:solidFill>
            </a:endParaRPr>
          </a:p>
        </p:txBody>
      </p:sp>
      <p:sp>
        <p:nvSpPr>
          <p:cNvPr id="11" name="직사각형 10">
            <a:extLst>
              <a:ext uri="{FF2B5EF4-FFF2-40B4-BE49-F238E27FC236}">
                <a16:creationId xmlns:a16="http://schemas.microsoft.com/office/drawing/2014/main" id="{B0FDE4A4-C02A-4A24-B17F-7DF14C5B08E7}"/>
              </a:ext>
            </a:extLst>
          </p:cNvPr>
          <p:cNvSpPr/>
          <p:nvPr/>
        </p:nvSpPr>
        <p:spPr>
          <a:xfrm>
            <a:off x="5877925" y="2858711"/>
            <a:ext cx="2209387" cy="584775"/>
          </a:xfrm>
          <a:prstGeom prst="rect">
            <a:avLst/>
          </a:prstGeom>
        </p:spPr>
        <p:txBody>
          <a:bodyPr wrap="none">
            <a:spAutoFit/>
          </a:bodyPr>
          <a:lstStyle/>
          <a:p>
            <a:pPr algn="ctr"/>
            <a:r>
              <a:rPr lang="en-US" altLang="ko-KR" sz="1600" dirty="0">
                <a:solidFill>
                  <a:srgbClr val="0417CC"/>
                </a:solidFill>
                <a:latin typeface="Gill Sans MT" panose="020B0502020104020203" pitchFamily="34" charset="0"/>
              </a:rPr>
              <a:t>Critical Failures (&gt;30%):</a:t>
            </a:r>
          </a:p>
          <a:p>
            <a:pPr algn="ctr"/>
            <a:r>
              <a:rPr lang="en-US" altLang="ko-KR" sz="1600" dirty="0">
                <a:solidFill>
                  <a:srgbClr val="0417CC"/>
                </a:solidFill>
                <a:latin typeface="Gill Sans MT" panose="020B0502020104020203" pitchFamily="34" charset="0"/>
              </a:rPr>
              <a:t>SQ 11.35% vs AO 2.78%</a:t>
            </a:r>
            <a:endParaRPr lang="ko-KR" altLang="en-US" sz="1600" dirty="0">
              <a:solidFill>
                <a:srgbClr val="0417CC"/>
              </a:solidFill>
              <a:latin typeface="Gill Sans MT" panose="020B0502020104020203" pitchFamily="34" charset="0"/>
            </a:endParaRPr>
          </a:p>
        </p:txBody>
      </p:sp>
      <p:sp>
        <p:nvSpPr>
          <p:cNvPr id="13" name="직사각형 12">
            <a:extLst>
              <a:ext uri="{FF2B5EF4-FFF2-40B4-BE49-F238E27FC236}">
                <a16:creationId xmlns:a16="http://schemas.microsoft.com/office/drawing/2014/main" id="{FB19AA61-923E-42F0-8488-C30CA470EF81}"/>
              </a:ext>
            </a:extLst>
          </p:cNvPr>
          <p:cNvSpPr/>
          <p:nvPr/>
        </p:nvSpPr>
        <p:spPr>
          <a:xfrm>
            <a:off x="1541068" y="3216083"/>
            <a:ext cx="3174948" cy="3381269"/>
          </a:xfrm>
          <a:prstGeom prst="rect">
            <a:avLst/>
          </a:prstGeom>
          <a:noFill/>
          <a:ln w="38100">
            <a:solidFill>
              <a:srgbClr val="0417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417CC"/>
              </a:solidFill>
            </a:endParaRPr>
          </a:p>
        </p:txBody>
      </p:sp>
      <p:sp>
        <p:nvSpPr>
          <p:cNvPr id="14" name="TextBox 13">
            <a:extLst>
              <a:ext uri="{FF2B5EF4-FFF2-40B4-BE49-F238E27FC236}">
                <a16:creationId xmlns:a16="http://schemas.microsoft.com/office/drawing/2014/main" id="{5217F6EE-248F-4663-838C-450886B87CC5}"/>
              </a:ext>
            </a:extLst>
          </p:cNvPr>
          <p:cNvSpPr txBox="1"/>
          <p:nvPr/>
        </p:nvSpPr>
        <p:spPr>
          <a:xfrm>
            <a:off x="2851089" y="6356349"/>
            <a:ext cx="4011289" cy="461665"/>
          </a:xfrm>
          <a:prstGeom prst="rect">
            <a:avLst/>
          </a:prstGeom>
          <a:noFill/>
        </p:spPr>
        <p:txBody>
          <a:bodyPr wrap="square" rtlCol="0">
            <a:spAutoFit/>
          </a:bodyPr>
          <a:lstStyle/>
          <a:p>
            <a:pPr algn="ctr"/>
            <a:r>
              <a:rPr lang="en-US" altLang="ko-KR" sz="1200" dirty="0">
                <a:latin typeface="Gill Sans MT" panose="020B0502020104020203" pitchFamily="34" charset="0"/>
                <a:cs typeface="Helvetica" panose="020B0604020202020204" pitchFamily="34" charset="0"/>
              </a:rPr>
              <a:t>Fig. 6. Performance Comparison of the two policies: </a:t>
            </a:r>
            <a:br>
              <a:rPr lang="en-US" altLang="ko-KR" sz="1200" dirty="0">
                <a:latin typeface="Gill Sans MT" panose="020B0502020104020203" pitchFamily="34" charset="0"/>
                <a:cs typeface="Helvetica" panose="020B0604020202020204" pitchFamily="34" charset="0"/>
              </a:rPr>
            </a:br>
            <a:r>
              <a:rPr lang="en-US" altLang="ko-KR" sz="1200" dirty="0">
                <a:latin typeface="Gill Sans MT" panose="020B0502020104020203" pitchFamily="34" charset="0"/>
                <a:cs typeface="Helvetica" panose="020B0604020202020204" pitchFamily="34" charset="0"/>
              </a:rPr>
              <a:t>(a) supply side performance (b) demand side performance</a:t>
            </a:r>
            <a:endParaRPr lang="ko-KR" altLang="en-US" sz="1200" dirty="0">
              <a:latin typeface="Gill Sans MT" panose="020B0502020104020203" pitchFamily="34" charset="0"/>
              <a:cs typeface="Helvetica" panose="020B0604020202020204" pitchFamily="34" charset="0"/>
            </a:endParaRPr>
          </a:p>
        </p:txBody>
      </p:sp>
    </p:spTree>
    <p:extLst>
      <p:ext uri="{BB962C8B-B14F-4D97-AF65-F5344CB8AC3E}">
        <p14:creationId xmlns:p14="http://schemas.microsoft.com/office/powerpoint/2010/main" val="1475566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3" grpId="0" animBg="1"/>
      <p:bldP spid="13"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5B46C50-F343-4185-9D4C-C1FA08F4E98F}"/>
              </a:ext>
            </a:extLst>
          </p:cNvPr>
          <p:cNvSpPr>
            <a:spLocks noGrp="1"/>
          </p:cNvSpPr>
          <p:nvPr>
            <p:ph type="title"/>
          </p:nvPr>
        </p:nvSpPr>
        <p:spPr/>
        <p:txBody>
          <a:bodyPr/>
          <a:lstStyle/>
          <a:p>
            <a:r>
              <a:rPr lang="en-US" altLang="ko-KR" dirty="0"/>
              <a:t>Summary &amp; Conclusion</a:t>
            </a:r>
            <a:endParaRPr lang="ko-KR" altLang="en-US" dirty="0"/>
          </a:p>
        </p:txBody>
      </p:sp>
      <p:sp>
        <p:nvSpPr>
          <p:cNvPr id="3" name="내용 개체 틀 2">
            <a:extLst>
              <a:ext uri="{FF2B5EF4-FFF2-40B4-BE49-F238E27FC236}">
                <a16:creationId xmlns:a16="http://schemas.microsoft.com/office/drawing/2014/main" id="{C85FBFE4-825D-4ED3-A739-74627295BF7F}"/>
              </a:ext>
            </a:extLst>
          </p:cNvPr>
          <p:cNvSpPr>
            <a:spLocks noGrp="1"/>
          </p:cNvSpPr>
          <p:nvPr>
            <p:ph idx="1"/>
          </p:nvPr>
        </p:nvSpPr>
        <p:spPr/>
        <p:txBody>
          <a:bodyPr>
            <a:normAutofit/>
          </a:bodyPr>
          <a:lstStyle/>
          <a:p>
            <a:r>
              <a:rPr lang="en-US" altLang="ko-KR" dirty="0"/>
              <a:t> Reformed SQ Policy (Alternative rule curves)</a:t>
            </a:r>
          </a:p>
          <a:p>
            <a:pPr lvl="1"/>
            <a:r>
              <a:rPr lang="en-US" altLang="ko-KR" dirty="0"/>
              <a:t> Variability of the resulting policy mostly during the flooding seasons</a:t>
            </a:r>
            <a:br>
              <a:rPr lang="en-US" altLang="ko-KR" dirty="0"/>
            </a:br>
            <a:r>
              <a:rPr lang="en-US" altLang="ko-KR" dirty="0"/>
              <a:t> (T13-T25, May-01 through Sep-10)</a:t>
            </a:r>
          </a:p>
          <a:p>
            <a:pPr lvl="1"/>
            <a:r>
              <a:rPr lang="en-US" altLang="ko-KR" dirty="0"/>
              <a:t> Stronger long memory inflow series leads to higher</a:t>
            </a:r>
            <a:br>
              <a:rPr lang="en-US" altLang="ko-KR" dirty="0"/>
            </a:br>
            <a:r>
              <a:rPr lang="en-US" altLang="ko-KR" dirty="0"/>
              <a:t> (or more conservative rule curve values, especially in zones 1, 2 &amp; 4)</a:t>
            </a:r>
          </a:p>
          <a:p>
            <a:endParaRPr lang="en-US" altLang="ko-KR" sz="1100" dirty="0"/>
          </a:p>
          <a:p>
            <a:r>
              <a:rPr lang="en-US" altLang="ko-KR" dirty="0"/>
              <a:t> Adaptive RO with Alternative Hedging Rules</a:t>
            </a:r>
          </a:p>
          <a:p>
            <a:pPr lvl="1"/>
            <a:r>
              <a:rPr lang="en-US" altLang="ko-KR" dirty="0"/>
              <a:t> Adaptive application of alternative rule curves based on the updating information: SRI-12 values to account for long-term droughts</a:t>
            </a:r>
          </a:p>
          <a:p>
            <a:pPr lvl="2"/>
            <a:r>
              <a:rPr lang="en-US" altLang="ko-KR" dirty="0"/>
              <a:t>Enables more flexible release decisions </a:t>
            </a:r>
          </a:p>
          <a:p>
            <a:pPr lvl="1"/>
            <a:r>
              <a:rPr lang="en-US" altLang="ko-KR" dirty="0"/>
              <a:t> Adaptive operations simulations under historical droughts decreased the frequency of critical failures</a:t>
            </a:r>
          </a:p>
          <a:p>
            <a:pPr lvl="1"/>
            <a:r>
              <a:rPr lang="en-US" altLang="ko-KR" dirty="0"/>
              <a:t> Can be utilized especially under extreme drought conditions</a:t>
            </a:r>
          </a:p>
        </p:txBody>
      </p:sp>
      <p:sp>
        <p:nvSpPr>
          <p:cNvPr id="4" name="슬라이드 번호 개체 틀 3">
            <a:extLst>
              <a:ext uri="{FF2B5EF4-FFF2-40B4-BE49-F238E27FC236}">
                <a16:creationId xmlns:a16="http://schemas.microsoft.com/office/drawing/2014/main" id="{F768927E-09A7-4C01-8C42-2956F691FE3E}"/>
              </a:ext>
            </a:extLst>
          </p:cNvPr>
          <p:cNvSpPr>
            <a:spLocks noGrp="1"/>
          </p:cNvSpPr>
          <p:nvPr>
            <p:ph type="sldNum" sz="quarter" idx="12"/>
          </p:nvPr>
        </p:nvSpPr>
        <p:spPr/>
        <p:txBody>
          <a:bodyPr/>
          <a:lstStyle/>
          <a:p>
            <a:fld id="{79822AFB-C284-4A8E-A6EE-41BAA9C576A0}" type="slidenum">
              <a:rPr lang="ko-KR" altLang="en-US" smtClean="0"/>
              <a:t>20</a:t>
            </a:fld>
            <a:endParaRPr lang="ko-KR" altLang="en-US"/>
          </a:p>
        </p:txBody>
      </p:sp>
      <p:sp>
        <p:nvSpPr>
          <p:cNvPr id="5" name="날짜 개체 틀 4">
            <a:extLst>
              <a:ext uri="{FF2B5EF4-FFF2-40B4-BE49-F238E27FC236}">
                <a16:creationId xmlns:a16="http://schemas.microsoft.com/office/drawing/2014/main" id="{F2E56735-EEAC-4614-A892-C422AABB8361}"/>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1696858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FC7124-69C6-414C-981A-E46EDE34F2E7}"/>
              </a:ext>
            </a:extLst>
          </p:cNvPr>
          <p:cNvSpPr>
            <a:spLocks noGrp="1"/>
          </p:cNvSpPr>
          <p:nvPr>
            <p:ph type="title"/>
          </p:nvPr>
        </p:nvSpPr>
        <p:spPr/>
        <p:txBody>
          <a:bodyPr>
            <a:normAutofit fontScale="90000"/>
          </a:bodyPr>
          <a:lstStyle/>
          <a:p>
            <a:r>
              <a:rPr lang="en-US" altLang="ko-KR" dirty="0"/>
              <a:t>C6. Improving the Robustness of Reservoir Operations with Stochastic Dynamic Programming</a:t>
            </a:r>
            <a:endParaRPr lang="ko-KR" altLang="en-US" dirty="0"/>
          </a:p>
        </p:txBody>
      </p:sp>
      <p:sp>
        <p:nvSpPr>
          <p:cNvPr id="3" name="내용 개체 틀 2">
            <a:extLst>
              <a:ext uri="{FF2B5EF4-FFF2-40B4-BE49-F238E27FC236}">
                <a16:creationId xmlns:a16="http://schemas.microsoft.com/office/drawing/2014/main" id="{D9CDF25D-6EA4-4EA4-971F-38A7FAB26862}"/>
              </a:ext>
            </a:extLst>
          </p:cNvPr>
          <p:cNvSpPr>
            <a:spLocks noGrp="1"/>
          </p:cNvSpPr>
          <p:nvPr>
            <p:ph idx="1"/>
          </p:nvPr>
        </p:nvSpPr>
        <p:spPr/>
        <p:txBody>
          <a:bodyPr/>
          <a:lstStyle/>
          <a:p>
            <a:r>
              <a:rPr lang="en-US" altLang="ko-KR" dirty="0"/>
              <a:t> Stochastic Dynamic Programming</a:t>
            </a:r>
          </a:p>
          <a:p>
            <a:endParaRPr lang="en-US" altLang="ko-KR" dirty="0"/>
          </a:p>
          <a:p>
            <a:endParaRPr lang="en-US" altLang="ko-KR" dirty="0"/>
          </a:p>
          <a:p>
            <a:endParaRPr lang="en-US" altLang="ko-KR" dirty="0"/>
          </a:p>
          <a:p>
            <a:endParaRPr lang="en-US" altLang="ko-KR" dirty="0"/>
          </a:p>
          <a:p>
            <a:pPr marL="0" indent="0">
              <a:buNone/>
            </a:pPr>
            <a:r>
              <a:rPr lang="en-US" altLang="ko-KR" dirty="0"/>
              <a:t> </a:t>
            </a:r>
          </a:p>
          <a:p>
            <a:r>
              <a:rPr lang="en-US" altLang="ko-KR" dirty="0"/>
              <a:t> Robust Optimization </a:t>
            </a:r>
            <a:r>
              <a:rPr lang="en-US" altLang="ko-KR" sz="1600" dirty="0"/>
              <a:t>(Mulvey et al. 1995)</a:t>
            </a:r>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2E9FB533-07A3-47DF-8052-38958E5D0B2E}"/>
              </a:ext>
            </a:extLst>
          </p:cNvPr>
          <p:cNvSpPr>
            <a:spLocks noGrp="1"/>
          </p:cNvSpPr>
          <p:nvPr>
            <p:ph type="sldNum" sz="quarter" idx="12"/>
          </p:nvPr>
        </p:nvSpPr>
        <p:spPr/>
        <p:txBody>
          <a:bodyPr/>
          <a:lstStyle/>
          <a:p>
            <a:fld id="{79822AFB-C284-4A8E-A6EE-41BAA9C576A0}" type="slidenum">
              <a:rPr lang="ko-KR" altLang="en-US" smtClean="0"/>
              <a:t>21</a:t>
            </a:fld>
            <a:endParaRPr lang="ko-KR" altLang="en-US"/>
          </a:p>
        </p:txBody>
      </p:sp>
      <p:sp>
        <p:nvSpPr>
          <p:cNvPr id="5" name="날짜 개체 틀 4">
            <a:extLst>
              <a:ext uri="{FF2B5EF4-FFF2-40B4-BE49-F238E27FC236}">
                <a16:creationId xmlns:a16="http://schemas.microsoft.com/office/drawing/2014/main" id="{701447BE-8E17-4F85-B1AE-5342D552D32F}"/>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grpSp>
        <p:nvGrpSpPr>
          <p:cNvPr id="6" name="그룹 5">
            <a:extLst>
              <a:ext uri="{FF2B5EF4-FFF2-40B4-BE49-F238E27FC236}">
                <a16:creationId xmlns:a16="http://schemas.microsoft.com/office/drawing/2014/main" id="{4F5C1F32-DD6E-42BE-9B6F-63F4E1F14013}"/>
              </a:ext>
            </a:extLst>
          </p:cNvPr>
          <p:cNvGrpSpPr/>
          <p:nvPr/>
        </p:nvGrpSpPr>
        <p:grpSpPr>
          <a:xfrm>
            <a:off x="1419687" y="1916113"/>
            <a:ext cx="7095661" cy="1940628"/>
            <a:chOff x="2086047" y="3169535"/>
            <a:chExt cx="7095661" cy="1940628"/>
          </a:xfrm>
        </p:grpSpPr>
        <p:graphicFrame>
          <p:nvGraphicFramePr>
            <p:cNvPr id="7" name="개체 6">
              <a:extLst>
                <a:ext uri="{FF2B5EF4-FFF2-40B4-BE49-F238E27FC236}">
                  <a16:creationId xmlns:a16="http://schemas.microsoft.com/office/drawing/2014/main" id="{DC7B1A35-E88E-45F0-BE67-AEB711A0E4D4}"/>
                </a:ext>
              </a:extLst>
            </p:cNvPr>
            <p:cNvGraphicFramePr>
              <a:graphicFrameLocks noChangeAspect="1"/>
            </p:cNvGraphicFramePr>
            <p:nvPr>
              <p:extLst>
                <p:ext uri="{D42A27DB-BD31-4B8C-83A1-F6EECF244321}">
                  <p14:modId xmlns:p14="http://schemas.microsoft.com/office/powerpoint/2010/main" val="4159098098"/>
                </p:ext>
              </p:extLst>
            </p:nvPr>
          </p:nvGraphicFramePr>
          <p:xfrm>
            <a:off x="2086047" y="3597416"/>
            <a:ext cx="1793436" cy="367662"/>
          </p:xfrm>
          <a:graphic>
            <a:graphicData uri="http://schemas.openxmlformats.org/presentationml/2006/ole">
              <mc:AlternateContent xmlns:mc="http://schemas.openxmlformats.org/markup-compatibility/2006">
                <mc:Choice xmlns:v="urn:schemas-microsoft-com:vml" Requires="v">
                  <p:oleObj spid="_x0000_s7314" name="Equation" r:id="rId4" imgW="1079280" imgH="228600" progId="Equation.DSMT4">
                    <p:embed/>
                  </p:oleObj>
                </mc:Choice>
                <mc:Fallback>
                  <p:oleObj name="Equation" r:id="rId4" imgW="1079280" imgH="228600" progId="Equation.DSMT4">
                    <p:embed/>
                    <p:pic>
                      <p:nvPicPr>
                        <p:cNvPr id="7" name="개체 6">
                          <a:extLst>
                            <a:ext uri="{FF2B5EF4-FFF2-40B4-BE49-F238E27FC236}">
                              <a16:creationId xmlns:a16="http://schemas.microsoft.com/office/drawing/2014/main" id="{7BDA339B-EB6E-4B04-88B4-EF647DDD1E15}"/>
                            </a:ext>
                          </a:extLst>
                        </p:cNvPr>
                        <p:cNvPicPr>
                          <a:picLocks noChangeAspect="1" noChangeArrowheads="1"/>
                        </p:cNvPicPr>
                        <p:nvPr/>
                      </p:nvPicPr>
                      <p:blipFill>
                        <a:blip r:embed="rId5"/>
                        <a:srcRect/>
                        <a:stretch>
                          <a:fillRect/>
                        </a:stretch>
                      </p:blipFill>
                      <p:spPr bwMode="auto">
                        <a:xfrm>
                          <a:off x="2086047" y="3597416"/>
                          <a:ext cx="1793436" cy="367662"/>
                        </a:xfrm>
                        <a:prstGeom prst="rect">
                          <a:avLst/>
                        </a:prstGeom>
                        <a:noFill/>
                      </p:spPr>
                    </p:pic>
                  </p:oleObj>
                </mc:Fallback>
              </mc:AlternateContent>
            </a:graphicData>
          </a:graphic>
        </p:graphicFrame>
        <p:graphicFrame>
          <p:nvGraphicFramePr>
            <p:cNvPr id="8" name="개체 7">
              <a:extLst>
                <a:ext uri="{FF2B5EF4-FFF2-40B4-BE49-F238E27FC236}">
                  <a16:creationId xmlns:a16="http://schemas.microsoft.com/office/drawing/2014/main" id="{E708B002-5ECE-46BF-8CA6-7EB0F660EF58}"/>
                </a:ext>
              </a:extLst>
            </p:cNvPr>
            <p:cNvGraphicFramePr>
              <a:graphicFrameLocks noChangeAspect="1"/>
            </p:cNvGraphicFramePr>
            <p:nvPr>
              <p:extLst>
                <p:ext uri="{D42A27DB-BD31-4B8C-83A1-F6EECF244321}">
                  <p14:modId xmlns:p14="http://schemas.microsoft.com/office/powerpoint/2010/main" val="3137515071"/>
                </p:ext>
              </p:extLst>
            </p:nvPr>
          </p:nvGraphicFramePr>
          <p:xfrm>
            <a:off x="2089750" y="4033858"/>
            <a:ext cx="4884878" cy="379733"/>
          </p:xfrm>
          <a:graphic>
            <a:graphicData uri="http://schemas.openxmlformats.org/presentationml/2006/ole">
              <mc:AlternateContent xmlns:mc="http://schemas.openxmlformats.org/markup-compatibility/2006">
                <mc:Choice xmlns:v="urn:schemas-microsoft-com:vml" Requires="v">
                  <p:oleObj spid="_x0000_s7315" name="Equation" r:id="rId6" imgW="2832100" imgH="228600" progId="Equation.DSMT4">
                    <p:embed/>
                  </p:oleObj>
                </mc:Choice>
                <mc:Fallback>
                  <p:oleObj name="Equation" r:id="rId6" imgW="2832100" imgH="228600" progId="Equation.DSMT4">
                    <p:embed/>
                    <p:pic>
                      <p:nvPicPr>
                        <p:cNvPr id="8" name="개체 7">
                          <a:extLst>
                            <a:ext uri="{FF2B5EF4-FFF2-40B4-BE49-F238E27FC236}">
                              <a16:creationId xmlns:a16="http://schemas.microsoft.com/office/drawing/2014/main" id="{72585783-20E6-40DF-8E76-8D0F3DFE62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9750" y="4033858"/>
                          <a:ext cx="4884878" cy="379733"/>
                        </a:xfrm>
                        <a:prstGeom prst="rect">
                          <a:avLst/>
                        </a:prstGeom>
                        <a:noFill/>
                      </p:spPr>
                    </p:pic>
                  </p:oleObj>
                </mc:Fallback>
              </mc:AlternateContent>
            </a:graphicData>
          </a:graphic>
        </p:graphicFrame>
        <p:graphicFrame>
          <p:nvGraphicFramePr>
            <p:cNvPr id="9" name="개체 8">
              <a:extLst>
                <a:ext uri="{FF2B5EF4-FFF2-40B4-BE49-F238E27FC236}">
                  <a16:creationId xmlns:a16="http://schemas.microsoft.com/office/drawing/2014/main" id="{3506D97A-A4C7-4545-8C4C-8586697702B2}"/>
                </a:ext>
              </a:extLst>
            </p:cNvPr>
            <p:cNvGraphicFramePr>
              <a:graphicFrameLocks noChangeAspect="1"/>
            </p:cNvGraphicFramePr>
            <p:nvPr>
              <p:extLst>
                <p:ext uri="{D42A27DB-BD31-4B8C-83A1-F6EECF244321}">
                  <p14:modId xmlns:p14="http://schemas.microsoft.com/office/powerpoint/2010/main" val="3580048022"/>
                </p:ext>
              </p:extLst>
            </p:nvPr>
          </p:nvGraphicFramePr>
          <p:xfrm>
            <a:off x="2093913" y="4483100"/>
            <a:ext cx="6056312" cy="627063"/>
          </p:xfrm>
          <a:graphic>
            <a:graphicData uri="http://schemas.openxmlformats.org/presentationml/2006/ole">
              <mc:AlternateContent xmlns:mc="http://schemas.openxmlformats.org/markup-compatibility/2006">
                <mc:Choice xmlns:v="urn:schemas-microsoft-com:vml" Requires="v">
                  <p:oleObj spid="_x0000_s7316" name="Equation" r:id="rId8" imgW="4609800" imgH="482400" progId="Equation.DSMT4">
                    <p:embed/>
                  </p:oleObj>
                </mc:Choice>
                <mc:Fallback>
                  <p:oleObj name="Equation" r:id="rId8" imgW="4609800" imgH="482400" progId="Equation.DSMT4">
                    <p:embed/>
                    <p:pic>
                      <p:nvPicPr>
                        <p:cNvPr id="9" name="개체 8">
                          <a:extLst>
                            <a:ext uri="{FF2B5EF4-FFF2-40B4-BE49-F238E27FC236}">
                              <a16:creationId xmlns:a16="http://schemas.microsoft.com/office/drawing/2014/main" id="{D62D6B33-993E-4C59-A673-A2E8AC6FF768}"/>
                            </a:ext>
                          </a:extLst>
                        </p:cNvPr>
                        <p:cNvPicPr>
                          <a:picLocks noChangeAspect="1" noChangeArrowheads="1"/>
                        </p:cNvPicPr>
                        <p:nvPr/>
                      </p:nvPicPr>
                      <p:blipFill>
                        <a:blip r:embed="rId9"/>
                        <a:srcRect/>
                        <a:stretch>
                          <a:fillRect/>
                        </a:stretch>
                      </p:blipFill>
                      <p:spPr bwMode="auto">
                        <a:xfrm>
                          <a:off x="2093913" y="4483100"/>
                          <a:ext cx="6056312" cy="627063"/>
                        </a:xfrm>
                        <a:prstGeom prst="rect">
                          <a:avLst/>
                        </a:prstGeom>
                        <a:noFill/>
                      </p:spPr>
                    </p:pic>
                  </p:oleObj>
                </mc:Fallback>
              </mc:AlternateContent>
            </a:graphicData>
          </a:graphic>
        </p:graphicFrame>
        <p:graphicFrame>
          <p:nvGraphicFramePr>
            <p:cNvPr id="10" name="개체 9">
              <a:extLst>
                <a:ext uri="{FF2B5EF4-FFF2-40B4-BE49-F238E27FC236}">
                  <a16:creationId xmlns:a16="http://schemas.microsoft.com/office/drawing/2014/main" id="{96C17D99-6B10-4CCE-B3D9-95232EEC011E}"/>
                </a:ext>
              </a:extLst>
            </p:cNvPr>
            <p:cNvGraphicFramePr>
              <a:graphicFrameLocks noChangeAspect="1"/>
            </p:cNvGraphicFramePr>
            <p:nvPr>
              <p:extLst>
                <p:ext uri="{D42A27DB-BD31-4B8C-83A1-F6EECF244321}">
                  <p14:modId xmlns:p14="http://schemas.microsoft.com/office/powerpoint/2010/main" val="2394508014"/>
                </p:ext>
              </p:extLst>
            </p:nvPr>
          </p:nvGraphicFramePr>
          <p:xfrm>
            <a:off x="2106223" y="3169535"/>
            <a:ext cx="6170612" cy="477837"/>
          </p:xfrm>
          <a:graphic>
            <a:graphicData uri="http://schemas.openxmlformats.org/presentationml/2006/ole">
              <mc:AlternateContent xmlns:mc="http://schemas.openxmlformats.org/markup-compatibility/2006">
                <mc:Choice xmlns:v="urn:schemas-microsoft-com:vml" Requires="v">
                  <p:oleObj spid="_x0000_s7317" name="Equation" r:id="rId10" imgW="3632040" imgH="291960" progId="Equation.DSMT4">
                    <p:embed/>
                  </p:oleObj>
                </mc:Choice>
                <mc:Fallback>
                  <p:oleObj name="Equation" r:id="rId10" imgW="3632040" imgH="291960" progId="Equation.DSMT4">
                    <p:embed/>
                    <p:pic>
                      <p:nvPicPr>
                        <p:cNvPr id="10" name="개체 9">
                          <a:extLst>
                            <a:ext uri="{FF2B5EF4-FFF2-40B4-BE49-F238E27FC236}">
                              <a16:creationId xmlns:a16="http://schemas.microsoft.com/office/drawing/2014/main" id="{586D4541-42FA-4343-8CC3-5764AF6E22A0}"/>
                            </a:ext>
                          </a:extLst>
                        </p:cNvPr>
                        <p:cNvPicPr>
                          <a:picLocks noChangeAspect="1" noChangeArrowheads="1"/>
                        </p:cNvPicPr>
                        <p:nvPr/>
                      </p:nvPicPr>
                      <p:blipFill>
                        <a:blip r:embed="rId11"/>
                        <a:srcRect/>
                        <a:stretch>
                          <a:fillRect/>
                        </a:stretch>
                      </p:blipFill>
                      <p:spPr bwMode="auto">
                        <a:xfrm>
                          <a:off x="2106223" y="3169535"/>
                          <a:ext cx="6170612" cy="477837"/>
                        </a:xfrm>
                        <a:prstGeom prst="rect">
                          <a:avLst/>
                        </a:prstGeom>
                        <a:noFill/>
                      </p:spPr>
                    </p:pic>
                  </p:oleObj>
                </mc:Fallback>
              </mc:AlternateContent>
            </a:graphicData>
          </a:graphic>
        </p:graphicFrame>
        <p:sp>
          <p:nvSpPr>
            <p:cNvPr id="11" name="직사각형 10">
              <a:extLst>
                <a:ext uri="{FF2B5EF4-FFF2-40B4-BE49-F238E27FC236}">
                  <a16:creationId xmlns:a16="http://schemas.microsoft.com/office/drawing/2014/main" id="{48472AD3-361B-4B99-9F8F-12832F066D65}"/>
                </a:ext>
              </a:extLst>
            </p:cNvPr>
            <p:cNvSpPr/>
            <p:nvPr/>
          </p:nvSpPr>
          <p:spPr>
            <a:xfrm>
              <a:off x="3884946" y="3561922"/>
              <a:ext cx="2147063" cy="369332"/>
            </a:xfrm>
            <a:prstGeom prst="rect">
              <a:avLst/>
            </a:prstGeom>
          </p:spPr>
          <p:txBody>
            <a:bodyPr wrap="none">
              <a:spAutoFit/>
            </a:bodyPr>
            <a:lstStyle/>
            <a:p>
              <a:r>
                <a:rPr lang="en-US" altLang="ko-KR" dirty="0">
                  <a:solidFill>
                    <a:srgbClr val="0417CC"/>
                  </a:solidFill>
                  <a:latin typeface="Gill Sans MT" panose="020B0502020104020203" pitchFamily="34" charset="0"/>
                </a:rPr>
                <a:t>: Continuity Equation</a:t>
              </a:r>
              <a:endParaRPr lang="ko-KR" altLang="en-US" dirty="0">
                <a:solidFill>
                  <a:srgbClr val="0417CC"/>
                </a:solidFill>
                <a:latin typeface="Gill Sans MT" panose="020B0502020104020203" pitchFamily="34" charset="0"/>
              </a:endParaRPr>
            </a:p>
          </p:txBody>
        </p:sp>
        <p:sp>
          <p:nvSpPr>
            <p:cNvPr id="12" name="원형: 비어 있음 11">
              <a:extLst>
                <a:ext uri="{FF2B5EF4-FFF2-40B4-BE49-F238E27FC236}">
                  <a16:creationId xmlns:a16="http://schemas.microsoft.com/office/drawing/2014/main" id="{192A8B29-982B-4D57-96AB-6CDF1309A181}"/>
                </a:ext>
              </a:extLst>
            </p:cNvPr>
            <p:cNvSpPr/>
            <p:nvPr/>
          </p:nvSpPr>
          <p:spPr>
            <a:xfrm>
              <a:off x="3436141" y="3396002"/>
              <a:ext cx="288032" cy="252089"/>
            </a:xfrm>
            <a:prstGeom prst="donut">
              <a:avLst>
                <a:gd name="adj" fmla="val 728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3" name="직사각형 12">
              <a:extLst>
                <a:ext uri="{FF2B5EF4-FFF2-40B4-BE49-F238E27FC236}">
                  <a16:creationId xmlns:a16="http://schemas.microsoft.com/office/drawing/2014/main" id="{60C9BAA0-D29C-4DDF-83C1-551A844F0B06}"/>
                </a:ext>
              </a:extLst>
            </p:cNvPr>
            <p:cNvSpPr/>
            <p:nvPr/>
          </p:nvSpPr>
          <p:spPr>
            <a:xfrm>
              <a:off x="7121977" y="3482198"/>
              <a:ext cx="2059731" cy="369332"/>
            </a:xfrm>
            <a:prstGeom prst="rect">
              <a:avLst/>
            </a:prstGeom>
          </p:spPr>
          <p:txBody>
            <a:bodyPr wrap="none">
              <a:spAutoFit/>
            </a:bodyPr>
            <a:lstStyle/>
            <a:p>
              <a:r>
                <a:rPr lang="en-US" altLang="ko-KR" dirty="0">
                  <a:solidFill>
                    <a:srgbClr val="0417CC"/>
                  </a:solidFill>
                  <a:latin typeface="Gill Sans MT" panose="020B0502020104020203" pitchFamily="34" charset="0"/>
                </a:rPr>
                <a:t>: Recursive Equation</a:t>
              </a:r>
              <a:endParaRPr lang="ko-KR" altLang="en-US" dirty="0">
                <a:solidFill>
                  <a:srgbClr val="0417CC"/>
                </a:solidFill>
                <a:latin typeface="Gill Sans MT" panose="020B0502020104020203" pitchFamily="34" charset="0"/>
              </a:endParaRPr>
            </a:p>
          </p:txBody>
        </p:sp>
        <p:sp>
          <p:nvSpPr>
            <p:cNvPr id="14" name="직사각형 13">
              <a:extLst>
                <a:ext uri="{FF2B5EF4-FFF2-40B4-BE49-F238E27FC236}">
                  <a16:creationId xmlns:a16="http://schemas.microsoft.com/office/drawing/2014/main" id="{5E6B3F8C-238A-4BB1-AD8D-273FB6701386}"/>
                </a:ext>
              </a:extLst>
            </p:cNvPr>
            <p:cNvSpPr/>
            <p:nvPr/>
          </p:nvSpPr>
          <p:spPr>
            <a:xfrm>
              <a:off x="6905199" y="4039058"/>
              <a:ext cx="2245230" cy="369332"/>
            </a:xfrm>
            <a:prstGeom prst="rect">
              <a:avLst/>
            </a:prstGeom>
          </p:spPr>
          <p:txBody>
            <a:bodyPr wrap="none">
              <a:spAutoFit/>
            </a:bodyPr>
            <a:lstStyle/>
            <a:p>
              <a:r>
                <a:rPr lang="en-US" altLang="ko-KR" dirty="0">
                  <a:solidFill>
                    <a:srgbClr val="0417CC"/>
                  </a:solidFill>
                  <a:latin typeface="Gill Sans MT" panose="020B0502020104020203" pitchFamily="34" charset="0"/>
                </a:rPr>
                <a:t>: Feasibility Constraint</a:t>
              </a:r>
              <a:endParaRPr lang="ko-KR" altLang="en-US" dirty="0">
                <a:solidFill>
                  <a:srgbClr val="0417CC"/>
                </a:solidFill>
                <a:latin typeface="Gill Sans MT" panose="020B0502020104020203" pitchFamily="34" charset="0"/>
              </a:endParaRPr>
            </a:p>
          </p:txBody>
        </p:sp>
      </p:grpSp>
      <p:graphicFrame>
        <p:nvGraphicFramePr>
          <p:cNvPr id="15" name="개체 4">
            <a:extLst>
              <a:ext uri="{FF2B5EF4-FFF2-40B4-BE49-F238E27FC236}">
                <a16:creationId xmlns:a16="http://schemas.microsoft.com/office/drawing/2014/main" id="{0EB87073-16D1-4E6E-91E7-69D86B5EB1AB}"/>
              </a:ext>
            </a:extLst>
          </p:cNvPr>
          <p:cNvGraphicFramePr>
            <a:graphicFrameLocks noChangeAspect="1"/>
          </p:cNvGraphicFramePr>
          <p:nvPr>
            <p:extLst>
              <p:ext uri="{D42A27DB-BD31-4B8C-83A1-F6EECF244321}">
                <p14:modId xmlns:p14="http://schemas.microsoft.com/office/powerpoint/2010/main" val="1369012871"/>
              </p:ext>
            </p:extLst>
          </p:nvPr>
        </p:nvGraphicFramePr>
        <p:xfrm>
          <a:off x="1141413" y="4906963"/>
          <a:ext cx="3835400" cy="528637"/>
        </p:xfrm>
        <a:graphic>
          <a:graphicData uri="http://schemas.openxmlformats.org/presentationml/2006/ole">
            <mc:AlternateContent xmlns:mc="http://schemas.openxmlformats.org/markup-compatibility/2006">
              <mc:Choice xmlns:v="urn:schemas-microsoft-com:vml" Requires="v">
                <p:oleObj spid="_x0000_s7318" name="Equation" r:id="rId12" imgW="2374560" imgH="291960" progId="Equation.DSMT4">
                  <p:embed/>
                </p:oleObj>
              </mc:Choice>
              <mc:Fallback>
                <p:oleObj name="Equation" r:id="rId12" imgW="2374560" imgH="291960" progId="Equation.DSMT4">
                  <p:embed/>
                  <p:pic>
                    <p:nvPicPr>
                      <p:cNvPr id="15" name="개체 4">
                        <a:extLst>
                          <a:ext uri="{FF2B5EF4-FFF2-40B4-BE49-F238E27FC236}">
                            <a16:creationId xmlns:a16="http://schemas.microsoft.com/office/drawing/2014/main" id="{CCE91350-7F88-4963-A784-B9152C4605C6}"/>
                          </a:ext>
                        </a:extLst>
                      </p:cNvPr>
                      <p:cNvPicPr>
                        <a:picLocks noChangeAspect="1" noChangeArrowheads="1"/>
                      </p:cNvPicPr>
                      <p:nvPr/>
                    </p:nvPicPr>
                    <p:blipFill>
                      <a:blip r:embed="rId13"/>
                      <a:srcRect/>
                      <a:stretch>
                        <a:fillRect/>
                      </a:stretch>
                    </p:blipFill>
                    <p:spPr bwMode="auto">
                      <a:xfrm>
                        <a:off x="1141413" y="4906963"/>
                        <a:ext cx="3835400" cy="528637"/>
                      </a:xfrm>
                      <a:prstGeom prst="rect">
                        <a:avLst/>
                      </a:prstGeom>
                      <a:noFill/>
                    </p:spPr>
                  </p:pic>
                </p:oleObj>
              </mc:Fallback>
            </mc:AlternateContent>
          </a:graphicData>
        </a:graphic>
      </p:graphicFrame>
      <p:graphicFrame>
        <p:nvGraphicFramePr>
          <p:cNvPr id="16" name="개체 4">
            <a:extLst>
              <a:ext uri="{FF2B5EF4-FFF2-40B4-BE49-F238E27FC236}">
                <a16:creationId xmlns:a16="http://schemas.microsoft.com/office/drawing/2014/main" id="{3FF66EDA-1CE8-45F4-94BE-222F5C08BFDD}"/>
              </a:ext>
            </a:extLst>
          </p:cNvPr>
          <p:cNvGraphicFramePr>
            <a:graphicFrameLocks noChangeAspect="1"/>
          </p:cNvGraphicFramePr>
          <p:nvPr>
            <p:extLst>
              <p:ext uri="{D42A27DB-BD31-4B8C-83A1-F6EECF244321}">
                <p14:modId xmlns:p14="http://schemas.microsoft.com/office/powerpoint/2010/main" val="1359041443"/>
              </p:ext>
            </p:extLst>
          </p:nvPr>
        </p:nvGraphicFramePr>
        <p:xfrm>
          <a:off x="6828167" y="5000307"/>
          <a:ext cx="750887" cy="352425"/>
        </p:xfrm>
        <a:graphic>
          <a:graphicData uri="http://schemas.openxmlformats.org/presentationml/2006/ole">
            <mc:AlternateContent xmlns:mc="http://schemas.openxmlformats.org/markup-compatibility/2006">
              <mc:Choice xmlns:v="urn:schemas-microsoft-com:vml" Requires="v">
                <p:oleObj spid="_x0000_s7319" name="Equation" r:id="rId14" imgW="482400" imgH="203040" progId="Equation.DSMT4">
                  <p:embed/>
                </p:oleObj>
              </mc:Choice>
              <mc:Fallback>
                <p:oleObj name="Equation" r:id="rId14" imgW="482400" imgH="203040" progId="Equation.DSMT4">
                  <p:embed/>
                  <p:pic>
                    <p:nvPicPr>
                      <p:cNvPr id="16" name="개체 4">
                        <a:extLst>
                          <a:ext uri="{FF2B5EF4-FFF2-40B4-BE49-F238E27FC236}">
                            <a16:creationId xmlns:a16="http://schemas.microsoft.com/office/drawing/2014/main" id="{9E4912F6-949F-4A44-B17C-5B3B2B55A79F}"/>
                          </a:ext>
                        </a:extLst>
                      </p:cNvPr>
                      <p:cNvPicPr>
                        <a:picLocks noChangeAspect="1" noChangeArrowheads="1"/>
                      </p:cNvPicPr>
                      <p:nvPr/>
                    </p:nvPicPr>
                    <p:blipFill>
                      <a:blip r:embed="rId15"/>
                      <a:srcRect/>
                      <a:stretch>
                        <a:fillRect/>
                      </a:stretch>
                    </p:blipFill>
                    <p:spPr bwMode="auto">
                      <a:xfrm>
                        <a:off x="6828167" y="5000307"/>
                        <a:ext cx="750887" cy="352425"/>
                      </a:xfrm>
                      <a:prstGeom prst="rect">
                        <a:avLst/>
                      </a:prstGeom>
                      <a:noFill/>
                    </p:spPr>
                  </p:pic>
                </p:oleObj>
              </mc:Fallback>
            </mc:AlternateContent>
          </a:graphicData>
        </a:graphic>
      </p:graphicFrame>
      <p:graphicFrame>
        <p:nvGraphicFramePr>
          <p:cNvPr id="17" name="개체 4">
            <a:extLst>
              <a:ext uri="{FF2B5EF4-FFF2-40B4-BE49-F238E27FC236}">
                <a16:creationId xmlns:a16="http://schemas.microsoft.com/office/drawing/2014/main" id="{4E4F6F45-69C9-42F6-8DBC-BA5D827BD7F7}"/>
              </a:ext>
            </a:extLst>
          </p:cNvPr>
          <p:cNvGraphicFramePr>
            <a:graphicFrameLocks noChangeAspect="1"/>
          </p:cNvGraphicFramePr>
          <p:nvPr>
            <p:extLst>
              <p:ext uri="{D42A27DB-BD31-4B8C-83A1-F6EECF244321}">
                <p14:modId xmlns:p14="http://schemas.microsoft.com/office/powerpoint/2010/main" val="3750564101"/>
              </p:ext>
            </p:extLst>
          </p:nvPr>
        </p:nvGraphicFramePr>
        <p:xfrm>
          <a:off x="6205538" y="5494338"/>
          <a:ext cx="1997075" cy="396875"/>
        </p:xfrm>
        <a:graphic>
          <a:graphicData uri="http://schemas.openxmlformats.org/presentationml/2006/ole">
            <mc:AlternateContent xmlns:mc="http://schemas.openxmlformats.org/markup-compatibility/2006">
              <mc:Choice xmlns:v="urn:schemas-microsoft-com:vml" Requires="v">
                <p:oleObj spid="_x0000_s7320" name="Equation" r:id="rId16" imgW="1282680" imgH="228600" progId="Equation.DSMT4">
                  <p:embed/>
                </p:oleObj>
              </mc:Choice>
              <mc:Fallback>
                <p:oleObj name="Equation" r:id="rId16" imgW="1282680" imgH="228600" progId="Equation.DSMT4">
                  <p:embed/>
                  <p:pic>
                    <p:nvPicPr>
                      <p:cNvPr id="17" name="개체 4">
                        <a:extLst>
                          <a:ext uri="{FF2B5EF4-FFF2-40B4-BE49-F238E27FC236}">
                            <a16:creationId xmlns:a16="http://schemas.microsoft.com/office/drawing/2014/main" id="{ED17DDE2-3B05-4C01-BFF7-DBA1F84A8C67}"/>
                          </a:ext>
                        </a:extLst>
                      </p:cNvPr>
                      <p:cNvPicPr>
                        <a:picLocks noChangeAspect="1" noChangeArrowheads="1"/>
                      </p:cNvPicPr>
                      <p:nvPr/>
                    </p:nvPicPr>
                    <p:blipFill>
                      <a:blip r:embed="rId17"/>
                      <a:srcRect/>
                      <a:stretch>
                        <a:fillRect/>
                      </a:stretch>
                    </p:blipFill>
                    <p:spPr bwMode="auto">
                      <a:xfrm>
                        <a:off x="6205538" y="5494338"/>
                        <a:ext cx="1997075" cy="396875"/>
                      </a:xfrm>
                      <a:prstGeom prst="rect">
                        <a:avLst/>
                      </a:prstGeom>
                      <a:noFill/>
                    </p:spPr>
                  </p:pic>
                </p:oleObj>
              </mc:Fallback>
            </mc:AlternateContent>
          </a:graphicData>
        </a:graphic>
      </p:graphicFrame>
      <p:graphicFrame>
        <p:nvGraphicFramePr>
          <p:cNvPr id="18" name="개체 4">
            <a:extLst>
              <a:ext uri="{FF2B5EF4-FFF2-40B4-BE49-F238E27FC236}">
                <a16:creationId xmlns:a16="http://schemas.microsoft.com/office/drawing/2014/main" id="{EC172E73-BF63-4AB3-BA7E-0D5309A911DC}"/>
              </a:ext>
            </a:extLst>
          </p:cNvPr>
          <p:cNvGraphicFramePr>
            <a:graphicFrameLocks noChangeAspect="1"/>
          </p:cNvGraphicFramePr>
          <p:nvPr>
            <p:extLst>
              <p:ext uri="{D42A27DB-BD31-4B8C-83A1-F6EECF244321}">
                <p14:modId xmlns:p14="http://schemas.microsoft.com/office/powerpoint/2010/main" val="2746921678"/>
              </p:ext>
            </p:extLst>
          </p:nvPr>
        </p:nvGraphicFramePr>
        <p:xfrm>
          <a:off x="6472732" y="6035292"/>
          <a:ext cx="1462087" cy="396875"/>
        </p:xfrm>
        <a:graphic>
          <a:graphicData uri="http://schemas.openxmlformats.org/presentationml/2006/ole">
            <mc:AlternateContent xmlns:mc="http://schemas.openxmlformats.org/markup-compatibility/2006">
              <mc:Choice xmlns:v="urn:schemas-microsoft-com:vml" Requires="v">
                <p:oleObj spid="_x0000_s7321" name="Equation" r:id="rId18" imgW="939600" imgH="228600" progId="Equation.DSMT4">
                  <p:embed/>
                </p:oleObj>
              </mc:Choice>
              <mc:Fallback>
                <p:oleObj name="Equation" r:id="rId18" imgW="939600" imgH="228600" progId="Equation.DSMT4">
                  <p:embed/>
                  <p:pic>
                    <p:nvPicPr>
                      <p:cNvPr id="18" name="개체 4">
                        <a:extLst>
                          <a:ext uri="{FF2B5EF4-FFF2-40B4-BE49-F238E27FC236}">
                            <a16:creationId xmlns:a16="http://schemas.microsoft.com/office/drawing/2014/main" id="{8392A827-9D89-43F0-B0AB-E4BF77002FF7}"/>
                          </a:ext>
                        </a:extLst>
                      </p:cNvPr>
                      <p:cNvPicPr>
                        <a:picLocks noChangeAspect="1" noChangeArrowheads="1"/>
                      </p:cNvPicPr>
                      <p:nvPr/>
                    </p:nvPicPr>
                    <p:blipFill>
                      <a:blip r:embed="rId19"/>
                      <a:srcRect/>
                      <a:stretch>
                        <a:fillRect/>
                      </a:stretch>
                    </p:blipFill>
                    <p:spPr bwMode="auto">
                      <a:xfrm>
                        <a:off x="6472732" y="6035292"/>
                        <a:ext cx="1462087" cy="396875"/>
                      </a:xfrm>
                      <a:prstGeom prst="rect">
                        <a:avLst/>
                      </a:prstGeom>
                      <a:noFill/>
                    </p:spPr>
                  </p:pic>
                </p:oleObj>
              </mc:Fallback>
            </mc:AlternateContent>
          </a:graphicData>
        </a:graphic>
      </p:graphicFrame>
      <p:sp>
        <p:nvSpPr>
          <p:cNvPr id="19" name="직사각형 7">
            <a:extLst>
              <a:ext uri="{FF2B5EF4-FFF2-40B4-BE49-F238E27FC236}">
                <a16:creationId xmlns:a16="http://schemas.microsoft.com/office/drawing/2014/main" id="{2AF72244-95C4-4DF4-A1D2-8F8F3EFF34DC}"/>
              </a:ext>
            </a:extLst>
          </p:cNvPr>
          <p:cNvSpPr/>
          <p:nvPr/>
        </p:nvSpPr>
        <p:spPr>
          <a:xfrm>
            <a:off x="4930782" y="4532524"/>
            <a:ext cx="2311629" cy="369332"/>
          </a:xfrm>
          <a:prstGeom prst="rect">
            <a:avLst/>
          </a:prstGeom>
        </p:spPr>
        <p:txBody>
          <a:bodyPr wrap="square">
            <a:spAutoFit/>
          </a:bodyPr>
          <a:lstStyle/>
          <a:p>
            <a:pPr algn="ctr"/>
            <a:r>
              <a:rPr lang="en-US" altLang="ko-KR" dirty="0">
                <a:latin typeface="Gill Sans MT" panose="020B0502020104020203" pitchFamily="34" charset="0"/>
              </a:rPr>
              <a:t>Subject to: </a:t>
            </a:r>
            <a:endParaRPr lang="ko-KR" altLang="en-US" dirty="0">
              <a:latin typeface="Gill Sans MT" panose="020B0502020104020203" pitchFamily="34" charset="0"/>
            </a:endParaRPr>
          </a:p>
        </p:txBody>
      </p:sp>
      <p:sp>
        <p:nvSpPr>
          <p:cNvPr id="20" name="액자 19">
            <a:extLst>
              <a:ext uri="{FF2B5EF4-FFF2-40B4-BE49-F238E27FC236}">
                <a16:creationId xmlns:a16="http://schemas.microsoft.com/office/drawing/2014/main" id="{368AB699-0FC1-4122-B728-3DF8270383C2}"/>
              </a:ext>
            </a:extLst>
          </p:cNvPr>
          <p:cNvSpPr/>
          <p:nvPr/>
        </p:nvSpPr>
        <p:spPr>
          <a:xfrm>
            <a:off x="2123728" y="4852103"/>
            <a:ext cx="2877105" cy="546699"/>
          </a:xfrm>
          <a:prstGeom prst="frame">
            <a:avLst>
              <a:gd name="adj1" fmla="val 659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1" name="직사각형 20">
            <a:extLst>
              <a:ext uri="{FF2B5EF4-FFF2-40B4-BE49-F238E27FC236}">
                <a16:creationId xmlns:a16="http://schemas.microsoft.com/office/drawing/2014/main" id="{FEA086C7-FBFD-4CE8-B40E-0F7575415F8D}"/>
              </a:ext>
            </a:extLst>
          </p:cNvPr>
          <p:cNvSpPr/>
          <p:nvPr/>
        </p:nvSpPr>
        <p:spPr>
          <a:xfrm>
            <a:off x="4706103" y="4553599"/>
            <a:ext cx="304892" cy="400110"/>
          </a:xfrm>
          <a:prstGeom prst="rect">
            <a:avLst/>
          </a:prstGeom>
        </p:spPr>
        <p:txBody>
          <a:bodyPr wrap="none">
            <a:spAutoFit/>
          </a:bodyPr>
          <a:lstStyle/>
          <a:p>
            <a:r>
              <a:rPr lang="en-US" altLang="ko-KR" sz="2000" b="1" dirty="0">
                <a:solidFill>
                  <a:srgbClr val="FF0000"/>
                </a:solidFill>
                <a:latin typeface="Gill Sans MT" panose="020B0502020104020203" pitchFamily="34" charset="0"/>
              </a:rPr>
              <a:t>*</a:t>
            </a:r>
            <a:endParaRPr lang="ko-KR" altLang="en-US" sz="2000" b="1" dirty="0">
              <a:solidFill>
                <a:srgbClr val="FF0000"/>
              </a:solidFill>
              <a:latin typeface="Gill Sans MT" panose="020B0502020104020203" pitchFamily="34" charset="0"/>
            </a:endParaRPr>
          </a:p>
        </p:txBody>
      </p:sp>
      <p:sp>
        <p:nvSpPr>
          <p:cNvPr id="22" name="직사각형 21">
            <a:extLst>
              <a:ext uri="{FF2B5EF4-FFF2-40B4-BE49-F238E27FC236}">
                <a16:creationId xmlns:a16="http://schemas.microsoft.com/office/drawing/2014/main" id="{450FFB8D-24AF-480B-AE21-829FA869C98E}"/>
              </a:ext>
            </a:extLst>
          </p:cNvPr>
          <p:cNvSpPr/>
          <p:nvPr/>
        </p:nvSpPr>
        <p:spPr>
          <a:xfrm>
            <a:off x="2635744" y="5377044"/>
            <a:ext cx="3249159" cy="369332"/>
          </a:xfrm>
          <a:prstGeom prst="rect">
            <a:avLst/>
          </a:prstGeom>
        </p:spPr>
        <p:txBody>
          <a:bodyPr wrap="none">
            <a:spAutoFit/>
          </a:bodyPr>
          <a:lstStyle/>
          <a:p>
            <a:r>
              <a:rPr lang="en-US" altLang="ko-KR" dirty="0">
                <a:solidFill>
                  <a:srgbClr val="FF0000"/>
                </a:solidFill>
                <a:latin typeface="Gill Sans MT" panose="020B0502020104020203" pitchFamily="34" charset="0"/>
              </a:rPr>
              <a:t>: Robustness Objective Function</a:t>
            </a:r>
            <a:endParaRPr lang="ko-KR" altLang="en-US" dirty="0">
              <a:solidFill>
                <a:srgbClr val="FF0000"/>
              </a:solidFill>
              <a:latin typeface="Gill Sans MT" panose="020B0502020104020203" pitchFamily="34" charset="0"/>
            </a:endParaRPr>
          </a:p>
        </p:txBody>
      </p:sp>
      <p:sp>
        <p:nvSpPr>
          <p:cNvPr id="23" name="원형: 비어 있음 22">
            <a:extLst>
              <a:ext uri="{FF2B5EF4-FFF2-40B4-BE49-F238E27FC236}">
                <a16:creationId xmlns:a16="http://schemas.microsoft.com/office/drawing/2014/main" id="{ABE75E77-E586-4414-859A-6F1BE728B7A4}"/>
              </a:ext>
            </a:extLst>
          </p:cNvPr>
          <p:cNvSpPr/>
          <p:nvPr/>
        </p:nvSpPr>
        <p:spPr>
          <a:xfrm>
            <a:off x="7435038" y="5546487"/>
            <a:ext cx="390616" cy="345169"/>
          </a:xfrm>
          <a:prstGeom prst="donut">
            <a:avLst>
              <a:gd name="adj" fmla="val 728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cxnSp>
        <p:nvCxnSpPr>
          <p:cNvPr id="24" name="직선 화살표 연결선 23">
            <a:extLst>
              <a:ext uri="{FF2B5EF4-FFF2-40B4-BE49-F238E27FC236}">
                <a16:creationId xmlns:a16="http://schemas.microsoft.com/office/drawing/2014/main" id="{5908BC59-A3BF-4368-B0F7-68F81D91AD87}"/>
              </a:ext>
            </a:extLst>
          </p:cNvPr>
          <p:cNvCxnSpPr>
            <a:cxnSpLocks/>
            <a:stCxn id="20" idx="3"/>
          </p:cNvCxnSpPr>
          <p:nvPr/>
        </p:nvCxnSpPr>
        <p:spPr>
          <a:xfrm>
            <a:off x="5000833" y="5125453"/>
            <a:ext cx="2428085" cy="3693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A50A3009-D90F-4EC9-83EE-F7C8DD72062C}"/>
              </a:ext>
            </a:extLst>
          </p:cNvPr>
          <p:cNvSpPr/>
          <p:nvPr/>
        </p:nvSpPr>
        <p:spPr>
          <a:xfrm>
            <a:off x="2339752" y="5856880"/>
            <a:ext cx="3486447" cy="646331"/>
          </a:xfrm>
          <a:prstGeom prst="rect">
            <a:avLst/>
          </a:prstGeom>
        </p:spPr>
        <p:txBody>
          <a:bodyPr wrap="square">
            <a:spAutoFit/>
          </a:bodyPr>
          <a:lstStyle/>
          <a:p>
            <a:r>
              <a:rPr lang="en-US" altLang="ko-KR" dirty="0">
                <a:solidFill>
                  <a:srgbClr val="FF0000"/>
                </a:solidFill>
                <a:latin typeface="Gill Sans MT" panose="020B0502020104020203" pitchFamily="34" charset="0"/>
              </a:rPr>
              <a:t>Measure of how much the control constraint is violated in RO</a:t>
            </a:r>
            <a:endParaRPr lang="ko-KR" altLang="en-US" dirty="0">
              <a:solidFill>
                <a:srgbClr val="FF0000"/>
              </a:solidFill>
              <a:latin typeface="Gill Sans MT" panose="020B0502020104020203" pitchFamily="34" charset="0"/>
            </a:endParaRPr>
          </a:p>
        </p:txBody>
      </p:sp>
      <p:cxnSp>
        <p:nvCxnSpPr>
          <p:cNvPr id="26" name="직선 화살표 연결선 25">
            <a:extLst>
              <a:ext uri="{FF2B5EF4-FFF2-40B4-BE49-F238E27FC236}">
                <a16:creationId xmlns:a16="http://schemas.microsoft.com/office/drawing/2014/main" id="{51AD50AA-7786-45F4-BE98-EAF313CB0111}"/>
              </a:ext>
            </a:extLst>
          </p:cNvPr>
          <p:cNvCxnSpPr>
            <a:cxnSpLocks/>
          </p:cNvCxnSpPr>
          <p:nvPr/>
        </p:nvCxnSpPr>
        <p:spPr>
          <a:xfrm flipH="1">
            <a:off x="5892004" y="5833588"/>
            <a:ext cx="1477229" cy="37244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22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1" grpId="0"/>
      <p:bldP spid="22" grpId="0"/>
      <p:bldP spid="23" grpId="0" animBg="1"/>
      <p:bldP spid="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A4C96AA-7981-49A6-B639-C139F377CCEE}"/>
              </a:ext>
            </a:extLst>
          </p:cNvPr>
          <p:cNvSpPr>
            <a:spLocks noGrp="1"/>
          </p:cNvSpPr>
          <p:nvPr>
            <p:ph type="title"/>
          </p:nvPr>
        </p:nvSpPr>
        <p:spPr/>
        <p:txBody>
          <a:bodyPr>
            <a:normAutofit fontScale="90000"/>
          </a:bodyPr>
          <a:lstStyle/>
          <a:p>
            <a:r>
              <a:rPr lang="en-US" altLang="ko-KR" dirty="0"/>
              <a:t>C6. Improving the Robustness of Reservoir Operations with Stochastic Dynamic Programming</a:t>
            </a:r>
            <a:endParaRPr lang="ko-KR" altLang="en-US" dirty="0"/>
          </a:p>
        </p:txBody>
      </p:sp>
      <p:sp>
        <p:nvSpPr>
          <p:cNvPr id="3" name="내용 개체 틀 2">
            <a:extLst>
              <a:ext uri="{FF2B5EF4-FFF2-40B4-BE49-F238E27FC236}">
                <a16:creationId xmlns:a16="http://schemas.microsoft.com/office/drawing/2014/main" id="{1C8D2644-7D9A-4EF1-9609-268A3F9484F3}"/>
              </a:ext>
            </a:extLst>
          </p:cNvPr>
          <p:cNvSpPr>
            <a:spLocks noGrp="1"/>
          </p:cNvSpPr>
          <p:nvPr>
            <p:ph idx="1"/>
          </p:nvPr>
        </p:nvSpPr>
        <p:spPr/>
        <p:txBody>
          <a:bodyPr/>
          <a:lstStyle/>
          <a:p>
            <a:endParaRPr lang="en-US" altLang="ko-KR" dirty="0"/>
          </a:p>
          <a:p>
            <a:endParaRPr lang="en-US" altLang="ko-KR" dirty="0"/>
          </a:p>
          <a:p>
            <a:r>
              <a:rPr lang="en-US" altLang="ko-KR" dirty="0"/>
              <a:t> Two concepts of Robustness</a:t>
            </a:r>
          </a:p>
          <a:p>
            <a:pPr lvl="1"/>
            <a:r>
              <a:rPr lang="en-US" altLang="ko-KR" dirty="0"/>
              <a:t> Feasibility robustness:</a:t>
            </a:r>
            <a:br>
              <a:rPr lang="en-US" altLang="ko-KR" dirty="0"/>
            </a:br>
            <a:r>
              <a:rPr lang="en-US" altLang="ko-KR" dirty="0"/>
              <a:t> range of search for a potential solution is expanded by the use of soft constraints and corresponding penalty term</a:t>
            </a:r>
          </a:p>
          <a:p>
            <a:pPr lvl="1"/>
            <a:r>
              <a:rPr lang="en-US" altLang="ko-KR" dirty="0"/>
              <a:t> Solution robustness</a:t>
            </a:r>
            <a:br>
              <a:rPr lang="en-US" altLang="ko-KR" dirty="0"/>
            </a:br>
            <a:r>
              <a:rPr lang="en-US" altLang="ko-KR" dirty="0"/>
              <a:t> the variance of the initial objective is penalized according to the distance from either its </a:t>
            </a:r>
            <a:r>
              <a:rPr lang="en-US" altLang="ko-KR" u="sng" dirty="0">
                <a:solidFill>
                  <a:srgbClr val="0417CC"/>
                </a:solidFill>
              </a:rPr>
              <a:t>best value</a:t>
            </a:r>
            <a:r>
              <a:rPr lang="en-US" altLang="ko-KR" dirty="0"/>
              <a:t> or its </a:t>
            </a:r>
            <a:r>
              <a:rPr lang="en-US" altLang="ko-KR" u="sng" dirty="0">
                <a:solidFill>
                  <a:srgbClr val="0417CC"/>
                </a:solidFill>
              </a:rPr>
              <a:t>most frequent value</a:t>
            </a:r>
            <a:r>
              <a:rPr lang="en-US" altLang="ko-KR" u="sng" dirty="0"/>
              <a:t> </a:t>
            </a:r>
          </a:p>
          <a:p>
            <a:pPr lvl="1"/>
            <a:endParaRPr lang="en-US" altLang="ko-KR" dirty="0"/>
          </a:p>
          <a:p>
            <a:r>
              <a:rPr lang="en-US" altLang="ko-KR" dirty="0"/>
              <a:t> Couples key components of RO into the objective function and constraints of SDP (Both feasibility and solution robustness)</a:t>
            </a:r>
            <a:endParaRPr lang="ko-KR" altLang="en-US" dirty="0"/>
          </a:p>
          <a:p>
            <a:endParaRPr lang="ko-KR" altLang="en-US" dirty="0"/>
          </a:p>
          <a:p>
            <a:endParaRPr lang="ko-KR" altLang="en-US" dirty="0"/>
          </a:p>
        </p:txBody>
      </p:sp>
      <p:sp>
        <p:nvSpPr>
          <p:cNvPr id="4" name="슬라이드 번호 개체 틀 3">
            <a:extLst>
              <a:ext uri="{FF2B5EF4-FFF2-40B4-BE49-F238E27FC236}">
                <a16:creationId xmlns:a16="http://schemas.microsoft.com/office/drawing/2014/main" id="{72BDCA1D-F17D-48DC-BE32-ECCAEA7727C1}"/>
              </a:ext>
            </a:extLst>
          </p:cNvPr>
          <p:cNvSpPr>
            <a:spLocks noGrp="1"/>
          </p:cNvSpPr>
          <p:nvPr>
            <p:ph type="sldNum" sz="quarter" idx="12"/>
          </p:nvPr>
        </p:nvSpPr>
        <p:spPr/>
        <p:txBody>
          <a:bodyPr/>
          <a:lstStyle/>
          <a:p>
            <a:fld id="{79822AFB-C284-4A8E-A6EE-41BAA9C576A0}" type="slidenum">
              <a:rPr lang="ko-KR" altLang="en-US" smtClean="0"/>
              <a:t>22</a:t>
            </a:fld>
            <a:endParaRPr lang="ko-KR" altLang="en-US"/>
          </a:p>
        </p:txBody>
      </p:sp>
      <p:sp>
        <p:nvSpPr>
          <p:cNvPr id="5" name="날짜 개체 틀 4">
            <a:extLst>
              <a:ext uri="{FF2B5EF4-FFF2-40B4-BE49-F238E27FC236}">
                <a16:creationId xmlns:a16="http://schemas.microsoft.com/office/drawing/2014/main" id="{2EBDCEF5-82F4-4202-BF03-4B531D9626F7}"/>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
        <p:nvSpPr>
          <p:cNvPr id="6" name="액자 5">
            <a:extLst>
              <a:ext uri="{FF2B5EF4-FFF2-40B4-BE49-F238E27FC236}">
                <a16:creationId xmlns:a16="http://schemas.microsoft.com/office/drawing/2014/main" id="{9257911B-A12F-4CDF-B5C3-6293F4F5880D}"/>
              </a:ext>
            </a:extLst>
          </p:cNvPr>
          <p:cNvSpPr/>
          <p:nvPr/>
        </p:nvSpPr>
        <p:spPr>
          <a:xfrm>
            <a:off x="3655743" y="1277094"/>
            <a:ext cx="2945037" cy="546699"/>
          </a:xfrm>
          <a:prstGeom prst="frame">
            <a:avLst>
              <a:gd name="adj1" fmla="val 659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직사각형 6">
            <a:extLst>
              <a:ext uri="{FF2B5EF4-FFF2-40B4-BE49-F238E27FC236}">
                <a16:creationId xmlns:a16="http://schemas.microsoft.com/office/drawing/2014/main" id="{8B163B82-2C73-4081-B88C-E2C5F4713771}"/>
              </a:ext>
            </a:extLst>
          </p:cNvPr>
          <p:cNvSpPr/>
          <p:nvPr/>
        </p:nvSpPr>
        <p:spPr>
          <a:xfrm>
            <a:off x="4138446" y="1801543"/>
            <a:ext cx="3185039" cy="369332"/>
          </a:xfrm>
          <a:prstGeom prst="rect">
            <a:avLst/>
          </a:prstGeom>
        </p:spPr>
        <p:txBody>
          <a:bodyPr wrap="none">
            <a:spAutoFit/>
          </a:bodyPr>
          <a:lstStyle/>
          <a:p>
            <a:r>
              <a:rPr lang="en-US" altLang="ko-KR" dirty="0">
                <a:solidFill>
                  <a:srgbClr val="FF0000"/>
                </a:solidFill>
                <a:latin typeface="Gill Sans MT" panose="020B0502020104020203" pitchFamily="34" charset="0"/>
              </a:rPr>
              <a:t>: Robustness Objective Function</a:t>
            </a:r>
            <a:endParaRPr lang="ko-KR" altLang="en-US" dirty="0">
              <a:solidFill>
                <a:srgbClr val="FF0000"/>
              </a:solidFill>
              <a:latin typeface="Gill Sans MT" panose="020B0502020104020203" pitchFamily="34" charset="0"/>
            </a:endParaRPr>
          </a:p>
        </p:txBody>
      </p:sp>
      <p:sp>
        <p:nvSpPr>
          <p:cNvPr id="8" name="원형: 비어 있음 7">
            <a:extLst>
              <a:ext uri="{FF2B5EF4-FFF2-40B4-BE49-F238E27FC236}">
                <a16:creationId xmlns:a16="http://schemas.microsoft.com/office/drawing/2014/main" id="{A7AAC9CF-DB90-450C-B1D4-457074C06E1F}"/>
              </a:ext>
            </a:extLst>
          </p:cNvPr>
          <p:cNvSpPr/>
          <p:nvPr/>
        </p:nvSpPr>
        <p:spPr>
          <a:xfrm>
            <a:off x="6468758" y="2777890"/>
            <a:ext cx="390616" cy="345169"/>
          </a:xfrm>
          <a:prstGeom prst="donut">
            <a:avLst>
              <a:gd name="adj" fmla="val 728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aphicFrame>
        <p:nvGraphicFramePr>
          <p:cNvPr id="9" name="개체 8">
            <a:extLst>
              <a:ext uri="{FF2B5EF4-FFF2-40B4-BE49-F238E27FC236}">
                <a16:creationId xmlns:a16="http://schemas.microsoft.com/office/drawing/2014/main" id="{838124BF-538C-41C1-BE05-DF798A2D1029}"/>
              </a:ext>
            </a:extLst>
          </p:cNvPr>
          <p:cNvGraphicFramePr>
            <a:graphicFrameLocks noChangeAspect="1"/>
          </p:cNvGraphicFramePr>
          <p:nvPr>
            <p:extLst>
              <p:ext uri="{D42A27DB-BD31-4B8C-83A1-F6EECF244321}">
                <p14:modId xmlns:p14="http://schemas.microsoft.com/office/powerpoint/2010/main" val="1766663689"/>
              </p:ext>
            </p:extLst>
          </p:nvPr>
        </p:nvGraphicFramePr>
        <p:xfrm>
          <a:off x="4851424" y="2393079"/>
          <a:ext cx="4178349" cy="345168"/>
        </p:xfrm>
        <a:graphic>
          <a:graphicData uri="http://schemas.openxmlformats.org/presentationml/2006/ole">
            <mc:AlternateContent xmlns:mc="http://schemas.openxmlformats.org/markup-compatibility/2006">
              <mc:Choice xmlns:v="urn:schemas-microsoft-com:vml" Requires="v">
                <p:oleObj spid="_x0000_s8284" name="Equation" r:id="rId4" imgW="2920680" imgH="241200" progId="Equation.DSMT4">
                  <p:embed/>
                </p:oleObj>
              </mc:Choice>
              <mc:Fallback>
                <p:oleObj name="Equation" r:id="rId4" imgW="2920680" imgH="241200" progId="Equation.DSMT4">
                  <p:embed/>
                  <p:pic>
                    <p:nvPicPr>
                      <p:cNvPr id="10" name="개체 9">
                        <a:extLst>
                          <a:ext uri="{FF2B5EF4-FFF2-40B4-BE49-F238E27FC236}">
                            <a16:creationId xmlns:a16="http://schemas.microsoft.com/office/drawing/2014/main" id="{1C300CA2-D868-40D3-A349-82E24391D653}"/>
                          </a:ext>
                        </a:extLst>
                      </p:cNvPr>
                      <p:cNvPicPr/>
                      <p:nvPr/>
                    </p:nvPicPr>
                    <p:blipFill>
                      <a:blip r:embed="rId5"/>
                      <a:stretch>
                        <a:fillRect/>
                      </a:stretch>
                    </p:blipFill>
                    <p:spPr>
                      <a:xfrm>
                        <a:off x="4851424" y="2393079"/>
                        <a:ext cx="4178349" cy="345168"/>
                      </a:xfrm>
                      <a:prstGeom prst="rect">
                        <a:avLst/>
                      </a:prstGeom>
                    </p:spPr>
                  </p:pic>
                </p:oleObj>
              </mc:Fallback>
            </mc:AlternateContent>
          </a:graphicData>
        </a:graphic>
      </p:graphicFrame>
      <p:sp>
        <p:nvSpPr>
          <p:cNvPr id="10" name="액자 9">
            <a:extLst>
              <a:ext uri="{FF2B5EF4-FFF2-40B4-BE49-F238E27FC236}">
                <a16:creationId xmlns:a16="http://schemas.microsoft.com/office/drawing/2014/main" id="{DC5F6FC3-CC59-458C-90E4-67E31C30E69A}"/>
              </a:ext>
            </a:extLst>
          </p:cNvPr>
          <p:cNvSpPr/>
          <p:nvPr/>
        </p:nvSpPr>
        <p:spPr>
          <a:xfrm>
            <a:off x="8428093" y="2393080"/>
            <a:ext cx="601680" cy="345168"/>
          </a:xfrm>
          <a:prstGeom prst="frame">
            <a:avLst>
              <a:gd name="adj1" fmla="val 659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1" name="직사각형 10">
            <a:extLst>
              <a:ext uri="{FF2B5EF4-FFF2-40B4-BE49-F238E27FC236}">
                <a16:creationId xmlns:a16="http://schemas.microsoft.com/office/drawing/2014/main" id="{F9F0D8BC-7D47-4DD1-84DE-96FEEC3AE1E8}"/>
              </a:ext>
            </a:extLst>
          </p:cNvPr>
          <p:cNvSpPr/>
          <p:nvPr/>
        </p:nvSpPr>
        <p:spPr>
          <a:xfrm>
            <a:off x="7269090" y="1802035"/>
            <a:ext cx="1967911" cy="646331"/>
          </a:xfrm>
          <a:prstGeom prst="rect">
            <a:avLst/>
          </a:prstGeom>
        </p:spPr>
        <p:txBody>
          <a:bodyPr wrap="none">
            <a:spAutoFit/>
          </a:bodyPr>
          <a:lstStyle/>
          <a:p>
            <a:r>
              <a:rPr lang="en-US" altLang="ko-KR" dirty="0">
                <a:solidFill>
                  <a:srgbClr val="0417CC"/>
                </a:solidFill>
                <a:latin typeface="Gill Sans MT" panose="020B0502020104020203" pitchFamily="34" charset="0"/>
              </a:rPr>
              <a:t>: Robust</a:t>
            </a:r>
            <a:r>
              <a:rPr lang="ko-KR" altLang="en-US" dirty="0">
                <a:solidFill>
                  <a:srgbClr val="0417CC"/>
                </a:solidFill>
                <a:latin typeface="Gill Sans MT" panose="020B0502020104020203" pitchFamily="34" charset="0"/>
              </a:rPr>
              <a:t> </a:t>
            </a:r>
            <a:r>
              <a:rPr lang="en-US" altLang="ko-KR" dirty="0">
                <a:solidFill>
                  <a:srgbClr val="0417CC"/>
                </a:solidFill>
                <a:latin typeface="Gill Sans MT" panose="020B0502020104020203" pitchFamily="34" charset="0"/>
              </a:rPr>
              <a:t>Feasibility </a:t>
            </a:r>
            <a:br>
              <a:rPr lang="en-US" altLang="ko-KR" dirty="0">
                <a:solidFill>
                  <a:srgbClr val="0417CC"/>
                </a:solidFill>
                <a:latin typeface="Gill Sans MT" panose="020B0502020104020203" pitchFamily="34" charset="0"/>
              </a:rPr>
            </a:br>
            <a:r>
              <a:rPr lang="en-US" altLang="ko-KR" dirty="0">
                <a:solidFill>
                  <a:srgbClr val="0417CC"/>
                </a:solidFill>
                <a:latin typeface="Gill Sans MT" panose="020B0502020104020203" pitchFamily="34" charset="0"/>
              </a:rPr>
              <a:t>Constraint</a:t>
            </a:r>
            <a:endParaRPr lang="ko-KR" altLang="en-US" dirty="0">
              <a:solidFill>
                <a:srgbClr val="0417CC"/>
              </a:solidFill>
              <a:latin typeface="Gill Sans MT" panose="020B0502020104020203" pitchFamily="34" charset="0"/>
            </a:endParaRPr>
          </a:p>
        </p:txBody>
      </p:sp>
      <p:graphicFrame>
        <p:nvGraphicFramePr>
          <p:cNvPr id="12" name="개체 4">
            <a:extLst>
              <a:ext uri="{FF2B5EF4-FFF2-40B4-BE49-F238E27FC236}">
                <a16:creationId xmlns:a16="http://schemas.microsoft.com/office/drawing/2014/main" id="{2479FD42-FDE9-4D9E-99B4-837BA697E9CA}"/>
              </a:ext>
            </a:extLst>
          </p:cNvPr>
          <p:cNvGraphicFramePr>
            <a:graphicFrameLocks noChangeAspect="1"/>
          </p:cNvGraphicFramePr>
          <p:nvPr>
            <p:extLst>
              <p:ext uri="{D42A27DB-BD31-4B8C-83A1-F6EECF244321}">
                <p14:modId xmlns:p14="http://schemas.microsoft.com/office/powerpoint/2010/main" val="4211203904"/>
              </p:ext>
            </p:extLst>
          </p:nvPr>
        </p:nvGraphicFramePr>
        <p:xfrm>
          <a:off x="2629100" y="1355483"/>
          <a:ext cx="3835400" cy="528637"/>
        </p:xfrm>
        <a:graphic>
          <a:graphicData uri="http://schemas.openxmlformats.org/presentationml/2006/ole">
            <mc:AlternateContent xmlns:mc="http://schemas.openxmlformats.org/markup-compatibility/2006">
              <mc:Choice xmlns:v="urn:schemas-microsoft-com:vml" Requires="v">
                <p:oleObj spid="_x0000_s8285" name="Equation" r:id="rId6" imgW="2374560" imgH="291960" progId="Equation.DSMT4">
                  <p:embed/>
                </p:oleObj>
              </mc:Choice>
              <mc:Fallback>
                <p:oleObj name="Equation" r:id="rId6" imgW="2374560" imgH="291960" progId="Equation.DSMT4">
                  <p:embed/>
                  <p:pic>
                    <p:nvPicPr>
                      <p:cNvPr id="18" name="개체 4">
                        <a:extLst>
                          <a:ext uri="{FF2B5EF4-FFF2-40B4-BE49-F238E27FC236}">
                            <a16:creationId xmlns:a16="http://schemas.microsoft.com/office/drawing/2014/main" id="{75F70913-8AFC-47BC-A38C-5D241F1E9BC3}"/>
                          </a:ext>
                        </a:extLst>
                      </p:cNvPr>
                      <p:cNvPicPr>
                        <a:picLocks noChangeAspect="1" noChangeArrowheads="1"/>
                      </p:cNvPicPr>
                      <p:nvPr/>
                    </p:nvPicPr>
                    <p:blipFill>
                      <a:blip r:embed="rId7"/>
                      <a:srcRect/>
                      <a:stretch>
                        <a:fillRect/>
                      </a:stretch>
                    </p:blipFill>
                    <p:spPr bwMode="auto">
                      <a:xfrm>
                        <a:off x="2629100" y="1355483"/>
                        <a:ext cx="3835400" cy="528637"/>
                      </a:xfrm>
                      <a:prstGeom prst="rect">
                        <a:avLst/>
                      </a:prstGeom>
                      <a:noFill/>
                    </p:spPr>
                  </p:pic>
                </p:oleObj>
              </mc:Fallback>
            </mc:AlternateContent>
          </a:graphicData>
        </a:graphic>
      </p:graphicFrame>
      <p:graphicFrame>
        <p:nvGraphicFramePr>
          <p:cNvPr id="13" name="개체 4">
            <a:extLst>
              <a:ext uri="{FF2B5EF4-FFF2-40B4-BE49-F238E27FC236}">
                <a16:creationId xmlns:a16="http://schemas.microsoft.com/office/drawing/2014/main" id="{B6ED7A97-1727-4FF6-A66D-DF5F123E88FD}"/>
              </a:ext>
            </a:extLst>
          </p:cNvPr>
          <p:cNvGraphicFramePr>
            <a:graphicFrameLocks noChangeAspect="1"/>
          </p:cNvGraphicFramePr>
          <p:nvPr>
            <p:extLst>
              <p:ext uri="{D42A27DB-BD31-4B8C-83A1-F6EECF244321}">
                <p14:modId xmlns:p14="http://schemas.microsoft.com/office/powerpoint/2010/main" val="2117252332"/>
              </p:ext>
            </p:extLst>
          </p:nvPr>
        </p:nvGraphicFramePr>
        <p:xfrm>
          <a:off x="5272015" y="2736742"/>
          <a:ext cx="1997075" cy="396875"/>
        </p:xfrm>
        <a:graphic>
          <a:graphicData uri="http://schemas.openxmlformats.org/presentationml/2006/ole">
            <mc:AlternateContent xmlns:mc="http://schemas.openxmlformats.org/markup-compatibility/2006">
              <mc:Choice xmlns:v="urn:schemas-microsoft-com:vml" Requires="v">
                <p:oleObj spid="_x0000_s8286" name="Equation" r:id="rId8" imgW="1282680" imgH="228600" progId="Equation.DSMT4">
                  <p:embed/>
                </p:oleObj>
              </mc:Choice>
              <mc:Fallback>
                <p:oleObj name="Equation" r:id="rId8" imgW="1282680" imgH="228600" progId="Equation.DSMT4">
                  <p:embed/>
                  <p:pic>
                    <p:nvPicPr>
                      <p:cNvPr id="17" name="개체 4">
                        <a:extLst>
                          <a:ext uri="{FF2B5EF4-FFF2-40B4-BE49-F238E27FC236}">
                            <a16:creationId xmlns:a16="http://schemas.microsoft.com/office/drawing/2014/main" id="{87ADF363-E7AB-4F27-AC6E-D885C5726C67}"/>
                          </a:ext>
                        </a:extLst>
                      </p:cNvPr>
                      <p:cNvPicPr>
                        <a:picLocks noChangeAspect="1" noChangeArrowheads="1"/>
                      </p:cNvPicPr>
                      <p:nvPr/>
                    </p:nvPicPr>
                    <p:blipFill>
                      <a:blip r:embed="rId9"/>
                      <a:srcRect/>
                      <a:stretch>
                        <a:fillRect/>
                      </a:stretch>
                    </p:blipFill>
                    <p:spPr bwMode="auto">
                      <a:xfrm>
                        <a:off x="5272015" y="2736742"/>
                        <a:ext cx="1997075" cy="396875"/>
                      </a:xfrm>
                      <a:prstGeom prst="rect">
                        <a:avLst/>
                      </a:prstGeom>
                      <a:noFill/>
                    </p:spPr>
                  </p:pic>
                </p:oleObj>
              </mc:Fallback>
            </mc:AlternateContent>
          </a:graphicData>
        </a:graphic>
      </p:graphicFrame>
      <p:graphicFrame>
        <p:nvGraphicFramePr>
          <p:cNvPr id="14" name="개체 13">
            <a:extLst>
              <a:ext uri="{FF2B5EF4-FFF2-40B4-BE49-F238E27FC236}">
                <a16:creationId xmlns:a16="http://schemas.microsoft.com/office/drawing/2014/main" id="{9AD49CE2-6707-427D-8434-57B829192935}"/>
              </a:ext>
            </a:extLst>
          </p:cNvPr>
          <p:cNvGraphicFramePr>
            <a:graphicFrameLocks noChangeAspect="1"/>
          </p:cNvGraphicFramePr>
          <p:nvPr>
            <p:extLst>
              <p:ext uri="{D42A27DB-BD31-4B8C-83A1-F6EECF244321}">
                <p14:modId xmlns:p14="http://schemas.microsoft.com/office/powerpoint/2010/main" val="3086000525"/>
              </p:ext>
            </p:extLst>
          </p:nvPr>
        </p:nvGraphicFramePr>
        <p:xfrm>
          <a:off x="2976389" y="4795376"/>
          <a:ext cx="644084" cy="404853"/>
        </p:xfrm>
        <a:graphic>
          <a:graphicData uri="http://schemas.openxmlformats.org/presentationml/2006/ole">
            <mc:AlternateContent xmlns:mc="http://schemas.openxmlformats.org/markup-compatibility/2006">
              <mc:Choice xmlns:v="urn:schemas-microsoft-com:vml" Requires="v">
                <p:oleObj spid="_x0000_s8287" name="Equation" r:id="rId10" imgW="444240" imgH="279360" progId="Equation.DSMT4">
                  <p:embed/>
                </p:oleObj>
              </mc:Choice>
              <mc:Fallback>
                <p:oleObj name="Equation" r:id="rId10" imgW="444240" imgH="279360" progId="Equation.DSMT4">
                  <p:embed/>
                  <p:pic>
                    <p:nvPicPr>
                      <p:cNvPr id="13" name="개체 12">
                        <a:extLst>
                          <a:ext uri="{FF2B5EF4-FFF2-40B4-BE49-F238E27FC236}">
                            <a16:creationId xmlns:a16="http://schemas.microsoft.com/office/drawing/2014/main" id="{C95C20D8-3DF3-499A-82EF-0B95756805CF}"/>
                          </a:ext>
                        </a:extLst>
                      </p:cNvPr>
                      <p:cNvPicPr/>
                      <p:nvPr/>
                    </p:nvPicPr>
                    <p:blipFill>
                      <a:blip r:embed="rId11"/>
                      <a:stretch>
                        <a:fillRect/>
                      </a:stretch>
                    </p:blipFill>
                    <p:spPr>
                      <a:xfrm>
                        <a:off x="2976389" y="4795376"/>
                        <a:ext cx="644084" cy="404853"/>
                      </a:xfrm>
                      <a:prstGeom prst="rect">
                        <a:avLst/>
                      </a:prstGeom>
                    </p:spPr>
                  </p:pic>
                </p:oleObj>
              </mc:Fallback>
            </mc:AlternateContent>
          </a:graphicData>
        </a:graphic>
      </p:graphicFrame>
      <p:graphicFrame>
        <p:nvGraphicFramePr>
          <p:cNvPr id="15" name="개체 14">
            <a:extLst>
              <a:ext uri="{FF2B5EF4-FFF2-40B4-BE49-F238E27FC236}">
                <a16:creationId xmlns:a16="http://schemas.microsoft.com/office/drawing/2014/main" id="{A5689786-A594-4B3B-800A-29724904A78B}"/>
              </a:ext>
            </a:extLst>
          </p:cNvPr>
          <p:cNvGraphicFramePr>
            <a:graphicFrameLocks noChangeAspect="1"/>
          </p:cNvGraphicFramePr>
          <p:nvPr>
            <p:extLst>
              <p:ext uri="{D42A27DB-BD31-4B8C-83A1-F6EECF244321}">
                <p14:modId xmlns:p14="http://schemas.microsoft.com/office/powerpoint/2010/main" val="2033927533"/>
              </p:ext>
            </p:extLst>
          </p:nvPr>
        </p:nvGraphicFramePr>
        <p:xfrm>
          <a:off x="4625968" y="4795266"/>
          <a:ext cx="1266825" cy="477838"/>
        </p:xfrm>
        <a:graphic>
          <a:graphicData uri="http://schemas.openxmlformats.org/presentationml/2006/ole">
            <mc:AlternateContent xmlns:mc="http://schemas.openxmlformats.org/markup-compatibility/2006">
              <mc:Choice xmlns:v="urn:schemas-microsoft-com:vml" Requires="v">
                <p:oleObj spid="_x0000_s8288" name="Equation" r:id="rId12" imgW="876240" imgH="330120" progId="Equation.DSMT4">
                  <p:embed/>
                </p:oleObj>
              </mc:Choice>
              <mc:Fallback>
                <p:oleObj name="Equation" r:id="rId12" imgW="876240" imgH="330120" progId="Equation.DSMT4">
                  <p:embed/>
                  <p:pic>
                    <p:nvPicPr>
                      <p:cNvPr id="14" name="개체 13">
                        <a:extLst>
                          <a:ext uri="{FF2B5EF4-FFF2-40B4-BE49-F238E27FC236}">
                            <a16:creationId xmlns:a16="http://schemas.microsoft.com/office/drawing/2014/main" id="{8F1DB901-3A5A-43CA-AF03-029534367F64}"/>
                          </a:ext>
                        </a:extLst>
                      </p:cNvPr>
                      <p:cNvPicPr/>
                      <p:nvPr/>
                    </p:nvPicPr>
                    <p:blipFill>
                      <a:blip r:embed="rId13"/>
                      <a:stretch>
                        <a:fillRect/>
                      </a:stretch>
                    </p:blipFill>
                    <p:spPr>
                      <a:xfrm>
                        <a:off x="4625968" y="4795266"/>
                        <a:ext cx="1266825" cy="477838"/>
                      </a:xfrm>
                      <a:prstGeom prst="rect">
                        <a:avLst/>
                      </a:prstGeom>
                    </p:spPr>
                  </p:pic>
                </p:oleObj>
              </mc:Fallback>
            </mc:AlternateContent>
          </a:graphicData>
        </a:graphic>
      </p:graphicFrame>
      <p:sp>
        <p:nvSpPr>
          <p:cNvPr id="16" name="액자 15">
            <a:extLst>
              <a:ext uri="{FF2B5EF4-FFF2-40B4-BE49-F238E27FC236}">
                <a16:creationId xmlns:a16="http://schemas.microsoft.com/office/drawing/2014/main" id="{031271B8-29BF-4D5E-AB8F-1A13FD384D60}"/>
              </a:ext>
            </a:extLst>
          </p:cNvPr>
          <p:cNvSpPr/>
          <p:nvPr/>
        </p:nvSpPr>
        <p:spPr>
          <a:xfrm>
            <a:off x="2784096" y="4437112"/>
            <a:ext cx="1008112" cy="788501"/>
          </a:xfrm>
          <a:prstGeom prst="frame">
            <a:avLst>
              <a:gd name="adj1" fmla="val 3278"/>
            </a:avLst>
          </a:prstGeom>
          <a:solidFill>
            <a:srgbClr val="0417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417CC"/>
              </a:solidFill>
            </a:endParaRPr>
          </a:p>
        </p:txBody>
      </p:sp>
      <p:sp>
        <p:nvSpPr>
          <p:cNvPr id="17" name="액자 16">
            <a:extLst>
              <a:ext uri="{FF2B5EF4-FFF2-40B4-BE49-F238E27FC236}">
                <a16:creationId xmlns:a16="http://schemas.microsoft.com/office/drawing/2014/main" id="{CE2A481B-A816-4D03-8F32-C9EF179E43BA}"/>
              </a:ext>
            </a:extLst>
          </p:cNvPr>
          <p:cNvSpPr/>
          <p:nvPr/>
        </p:nvSpPr>
        <p:spPr>
          <a:xfrm>
            <a:off x="4296264" y="4437111"/>
            <a:ext cx="1992493" cy="835501"/>
          </a:xfrm>
          <a:prstGeom prst="frame">
            <a:avLst>
              <a:gd name="adj1" fmla="val 3278"/>
            </a:avLst>
          </a:prstGeom>
          <a:solidFill>
            <a:srgbClr val="0417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0417CC"/>
              </a:solidFill>
            </a:endParaRPr>
          </a:p>
        </p:txBody>
      </p:sp>
    </p:spTree>
    <p:extLst>
      <p:ext uri="{BB962C8B-B14F-4D97-AF65-F5344CB8AC3E}">
        <p14:creationId xmlns:p14="http://schemas.microsoft.com/office/powerpoint/2010/main" val="409196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EAE64E9-DD4F-451B-B9EA-18CACE6B1E56}"/>
              </a:ext>
            </a:extLst>
          </p:cNvPr>
          <p:cNvSpPr>
            <a:spLocks noGrp="1"/>
          </p:cNvSpPr>
          <p:nvPr>
            <p:ph type="title"/>
          </p:nvPr>
        </p:nvSpPr>
        <p:spPr/>
        <p:txBody>
          <a:bodyPr>
            <a:normAutofit fontScale="90000"/>
          </a:bodyPr>
          <a:lstStyle/>
          <a:p>
            <a:r>
              <a:rPr lang="en-US" altLang="ko-KR" dirty="0"/>
              <a:t>C6. Improving the Robustness of Reservoir Operations with Stochastic Dynamic Programming</a:t>
            </a:r>
            <a:endParaRPr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925B4CDF-114A-4AAC-A72D-A290A67A0D43}"/>
                  </a:ext>
                </a:extLst>
              </p:cNvPr>
              <p:cNvSpPr>
                <a:spLocks noGrp="1"/>
              </p:cNvSpPr>
              <p:nvPr>
                <p:ph idx="1"/>
              </p:nvPr>
            </p:nvSpPr>
            <p:spPr/>
            <p:txBody>
              <a:bodyPr/>
              <a:lstStyle/>
              <a:p>
                <a:r>
                  <a:rPr lang="en-US" altLang="ko-KR" dirty="0"/>
                  <a:t> Regret-based Robustness Metric: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𝑅</m:t>
                        </m:r>
                      </m:e>
                      <m:sub>
                        <m:r>
                          <a:rPr lang="en-US" altLang="ko-KR" i="1">
                            <a:latin typeface="Cambria Math" panose="02040503050406030204" pitchFamily="18" charset="0"/>
                          </a:rPr>
                          <m:t>𝑚𝑜𝑑𝑒𝑙</m:t>
                        </m:r>
                      </m:sub>
                      <m:sup>
                        <m:r>
                          <a:rPr lang="en-US" altLang="ko-KR" i="1">
                            <a:latin typeface="Cambria Math" panose="02040503050406030204" pitchFamily="18" charset="0"/>
                          </a:rPr>
                          <m:t>𝑖</m:t>
                        </m:r>
                      </m:sup>
                    </m:sSubSup>
                  </m:oMath>
                </a14:m>
                <a:endParaRPr lang="en-US" altLang="ko-KR" dirty="0"/>
              </a:p>
              <a:p>
                <a:pPr lvl="1"/>
                <a:r>
                  <a:rPr lang="en-US" altLang="ko-KR" dirty="0"/>
                  <a:t> Measures the 90</a:t>
                </a:r>
                <a:r>
                  <a:rPr lang="en-US" altLang="ko-KR" baseline="30000" dirty="0"/>
                  <a:t>th</a:t>
                </a:r>
                <a:r>
                  <a:rPr lang="en-US" altLang="ko-KR" dirty="0"/>
                  <a:t> percentile deviation from the </a:t>
                </a:r>
                <a:br>
                  <a:rPr lang="en-US" altLang="ko-KR" dirty="0"/>
                </a:br>
                <a:r>
                  <a:rPr lang="en-US" altLang="ko-KR" dirty="0"/>
                  <a:t>average performance using the baseline scenario</a:t>
                </a:r>
                <a:endParaRPr lang="ko-KR" altLang="en-US" dirty="0"/>
              </a:p>
              <a:p>
                <a:endParaRPr lang="ko-KR" altLang="en-US" dirty="0"/>
              </a:p>
            </p:txBody>
          </p:sp>
        </mc:Choice>
        <mc:Fallback xmlns="">
          <p:sp>
            <p:nvSpPr>
              <p:cNvPr id="3" name="내용 개체 틀 2">
                <a:extLst>
                  <a:ext uri="{FF2B5EF4-FFF2-40B4-BE49-F238E27FC236}">
                    <a16:creationId xmlns:a16="http://schemas.microsoft.com/office/drawing/2014/main" id="{925B4CDF-114A-4AAC-A72D-A290A67A0D43}"/>
                  </a:ext>
                </a:extLst>
              </p:cNvPr>
              <p:cNvSpPr>
                <a:spLocks noGrp="1" noRot="1" noChangeAspect="1" noMove="1" noResize="1" noEditPoints="1" noAdjustHandles="1" noChangeArrowheads="1" noChangeShapeType="1" noTextEdit="1"/>
              </p:cNvSpPr>
              <p:nvPr>
                <p:ph idx="1"/>
              </p:nvPr>
            </p:nvSpPr>
            <p:spPr>
              <a:blipFill>
                <a:blip r:embed="rId3"/>
                <a:stretch>
                  <a:fillRect l="-696"/>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D213AF05-DED8-4354-822B-FB4185981238}"/>
              </a:ext>
            </a:extLst>
          </p:cNvPr>
          <p:cNvSpPr>
            <a:spLocks noGrp="1"/>
          </p:cNvSpPr>
          <p:nvPr>
            <p:ph type="sldNum" sz="quarter" idx="12"/>
          </p:nvPr>
        </p:nvSpPr>
        <p:spPr/>
        <p:txBody>
          <a:bodyPr/>
          <a:lstStyle/>
          <a:p>
            <a:fld id="{79822AFB-C284-4A8E-A6EE-41BAA9C576A0}" type="slidenum">
              <a:rPr lang="ko-KR" altLang="en-US" smtClean="0"/>
              <a:t>23</a:t>
            </a:fld>
            <a:endParaRPr lang="ko-KR" altLang="en-US"/>
          </a:p>
        </p:txBody>
      </p:sp>
      <p:sp>
        <p:nvSpPr>
          <p:cNvPr id="5" name="날짜 개체 틀 4">
            <a:extLst>
              <a:ext uri="{FF2B5EF4-FFF2-40B4-BE49-F238E27FC236}">
                <a16:creationId xmlns:a16="http://schemas.microsoft.com/office/drawing/2014/main" id="{891C0FCE-75A5-4EB7-83FB-CE382E1ACC4D}"/>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내용 개체 틀 8">
            <a:extLst>
              <a:ext uri="{FF2B5EF4-FFF2-40B4-BE49-F238E27FC236}">
                <a16:creationId xmlns:a16="http://schemas.microsoft.com/office/drawing/2014/main" id="{A77DA277-A577-4CD1-B6C8-5BC95B83D3C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6992" t="5876" r="23594" b="7572"/>
          <a:stretch/>
        </p:blipFill>
        <p:spPr>
          <a:xfrm>
            <a:off x="4572000" y="2611634"/>
            <a:ext cx="3558904" cy="3888433"/>
          </a:xfrm>
          <a:prstGeom prst="rect">
            <a:avLst/>
          </a:prstGeom>
        </p:spPr>
      </p:pic>
      <p:pic>
        <p:nvPicPr>
          <p:cNvPr id="7" name="그림 6">
            <a:extLst>
              <a:ext uri="{FF2B5EF4-FFF2-40B4-BE49-F238E27FC236}">
                <a16:creationId xmlns:a16="http://schemas.microsoft.com/office/drawing/2014/main" id="{D4A6D540-5816-4FB4-AE72-FA870789BFBA}"/>
              </a:ext>
            </a:extLst>
          </p:cNvPr>
          <p:cNvPicPr>
            <a:picLocks noChangeAspect="1"/>
          </p:cNvPicPr>
          <p:nvPr/>
        </p:nvPicPr>
        <p:blipFill>
          <a:blip r:embed="rId5"/>
          <a:stretch>
            <a:fillRect/>
          </a:stretch>
        </p:blipFill>
        <p:spPr>
          <a:xfrm>
            <a:off x="6286065" y="1349958"/>
            <a:ext cx="2857935" cy="1117957"/>
          </a:xfrm>
          <a:prstGeom prst="rect">
            <a:avLst/>
          </a:prstGeom>
        </p:spPr>
      </p:pic>
      <p:grpSp>
        <p:nvGrpSpPr>
          <p:cNvPr id="8" name="그룹 7">
            <a:extLst>
              <a:ext uri="{FF2B5EF4-FFF2-40B4-BE49-F238E27FC236}">
                <a16:creationId xmlns:a16="http://schemas.microsoft.com/office/drawing/2014/main" id="{D6C18A63-4B8F-4832-AE5C-96D34B13F47E}"/>
              </a:ext>
            </a:extLst>
          </p:cNvPr>
          <p:cNvGrpSpPr/>
          <p:nvPr/>
        </p:nvGrpSpPr>
        <p:grpSpPr>
          <a:xfrm>
            <a:off x="1278546" y="3252380"/>
            <a:ext cx="2986509" cy="2606939"/>
            <a:chOff x="1035063" y="2950918"/>
            <a:chExt cx="2986509" cy="2606939"/>
          </a:xfrm>
        </p:grpSpPr>
        <p:pic>
          <p:nvPicPr>
            <p:cNvPr id="9" name="그림 8">
              <a:extLst>
                <a:ext uri="{FF2B5EF4-FFF2-40B4-BE49-F238E27FC236}">
                  <a16:creationId xmlns:a16="http://schemas.microsoft.com/office/drawing/2014/main" id="{EE4FB68A-FBB0-4075-B041-313BFAB9EE42}"/>
                </a:ext>
              </a:extLst>
            </p:cNvPr>
            <p:cNvPicPr>
              <a:picLocks noChangeAspect="1"/>
            </p:cNvPicPr>
            <p:nvPr/>
          </p:nvPicPr>
          <p:blipFill rotWithShape="1">
            <a:blip r:embed="rId6"/>
            <a:srcRect l="35912" r="36157"/>
            <a:stretch/>
          </p:blipFill>
          <p:spPr>
            <a:xfrm>
              <a:off x="1035063" y="2950918"/>
              <a:ext cx="2986509" cy="2606939"/>
            </a:xfrm>
            <a:prstGeom prst="rect">
              <a:avLst/>
            </a:prstGeom>
          </p:spPr>
        </p:pic>
        <p:cxnSp>
          <p:nvCxnSpPr>
            <p:cNvPr id="10" name="직선 화살표 연결선 9">
              <a:extLst>
                <a:ext uri="{FF2B5EF4-FFF2-40B4-BE49-F238E27FC236}">
                  <a16:creationId xmlns:a16="http://schemas.microsoft.com/office/drawing/2014/main" id="{3E91CE82-5F39-46F3-90BE-1A3C33F1E712}"/>
                </a:ext>
              </a:extLst>
            </p:cNvPr>
            <p:cNvCxnSpPr>
              <a:cxnSpLocks/>
            </p:cNvCxnSpPr>
            <p:nvPr/>
          </p:nvCxnSpPr>
          <p:spPr>
            <a:xfrm>
              <a:off x="2439363" y="4271778"/>
              <a:ext cx="755940" cy="898058"/>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D57ECCA6-1859-46DC-A453-EA81005110BD}"/>
                </a:ext>
              </a:extLst>
            </p:cNvPr>
            <p:cNvCxnSpPr>
              <a:cxnSpLocks/>
            </p:cNvCxnSpPr>
            <p:nvPr/>
          </p:nvCxnSpPr>
          <p:spPr>
            <a:xfrm>
              <a:off x="1611127" y="4271779"/>
              <a:ext cx="828236"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DBA3C41F-7D23-4950-A068-8BDC79AF8E48}"/>
                </a:ext>
              </a:extLst>
            </p:cNvPr>
            <p:cNvCxnSpPr>
              <a:cxnSpLocks/>
            </p:cNvCxnSpPr>
            <p:nvPr/>
          </p:nvCxnSpPr>
          <p:spPr>
            <a:xfrm>
              <a:off x="2439363" y="4271779"/>
              <a:ext cx="0" cy="1029582"/>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305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1F19DFE-F39C-476A-BCF2-007FE94324B0}"/>
              </a:ext>
            </a:extLst>
          </p:cNvPr>
          <p:cNvSpPr>
            <a:spLocks noGrp="1"/>
          </p:cNvSpPr>
          <p:nvPr>
            <p:ph type="title"/>
          </p:nvPr>
        </p:nvSpPr>
        <p:spPr/>
        <p:txBody>
          <a:bodyPr/>
          <a:lstStyle/>
          <a:p>
            <a:r>
              <a:rPr lang="en-US" altLang="ko-KR" dirty="0"/>
              <a:t>Ongoing Research Topics</a:t>
            </a:r>
            <a:endParaRPr lang="ko-KR" altLang="en-US" dirty="0"/>
          </a:p>
        </p:txBody>
      </p:sp>
      <p:sp>
        <p:nvSpPr>
          <p:cNvPr id="3" name="내용 개체 틀 2">
            <a:extLst>
              <a:ext uri="{FF2B5EF4-FFF2-40B4-BE49-F238E27FC236}">
                <a16:creationId xmlns:a16="http://schemas.microsoft.com/office/drawing/2014/main" id="{65AB3AFD-0560-4C82-97B3-746CD6DF72F6}"/>
              </a:ext>
            </a:extLst>
          </p:cNvPr>
          <p:cNvSpPr>
            <a:spLocks noGrp="1"/>
          </p:cNvSpPr>
          <p:nvPr>
            <p:ph idx="1"/>
          </p:nvPr>
        </p:nvSpPr>
        <p:spPr/>
        <p:txBody>
          <a:bodyPr/>
          <a:lstStyle/>
          <a:p>
            <a:r>
              <a:rPr lang="en-US" altLang="ko-KR" dirty="0"/>
              <a:t> Improvement in probabilistic drought prediction method reflecting drought-related information</a:t>
            </a:r>
          </a:p>
          <a:p>
            <a:pPr lvl="1"/>
            <a:r>
              <a:rPr lang="en-US" altLang="ko-KR" dirty="0"/>
              <a:t> Development of hydrological drought prediction method with ensemble drought prediction (EDP)</a:t>
            </a:r>
          </a:p>
          <a:p>
            <a:pPr lvl="2"/>
            <a:r>
              <a:rPr lang="en-US" altLang="ko-KR" dirty="0"/>
              <a:t>Precipitation forecast + soil moisture -&gt; update the prior EDP (Bayesian)</a:t>
            </a:r>
          </a:p>
          <a:p>
            <a:pPr lvl="2"/>
            <a:r>
              <a:rPr lang="en-US" altLang="ko-KR" dirty="0"/>
              <a:t>Results of the Bayesian update were named as EDP+A and EDP+AS</a:t>
            </a:r>
          </a:p>
          <a:p>
            <a:pPr lvl="2"/>
            <a:r>
              <a:rPr lang="en-US" altLang="ko-KR" dirty="0"/>
              <a:t>Performance evaluated with RMSE, ranked probability skill score (RPSS), </a:t>
            </a:r>
            <a:br>
              <a:rPr lang="en-US" altLang="ko-KR" dirty="0"/>
            </a:br>
            <a:r>
              <a:rPr lang="en-US" altLang="ko-KR" dirty="0"/>
              <a:t>Brier skill score (BSS)</a:t>
            </a:r>
          </a:p>
          <a:p>
            <a:pPr lvl="1"/>
            <a:endParaRPr lang="ko-KR" altLang="en-US" dirty="0"/>
          </a:p>
        </p:txBody>
      </p:sp>
      <p:sp>
        <p:nvSpPr>
          <p:cNvPr id="4" name="슬라이드 번호 개체 틀 3">
            <a:extLst>
              <a:ext uri="{FF2B5EF4-FFF2-40B4-BE49-F238E27FC236}">
                <a16:creationId xmlns:a16="http://schemas.microsoft.com/office/drawing/2014/main" id="{FF268E24-27F1-43C3-BB22-C1517FE40A65}"/>
              </a:ext>
            </a:extLst>
          </p:cNvPr>
          <p:cNvSpPr>
            <a:spLocks noGrp="1"/>
          </p:cNvSpPr>
          <p:nvPr>
            <p:ph type="sldNum" sz="quarter" idx="12"/>
          </p:nvPr>
        </p:nvSpPr>
        <p:spPr/>
        <p:txBody>
          <a:bodyPr/>
          <a:lstStyle/>
          <a:p>
            <a:fld id="{79822AFB-C284-4A8E-A6EE-41BAA9C576A0}" type="slidenum">
              <a:rPr lang="ko-KR" altLang="en-US" smtClean="0"/>
              <a:t>24</a:t>
            </a:fld>
            <a:endParaRPr lang="ko-KR" altLang="en-US"/>
          </a:p>
        </p:txBody>
      </p:sp>
      <p:sp>
        <p:nvSpPr>
          <p:cNvPr id="5" name="날짜 개체 틀 4">
            <a:extLst>
              <a:ext uri="{FF2B5EF4-FFF2-40B4-BE49-F238E27FC236}">
                <a16:creationId xmlns:a16="http://schemas.microsoft.com/office/drawing/2014/main" id="{F8F8EC94-2027-4AF3-890E-6A8AE16458C4}"/>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6" name="그림 5">
            <a:extLst>
              <a:ext uri="{FF2B5EF4-FFF2-40B4-BE49-F238E27FC236}">
                <a16:creationId xmlns:a16="http://schemas.microsoft.com/office/drawing/2014/main" id="{E9CE499C-3A65-4B8F-97BC-7DA1E81D79E8}"/>
              </a:ext>
            </a:extLst>
          </p:cNvPr>
          <p:cNvPicPr>
            <a:picLocks noChangeAspect="1"/>
          </p:cNvPicPr>
          <p:nvPr/>
        </p:nvPicPr>
        <p:blipFill>
          <a:blip r:embed="rId3"/>
          <a:stretch>
            <a:fillRect/>
          </a:stretch>
        </p:blipFill>
        <p:spPr>
          <a:xfrm>
            <a:off x="628650" y="4144768"/>
            <a:ext cx="3843469" cy="2441666"/>
          </a:xfrm>
          <a:prstGeom prst="rect">
            <a:avLst/>
          </a:prstGeom>
        </p:spPr>
      </p:pic>
      <p:pic>
        <p:nvPicPr>
          <p:cNvPr id="7" name="그림 6">
            <a:extLst>
              <a:ext uri="{FF2B5EF4-FFF2-40B4-BE49-F238E27FC236}">
                <a16:creationId xmlns:a16="http://schemas.microsoft.com/office/drawing/2014/main" id="{FAE77A7F-2242-4FA3-ABAE-220F34CFA71E}"/>
              </a:ext>
            </a:extLst>
          </p:cNvPr>
          <p:cNvPicPr>
            <a:picLocks noChangeAspect="1"/>
          </p:cNvPicPr>
          <p:nvPr/>
        </p:nvPicPr>
        <p:blipFill>
          <a:blip r:embed="rId4"/>
          <a:stretch>
            <a:fillRect/>
          </a:stretch>
        </p:blipFill>
        <p:spPr>
          <a:xfrm>
            <a:off x="4405549" y="4216724"/>
            <a:ext cx="4050404" cy="2415748"/>
          </a:xfrm>
          <a:prstGeom prst="rect">
            <a:avLst/>
          </a:prstGeom>
        </p:spPr>
      </p:pic>
      <p:pic>
        <p:nvPicPr>
          <p:cNvPr id="8" name="그림 7">
            <a:extLst>
              <a:ext uri="{FF2B5EF4-FFF2-40B4-BE49-F238E27FC236}">
                <a16:creationId xmlns:a16="http://schemas.microsoft.com/office/drawing/2014/main" id="{ED0FFA5F-88B2-46B9-A986-C00A628B5B96}"/>
              </a:ext>
            </a:extLst>
          </p:cNvPr>
          <p:cNvPicPr>
            <a:picLocks noChangeAspect="1"/>
          </p:cNvPicPr>
          <p:nvPr/>
        </p:nvPicPr>
        <p:blipFill>
          <a:blip r:embed="rId5"/>
          <a:stretch>
            <a:fillRect/>
          </a:stretch>
        </p:blipFill>
        <p:spPr>
          <a:xfrm>
            <a:off x="6314735" y="4611362"/>
            <a:ext cx="2744510" cy="2223889"/>
          </a:xfrm>
          <a:prstGeom prst="rect">
            <a:avLst/>
          </a:prstGeom>
        </p:spPr>
      </p:pic>
    </p:spTree>
    <p:extLst>
      <p:ext uri="{BB962C8B-B14F-4D97-AF65-F5344CB8AC3E}">
        <p14:creationId xmlns:p14="http://schemas.microsoft.com/office/powerpoint/2010/main" val="1382863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4238C3-45EA-4860-8F54-9E3302DE79E8}"/>
              </a:ext>
            </a:extLst>
          </p:cNvPr>
          <p:cNvSpPr>
            <a:spLocks noGrp="1"/>
          </p:cNvSpPr>
          <p:nvPr>
            <p:ph type="title"/>
          </p:nvPr>
        </p:nvSpPr>
        <p:spPr/>
        <p:txBody>
          <a:bodyPr/>
          <a:lstStyle/>
          <a:p>
            <a:r>
              <a:rPr lang="en-US" altLang="ko-KR" dirty="0"/>
              <a:t>Ongoing Research Topics (Co-work)</a:t>
            </a:r>
            <a:endParaRPr lang="ko-KR" altLang="en-US" dirty="0"/>
          </a:p>
        </p:txBody>
      </p:sp>
      <p:sp>
        <p:nvSpPr>
          <p:cNvPr id="3" name="내용 개체 틀 2">
            <a:extLst>
              <a:ext uri="{FF2B5EF4-FFF2-40B4-BE49-F238E27FC236}">
                <a16:creationId xmlns:a16="http://schemas.microsoft.com/office/drawing/2014/main" id="{795D72B7-F9E1-4702-B114-2569427F509D}"/>
              </a:ext>
            </a:extLst>
          </p:cNvPr>
          <p:cNvSpPr>
            <a:spLocks noGrp="1"/>
          </p:cNvSpPr>
          <p:nvPr>
            <p:ph idx="1"/>
          </p:nvPr>
        </p:nvSpPr>
        <p:spPr/>
        <p:txBody>
          <a:bodyPr/>
          <a:lstStyle/>
          <a:p>
            <a:r>
              <a:rPr lang="en-US" altLang="ko-KR" dirty="0"/>
              <a:t> Relief of water shortage in western Chungcheongnam-do by regenerating inflow and improving water supply adjustment standards</a:t>
            </a:r>
            <a:endParaRPr lang="ko-KR" altLang="en-US" dirty="0"/>
          </a:p>
        </p:txBody>
      </p:sp>
      <p:sp>
        <p:nvSpPr>
          <p:cNvPr id="4" name="슬라이드 번호 개체 틀 3">
            <a:extLst>
              <a:ext uri="{FF2B5EF4-FFF2-40B4-BE49-F238E27FC236}">
                <a16:creationId xmlns:a16="http://schemas.microsoft.com/office/drawing/2014/main" id="{47028202-DC2B-41EA-A1A0-E432A6DD8F86}"/>
              </a:ext>
            </a:extLst>
          </p:cNvPr>
          <p:cNvSpPr>
            <a:spLocks noGrp="1"/>
          </p:cNvSpPr>
          <p:nvPr>
            <p:ph type="sldNum" sz="quarter" idx="12"/>
          </p:nvPr>
        </p:nvSpPr>
        <p:spPr/>
        <p:txBody>
          <a:bodyPr/>
          <a:lstStyle/>
          <a:p>
            <a:fld id="{79822AFB-C284-4A8E-A6EE-41BAA9C576A0}" type="slidenum">
              <a:rPr lang="ko-KR" altLang="en-US" smtClean="0"/>
              <a:t>25</a:t>
            </a:fld>
            <a:endParaRPr lang="ko-KR" altLang="en-US"/>
          </a:p>
        </p:txBody>
      </p:sp>
      <p:sp>
        <p:nvSpPr>
          <p:cNvPr id="5" name="날짜 개체 틀 4">
            <a:extLst>
              <a:ext uri="{FF2B5EF4-FFF2-40B4-BE49-F238E27FC236}">
                <a16:creationId xmlns:a16="http://schemas.microsoft.com/office/drawing/2014/main" id="{5B665F20-F155-436F-957F-9E32893B37D2}"/>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pic>
        <p:nvPicPr>
          <p:cNvPr id="8" name="그림 7">
            <a:extLst>
              <a:ext uri="{FF2B5EF4-FFF2-40B4-BE49-F238E27FC236}">
                <a16:creationId xmlns:a16="http://schemas.microsoft.com/office/drawing/2014/main" id="{6E946512-6A6A-4D91-8A2A-047406FDDADE}"/>
              </a:ext>
            </a:extLst>
          </p:cNvPr>
          <p:cNvPicPr>
            <a:picLocks noChangeAspect="1"/>
          </p:cNvPicPr>
          <p:nvPr/>
        </p:nvPicPr>
        <p:blipFill>
          <a:blip r:embed="rId2"/>
          <a:stretch>
            <a:fillRect/>
          </a:stretch>
        </p:blipFill>
        <p:spPr>
          <a:xfrm>
            <a:off x="3514731" y="4440418"/>
            <a:ext cx="4767808" cy="2297644"/>
          </a:xfrm>
          <a:prstGeom prst="rect">
            <a:avLst/>
          </a:prstGeom>
        </p:spPr>
      </p:pic>
      <p:pic>
        <p:nvPicPr>
          <p:cNvPr id="6" name="그림 5">
            <a:extLst>
              <a:ext uri="{FF2B5EF4-FFF2-40B4-BE49-F238E27FC236}">
                <a16:creationId xmlns:a16="http://schemas.microsoft.com/office/drawing/2014/main" id="{A04E521C-AAFF-4B93-8BA6-81124F203D86}"/>
              </a:ext>
            </a:extLst>
          </p:cNvPr>
          <p:cNvPicPr>
            <a:picLocks noChangeAspect="1"/>
          </p:cNvPicPr>
          <p:nvPr/>
        </p:nvPicPr>
        <p:blipFill>
          <a:blip r:embed="rId3"/>
          <a:stretch>
            <a:fillRect/>
          </a:stretch>
        </p:blipFill>
        <p:spPr>
          <a:xfrm>
            <a:off x="275279" y="2823988"/>
            <a:ext cx="3132469" cy="3714923"/>
          </a:xfrm>
          <a:prstGeom prst="rect">
            <a:avLst/>
          </a:prstGeom>
        </p:spPr>
      </p:pic>
      <p:pic>
        <p:nvPicPr>
          <p:cNvPr id="7" name="그림 6">
            <a:extLst>
              <a:ext uri="{FF2B5EF4-FFF2-40B4-BE49-F238E27FC236}">
                <a16:creationId xmlns:a16="http://schemas.microsoft.com/office/drawing/2014/main" id="{9248D272-FCF4-46B3-9D5B-DADD86B5F798}"/>
              </a:ext>
            </a:extLst>
          </p:cNvPr>
          <p:cNvPicPr>
            <a:picLocks noChangeAspect="1"/>
          </p:cNvPicPr>
          <p:nvPr/>
        </p:nvPicPr>
        <p:blipFill>
          <a:blip r:embed="rId4"/>
          <a:stretch>
            <a:fillRect/>
          </a:stretch>
        </p:blipFill>
        <p:spPr>
          <a:xfrm>
            <a:off x="1696471" y="2257233"/>
            <a:ext cx="7179146" cy="2203725"/>
          </a:xfrm>
          <a:prstGeom prst="rect">
            <a:avLst/>
          </a:prstGeom>
        </p:spPr>
      </p:pic>
    </p:spTree>
    <p:extLst>
      <p:ext uri="{BB962C8B-B14F-4D97-AF65-F5344CB8AC3E}">
        <p14:creationId xmlns:p14="http://schemas.microsoft.com/office/powerpoint/2010/main" val="308279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F1878FA-D4F5-433F-8357-F850CA526774}"/>
              </a:ext>
            </a:extLst>
          </p:cNvPr>
          <p:cNvSpPr>
            <a:spLocks noGrp="1"/>
          </p:cNvSpPr>
          <p:nvPr>
            <p:ph type="title"/>
          </p:nvPr>
        </p:nvSpPr>
        <p:spPr/>
        <p:txBody>
          <a:bodyPr/>
          <a:lstStyle/>
          <a:p>
            <a:r>
              <a:rPr lang="en-US" altLang="ko-KR" dirty="0"/>
              <a:t>For more, </a:t>
            </a:r>
            <a:endParaRPr lang="ko-KR" altLang="en-US" dirty="0"/>
          </a:p>
        </p:txBody>
      </p:sp>
      <p:sp>
        <p:nvSpPr>
          <p:cNvPr id="3" name="내용 개체 틀 2">
            <a:extLst>
              <a:ext uri="{FF2B5EF4-FFF2-40B4-BE49-F238E27FC236}">
                <a16:creationId xmlns:a16="http://schemas.microsoft.com/office/drawing/2014/main" id="{478F523E-1EB5-465E-B848-0BD670937269}"/>
              </a:ext>
            </a:extLst>
          </p:cNvPr>
          <p:cNvSpPr>
            <a:spLocks noGrp="1"/>
          </p:cNvSpPr>
          <p:nvPr>
            <p:ph idx="1"/>
          </p:nvPr>
        </p:nvSpPr>
        <p:spPr>
          <a:xfrm>
            <a:off x="628650" y="1268760"/>
            <a:ext cx="7886700" cy="5328592"/>
          </a:xfrm>
        </p:spPr>
        <p:txBody>
          <a:bodyPr>
            <a:normAutofit lnSpcReduction="10000"/>
          </a:bodyPr>
          <a:lstStyle/>
          <a:p>
            <a:r>
              <a:rPr lang="en-US" altLang="ko-KR" dirty="0"/>
              <a:t>Related Publications</a:t>
            </a:r>
          </a:p>
          <a:p>
            <a:pPr lvl="1"/>
            <a:r>
              <a:rPr lang="en-US" altLang="ko-KR" dirty="0"/>
              <a:t> C4: </a:t>
            </a:r>
            <a:r>
              <a:rPr lang="en-US" altLang="ko-KR" b="1" dirty="0"/>
              <a:t>Kim, G. J.</a:t>
            </a:r>
            <a:r>
              <a:rPr lang="en-US" altLang="ko-KR" dirty="0"/>
              <a:t>, &amp; Kim, Y.-O.* (2021). How does the coupling of real-world policies with optimization models expand the practicality of solutions in reservoir operation problems? </a:t>
            </a:r>
            <a:r>
              <a:rPr lang="en-US" altLang="ko-KR" i="1" dirty="0"/>
              <a:t>Water Resources Management</a:t>
            </a:r>
            <a:r>
              <a:rPr lang="en-US" altLang="ko-KR" dirty="0"/>
              <a:t>, 35, 3121-3137. </a:t>
            </a:r>
            <a:r>
              <a:rPr lang="en-US" altLang="ko-KR" dirty="0">
                <a:hlinkClick r:id="rId2"/>
              </a:rPr>
              <a:t>https://doi.org/10.1007/s11269-021-02862-y</a:t>
            </a:r>
            <a:endParaRPr lang="en-US" altLang="ko-KR" dirty="0"/>
          </a:p>
          <a:p>
            <a:pPr lvl="1"/>
            <a:r>
              <a:rPr lang="en-US" altLang="ko-KR" dirty="0"/>
              <a:t> C5: </a:t>
            </a:r>
            <a:r>
              <a:rPr lang="en-US" altLang="ko-KR" b="1" dirty="0"/>
              <a:t>Kim, G. J.</a:t>
            </a:r>
            <a:r>
              <a:rPr lang="en-US" altLang="ko-KR" dirty="0"/>
              <a:t>, </a:t>
            </a:r>
            <a:r>
              <a:rPr lang="en-US" altLang="ko-KR" dirty="0" err="1"/>
              <a:t>Seo</a:t>
            </a:r>
            <a:r>
              <a:rPr lang="en-US" altLang="ko-KR" dirty="0"/>
              <a:t>, S. B., &amp; Kim, Y.-O.* (in press). Adaptive Reservoir Management by Reforming the Zone-based Hedging Rules against Multi-year Droughts. </a:t>
            </a:r>
            <a:r>
              <a:rPr lang="en-US" altLang="ko-KR" i="1" dirty="0"/>
              <a:t>Water Resources Management.</a:t>
            </a:r>
            <a:endParaRPr lang="en-US" altLang="ko-KR" dirty="0"/>
          </a:p>
          <a:p>
            <a:pPr lvl="1"/>
            <a:r>
              <a:rPr lang="en-US" altLang="ko-KR" dirty="0"/>
              <a:t> C6: </a:t>
            </a:r>
            <a:r>
              <a:rPr lang="en-US" altLang="ko-KR" b="1" dirty="0"/>
              <a:t>Kim, G. J.</a:t>
            </a:r>
            <a:r>
              <a:rPr lang="en-US" altLang="ko-KR" dirty="0"/>
              <a:t>, Kim, Y.-O.*, &amp; Reed, P. M. (2021). Improving the robustness of reservoir operations with stochastic dynamic programming. </a:t>
            </a:r>
            <a:r>
              <a:rPr lang="en-US" altLang="ko-KR" i="1" dirty="0"/>
              <a:t>Journal of Water Resources Planning and Management</a:t>
            </a:r>
            <a:r>
              <a:rPr lang="en-US" altLang="ko-KR" dirty="0"/>
              <a:t>, </a:t>
            </a:r>
            <a:r>
              <a:rPr lang="en-US" altLang="ko-KR" i="1" dirty="0"/>
              <a:t>147</a:t>
            </a:r>
            <a:r>
              <a:rPr lang="en-US" altLang="ko-KR" dirty="0"/>
              <a:t>(7),04021030. </a:t>
            </a:r>
            <a:r>
              <a:rPr lang="en-US" altLang="ko-KR" dirty="0">
                <a:hlinkClick r:id="rId3"/>
              </a:rPr>
              <a:t>https://doi.org/10.1061/(ASCE)WR.1943-5452.0001381</a:t>
            </a:r>
            <a:endParaRPr lang="en-US" altLang="ko-KR" dirty="0"/>
          </a:p>
          <a:p>
            <a:r>
              <a:rPr lang="en-US" altLang="ko-KR" dirty="0"/>
              <a:t> My personal webpage: </a:t>
            </a:r>
            <a:r>
              <a:rPr lang="en-US" altLang="ko-KR" dirty="0">
                <a:hlinkClick r:id="rId4"/>
              </a:rPr>
              <a:t>https://gijookim.info/</a:t>
            </a:r>
            <a:r>
              <a:rPr lang="en-US" altLang="ko-KR" dirty="0"/>
              <a:t> </a:t>
            </a:r>
          </a:p>
          <a:p>
            <a:r>
              <a:rPr lang="en-US" altLang="ko-KR" dirty="0"/>
              <a:t> Meet in person in Atlanta, GA (EWRI 2022)</a:t>
            </a:r>
          </a:p>
        </p:txBody>
      </p:sp>
      <p:sp>
        <p:nvSpPr>
          <p:cNvPr id="4" name="슬라이드 번호 개체 틀 3">
            <a:extLst>
              <a:ext uri="{FF2B5EF4-FFF2-40B4-BE49-F238E27FC236}">
                <a16:creationId xmlns:a16="http://schemas.microsoft.com/office/drawing/2014/main" id="{1C20D0D3-5722-42A9-A918-66681EF1D9B4}"/>
              </a:ext>
            </a:extLst>
          </p:cNvPr>
          <p:cNvSpPr>
            <a:spLocks noGrp="1"/>
          </p:cNvSpPr>
          <p:nvPr>
            <p:ph type="sldNum" sz="quarter" idx="12"/>
          </p:nvPr>
        </p:nvSpPr>
        <p:spPr/>
        <p:txBody>
          <a:bodyPr/>
          <a:lstStyle/>
          <a:p>
            <a:fld id="{79822AFB-C284-4A8E-A6EE-41BAA9C576A0}" type="slidenum">
              <a:rPr lang="ko-KR" altLang="en-US" smtClean="0"/>
              <a:t>26</a:t>
            </a:fld>
            <a:endParaRPr lang="ko-KR" altLang="en-US"/>
          </a:p>
        </p:txBody>
      </p:sp>
      <p:sp>
        <p:nvSpPr>
          <p:cNvPr id="5" name="날짜 개체 틀 4">
            <a:extLst>
              <a:ext uri="{FF2B5EF4-FFF2-40B4-BE49-F238E27FC236}">
                <a16:creationId xmlns:a16="http://schemas.microsoft.com/office/drawing/2014/main" id="{362591C1-FD2E-4536-BBA9-C96220887DA7}"/>
              </a:ext>
            </a:extLst>
          </p:cNvPr>
          <p:cNvSpPr>
            <a:spLocks noGrp="1"/>
          </p:cNvSpPr>
          <p:nvPr>
            <p:ph type="dt" sz="half" idx="2"/>
          </p:nvPr>
        </p:nvSpPr>
        <p:spPr/>
        <p:txBody>
          <a:bodyPr/>
          <a:lstStyle/>
          <a:p>
            <a:fld id="{ACE8CD8D-67D3-4251-B7D9-12E9DB56539A}" type="datetime1">
              <a:rPr lang="ko-KR" altLang="en-US" smtClean="0"/>
              <a:pPr/>
              <a:t>2022-06-23</a:t>
            </a:fld>
            <a:endParaRPr lang="ko-KR" altLang="en-US" dirty="0"/>
          </a:p>
        </p:txBody>
      </p:sp>
    </p:spTree>
    <p:extLst>
      <p:ext uri="{BB962C8B-B14F-4D97-AF65-F5344CB8AC3E}">
        <p14:creationId xmlns:p14="http://schemas.microsoft.com/office/powerpoint/2010/main" val="103115781"/>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21160</TotalTime>
  <Words>3753</Words>
  <Application>Microsoft Office PowerPoint</Application>
  <PresentationFormat>화면 슬라이드 쇼(4:3)</PresentationFormat>
  <Paragraphs>288</Paragraphs>
  <Slides>26</Slides>
  <Notes>23</Notes>
  <HiddenSlides>0</HiddenSlides>
  <MMClips>0</MMClips>
  <ScaleCrop>false</ScaleCrop>
  <HeadingPairs>
    <vt:vector size="8" baseType="variant">
      <vt:variant>
        <vt:lpstr>사용한 글꼴</vt:lpstr>
      </vt:variant>
      <vt:variant>
        <vt:i4>10</vt:i4>
      </vt:variant>
      <vt:variant>
        <vt:lpstr>테마</vt:lpstr>
      </vt:variant>
      <vt:variant>
        <vt:i4>1</vt:i4>
      </vt:variant>
      <vt:variant>
        <vt:lpstr>포함된 OLE 서버</vt:lpstr>
      </vt:variant>
      <vt:variant>
        <vt:i4>1</vt:i4>
      </vt:variant>
      <vt:variant>
        <vt:lpstr>슬라이드 제목</vt:lpstr>
      </vt:variant>
      <vt:variant>
        <vt:i4>26</vt:i4>
      </vt:variant>
    </vt:vector>
  </HeadingPairs>
  <TitlesOfParts>
    <vt:vector size="38" baseType="lpstr">
      <vt:lpstr>08서울남산체 M</vt:lpstr>
      <vt:lpstr>나눔고딕 ExtraBold</vt:lpstr>
      <vt:lpstr>나눔고딕 Light</vt:lpstr>
      <vt:lpstr>맑은 고딕</vt:lpstr>
      <vt:lpstr>Arial</vt:lpstr>
      <vt:lpstr>Calibri</vt:lpstr>
      <vt:lpstr>Cambria Math</vt:lpstr>
      <vt:lpstr>Gill Sans MT</vt:lpstr>
      <vt:lpstr>Helvetica</vt:lpstr>
      <vt:lpstr>Wingdings</vt:lpstr>
      <vt:lpstr>Office 테마</vt:lpstr>
      <vt:lpstr>Equation</vt:lpstr>
      <vt:lpstr>Improving On-site Reservoir  Operation Policies by Robust and Adaptive Optimization Models</vt:lpstr>
      <vt:lpstr>PowerPoint 프레젠테이션</vt:lpstr>
      <vt:lpstr>PowerPoint 프레젠테이션</vt:lpstr>
      <vt:lpstr>C4. Coupling Hedging Rules with Optimization Models in Reservoir Operation</vt:lpstr>
      <vt:lpstr>C4. Coupling Hedging Rules with Optimization Models in Reservoir Operation</vt:lpstr>
      <vt:lpstr>C4. Coupling Hedging Rules with Optimization Models in Reservoir Operation</vt:lpstr>
      <vt:lpstr>C4. Coupling Hedging Rules with Optimization Models in Reservoir Operation</vt:lpstr>
      <vt:lpstr>C4. Coupling Hedging Rules with Optimization Models in Reservoir Operation</vt:lpstr>
      <vt:lpstr>C4. Coupling Hedging Rules with Optimization Models in Reservoir Operation</vt:lpstr>
      <vt:lpstr>C5. Reforming the Hedging Rules with Adaptive Operations  against Multi-year Droughts</vt:lpstr>
      <vt:lpstr>Methodology: Hedging Rules</vt:lpstr>
      <vt:lpstr>Methodology: Long Memory Time Series Generation</vt:lpstr>
      <vt:lpstr>Case Study: Boryeong Multipurpose Reservoir</vt:lpstr>
      <vt:lpstr>Case Study: Boryeong Multipurpose Reservoir</vt:lpstr>
      <vt:lpstr>Application: SQ Rule Generation Algorithm</vt:lpstr>
      <vt:lpstr>Results: Synthetic Inflow Generation</vt:lpstr>
      <vt:lpstr>Results: SQ Rule Formulations</vt:lpstr>
      <vt:lpstr>Results:  Adaptive RO with Alternative Rules</vt:lpstr>
      <vt:lpstr>Results:  Adaptive RO with Alternative Rules</vt:lpstr>
      <vt:lpstr>Summary &amp; Conclusion</vt:lpstr>
      <vt:lpstr>C6. Improving the Robustness of Reservoir Operations with Stochastic Dynamic Programming</vt:lpstr>
      <vt:lpstr>C6. Improving the Robustness of Reservoir Operations with Stochastic Dynamic Programming</vt:lpstr>
      <vt:lpstr>C6. Improving the Robustness of Reservoir Operations with Stochastic Dynamic Programming</vt:lpstr>
      <vt:lpstr>Ongoing Research Topics</vt:lpstr>
      <vt:lpstr>Ongoing Research Topics (Co-work)</vt:lpstr>
      <vt:lpstr>For more,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Kim Gi Joo</dc:creator>
  <cp:lastModifiedBy> </cp:lastModifiedBy>
  <cp:revision>729</cp:revision>
  <cp:lastPrinted>2021-05-27T04:28:47Z</cp:lastPrinted>
  <dcterms:created xsi:type="dcterms:W3CDTF">2020-01-02T02:18:47Z</dcterms:created>
  <dcterms:modified xsi:type="dcterms:W3CDTF">2022-06-23T02:09:20Z</dcterms:modified>
</cp:coreProperties>
</file>