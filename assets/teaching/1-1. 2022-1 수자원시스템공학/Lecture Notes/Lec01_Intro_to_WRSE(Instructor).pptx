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694" r:id="rId3"/>
    <p:sldId id="701" r:id="rId4"/>
    <p:sldId id="703" r:id="rId5"/>
    <p:sldId id="696" r:id="rId6"/>
    <p:sldId id="702" r:id="rId7"/>
    <p:sldId id="692" r:id="rId8"/>
    <p:sldId id="695" r:id="rId9"/>
    <p:sldId id="713" r:id="rId10"/>
    <p:sldId id="707" r:id="rId11"/>
    <p:sldId id="708" r:id="rId12"/>
    <p:sldId id="709" r:id="rId13"/>
    <p:sldId id="710" r:id="rId14"/>
    <p:sldId id="711" r:id="rId15"/>
    <p:sldId id="712" r:id="rId16"/>
    <p:sldId id="721" r:id="rId17"/>
    <p:sldId id="699" r:id="rId18"/>
    <p:sldId id="718" r:id="rId19"/>
    <p:sldId id="719" r:id="rId20"/>
    <p:sldId id="720" r:id="rId21"/>
    <p:sldId id="700" r:id="rId22"/>
    <p:sldId id="698" r:id="rId23"/>
    <p:sldId id="714" r:id="rId24"/>
    <p:sldId id="716" r:id="rId25"/>
    <p:sldId id="717" r:id="rId26"/>
  </p:sldIdLst>
  <p:sldSz cx="9144000" cy="6858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7CC"/>
    <a:srgbClr val="F60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23" autoAdjust="0"/>
    <p:restoredTop sz="95710" autoAdjust="0"/>
  </p:normalViewPr>
  <p:slideViewPr>
    <p:cSldViewPr>
      <p:cViewPr varScale="1">
        <p:scale>
          <a:sx n="111" d="100"/>
          <a:sy n="111" d="100"/>
        </p:scale>
        <p:origin x="138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0" cy="495029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5029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E1DBA18E-019D-4DB5-9C84-C80C9EC0EDE4}" type="datetimeFigureOut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63" tIns="45382" rIns="90763" bIns="4538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0763" tIns="45382" rIns="90763" bIns="4538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3B93C0B1-E0F9-447B-AFB5-BCC5935C2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9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https://snu-ac-kr.zoom.us/j/84027051484?pwd=aU5OZitOKzUyRW9DQ0s0TkpIMSs4UT09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3C0B1-E0F9-447B-AFB5-BCC5935C28C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69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03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94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7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4DF68E14-CAEA-49EF-A996-488ADFD1D606}" type="datetime1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54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82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99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A647E19-6206-463B-9AE9-66BE4F630FC0}" type="datetime1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3339795-4603-4C4B-B582-9870510C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27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3CDF756-7DF6-4EF7-9AE5-1CDBCC6807D0}" type="datetime1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83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0E00B1B8-02ED-4B71-B2A9-756D11FCE97A}" type="datetime1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38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F8842333-966D-4877-82E2-6DF5FF1AA6FD}" type="datetime1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1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C882E481-74EE-447E-B10C-224EAA33899A}" type="datetime1">
              <a:rPr lang="ko-KR" altLang="en-US" smtClean="0"/>
              <a:t>2022-03-07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E5D0810-B190-47E1-A347-C4E62ABB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6695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5502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79822AFB-C284-4A8E-A6EE-41BAA9C576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804248" y="6250409"/>
            <a:ext cx="1711102" cy="57699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0298C54-76D9-4D1A-B6B3-194E1AE53373}"/>
              </a:ext>
            </a:extLst>
          </p:cNvPr>
          <p:cNvSpPr txBox="1">
            <a:spLocks/>
          </p:cNvSpPr>
          <p:nvPr userDrawn="1"/>
        </p:nvSpPr>
        <p:spPr>
          <a:xfrm>
            <a:off x="628650" y="6356347"/>
            <a:ext cx="27192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Water Resources Systems Engineering</a:t>
            </a:r>
          </a:p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Spring 2022, Dr. Gi Joo Kim</a:t>
            </a:r>
            <a:endParaRPr lang="ko-KR" altLang="en-US" dirty="0">
              <a:latin typeface="Gill Sans MT" panose="020B050202010402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ctionary.com/browse/sinful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hyperlink" Target="https://www.dictionary.com/browse/iniquitous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camp.com/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348880"/>
            <a:ext cx="7772400" cy="720080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Lecture</a:t>
            </a:r>
            <a:r>
              <a:rPr lang="ko-KR" altLang="en-US" sz="4000" dirty="0"/>
              <a:t> </a:t>
            </a:r>
            <a:r>
              <a:rPr lang="en-US" altLang="ko-KR" sz="4000" dirty="0"/>
              <a:t>01</a:t>
            </a:r>
            <a:endParaRPr lang="ko-KR" altLang="en-US" dirty="0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035128"/>
              </p:ext>
            </p:extLst>
          </p:nvPr>
        </p:nvGraphicFramePr>
        <p:xfrm>
          <a:off x="6146800" y="3352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9520F9-6515-4E4B-A8F6-4A7B0AA7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50591F5-0612-4BF1-AA16-517BECFA19B6}"/>
              </a:ext>
            </a:extLst>
          </p:cNvPr>
          <p:cNvSpPr txBox="1">
            <a:spLocks/>
          </p:cNvSpPr>
          <p:nvPr/>
        </p:nvSpPr>
        <p:spPr>
          <a:xfrm>
            <a:off x="685800" y="3087442"/>
            <a:ext cx="7772400" cy="1171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3600" dirty="0"/>
              <a:t>Introduction to Water Resources Systems Engineering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309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86321C-1EF0-441A-B6C2-CC93F57FF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Course Overview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C7CF82-3060-4574-BAF8-ED9639DDA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400600"/>
          </a:xfrm>
        </p:spPr>
        <p:txBody>
          <a:bodyPr>
            <a:normAutofit/>
          </a:bodyPr>
          <a:lstStyle/>
          <a:p>
            <a:r>
              <a:rPr lang="en-US" altLang="ko-KR" b="1" i="1" dirty="0"/>
              <a:t> </a:t>
            </a:r>
            <a:r>
              <a:rPr lang="en-US" altLang="ko-KR" b="1" dirty="0"/>
              <a:t>Water Resources Systems Engineering (</a:t>
            </a:r>
            <a:r>
              <a:rPr lang="ko-KR" altLang="en-US" b="1" dirty="0"/>
              <a:t>수자원시스템공학</a:t>
            </a:r>
            <a:r>
              <a:rPr lang="en-US" altLang="ko-KR" b="1" dirty="0"/>
              <a:t>)</a:t>
            </a:r>
          </a:p>
          <a:p>
            <a:pPr lvl="1"/>
            <a:r>
              <a:rPr lang="en-US" altLang="ko-KR" b="1" i="1" dirty="0"/>
              <a:t>  </a:t>
            </a:r>
            <a:r>
              <a:rPr lang="ko-KR" altLang="en-US" b="1" dirty="0"/>
              <a:t>강의 목표</a:t>
            </a:r>
            <a:r>
              <a:rPr lang="en-US" altLang="ko-KR" dirty="0"/>
              <a:t>: </a:t>
            </a:r>
            <a:r>
              <a:rPr lang="ko-KR" altLang="en-US" dirty="0"/>
              <a:t>다양한 수자원시스템에 대해서 현실적인 조건을 만족하는 </a:t>
            </a:r>
            <a:br>
              <a:rPr lang="en-US" altLang="ko-KR" dirty="0"/>
            </a:br>
            <a:r>
              <a:rPr lang="ko-KR" altLang="en-US" dirty="0"/>
              <a:t>최적의 정의를 세우고</a:t>
            </a:r>
            <a:r>
              <a:rPr lang="en-US" altLang="ko-KR" dirty="0"/>
              <a:t>, </a:t>
            </a:r>
            <a:r>
              <a:rPr lang="ko-KR" altLang="en-US" dirty="0"/>
              <a:t>그 정의에 따른 최적의 해를 구할 수 있다</a:t>
            </a:r>
            <a:r>
              <a:rPr lang="en-US" altLang="ko-KR" dirty="0"/>
              <a:t>. </a:t>
            </a:r>
          </a:p>
          <a:p>
            <a:pPr lvl="2"/>
            <a:r>
              <a:rPr lang="en-US" altLang="ko-KR" dirty="0"/>
              <a:t>LP, DP, evolutionary optimization model </a:t>
            </a:r>
            <a:r>
              <a:rPr lang="ko-KR" altLang="en-US" dirty="0"/>
              <a:t>등의 여러 가지 최적화 모형의 개념에 대해 이해하고</a:t>
            </a:r>
            <a:r>
              <a:rPr lang="en-US" altLang="ko-KR" dirty="0"/>
              <a:t>, </a:t>
            </a:r>
            <a:r>
              <a:rPr lang="ko-KR" altLang="en-US" dirty="0"/>
              <a:t>이를 실제 문제에 </a:t>
            </a:r>
            <a:r>
              <a:rPr lang="ko-KR" altLang="en-US" u="sng" dirty="0"/>
              <a:t>적용</a:t>
            </a:r>
            <a:r>
              <a:rPr lang="ko-KR" altLang="en-US" dirty="0"/>
              <a:t>할 수 있다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확률론적 모형 </a:t>
            </a:r>
            <a:r>
              <a:rPr lang="en-US" altLang="ko-KR" dirty="0"/>
              <a:t>(stochastic models)</a:t>
            </a:r>
            <a:r>
              <a:rPr lang="ko-KR" altLang="en-US" dirty="0"/>
              <a:t>에 대해 이해하고</a:t>
            </a:r>
            <a:r>
              <a:rPr lang="en-US" altLang="ko-KR" dirty="0"/>
              <a:t> </a:t>
            </a:r>
            <a:r>
              <a:rPr lang="ko-KR" altLang="en-US" u="sng" dirty="0"/>
              <a:t>적용</a:t>
            </a:r>
            <a:r>
              <a:rPr lang="ko-KR" altLang="en-US" dirty="0"/>
              <a:t>할 수 있다</a:t>
            </a:r>
            <a:r>
              <a:rPr lang="en-US" altLang="ko-KR" dirty="0"/>
              <a:t>. </a:t>
            </a:r>
          </a:p>
          <a:p>
            <a:pPr lvl="2"/>
            <a:r>
              <a:rPr lang="ko-KR" altLang="en-US" dirty="0"/>
              <a:t>다양한 평가 지표 </a:t>
            </a:r>
            <a:r>
              <a:rPr lang="en-US" altLang="ko-KR" dirty="0"/>
              <a:t>(performance criteria)</a:t>
            </a:r>
            <a:r>
              <a:rPr lang="ko-KR" altLang="en-US" dirty="0"/>
              <a:t>의 특성에 대해 이해하고 이를 </a:t>
            </a:r>
            <a:r>
              <a:rPr lang="ko-KR" altLang="en-US" u="sng" dirty="0"/>
              <a:t>적용</a:t>
            </a:r>
            <a:r>
              <a:rPr lang="ko-KR" altLang="en-US" dirty="0"/>
              <a:t>할 수 있다</a:t>
            </a:r>
            <a:r>
              <a:rPr lang="en-US" altLang="ko-KR" dirty="0"/>
              <a:t>. (</a:t>
            </a:r>
            <a:r>
              <a:rPr lang="ko-KR" altLang="en-US" u="sng" dirty="0"/>
              <a:t>모든 적용은 컴퓨터 언어를 통해 적용</a:t>
            </a:r>
            <a:r>
              <a:rPr lang="en-US" altLang="ko-KR" u="sng" dirty="0"/>
              <a:t>,</a:t>
            </a:r>
            <a:r>
              <a:rPr lang="en-US" altLang="ko-KR" u="sng" dirty="0">
                <a:solidFill>
                  <a:srgbClr val="FF0000"/>
                </a:solidFill>
              </a:rPr>
              <a:t> </a:t>
            </a:r>
            <a:r>
              <a:rPr lang="en-US" altLang="ko-KR" b="1" u="sng" dirty="0">
                <a:solidFill>
                  <a:srgbClr val="FF0000"/>
                </a:solidFill>
              </a:rPr>
              <a:t>NOT</a:t>
            </a:r>
            <a:r>
              <a:rPr lang="en-US" altLang="ko-KR" u="sng" dirty="0"/>
              <a:t> Microsoft Excel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b="1" dirty="0"/>
              <a:t>강의 키워드</a:t>
            </a:r>
            <a:r>
              <a:rPr lang="ko-KR" altLang="en-US" dirty="0"/>
              <a:t> </a:t>
            </a:r>
            <a:r>
              <a:rPr lang="en-US" altLang="ko-KR" dirty="0"/>
              <a:t>(Keywords of</a:t>
            </a:r>
            <a:r>
              <a:rPr lang="ko-KR" altLang="en-US" dirty="0"/>
              <a:t> </a:t>
            </a:r>
            <a:r>
              <a:rPr lang="en-US" altLang="ko-KR" dirty="0"/>
              <a:t>the</a:t>
            </a:r>
            <a:r>
              <a:rPr lang="ko-KR" altLang="en-US" dirty="0"/>
              <a:t> </a:t>
            </a:r>
            <a:r>
              <a:rPr lang="en-US" altLang="ko-KR" dirty="0"/>
              <a:t>course)</a:t>
            </a:r>
          </a:p>
          <a:p>
            <a:pPr lvl="2"/>
            <a:r>
              <a:rPr lang="en-US" altLang="ko-KR" dirty="0"/>
              <a:t>Part I (week 1-5): system, modeling, traditional optimization models </a:t>
            </a:r>
          </a:p>
          <a:p>
            <a:pPr lvl="2"/>
            <a:r>
              <a:rPr lang="en-US" altLang="ko-KR" dirty="0"/>
              <a:t>Part II (week 6-10): evolutionary models, probability, stochastic, uncertainty</a:t>
            </a:r>
          </a:p>
          <a:p>
            <a:pPr lvl="2"/>
            <a:r>
              <a:rPr lang="en-US" altLang="ko-KR" dirty="0"/>
              <a:t>Part III (week 12-14): performance criteria, real-world examples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6250FC-3434-41AD-BEDE-BFE34FBB2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76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A02FC9-B734-4932-9206-148175A99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Primary Textbook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460DFB-3EC8-4B28-AF12-D8B12D9E9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Loucks, D. P. &amp; Van </a:t>
            </a:r>
            <a:r>
              <a:rPr lang="en-US" altLang="ko-KR" dirty="0" err="1"/>
              <a:t>Beek</a:t>
            </a:r>
            <a:r>
              <a:rPr lang="en-US" altLang="ko-KR" dirty="0"/>
              <a:t>, E. (2017). </a:t>
            </a:r>
            <a:r>
              <a:rPr lang="en-US" altLang="ko-KR" b="1" dirty="0"/>
              <a:t>Water Resource Systems Planning and Management: An Introduction to Methods, Models, and Applications</a:t>
            </a:r>
            <a:r>
              <a:rPr lang="en-US" altLang="ko-KR" dirty="0"/>
              <a:t>. Springer.</a:t>
            </a:r>
          </a:p>
          <a:p>
            <a:pPr lvl="1"/>
            <a:r>
              <a:rPr lang="en-US" altLang="ko-KR" dirty="0"/>
              <a:t> https://ecommons.cornell.edu/handle/1813/48159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LOOK FOR THE </a:t>
            </a:r>
            <a:r>
              <a:rPr lang="en-US" altLang="ko-KR" b="1" u="sng" dirty="0">
                <a:solidFill>
                  <a:srgbClr val="FF0000"/>
                </a:solidFill>
              </a:rPr>
              <a:t>2017 EDITION</a:t>
            </a:r>
            <a:r>
              <a:rPr lang="en-US" altLang="ko-KR" b="1" dirty="0">
                <a:solidFill>
                  <a:srgbClr val="FF0000"/>
                </a:solidFill>
              </a:rPr>
              <a:t>, NOT 2005 EDITION 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E5F20F-A69A-4B3D-86B3-A61D98A1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83729B8-1BDA-4B02-9DDE-C57B3711C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3457870"/>
            <a:ext cx="2155139" cy="306896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349DC0B-3BEC-4B3B-8AA8-9441DD8FC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505" y="3429000"/>
            <a:ext cx="2172125" cy="30978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39059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45871A-4973-4893-92BA-0F28A53FA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C82204-05EC-492D-A4A9-CF550B187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519" y="486501"/>
            <a:ext cx="4109831" cy="327099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9CA9F9C-11BC-4285-A635-9C63F1991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150" y="3760630"/>
            <a:ext cx="4092666" cy="2601430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15A94649-114B-468E-B16F-F1A91A7B7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35681"/>
          </a:xfrm>
        </p:spPr>
        <p:txBody>
          <a:bodyPr>
            <a:normAutofit/>
          </a:bodyPr>
          <a:lstStyle/>
          <a:p>
            <a:r>
              <a:rPr lang="en-US" altLang="ko-KR" dirty="0"/>
              <a:t>Course</a:t>
            </a:r>
            <a:r>
              <a:rPr lang="ko-KR" altLang="en-US" dirty="0"/>
              <a:t> </a:t>
            </a:r>
            <a:r>
              <a:rPr lang="en-US" altLang="ko-KR" dirty="0"/>
              <a:t>Schedule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(Spring 2022)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8706091-C4B7-4D6B-A448-58224B025BEB}"/>
              </a:ext>
            </a:extLst>
          </p:cNvPr>
          <p:cNvSpPr/>
          <p:nvPr/>
        </p:nvSpPr>
        <p:spPr>
          <a:xfrm>
            <a:off x="4383052" y="3392370"/>
            <a:ext cx="4154763" cy="3651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437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26A823-D6BC-498A-8D6B-5FDDC1A0C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Before Lecture 01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3364FC-3A56-4357-885D-C97CDDE3A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en-US" altLang="ko-KR" b="1" u="sng" dirty="0"/>
              <a:t>Acronyms (</a:t>
            </a:r>
            <a:r>
              <a:rPr lang="ko-KR" altLang="en-US" b="1" u="sng" dirty="0"/>
              <a:t>약어</a:t>
            </a:r>
            <a:r>
              <a:rPr lang="en-US" altLang="ko-KR" b="1" u="sng" dirty="0"/>
              <a:t>)/ Keywords</a:t>
            </a:r>
            <a:r>
              <a:rPr lang="en-US" altLang="ko-KR" dirty="0"/>
              <a:t> in Lecture 01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WRSA</a:t>
            </a:r>
            <a:r>
              <a:rPr lang="en-US" altLang="ko-KR" dirty="0"/>
              <a:t>: Water Resources Systems Analysis (</a:t>
            </a:r>
            <a:r>
              <a:rPr lang="ko-KR" altLang="en-US" dirty="0"/>
              <a:t>수자원시스템 분석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WRSE</a:t>
            </a:r>
            <a:r>
              <a:rPr lang="en-US" altLang="ko-KR" dirty="0"/>
              <a:t>: Water Resources Systems Engineering (</a:t>
            </a:r>
            <a:r>
              <a:rPr lang="ko-KR" altLang="en-US" dirty="0"/>
              <a:t>수자원시스템 공학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IWRM</a:t>
            </a:r>
            <a:r>
              <a:rPr lang="en-US" altLang="ko-KR" dirty="0"/>
              <a:t>: Integrated Water Resources Management (</a:t>
            </a:r>
            <a:r>
              <a:rPr lang="ko-KR" altLang="en-US" dirty="0" err="1"/>
              <a:t>통합물관리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“</a:t>
            </a:r>
            <a:r>
              <a:rPr lang="ko-KR" altLang="en-US" dirty="0"/>
              <a:t>권역 내 물관리에 영향을 미치는 모든 것을 고려하여</a:t>
            </a:r>
            <a:r>
              <a:rPr lang="en-US" altLang="ko-KR" dirty="0"/>
              <a:t>, </a:t>
            </a:r>
            <a:r>
              <a:rPr lang="ko-KR" altLang="en-US" dirty="0"/>
              <a:t>개별적으로 관리하던 수량</a:t>
            </a:r>
            <a:r>
              <a:rPr lang="en-US" altLang="ko-KR" dirty="0"/>
              <a:t>·</a:t>
            </a:r>
            <a:r>
              <a:rPr lang="ko-KR" altLang="en-US" dirty="0"/>
              <a:t>수질</a:t>
            </a:r>
            <a:r>
              <a:rPr lang="en-US" altLang="ko-KR" dirty="0"/>
              <a:t>·</a:t>
            </a:r>
            <a:r>
              <a:rPr lang="ko-KR" altLang="en-US" dirty="0" err="1"/>
              <a:t>수생태</a:t>
            </a:r>
            <a:r>
              <a:rPr lang="en-US" altLang="ko-KR" dirty="0"/>
              <a:t>·</a:t>
            </a:r>
            <a:r>
              <a:rPr lang="ko-KR" altLang="en-US" dirty="0"/>
              <a:t>환경 등을 통합적이고 지능적으로 관리하는 것</a:t>
            </a:r>
            <a:r>
              <a:rPr lang="en-US" altLang="ko-KR" dirty="0"/>
              <a:t>”</a:t>
            </a:r>
          </a:p>
          <a:p>
            <a:pPr lvl="1"/>
            <a:r>
              <a:rPr lang="en-US" altLang="ko-KR" b="1" dirty="0"/>
              <a:t> SDGs</a:t>
            </a:r>
            <a:r>
              <a:rPr lang="en-US" altLang="ko-KR" dirty="0"/>
              <a:t>: Sustainable Development Goals (</a:t>
            </a:r>
            <a:r>
              <a:rPr lang="ko-KR" altLang="en-US" dirty="0"/>
              <a:t>지속가능발전목표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2015</a:t>
            </a:r>
            <a:r>
              <a:rPr lang="ko-KR" altLang="en-US" dirty="0"/>
              <a:t>년 </a:t>
            </a:r>
            <a:r>
              <a:rPr lang="en-US" altLang="ko-KR" dirty="0"/>
              <a:t>UN</a:t>
            </a:r>
            <a:r>
              <a:rPr lang="ko-KR" altLang="en-US" dirty="0"/>
              <a:t>에서 채택된 전세계의 빈곤 문제를 해결하고 지속가능발전을 실현하기 위해 </a:t>
            </a:r>
            <a:r>
              <a:rPr lang="en-US" altLang="ko-KR" dirty="0"/>
              <a:t>2030</a:t>
            </a:r>
            <a:r>
              <a:rPr lang="ko-KR" altLang="en-US" dirty="0"/>
              <a:t>년까지 국제사회가 달성해야 할 목표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D4216A-35DD-451B-AFA4-DE4E7B770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8D3B87-6588-4F24-A9AC-DEF24B97D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4624348"/>
            <a:ext cx="3901719" cy="2095803"/>
          </a:xfrm>
          <a:prstGeom prst="rect">
            <a:avLst/>
          </a:prstGeom>
        </p:spPr>
      </p:pic>
      <p:pic>
        <p:nvPicPr>
          <p:cNvPr id="3076" name="Picture 4" descr="http://www.hopetofuture.org/bbs/Pds/Board/glec_pds/Editor/english_SDG_17goals_poster_all_languages_with_UN_emblem_1.png">
            <a:extLst>
              <a:ext uri="{FF2B5EF4-FFF2-40B4-BE49-F238E27FC236}">
                <a16:creationId xmlns:a16="http://schemas.microsoft.com/office/drawing/2014/main" id="{21BF68EF-5451-4659-B05C-2E7584C81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07" y="4624348"/>
            <a:ext cx="3422557" cy="2120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493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349195-8F23-4AE1-A788-BC2BA4AB0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Overview of WRSA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547820-FC79-4CF6-9248-3F2C5F85B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4908203"/>
          </a:xfrm>
        </p:spPr>
        <p:txBody>
          <a:bodyPr/>
          <a:lstStyle/>
          <a:p>
            <a:r>
              <a:rPr lang="en-US" altLang="ko-KR" dirty="0"/>
              <a:t> Problem Statement: </a:t>
            </a:r>
            <a:r>
              <a:rPr lang="en-US" altLang="ko-KR" b="1" u="sng" dirty="0"/>
              <a:t>Too much, Too little, or Too dirty WATER</a:t>
            </a:r>
          </a:p>
          <a:p>
            <a:endParaRPr lang="en-US" altLang="ko-KR" sz="1600" dirty="0"/>
          </a:p>
          <a:p>
            <a:r>
              <a:rPr lang="en-US" altLang="ko-KR" dirty="0"/>
              <a:t> Few Factors Accelerating Dramatic Changes in WRSA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Anthropogenic causes (</a:t>
            </a:r>
            <a:r>
              <a:rPr lang="ko-KR" altLang="en-US" b="1" dirty="0"/>
              <a:t>인위적인 원인</a:t>
            </a:r>
            <a:r>
              <a:rPr lang="en-US" altLang="ko-KR" b="1" dirty="0"/>
              <a:t>)</a:t>
            </a:r>
          </a:p>
          <a:p>
            <a:pPr lvl="2"/>
            <a:r>
              <a:rPr lang="en-US" altLang="ko-KR" dirty="0"/>
              <a:t>Industrialization, human activities </a:t>
            </a:r>
            <a:br>
              <a:rPr lang="en-US" altLang="ko-KR" dirty="0"/>
            </a:br>
            <a:r>
              <a:rPr lang="en-US" altLang="ko-KR" dirty="0"/>
              <a:t>affecting droughts, floods, and </a:t>
            </a:r>
            <a:br>
              <a:rPr lang="en-US" altLang="ko-KR" dirty="0"/>
            </a:br>
            <a:r>
              <a:rPr lang="en-US" altLang="ko-KR" dirty="0"/>
              <a:t>extreme pollutions in freshwater</a:t>
            </a:r>
          </a:p>
          <a:p>
            <a:pPr lvl="1"/>
            <a:r>
              <a:rPr lang="en-US" altLang="ko-KR" b="1" dirty="0"/>
              <a:t> (Natural) Hydro-climatic variabilities </a:t>
            </a:r>
            <a:br>
              <a:rPr lang="en-US" altLang="ko-KR" b="1" dirty="0"/>
            </a:br>
            <a:r>
              <a:rPr lang="en-US" altLang="ko-KR" b="1" dirty="0"/>
              <a:t>(</a:t>
            </a:r>
            <a:r>
              <a:rPr lang="ko-KR" altLang="en-US" b="1" dirty="0"/>
              <a:t>자연적인 원인</a:t>
            </a:r>
            <a:r>
              <a:rPr lang="en-US" altLang="ko-KR" b="1" dirty="0"/>
              <a:t>)</a:t>
            </a:r>
          </a:p>
          <a:p>
            <a:pPr lvl="2"/>
            <a:r>
              <a:rPr lang="en-US" altLang="ko-KR" dirty="0"/>
              <a:t>Unexpected outbreaks of </a:t>
            </a:r>
            <a:br>
              <a:rPr lang="en-US" altLang="ko-KR" dirty="0"/>
            </a:br>
            <a:r>
              <a:rPr lang="en-US" altLang="ko-KR" dirty="0"/>
              <a:t>floods &amp; droughts from</a:t>
            </a:r>
            <a:br>
              <a:rPr lang="en-US" altLang="ko-KR" dirty="0"/>
            </a:br>
            <a:r>
              <a:rPr lang="en-US" altLang="ko-KR" dirty="0"/>
              <a:t>NATURAL variabilities</a:t>
            </a:r>
          </a:p>
          <a:p>
            <a:pPr lvl="2"/>
            <a:r>
              <a:rPr lang="ko-KR" altLang="en-US" dirty="0"/>
              <a:t>그러나</a:t>
            </a:r>
            <a:r>
              <a:rPr lang="en-US" altLang="ko-KR" dirty="0"/>
              <a:t>, </a:t>
            </a:r>
            <a:r>
              <a:rPr lang="ko-KR" altLang="en-US" dirty="0"/>
              <a:t>인위적 원인과 구분이 어려움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BC09A6-229B-4C0D-A7D6-2BB72C640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6" name="Picture 2" descr="https://www.climatecommunication.org/wp-content/uploads/2012/06/Fig5_s1.jpg">
            <a:extLst>
              <a:ext uri="{FF2B5EF4-FFF2-40B4-BE49-F238E27FC236}">
                <a16:creationId xmlns:a16="http://schemas.microsoft.com/office/drawing/2014/main" id="{70AA5535-3B67-4F1B-A23E-DADA122023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4" r="19288"/>
          <a:stretch/>
        </p:blipFill>
        <p:spPr bwMode="auto">
          <a:xfrm>
            <a:off x="5652120" y="2815167"/>
            <a:ext cx="3095522" cy="3722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03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CDA7C6A-9374-4B66-ACE9-CE863A10C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356" y="3882356"/>
            <a:ext cx="3402308" cy="236045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1094EAD-F0E8-429F-B36C-1F90A71A3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Water Resources Systems Analysis (WRSA)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4DB830-6284-4113-8B8B-E4C214069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328592"/>
          </a:xfrm>
        </p:spPr>
        <p:txBody>
          <a:bodyPr/>
          <a:lstStyle/>
          <a:p>
            <a:r>
              <a:rPr lang="en-US" altLang="ko-KR" dirty="0"/>
              <a:t> Range of Water Resources Systems Problems</a:t>
            </a:r>
          </a:p>
          <a:p>
            <a:pPr lvl="1"/>
            <a:r>
              <a:rPr lang="en-US" altLang="ko-KR" dirty="0"/>
              <a:t> A water resources system is the whole made from connected </a:t>
            </a:r>
            <a:r>
              <a:rPr lang="en-US" altLang="ko-KR" b="1" i="1" u="sng" dirty="0"/>
              <a:t>hydrologic, infrastructure, ecologic, and human processes that involve water</a:t>
            </a:r>
            <a:r>
              <a:rPr lang="en-US" altLang="ko-KR" dirty="0"/>
              <a:t>. (Brown</a:t>
            </a:r>
            <a:r>
              <a:rPr lang="ko-KR" altLang="en-US" dirty="0"/>
              <a:t> </a:t>
            </a:r>
            <a:r>
              <a:rPr lang="en-US" altLang="ko-KR" dirty="0"/>
              <a:t>et</a:t>
            </a:r>
            <a:r>
              <a:rPr lang="ko-KR" altLang="en-US" dirty="0"/>
              <a:t> </a:t>
            </a:r>
            <a:r>
              <a:rPr lang="en-US" altLang="ko-KR" dirty="0"/>
              <a:t>al.</a:t>
            </a:r>
            <a:r>
              <a:rPr lang="ko-KR" altLang="en-US" dirty="0"/>
              <a:t> </a:t>
            </a:r>
            <a:r>
              <a:rPr lang="en-US" altLang="ko-KR" dirty="0"/>
              <a:t>2015)</a:t>
            </a:r>
          </a:p>
          <a:p>
            <a:pPr lvl="1"/>
            <a:r>
              <a:rPr lang="en-US" altLang="ko-KR" dirty="0"/>
              <a:t> Essence of WRSA: predicting hydrologic, socioeconomic, &amp; environmental consequences of water management</a:t>
            </a:r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5AEEA4-E5D5-47A9-9F5E-F188CB2E6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D347FC3-7519-4134-94AA-082B21CE1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692" y="3570017"/>
            <a:ext cx="3306180" cy="3192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27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Addressing the wicked problem of water resource management: an ...">
            <a:extLst>
              <a:ext uri="{FF2B5EF4-FFF2-40B4-BE49-F238E27FC236}">
                <a16:creationId xmlns:a16="http://schemas.microsoft.com/office/drawing/2014/main" id="{CDC4BD45-CC11-45C2-B16F-0A334FFA0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3794761"/>
            <a:ext cx="3900520" cy="2925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D406F62-7784-4753-9E67-5DB9A162E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WRSA- </a:t>
            </a:r>
            <a:r>
              <a:rPr lang="en-US" altLang="ko-KR" i="1" dirty="0"/>
              <a:t>“Wicked” </a:t>
            </a:r>
            <a:r>
              <a:rPr lang="en-US" altLang="ko-KR" dirty="0"/>
              <a:t>Problems?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7DFEFF-2B6D-49E2-8A2E-0130CDD3D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&lt;D&gt; Wicked: </a:t>
            </a:r>
            <a:r>
              <a:rPr lang="ko-KR" altLang="en-US" dirty="0"/>
              <a:t>못된</a:t>
            </a:r>
            <a:r>
              <a:rPr lang="en-US" altLang="ko-KR" dirty="0"/>
              <a:t>, </a:t>
            </a:r>
            <a:r>
              <a:rPr lang="ko-KR" altLang="en-US" dirty="0"/>
              <a:t>사악한</a:t>
            </a:r>
            <a:endParaRPr lang="en-US" altLang="ko-KR" dirty="0"/>
          </a:p>
          <a:p>
            <a:pPr lvl="1"/>
            <a:r>
              <a:rPr lang="en-US" altLang="ko-KR" dirty="0"/>
              <a:t> evil or morally bad in principle or practice; </a:t>
            </a:r>
            <a:r>
              <a:rPr lang="en-US" altLang="ko-KR" dirty="0">
                <a:hlinkClick r:id="rId3"/>
              </a:rPr>
              <a:t>sinful</a:t>
            </a:r>
            <a:r>
              <a:rPr lang="en-US" altLang="ko-KR" dirty="0"/>
              <a:t>; </a:t>
            </a:r>
            <a:r>
              <a:rPr lang="en-US" altLang="ko-KR" dirty="0">
                <a:hlinkClick r:id="rId4"/>
              </a:rPr>
              <a:t>iniquitous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 Water Management = </a:t>
            </a:r>
            <a:r>
              <a:rPr lang="en-US" altLang="ko-KR" b="1" i="1" u="sng" dirty="0"/>
              <a:t>Wicked</a:t>
            </a:r>
            <a:r>
              <a:rPr lang="en-US" altLang="ko-KR" dirty="0"/>
              <a:t> Problems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29E538-DFA4-47CF-B465-51CD7421E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A39017-9D9E-4009-A6D8-9D601DC92E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69" y="2636912"/>
            <a:ext cx="5103780" cy="276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13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3AEB5C-F6E6-41F9-9456-1DC943BDB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WRSA- </a:t>
            </a:r>
            <a:r>
              <a:rPr lang="en-US" altLang="ko-KR" i="1" dirty="0"/>
              <a:t>“Wicked” </a:t>
            </a:r>
            <a:r>
              <a:rPr lang="en-US" altLang="ko-KR" dirty="0"/>
              <a:t>Problems?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1FE7C6-7359-453B-9796-540AE3895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Why is water management a </a:t>
            </a:r>
            <a:r>
              <a:rPr lang="en-US" altLang="ko-KR" b="1" i="1" dirty="0">
                <a:solidFill>
                  <a:srgbClr val="FF0000"/>
                </a:solidFill>
              </a:rPr>
              <a:t>wicked</a:t>
            </a:r>
            <a:r>
              <a:rPr lang="en-US" altLang="ko-KR" dirty="0"/>
              <a:t> problem? </a:t>
            </a:r>
            <a:br>
              <a:rPr lang="en-US" altLang="ko-KR" dirty="0"/>
            </a:br>
            <a:r>
              <a:rPr lang="en-US" altLang="ko-KR" dirty="0"/>
              <a:t>(Reed &amp; </a:t>
            </a:r>
            <a:r>
              <a:rPr lang="en-US" altLang="ko-KR" dirty="0" err="1"/>
              <a:t>Kasprzyk</a:t>
            </a:r>
            <a:r>
              <a:rPr lang="en-US" altLang="ko-KR" dirty="0"/>
              <a:t>, 2009)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lack definitive formulations </a:t>
            </a:r>
            <a:br>
              <a:rPr lang="en-US" altLang="ko-KR" dirty="0"/>
            </a:br>
            <a:r>
              <a:rPr lang="en-US" altLang="ko-KR" dirty="0"/>
              <a:t>(the optimal utopia is different for everyone)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are not true or false </a:t>
            </a:r>
            <a:br>
              <a:rPr lang="en-US" altLang="ko-KR" dirty="0"/>
            </a:br>
            <a:r>
              <a:rPr lang="en-US" altLang="ko-KR" dirty="0"/>
              <a:t>(judgements can only be subjective not objective)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unique and </a:t>
            </a:r>
            <a:r>
              <a:rPr lang="en-US" altLang="ko-KR" dirty="0" err="1"/>
              <a:t>nondecomposable</a:t>
            </a:r>
            <a:endParaRPr lang="en-US" altLang="ko-KR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possess decisions that are often irreversible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yield a range of consequences that are highly uncertain if not completely unknown</a:t>
            </a:r>
          </a:p>
          <a:p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en-US" altLang="ko-KR" b="1" dirty="0">
                <a:solidFill>
                  <a:srgbClr val="FF0000"/>
                </a:solidFill>
              </a:rPr>
              <a:t> Future of WRSA?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617939-0750-4AF1-A940-D266B821C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8794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19C68-D02A-4115-94B1-841DA8AB9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Unsolved Problems in Hydrology-UPH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21F0313-443C-40D4-AEDA-E3C880576C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637" y="1124745"/>
            <a:ext cx="5050415" cy="490855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007A3C-1B80-4EA3-A201-0F1E6E43E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E48C6D4-0114-4771-8D52-6D17EBCB5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117" y="4350489"/>
            <a:ext cx="6491509" cy="2191688"/>
          </a:xfrm>
          <a:prstGeom prst="rect">
            <a:avLst/>
          </a:prstGeom>
        </p:spPr>
      </p:pic>
      <p:pic>
        <p:nvPicPr>
          <p:cNvPr id="4098" name="Picture 2" descr="Bloesch n13v x.jpg">
            <a:extLst>
              <a:ext uri="{FF2B5EF4-FFF2-40B4-BE49-F238E27FC236}">
                <a16:creationId xmlns:a16="http://schemas.microsoft.com/office/drawing/2014/main" id="{2D312EF7-086A-49BA-BC95-030F3E9E0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7052" y="1700808"/>
            <a:ext cx="1351903" cy="1548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0707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3C525A-D451-4ECA-8B85-3ADDDC15E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Unsolved Problems in Hydrology-UPH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905AE5-DD00-4A05-BAE3-63EC7CFAE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Background</a:t>
            </a:r>
          </a:p>
          <a:p>
            <a:pPr lvl="1"/>
            <a:r>
              <a:rPr lang="en-US" altLang="ko-KR" dirty="0"/>
              <a:t> David Hilbert’s 23 Problems in Mathematics (1900)</a:t>
            </a:r>
            <a:br>
              <a:rPr lang="en-US" altLang="ko-KR" dirty="0"/>
            </a:br>
            <a:r>
              <a:rPr lang="en-US" altLang="ko-KR" dirty="0"/>
              <a:t>=&gt; Evolved to Millennium problems (2000)</a:t>
            </a:r>
          </a:p>
          <a:p>
            <a:pPr lvl="1"/>
            <a:r>
              <a:rPr lang="en-US" altLang="ko-KR" sz="1400" i="1" dirty="0"/>
              <a:t>“Who among us would not be tempted to lift the veil behind which is hidden the future; to gaze at the coming developments of our science and at the secrets of its development in the centuries to come?”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4B91E5-4B73-4AC8-8F5B-E4135491E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3076" name="Picture 4" descr="Fermat&amp;#39;s Library 在Twitter 上：&amp;quot;19 years after the Clay Institute established  the list of the Millenium Prize Problems and offered 1 Million dollars each  for solutions here are the problems that remain">
            <a:extLst>
              <a:ext uri="{FF2B5EF4-FFF2-40B4-BE49-F238E27FC236}">
                <a16:creationId xmlns:a16="http://schemas.microsoft.com/office/drawing/2014/main" id="{8BEF181A-C1C7-49BB-B28C-89AF16AA7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336" y="3552805"/>
            <a:ext cx="5212071" cy="293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E8DDFF5-BC38-412D-B5BA-5ECB115C8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90" y="3933056"/>
            <a:ext cx="2647206" cy="18988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0528EAB-77CA-4DF2-929D-0B05E2E1E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9993" y="5166549"/>
            <a:ext cx="1312522" cy="160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199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0B1D6-DBE5-4642-8518-1381A1106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Unsolved Problems in Hydrology-UPH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942BFB-13B8-4647-B2E1-E2A3B8B41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Overall Approach (</a:t>
            </a:r>
            <a:r>
              <a:rPr lang="en-US" altLang="ko-KR" dirty="0" err="1"/>
              <a:t>Blöschl</a:t>
            </a:r>
            <a:r>
              <a:rPr lang="en-US" altLang="ko-KR" dirty="0"/>
              <a:t> et al. 2019) </a:t>
            </a:r>
          </a:p>
          <a:p>
            <a:pPr lvl="1"/>
            <a:r>
              <a:rPr lang="en-US" altLang="ko-KR" b="1" dirty="0"/>
              <a:t> “Why” </a:t>
            </a:r>
            <a:r>
              <a:rPr lang="en-US" altLang="ko-KR" dirty="0"/>
              <a:t>questions relating to phenomena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“What”</a:t>
            </a:r>
            <a:r>
              <a:rPr lang="en-US" altLang="ko-KR" dirty="0"/>
              <a:t> questions relating to processes or estimation</a:t>
            </a:r>
          </a:p>
          <a:p>
            <a:pPr lvl="1"/>
            <a:r>
              <a:rPr lang="en-US" altLang="ko-KR" b="1" dirty="0"/>
              <a:t> “How” </a:t>
            </a:r>
            <a:r>
              <a:rPr lang="en-US" altLang="ko-KR" dirty="0"/>
              <a:t>questions relating to methods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D00F46-8387-4EA0-A651-C0FF509A1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BE102D-E7F1-4A1A-ACF7-E0927DCD6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2977393"/>
            <a:ext cx="5400600" cy="337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67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01421-DC19-4667-B47F-413102BB5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Unsolved Problems in Hydrology-UPH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A17C4D-00B5-41C6-8577-F82E62485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The 23 unsolved problems in hydrology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D8C037-EF5B-4E1C-AA60-E08D8F571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C79829-0971-4F91-B2B6-66A0CE6A6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878609"/>
            <a:ext cx="3726456" cy="402840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BDEBA34-EE10-40CD-A071-1C2BEB68A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323" y="1878609"/>
            <a:ext cx="3384775" cy="414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036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4F4683-38B0-4562-8A1F-36C997E9C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Unsolved Problems in Hydrology-UPH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BD1A45-0610-4E3F-A0DA-A93048B0F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 Seven Topics of</a:t>
            </a:r>
            <a:r>
              <a:rPr lang="ko-KR" altLang="en-US" b="1" dirty="0"/>
              <a:t> </a:t>
            </a:r>
            <a:r>
              <a:rPr lang="en-US" altLang="ko-KR" b="1" dirty="0"/>
              <a:t>23</a:t>
            </a:r>
            <a:r>
              <a:rPr lang="ko-KR" altLang="en-US" b="1" dirty="0"/>
              <a:t> </a:t>
            </a:r>
            <a:r>
              <a:rPr lang="en-US" altLang="ko-KR" b="1" dirty="0"/>
              <a:t>UPHs</a:t>
            </a:r>
          </a:p>
          <a:p>
            <a:pPr lvl="1"/>
            <a:r>
              <a:rPr lang="en-US" altLang="ko-KR" b="1" dirty="0"/>
              <a:t> </a:t>
            </a:r>
            <a:r>
              <a:rPr lang="en-US" altLang="ko-KR" b="1" i="1" dirty="0"/>
              <a:t>Time variability and change (</a:t>
            </a:r>
            <a:r>
              <a:rPr lang="ko-KR" altLang="en-US" b="1" i="1" dirty="0"/>
              <a:t>시간 변동성과 변화</a:t>
            </a:r>
            <a:r>
              <a:rPr lang="en-US" altLang="ko-KR" b="1" i="1" dirty="0"/>
              <a:t>, #1-4)</a:t>
            </a:r>
          </a:p>
          <a:p>
            <a:pPr lvl="2"/>
            <a:r>
              <a:rPr lang="ko-KR" altLang="en-US" dirty="0"/>
              <a:t>주로</a:t>
            </a:r>
            <a:r>
              <a:rPr lang="en-US" altLang="ko-KR" dirty="0"/>
              <a:t>, </a:t>
            </a:r>
            <a:r>
              <a:rPr lang="ko-KR" altLang="en-US" dirty="0"/>
              <a:t>기후 변화로 인해 시간적으로 가속화</a:t>
            </a:r>
            <a:r>
              <a:rPr lang="en-US" altLang="ko-KR" dirty="0"/>
              <a:t>/</a:t>
            </a:r>
            <a:r>
              <a:rPr lang="ko-KR" altLang="en-US" dirty="0"/>
              <a:t>변화되는 물의 순환에 초점</a:t>
            </a:r>
            <a:endParaRPr lang="en-US" altLang="ko-KR" dirty="0"/>
          </a:p>
          <a:p>
            <a:pPr lvl="1"/>
            <a:r>
              <a:rPr lang="en-US" altLang="ko-KR" b="1" i="1" dirty="0"/>
              <a:t> Space variability and scaling (</a:t>
            </a:r>
            <a:r>
              <a:rPr lang="ko-KR" altLang="en-US" b="1" i="1" dirty="0"/>
              <a:t>공간 가변성 및 범위</a:t>
            </a:r>
            <a:r>
              <a:rPr lang="en-US" altLang="ko-KR" b="1" i="1" dirty="0"/>
              <a:t>, #5-8)</a:t>
            </a:r>
          </a:p>
          <a:p>
            <a:pPr lvl="2"/>
            <a:r>
              <a:rPr lang="ko-KR" altLang="en-US" dirty="0"/>
              <a:t>공간적 동질성</a:t>
            </a:r>
            <a:r>
              <a:rPr lang="en-US" altLang="ko-KR" dirty="0"/>
              <a:t>/</a:t>
            </a:r>
            <a:r>
              <a:rPr lang="ko-KR" altLang="en-US" dirty="0"/>
              <a:t>가변성</a:t>
            </a:r>
            <a:r>
              <a:rPr lang="en-US" altLang="ko-KR" dirty="0"/>
              <a:t>, </a:t>
            </a:r>
            <a:r>
              <a:rPr lang="ko-KR" altLang="en-US" dirty="0"/>
              <a:t>혹은 범위 설정에 따른 문제를 제기</a:t>
            </a:r>
            <a:endParaRPr lang="en-US" altLang="ko-KR" dirty="0"/>
          </a:p>
          <a:p>
            <a:pPr lvl="1"/>
            <a:r>
              <a:rPr lang="en-US" altLang="ko-KR" b="1" i="1" dirty="0"/>
              <a:t> Variability of extremes (</a:t>
            </a:r>
            <a:r>
              <a:rPr lang="ko-KR" altLang="en-US" b="1" i="1" dirty="0"/>
              <a:t>극단에서의 가변성</a:t>
            </a:r>
            <a:r>
              <a:rPr lang="en-US" altLang="ko-KR" b="1" i="1" dirty="0"/>
              <a:t>, #9-11)</a:t>
            </a:r>
          </a:p>
          <a:p>
            <a:pPr lvl="2"/>
            <a:r>
              <a:rPr lang="ko-KR" altLang="en-US" dirty="0"/>
              <a:t>시공간적 가변성이 아닌</a:t>
            </a:r>
            <a:r>
              <a:rPr lang="en-US" altLang="ko-KR" dirty="0"/>
              <a:t>, </a:t>
            </a:r>
            <a:r>
              <a:rPr lang="ko-KR" altLang="en-US" dirty="0" err="1"/>
              <a:t>극치값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홍수</a:t>
            </a:r>
            <a:r>
              <a:rPr lang="en-US" altLang="ko-KR" dirty="0"/>
              <a:t>/</a:t>
            </a:r>
            <a:r>
              <a:rPr lang="ko-KR" altLang="en-US" dirty="0"/>
              <a:t>가뭄</a:t>
            </a:r>
            <a:r>
              <a:rPr lang="en-US" altLang="ko-KR" dirty="0"/>
              <a:t>)</a:t>
            </a:r>
            <a:r>
              <a:rPr lang="ko-KR" altLang="en-US" dirty="0"/>
              <a:t>에서의 가변석에 초점</a:t>
            </a:r>
            <a:endParaRPr lang="en-US" altLang="ko-KR" dirty="0"/>
          </a:p>
          <a:p>
            <a:pPr lvl="2"/>
            <a:r>
              <a:rPr lang="ko-KR" altLang="en-US" dirty="0"/>
              <a:t>기후 변화</a:t>
            </a:r>
            <a:r>
              <a:rPr lang="en-US" altLang="ko-KR" dirty="0"/>
              <a:t>, </a:t>
            </a:r>
            <a:r>
              <a:rPr lang="ko-KR" altLang="en-US" dirty="0"/>
              <a:t>토지 사용</a:t>
            </a:r>
            <a:r>
              <a:rPr lang="en-US" altLang="ko-KR" dirty="0"/>
              <a:t> (land-cover/land-use)</a:t>
            </a:r>
            <a:r>
              <a:rPr lang="ko-KR" altLang="en-US" dirty="0"/>
              <a:t>으로 인해 극심해짐</a:t>
            </a:r>
            <a:endParaRPr lang="en-US" altLang="ko-KR" dirty="0"/>
          </a:p>
          <a:p>
            <a:pPr lvl="1"/>
            <a:r>
              <a:rPr lang="en-US" altLang="ko-KR" b="1" i="1" dirty="0"/>
              <a:t>Interfaces in hydrology (</a:t>
            </a:r>
            <a:r>
              <a:rPr lang="ko-KR" altLang="en-US" b="1" i="1" dirty="0"/>
              <a:t>수문학과의</a:t>
            </a:r>
            <a:r>
              <a:rPr lang="en-US" altLang="ko-KR" b="1" i="1" dirty="0"/>
              <a:t> </a:t>
            </a:r>
            <a:r>
              <a:rPr lang="ko-KR" altLang="en-US" b="1" i="1" dirty="0"/>
              <a:t>접점</a:t>
            </a:r>
            <a:r>
              <a:rPr lang="en-US" altLang="ko-KR" b="1" i="1" dirty="0"/>
              <a:t>, #12-15)</a:t>
            </a:r>
          </a:p>
          <a:p>
            <a:pPr lvl="2"/>
            <a:r>
              <a:rPr lang="ko-KR" altLang="en-US" dirty="0"/>
              <a:t>위의 주제에 대한 </a:t>
            </a:r>
            <a:r>
              <a:rPr lang="en-US" altLang="ko-KR" u="sng" dirty="0"/>
              <a:t>“black box”</a:t>
            </a:r>
            <a:r>
              <a:rPr lang="ko-KR" altLang="en-US" dirty="0"/>
              <a:t>를 깨는 것 </a:t>
            </a:r>
            <a:endParaRPr lang="en-US" altLang="ko-KR" dirty="0"/>
          </a:p>
          <a:p>
            <a:pPr lvl="2"/>
            <a:r>
              <a:rPr lang="ko-KR" altLang="en-US" dirty="0"/>
              <a:t>어떤 요소로 인해서 시공간</a:t>
            </a:r>
            <a:r>
              <a:rPr lang="en-US" altLang="ko-KR" dirty="0"/>
              <a:t> </a:t>
            </a:r>
            <a:r>
              <a:rPr lang="ko-KR" altLang="en-US" dirty="0"/>
              <a:t>혹은 극단에서의 예상하지 못했던 일이 발생하나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재해</a:t>
            </a:r>
            <a:r>
              <a:rPr lang="en-US" altLang="ko-KR" dirty="0"/>
              <a:t>/</a:t>
            </a:r>
            <a:r>
              <a:rPr lang="ko-KR" altLang="en-US" dirty="0"/>
              <a:t>예상하지 못했던 사상의 이유를 과학적으로 규명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B79C3A-E52E-418F-BE05-D34E76931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521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FE5B54-8E54-4231-947B-783EDA7D5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Unsolved Problems in Hydrology-UPH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39D97A-A568-4D29-8FF6-9CC6A5436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 Seven Topics of</a:t>
            </a:r>
            <a:r>
              <a:rPr lang="ko-KR" altLang="en-US" b="1" dirty="0"/>
              <a:t> </a:t>
            </a:r>
            <a:r>
              <a:rPr lang="en-US" altLang="ko-KR" b="1" dirty="0"/>
              <a:t>23</a:t>
            </a:r>
            <a:r>
              <a:rPr lang="ko-KR" altLang="en-US" b="1" dirty="0"/>
              <a:t> </a:t>
            </a:r>
            <a:r>
              <a:rPr lang="en-US" altLang="ko-KR" b="1" dirty="0"/>
              <a:t>UPHs</a:t>
            </a:r>
          </a:p>
          <a:p>
            <a:pPr lvl="1"/>
            <a:r>
              <a:rPr lang="en-US" altLang="ko-KR" b="1" i="1" dirty="0"/>
              <a:t> Measurements and data (</a:t>
            </a:r>
            <a:r>
              <a:rPr lang="ko-KR" altLang="en-US" b="1" i="1" dirty="0"/>
              <a:t>측정 및 데이터</a:t>
            </a:r>
            <a:r>
              <a:rPr lang="en-US" altLang="ko-KR" b="1" i="1" dirty="0"/>
              <a:t>, #16-18)</a:t>
            </a:r>
          </a:p>
          <a:p>
            <a:pPr lvl="2"/>
            <a:r>
              <a:rPr lang="ko-KR" altLang="en-US" dirty="0" err="1"/>
              <a:t>리모트</a:t>
            </a:r>
            <a:r>
              <a:rPr lang="ko-KR" altLang="en-US" dirty="0"/>
              <a:t> 센싱</a:t>
            </a:r>
            <a:r>
              <a:rPr lang="en-US" altLang="ko-KR" dirty="0"/>
              <a:t>/</a:t>
            </a:r>
            <a:r>
              <a:rPr lang="ko-KR" altLang="en-US" dirty="0"/>
              <a:t>디지털 데이터 기술을 필두로 한 기술의 발전으로 인해 이전에는 사용할 수 없었던 새로운 정보를 얻을 수 있게 됨</a:t>
            </a:r>
            <a:endParaRPr lang="en-US" altLang="ko-KR" dirty="0"/>
          </a:p>
          <a:p>
            <a:pPr lvl="2"/>
            <a:r>
              <a:rPr lang="ko-KR" altLang="en-US" dirty="0"/>
              <a:t>시간이 지남에 따라 정보가 쌓이게 되는데</a:t>
            </a:r>
            <a:r>
              <a:rPr lang="en-US" altLang="ko-KR" dirty="0"/>
              <a:t>, </a:t>
            </a:r>
            <a:r>
              <a:rPr lang="ko-KR" altLang="en-US" dirty="0"/>
              <a:t>이를 어떻게 </a:t>
            </a:r>
            <a:r>
              <a:rPr lang="ko-KR" altLang="en-US" dirty="0" err="1"/>
              <a:t>활용할건지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b="1" i="1" dirty="0"/>
              <a:t> Modelling methods (</a:t>
            </a:r>
            <a:r>
              <a:rPr lang="ko-KR" altLang="en-US" b="1" i="1" dirty="0"/>
              <a:t>모델링 방법</a:t>
            </a:r>
            <a:r>
              <a:rPr lang="en-US" altLang="ko-KR" b="1" i="1" dirty="0"/>
              <a:t>, #19-20)</a:t>
            </a:r>
          </a:p>
          <a:p>
            <a:pPr lvl="2"/>
            <a:r>
              <a:rPr lang="ko-KR" altLang="en-US" dirty="0"/>
              <a:t>바뀌는 환경을 반영한 모델링 방법의 변화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특히 </a:t>
            </a:r>
            <a:r>
              <a:rPr lang="en-US" altLang="ko-KR" dirty="0"/>
              <a:t>vegetation-</a:t>
            </a:r>
            <a:r>
              <a:rPr lang="ko-KR" altLang="en-US" dirty="0"/>
              <a:t>식생 변화와 관련해서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모델링 불확실성</a:t>
            </a:r>
            <a:r>
              <a:rPr lang="en-US" altLang="ko-KR" dirty="0"/>
              <a:t> (</a:t>
            </a:r>
            <a:r>
              <a:rPr lang="ko-KR" altLang="en-US" dirty="0"/>
              <a:t>입력자료</a:t>
            </a:r>
            <a:r>
              <a:rPr lang="en-US" altLang="ko-KR" dirty="0"/>
              <a:t>/</a:t>
            </a:r>
            <a:r>
              <a:rPr lang="ko-KR" altLang="en-US" dirty="0"/>
              <a:t>매개변수의 불확실성 이외의</a:t>
            </a:r>
            <a:r>
              <a:rPr lang="en-US" altLang="ko-KR" dirty="0"/>
              <a:t>)</a:t>
            </a:r>
            <a:r>
              <a:rPr lang="ko-KR" altLang="en-US" dirty="0"/>
              <a:t>에 대한 접근</a:t>
            </a:r>
            <a:endParaRPr lang="en-US" altLang="ko-KR" dirty="0"/>
          </a:p>
          <a:p>
            <a:pPr lvl="1"/>
            <a:r>
              <a:rPr lang="en-US" altLang="ko-KR" b="1" i="1" dirty="0"/>
              <a:t> Interfaces with society (</a:t>
            </a:r>
            <a:r>
              <a:rPr lang="ko-KR" altLang="en-US" b="1" i="1" dirty="0"/>
              <a:t>사회와의</a:t>
            </a:r>
            <a:r>
              <a:rPr lang="en-US" altLang="ko-KR" b="1" i="1" dirty="0"/>
              <a:t> </a:t>
            </a:r>
            <a:r>
              <a:rPr lang="ko-KR" altLang="en-US" b="1" i="1" dirty="0"/>
              <a:t>접점</a:t>
            </a:r>
            <a:r>
              <a:rPr lang="en-US" altLang="ko-KR" b="1" i="1" dirty="0"/>
              <a:t>, #21-23)</a:t>
            </a:r>
            <a:endParaRPr lang="ko-KR" altLang="en-US" b="1" i="1" dirty="0"/>
          </a:p>
          <a:p>
            <a:pPr lvl="2"/>
            <a:r>
              <a:rPr lang="ko-KR" altLang="en-US" dirty="0"/>
              <a:t>궁극적으로</a:t>
            </a:r>
            <a:r>
              <a:rPr lang="en-US" altLang="ko-KR" dirty="0"/>
              <a:t>, </a:t>
            </a:r>
            <a:r>
              <a:rPr lang="ko-KR" altLang="en-US" dirty="0"/>
              <a:t>이러한 문제를 어떻게 사회에 </a:t>
            </a:r>
            <a:r>
              <a:rPr lang="ko-KR" altLang="en-US" dirty="0" err="1"/>
              <a:t>적용할건지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복잡한 최적화 알고리즘</a:t>
            </a:r>
            <a:r>
              <a:rPr lang="en-US" altLang="ko-KR" dirty="0"/>
              <a:t>/</a:t>
            </a:r>
            <a:r>
              <a:rPr lang="ko-KR" altLang="en-US" dirty="0"/>
              <a:t>모델로 구한 해가 전문지식이 상대적으로 낮은 정책결정자들이 선택하기가 어려움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574C06-B888-4274-B360-98ABADD09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249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7C41B3-3C1D-4337-83DB-018EBB8ED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Assignment #1-1</a:t>
            </a:r>
            <a:r>
              <a:rPr lang="ko-KR" altLang="en-US" dirty="0"/>
              <a:t>번 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FFD79F-B5DA-46A8-BB32-43CCEDA76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Lec</a:t>
            </a:r>
            <a:r>
              <a:rPr lang="en-US" altLang="ko-KR" dirty="0"/>
              <a:t> 01</a:t>
            </a:r>
            <a:r>
              <a:rPr lang="ko-KR" altLang="ko-KR" dirty="0"/>
              <a:t>에서 소개한 </a:t>
            </a:r>
            <a:r>
              <a:rPr lang="en-US" altLang="ko-KR" dirty="0"/>
              <a:t>23</a:t>
            </a:r>
            <a:r>
              <a:rPr lang="ko-KR" altLang="ko-KR" dirty="0"/>
              <a:t>개의 </a:t>
            </a:r>
            <a:r>
              <a:rPr lang="en-US" altLang="ko-KR" dirty="0"/>
              <a:t>Unsolved Problems in Hydrology (UPH) </a:t>
            </a:r>
            <a:r>
              <a:rPr lang="ko-KR" altLang="ko-KR" dirty="0"/>
              <a:t>중 가장 중요하다고 생각되는</a:t>
            </a:r>
            <a:r>
              <a:rPr lang="en-US" altLang="ko-KR" dirty="0"/>
              <a:t>, </a:t>
            </a:r>
            <a:r>
              <a:rPr lang="ko-KR" altLang="ko-KR" dirty="0"/>
              <a:t>혹은 가장 시급히 해결되어야 한다고 생각되는 질문은 무엇인가요</a:t>
            </a:r>
            <a:r>
              <a:rPr lang="en-US" altLang="ko-KR" dirty="0"/>
              <a:t>? 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ko-KR" dirty="0"/>
              <a:t>각기 다른 </a:t>
            </a:r>
            <a:r>
              <a:rPr lang="en-US" altLang="ko-KR" dirty="0"/>
              <a:t>Topic</a:t>
            </a:r>
            <a:r>
              <a:rPr lang="ko-KR" altLang="ko-KR" dirty="0"/>
              <a:t>에서 최소 </a:t>
            </a:r>
            <a:r>
              <a:rPr lang="en-US" altLang="ko-KR" dirty="0"/>
              <a:t>3</a:t>
            </a:r>
            <a:r>
              <a:rPr lang="ko-KR" altLang="ko-KR" dirty="0"/>
              <a:t>개의 질문을 선택한 후</a:t>
            </a:r>
            <a:r>
              <a:rPr lang="en-US" altLang="ko-KR" dirty="0"/>
              <a:t>, </a:t>
            </a:r>
            <a:r>
              <a:rPr lang="ko-KR" altLang="ko-KR" dirty="0"/>
              <a:t>다른 질문들보다 더 중요하다고 생각한 이유</a:t>
            </a:r>
            <a:r>
              <a:rPr lang="en-US" altLang="ko-KR" dirty="0"/>
              <a:t>(</a:t>
            </a:r>
            <a:r>
              <a:rPr lang="ko-KR" altLang="ko-KR" dirty="0"/>
              <a:t>혹은 먼저 해결되어야 한다고 생각하는 이유</a:t>
            </a:r>
            <a:r>
              <a:rPr lang="en-US" altLang="ko-KR" dirty="0"/>
              <a:t>)</a:t>
            </a:r>
            <a:r>
              <a:rPr lang="ko-KR" altLang="ko-KR" dirty="0"/>
              <a:t>를 </a:t>
            </a:r>
            <a:r>
              <a:rPr lang="en-US" altLang="ko-KR" dirty="0"/>
              <a:t>3</a:t>
            </a:r>
            <a:r>
              <a:rPr lang="ko-KR" altLang="ko-KR" dirty="0"/>
              <a:t>개의 질문에 대해 각각 한 문단정도로 적어주세요</a:t>
            </a:r>
            <a:r>
              <a:rPr lang="en-US" altLang="ko-KR" dirty="0"/>
              <a:t>. 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ko-KR" dirty="0"/>
              <a:t>만약 제시된 </a:t>
            </a:r>
            <a:r>
              <a:rPr lang="en-US" altLang="ko-KR" dirty="0"/>
              <a:t>23</a:t>
            </a:r>
            <a:r>
              <a:rPr lang="ko-KR" altLang="ko-KR" dirty="0"/>
              <a:t>개의 문제 이외로 더 중요하다고 생각하는 문제가 있으면 새롭게 제시해 주세요</a:t>
            </a:r>
            <a:r>
              <a:rPr lang="en-US" altLang="ko-KR" dirty="0"/>
              <a:t>. </a:t>
            </a:r>
            <a:endParaRPr lang="ko-KR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EFD050-347C-4324-AB61-9DB03BDD3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270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FCEB1E-6A2E-4D50-AF76-FD5777D07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Real-world Examples of WRSE in</a:t>
            </a:r>
            <a:r>
              <a:rPr lang="ko-KR" altLang="en-US" dirty="0"/>
              <a:t> </a:t>
            </a:r>
            <a:r>
              <a:rPr lang="en-US" altLang="ko-KR" dirty="0"/>
              <a:t>Korea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60555F-EEB7-4806-96D0-2686F5680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보령 다목적댐에서의 수자원관리의 어려움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104308-1E66-4B23-8E41-B9CC17FE8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1FC77B-B23F-447D-854A-22EB5412E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088" y="1879587"/>
            <a:ext cx="5396920" cy="368654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C9B4AC5-3272-42CF-8075-A75605DEC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192" y="1932929"/>
            <a:ext cx="2558938" cy="357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417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DF6012-521C-4909-941D-425809ADB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Real-world Examples of WRSE in</a:t>
            </a:r>
            <a:r>
              <a:rPr lang="ko-KR" altLang="en-US" dirty="0"/>
              <a:t> </a:t>
            </a:r>
            <a:r>
              <a:rPr lang="en-US" altLang="ko-KR" dirty="0"/>
              <a:t>Korea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33BED4-D4CF-4E2E-B62C-D69573384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EEA690-B804-4E5F-94C9-C75C16361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511" y="4722945"/>
            <a:ext cx="6162675" cy="10287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ED1DCE0-74ED-4E7B-B307-1AA2F3F0B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3783277"/>
            <a:ext cx="6219825" cy="10287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33A4940-FE57-4BC7-A40A-FC0213A38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784" y="5716523"/>
            <a:ext cx="6181725" cy="1000125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A80629EA-90CF-4C99-82F9-807A9CC9D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4908203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수량의 문제 </a:t>
            </a:r>
            <a:r>
              <a:rPr lang="en-US" altLang="ko-KR" dirty="0"/>
              <a:t>(TOO LITTLE WATER)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AA3190C-366C-4771-A33C-5D7EAE2E24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7624" y="1754594"/>
            <a:ext cx="5637527" cy="193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473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F711A4-9FA0-4FCF-A7D9-DA60D880B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Real-world Examples of WRSE in</a:t>
            </a:r>
            <a:r>
              <a:rPr lang="ko-KR" altLang="en-US" dirty="0"/>
              <a:t> </a:t>
            </a:r>
            <a:r>
              <a:rPr lang="en-US" altLang="ko-KR" dirty="0"/>
              <a:t>Korea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3EEA74-AA4D-4339-92D7-30A8FF57E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수질의 문제 </a:t>
            </a:r>
            <a:r>
              <a:rPr lang="en-US" altLang="ko-KR" dirty="0"/>
              <a:t>(Too Dirty)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경제적 문제</a:t>
            </a:r>
            <a:br>
              <a:rPr lang="en-US" altLang="ko-KR" dirty="0"/>
            </a:br>
            <a:r>
              <a:rPr lang="ko-KR" altLang="en-US" dirty="0"/>
              <a:t> </a:t>
            </a:r>
            <a:r>
              <a:rPr lang="en-US" altLang="ko-KR" dirty="0"/>
              <a:t>(Too Expensive)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5D2695-3984-4EC5-9EFB-8ED3F9561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10B048-ABA3-4044-8084-CD2BCA83C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821132"/>
            <a:ext cx="6181725" cy="14573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E19A1D0-5CC6-4C4D-9B38-09DBE3270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864" y="3722861"/>
            <a:ext cx="5346188" cy="291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221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6252B-A76F-4F09-A295-E6A14CC21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Real-world Examples of WRSE in</a:t>
            </a:r>
            <a:r>
              <a:rPr lang="ko-KR" altLang="en-US" dirty="0"/>
              <a:t> </a:t>
            </a:r>
            <a:r>
              <a:rPr lang="en-US" altLang="ko-KR" dirty="0"/>
              <a:t>Korea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4C4538-62F7-42A7-8416-0CBF3FAA3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Key Questions regarding </a:t>
            </a:r>
            <a:r>
              <a:rPr lang="ko-KR" altLang="en-US" b="1" dirty="0"/>
              <a:t>보령 다목적댐</a:t>
            </a:r>
            <a:endParaRPr lang="en-US" altLang="ko-KR" b="1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문제의 범위를 어떻게 설정할 것인가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 err="1"/>
              <a:t>보령댐</a:t>
            </a:r>
            <a:r>
              <a:rPr lang="en-US" altLang="ko-KR" dirty="0"/>
              <a:t> // </a:t>
            </a:r>
            <a:r>
              <a:rPr lang="ko-KR" altLang="en-US" dirty="0"/>
              <a:t>연계되어 있는 댐 </a:t>
            </a:r>
            <a:r>
              <a:rPr lang="en-US" altLang="ko-KR" dirty="0"/>
              <a:t>// </a:t>
            </a:r>
            <a:r>
              <a:rPr lang="ko-KR" altLang="en-US" dirty="0" err="1"/>
              <a:t>보령댐</a:t>
            </a:r>
            <a:r>
              <a:rPr lang="ko-KR" altLang="en-US" dirty="0"/>
              <a:t> 의존 행정구역 등</a:t>
            </a:r>
            <a:r>
              <a:rPr lang="en-US" altLang="ko-KR" dirty="0"/>
              <a:t>) 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앞에서 명시된 세 가지 문제 </a:t>
            </a:r>
            <a:r>
              <a:rPr lang="en-US" altLang="ko-KR" dirty="0"/>
              <a:t>(</a:t>
            </a:r>
            <a:r>
              <a:rPr lang="ko-KR" altLang="en-US" dirty="0"/>
              <a:t>수량</a:t>
            </a:r>
            <a:r>
              <a:rPr lang="en-US" altLang="ko-KR" dirty="0"/>
              <a:t>/</a:t>
            </a:r>
            <a:r>
              <a:rPr lang="ko-KR" altLang="en-US" dirty="0"/>
              <a:t>수질</a:t>
            </a:r>
            <a:r>
              <a:rPr lang="en-US" altLang="ko-KR" dirty="0"/>
              <a:t>/</a:t>
            </a:r>
            <a:r>
              <a:rPr lang="ko-KR" altLang="en-US" dirty="0"/>
              <a:t>경제적</a:t>
            </a:r>
            <a:r>
              <a:rPr lang="en-US" altLang="ko-KR" dirty="0"/>
              <a:t>)</a:t>
            </a:r>
            <a:r>
              <a:rPr lang="ko-KR" altLang="en-US" dirty="0"/>
              <a:t>에 대한 우선순위는 어떻게 되는가</a:t>
            </a:r>
            <a:r>
              <a:rPr lang="en-US" altLang="ko-KR" dirty="0"/>
              <a:t>? (</a:t>
            </a:r>
            <a:r>
              <a:rPr lang="ko-KR" altLang="en-US" dirty="0"/>
              <a:t>가장 우선적으로 해결해야 하는 문제는 무엇인가</a:t>
            </a:r>
            <a:r>
              <a:rPr lang="en-US" altLang="ko-KR" dirty="0"/>
              <a:t>?)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어떤 방법으로 위의 문제를 해결할 것인가</a:t>
            </a:r>
            <a:r>
              <a:rPr lang="en-US" altLang="ko-KR" dirty="0"/>
              <a:t>?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/>
              <a:t>최적화 모델을 사용해서</a:t>
            </a:r>
            <a:r>
              <a:rPr lang="en-US" altLang="ko-KR" dirty="0"/>
              <a:t> // </a:t>
            </a:r>
            <a:r>
              <a:rPr lang="ko-KR" altLang="en-US" dirty="0"/>
              <a:t>고위 관계자의 의견을 바탕으로 </a:t>
            </a:r>
            <a:r>
              <a:rPr lang="en-US" altLang="ko-KR" dirty="0"/>
              <a:t>//</a:t>
            </a:r>
            <a:r>
              <a:rPr lang="ko-KR" altLang="en-US" dirty="0"/>
              <a:t>혹은</a:t>
            </a:r>
            <a:r>
              <a:rPr lang="en-US" altLang="ko-KR" dirty="0"/>
              <a:t>, </a:t>
            </a:r>
            <a:r>
              <a:rPr lang="ko-KR" altLang="en-US" dirty="0"/>
              <a:t>관련 모든 이해당사자들</a:t>
            </a:r>
            <a:r>
              <a:rPr lang="en-US" altLang="ko-KR" dirty="0"/>
              <a:t>-</a:t>
            </a:r>
            <a:r>
              <a:rPr lang="ko-KR" altLang="en-US" dirty="0"/>
              <a:t>정책결정자</a:t>
            </a:r>
            <a:r>
              <a:rPr lang="en-US" altLang="ko-KR" dirty="0"/>
              <a:t>, </a:t>
            </a:r>
            <a:r>
              <a:rPr lang="ko-KR" altLang="en-US" dirty="0"/>
              <a:t>물 사용자 등</a:t>
            </a:r>
            <a:r>
              <a:rPr lang="en-US" altLang="ko-KR" dirty="0"/>
              <a:t>- </a:t>
            </a:r>
            <a:r>
              <a:rPr lang="ko-KR" altLang="en-US" dirty="0"/>
              <a:t>간의 토의 등</a:t>
            </a:r>
            <a:r>
              <a:rPr lang="en-US" altLang="ko-KR" dirty="0"/>
              <a:t>)</a:t>
            </a:r>
          </a:p>
          <a:p>
            <a:pPr marL="457200" lvl="1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기타 문제 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313FDD-7E92-494E-9BC8-563B27C0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5374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32D9C-5B9C-463C-A183-253D11ABB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 of Lecture 01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B54ED7-E2F6-4D40-AFB0-9CF5058BC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224113"/>
          </a:xfrm>
        </p:spPr>
        <p:txBody>
          <a:bodyPr>
            <a:normAutofit/>
          </a:bodyPr>
          <a:lstStyle/>
          <a:p>
            <a:r>
              <a:rPr lang="en-US" altLang="ko-KR" dirty="0"/>
              <a:t> Overview of WRSA</a:t>
            </a:r>
          </a:p>
          <a:p>
            <a:pPr lvl="1"/>
            <a:r>
              <a:rPr lang="en-US" altLang="ko-KR" dirty="0"/>
              <a:t> A water resources system is the whole made from connected </a:t>
            </a:r>
            <a:r>
              <a:rPr lang="en-US" altLang="ko-KR" b="1" i="1" dirty="0"/>
              <a:t>hydrologic, infrastructure, ecologic, and human processes that involve water</a:t>
            </a:r>
            <a:r>
              <a:rPr lang="en-US" altLang="ko-KR" dirty="0"/>
              <a:t>. (Brown</a:t>
            </a:r>
            <a:r>
              <a:rPr lang="ko-KR" altLang="en-US" dirty="0"/>
              <a:t> </a:t>
            </a:r>
            <a:r>
              <a:rPr lang="en-US" altLang="ko-KR" dirty="0"/>
              <a:t>et</a:t>
            </a:r>
            <a:r>
              <a:rPr lang="ko-KR" altLang="en-US" dirty="0"/>
              <a:t> </a:t>
            </a:r>
            <a:r>
              <a:rPr lang="en-US" altLang="ko-KR" dirty="0"/>
              <a:t>al.</a:t>
            </a:r>
            <a:r>
              <a:rPr lang="ko-KR" altLang="en-US" dirty="0"/>
              <a:t> </a:t>
            </a:r>
            <a:r>
              <a:rPr lang="en-US" altLang="ko-KR" dirty="0"/>
              <a:t>2015)</a:t>
            </a:r>
          </a:p>
          <a:p>
            <a:r>
              <a:rPr lang="en-US" altLang="ko-KR" dirty="0"/>
              <a:t> WRSA- </a:t>
            </a:r>
            <a:r>
              <a:rPr lang="en-US" altLang="ko-KR" b="1" i="1" dirty="0"/>
              <a:t>“Wicked”</a:t>
            </a:r>
            <a:r>
              <a:rPr lang="en-US" altLang="ko-KR" dirty="0"/>
              <a:t> Problems?  </a:t>
            </a:r>
          </a:p>
          <a:p>
            <a:pPr lvl="1"/>
            <a:r>
              <a:rPr lang="en-US" altLang="ko-KR" dirty="0"/>
              <a:t> “</a:t>
            </a:r>
            <a:r>
              <a:rPr lang="en-US" altLang="ko-KR" b="1" dirty="0"/>
              <a:t>Defining</a:t>
            </a:r>
            <a:r>
              <a:rPr lang="en-US" altLang="ko-KR" dirty="0"/>
              <a:t> the problem is the problem itself”</a:t>
            </a:r>
          </a:p>
          <a:p>
            <a:r>
              <a:rPr lang="en-US" altLang="ko-KR" dirty="0"/>
              <a:t> 23 Unsolved Problems in Hydrology (UPH)</a:t>
            </a:r>
          </a:p>
          <a:p>
            <a:pPr lvl="1"/>
            <a:r>
              <a:rPr lang="en-US" altLang="ko-KR" dirty="0"/>
              <a:t> “Why” “What” &amp; “How” questions</a:t>
            </a:r>
          </a:p>
          <a:p>
            <a:pPr lvl="1"/>
            <a:r>
              <a:rPr lang="en-US" altLang="ko-KR" dirty="0"/>
              <a:t> Real-world Example of WRSE problem: </a:t>
            </a:r>
            <a:r>
              <a:rPr lang="ko-KR" altLang="en-US" dirty="0"/>
              <a:t>보령 다목적댐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b="1" dirty="0">
                <a:solidFill>
                  <a:srgbClr val="FF0000"/>
                </a:solidFill>
              </a:rPr>
              <a:t> Future of WRSA? (Reed &amp; </a:t>
            </a:r>
            <a:r>
              <a:rPr lang="en-US" altLang="ko-KR" b="1" dirty="0" err="1">
                <a:solidFill>
                  <a:srgbClr val="FF0000"/>
                </a:solidFill>
              </a:rPr>
              <a:t>Kasprzyk</a:t>
            </a:r>
            <a:r>
              <a:rPr lang="en-US" altLang="ko-KR" b="1" dirty="0">
                <a:solidFill>
                  <a:srgbClr val="FF0000"/>
                </a:solidFill>
              </a:rPr>
              <a:t> 2009)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Constructive Modeling …</a:t>
            </a:r>
            <a:r>
              <a:rPr lang="en-US" altLang="ko-KR" b="1" i="1" dirty="0"/>
              <a:t> Interfaces with society </a:t>
            </a:r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950B24-59D4-4FEE-AEE7-6908BEC18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412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72C2-44CC-4F6E-8544-2F20B844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Schedule Preview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1E931-4E26-48E4-8B68-83D521B9B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다음 주 강의 </a:t>
            </a:r>
            <a:r>
              <a:rPr lang="en-US" altLang="ko-KR" dirty="0"/>
              <a:t>(2022-03-15 </a:t>
            </a:r>
            <a:r>
              <a:rPr lang="ko-KR" altLang="en-US" dirty="0"/>
              <a:t>화요일 </a:t>
            </a:r>
            <a:r>
              <a:rPr lang="en-US" altLang="ko-KR" dirty="0"/>
              <a:t>17:00-19:50)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02: Water Resources Systems Modeling</a:t>
            </a:r>
          </a:p>
          <a:p>
            <a:pPr lvl="2"/>
            <a:r>
              <a:rPr lang="en-US" altLang="ko-KR" dirty="0"/>
              <a:t>Modeling</a:t>
            </a:r>
            <a:r>
              <a:rPr lang="ko-KR" altLang="en-US" dirty="0"/>
              <a:t> </a:t>
            </a:r>
            <a:r>
              <a:rPr lang="en-US" altLang="ko-KR" dirty="0"/>
              <a:t>Water</a:t>
            </a:r>
            <a:r>
              <a:rPr lang="ko-KR" altLang="en-US" dirty="0"/>
              <a:t> </a:t>
            </a:r>
            <a:r>
              <a:rPr lang="en-US" altLang="ko-KR" dirty="0"/>
              <a:t>Resources</a:t>
            </a:r>
            <a:r>
              <a:rPr lang="ko-KR" altLang="en-US" dirty="0"/>
              <a:t> </a:t>
            </a:r>
            <a:r>
              <a:rPr lang="en-US" altLang="ko-KR" dirty="0"/>
              <a:t>Systems</a:t>
            </a:r>
            <a:r>
              <a:rPr lang="ko-KR" altLang="en-US" dirty="0"/>
              <a:t> </a:t>
            </a:r>
            <a:endParaRPr lang="en-US" altLang="ko-KR" dirty="0"/>
          </a:p>
          <a:p>
            <a:pPr lvl="2"/>
            <a:r>
              <a:rPr lang="en-US" altLang="ko-KR" dirty="0"/>
              <a:t>Types of Water Resources Systems Models</a:t>
            </a:r>
          </a:p>
          <a:p>
            <a:pPr lvl="2"/>
            <a:r>
              <a:rPr lang="en-US" altLang="ko-KR" dirty="0"/>
              <a:t>Examples of Water Resources Systems Models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b="1" i="1" dirty="0"/>
              <a:t>Training with Systems Modeling (LAPTOP)</a:t>
            </a:r>
          </a:p>
          <a:p>
            <a:pPr lvl="2"/>
            <a:r>
              <a:rPr lang="ko-KR" altLang="en-US" dirty="0"/>
              <a:t>과제 </a:t>
            </a:r>
            <a:r>
              <a:rPr lang="en-US" altLang="ko-KR" dirty="0"/>
              <a:t>#1</a:t>
            </a:r>
            <a:r>
              <a:rPr lang="ko-KR" altLang="en-US" dirty="0"/>
              <a:t>의 일부분을 수업시간에 진행할 예정이므로</a:t>
            </a:r>
            <a:r>
              <a:rPr lang="en-US" altLang="ko-KR" dirty="0"/>
              <a:t>, </a:t>
            </a:r>
            <a:r>
              <a:rPr lang="ko-KR" altLang="en-US" dirty="0"/>
              <a:t>노트북 지참</a:t>
            </a:r>
            <a:br>
              <a:rPr lang="en-US" altLang="ko-KR" dirty="0"/>
            </a:br>
            <a:r>
              <a:rPr lang="en-US" altLang="ko-KR" dirty="0"/>
              <a:t>(Microsoft Excel, R, </a:t>
            </a:r>
            <a:r>
              <a:rPr lang="en-US" altLang="ko-KR" dirty="0" err="1"/>
              <a:t>Rstudio</a:t>
            </a:r>
            <a:r>
              <a:rPr lang="en-US" altLang="ko-KR" dirty="0"/>
              <a:t> </a:t>
            </a:r>
            <a:r>
              <a:rPr lang="ko-KR" altLang="en-US" dirty="0"/>
              <a:t>미리 설치 필요</a:t>
            </a:r>
            <a:r>
              <a:rPr lang="en-US" altLang="ko-KR" dirty="0"/>
              <a:t>-  </a:t>
            </a:r>
            <a:r>
              <a:rPr lang="ko-KR" altLang="en-US" dirty="0"/>
              <a:t>설치 방법 검색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2</a:t>
            </a:r>
            <a:r>
              <a:rPr lang="ko-KR" altLang="en-US" dirty="0"/>
              <a:t>주 후 </a:t>
            </a:r>
            <a:r>
              <a:rPr lang="en-US" altLang="ko-KR" dirty="0"/>
              <a:t>2022-03-22 </a:t>
            </a:r>
            <a:r>
              <a:rPr lang="ko-KR" altLang="en-US" dirty="0"/>
              <a:t>수업 전까지 과제 제출 필요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EFE042-1EF0-46EE-8B82-B1DFE71C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2243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DAE2E-725F-440E-8EC6-66F29FB64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Additional</a:t>
            </a:r>
            <a:r>
              <a:rPr lang="ko-KR" altLang="en-US" dirty="0"/>
              <a:t> </a:t>
            </a:r>
            <a:r>
              <a:rPr lang="en-US" altLang="ko-KR" dirty="0"/>
              <a:t>Coding</a:t>
            </a:r>
            <a:r>
              <a:rPr lang="ko-KR" altLang="en-US" dirty="0"/>
              <a:t> </a:t>
            </a:r>
            <a:r>
              <a:rPr lang="en-US" altLang="ko-KR" dirty="0"/>
              <a:t>Exercise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7D5F974-04A3-4D42-9920-3E4E9091C6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268760"/>
            <a:ext cx="7886700" cy="1827757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FF4D49-862F-448A-8E77-A0671CA28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7D7EF43-73BF-4615-83BF-105A61F611A6}"/>
              </a:ext>
            </a:extLst>
          </p:cNvPr>
          <p:cNvSpPr txBox="1">
            <a:spLocks/>
          </p:cNvSpPr>
          <p:nvPr/>
        </p:nvSpPr>
        <p:spPr>
          <a:xfrm>
            <a:off x="628650" y="3096517"/>
            <a:ext cx="7886700" cy="2936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2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>
                <a:hlinkClick r:id="rId3"/>
              </a:rPr>
              <a:t>www.datacamp.com</a:t>
            </a:r>
            <a:endParaRPr lang="en-US" altLang="ko-KR" sz="1600" dirty="0"/>
          </a:p>
          <a:p>
            <a:pPr marL="457200" indent="-457200">
              <a:buAutoNum type="arabicParenR"/>
            </a:pPr>
            <a:r>
              <a:rPr lang="ko-KR" altLang="en-US" sz="1600" dirty="0"/>
              <a:t>회원 가입 </a:t>
            </a:r>
            <a:r>
              <a:rPr lang="en-US" altLang="ko-KR" sz="1600" dirty="0"/>
              <a:t>(Create</a:t>
            </a:r>
            <a:r>
              <a:rPr lang="ko-KR" altLang="en-US" sz="1600" dirty="0"/>
              <a:t> </a:t>
            </a:r>
            <a:r>
              <a:rPr lang="en-US" altLang="ko-KR" sz="1600" dirty="0"/>
              <a:t>your</a:t>
            </a:r>
            <a:r>
              <a:rPr lang="ko-KR" altLang="en-US" sz="1600" dirty="0"/>
              <a:t> </a:t>
            </a:r>
            <a:r>
              <a:rPr lang="en-US" altLang="ko-KR" sz="1600" dirty="0"/>
              <a:t>free account)</a:t>
            </a:r>
          </a:p>
          <a:p>
            <a:pPr marL="457200" indent="-457200">
              <a:buAutoNum type="arabicParenR"/>
            </a:pPr>
            <a:r>
              <a:rPr lang="ko-KR" altLang="en-US" sz="1600" dirty="0"/>
              <a:t>일부 컨텐츠 사용 위해서는 </a:t>
            </a:r>
            <a:r>
              <a:rPr lang="en-US" altLang="ko-KR" sz="1600" dirty="0"/>
              <a:t>Upgrade </a:t>
            </a:r>
            <a:r>
              <a:rPr lang="ko-KR" altLang="en-US" sz="1600" dirty="0"/>
              <a:t>필요 </a:t>
            </a:r>
            <a:r>
              <a:rPr lang="en-US" altLang="ko-KR" sz="1600" dirty="0"/>
              <a:t>(</a:t>
            </a:r>
            <a:r>
              <a:rPr lang="ko-KR" altLang="en-US" sz="1600" dirty="0"/>
              <a:t>오른쪽 위 보라색 버튼</a:t>
            </a:r>
            <a:r>
              <a:rPr lang="en-US" altLang="ko-KR" sz="1600" dirty="0"/>
              <a:t>)</a:t>
            </a:r>
          </a:p>
          <a:p>
            <a:pPr marL="457200" indent="-457200">
              <a:buAutoNum type="arabicParenR"/>
            </a:pPr>
            <a:endParaRPr lang="en-US" altLang="ko-KR" sz="1600" dirty="0"/>
          </a:p>
          <a:p>
            <a:pPr marL="0" indent="0">
              <a:buNone/>
            </a:pPr>
            <a:endParaRPr lang="ko-KR" altLang="en-US" sz="1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573B348-8127-4BBF-BE3F-3ABC53CCE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004" y="4472706"/>
            <a:ext cx="4499992" cy="207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0489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859D6E-9FDD-499A-BBCC-9627234D5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Additional</a:t>
            </a:r>
            <a:r>
              <a:rPr lang="ko-KR" altLang="en-US" dirty="0"/>
              <a:t> </a:t>
            </a:r>
            <a:r>
              <a:rPr lang="en-US" altLang="ko-KR" dirty="0"/>
              <a:t>Coding</a:t>
            </a:r>
            <a:r>
              <a:rPr lang="ko-KR" altLang="en-US" dirty="0"/>
              <a:t> </a:t>
            </a:r>
            <a:r>
              <a:rPr lang="en-US" altLang="ko-KR" dirty="0"/>
              <a:t>Exercise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5E1DB6-9059-4D90-B07A-DD5C55CAC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328592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접속 후</a:t>
            </a:r>
            <a:r>
              <a:rPr lang="en-US" altLang="ko-KR" dirty="0"/>
              <a:t>: </a:t>
            </a:r>
            <a:r>
              <a:rPr lang="ko-KR" altLang="en-US" dirty="0"/>
              <a:t>왼쪽 </a:t>
            </a:r>
            <a:r>
              <a:rPr lang="en-US" altLang="ko-KR" dirty="0"/>
              <a:t>CATALOG-Tracks-Skill Tracks-R </a:t>
            </a:r>
            <a:r>
              <a:rPr lang="ko-KR" altLang="en-US" dirty="0"/>
              <a:t>선택 </a:t>
            </a:r>
            <a:endParaRPr lang="en-US" altLang="ko-KR" dirty="0"/>
          </a:p>
          <a:p>
            <a:r>
              <a:rPr lang="ko-KR" altLang="en-US" dirty="0"/>
              <a:t> 수행</a:t>
            </a:r>
            <a:r>
              <a:rPr lang="en-US" altLang="ko-KR" dirty="0"/>
              <a:t>/</a:t>
            </a:r>
            <a:r>
              <a:rPr lang="ko-KR" altLang="en-US" dirty="0"/>
              <a:t>제출 리스트 </a:t>
            </a:r>
            <a:r>
              <a:rPr lang="en-US" altLang="ko-KR" dirty="0"/>
              <a:t>(Statement of Accomplishment </a:t>
            </a:r>
            <a:r>
              <a:rPr lang="ko-KR" altLang="en-US" dirty="0"/>
              <a:t>제출기한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R Programming </a:t>
            </a:r>
            <a:r>
              <a:rPr lang="en-US" altLang="ko-KR" b="1" dirty="0"/>
              <a:t>(Mar-29)</a:t>
            </a:r>
          </a:p>
          <a:p>
            <a:pPr lvl="2"/>
            <a:r>
              <a:rPr lang="en-US" altLang="ko-KR" dirty="0"/>
              <a:t> Introduction to R</a:t>
            </a:r>
          </a:p>
          <a:p>
            <a:pPr lvl="2"/>
            <a:r>
              <a:rPr lang="en-US" altLang="ko-KR" dirty="0"/>
              <a:t> Intermediate R</a:t>
            </a:r>
          </a:p>
          <a:p>
            <a:pPr lvl="2"/>
            <a:r>
              <a:rPr lang="en-US" altLang="ko-KR" dirty="0"/>
              <a:t> Writing Efficient R Code</a:t>
            </a:r>
          </a:p>
          <a:p>
            <a:pPr lvl="2"/>
            <a:r>
              <a:rPr lang="en-US" altLang="ko-KR" dirty="0"/>
              <a:t> Introduction to Writing Functions in R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r>
              <a:rPr lang="en-US" altLang="ko-KR" dirty="0"/>
              <a:t> Statistic Fundamentals with R </a:t>
            </a:r>
            <a:r>
              <a:rPr lang="en-US" altLang="ko-KR" b="1" dirty="0"/>
              <a:t>(Apr-19)</a:t>
            </a:r>
          </a:p>
          <a:p>
            <a:pPr lvl="2"/>
            <a:r>
              <a:rPr lang="en-US" altLang="ko-KR" dirty="0"/>
              <a:t>Introduction to Statistics in R</a:t>
            </a:r>
          </a:p>
          <a:p>
            <a:pPr lvl="2"/>
            <a:r>
              <a:rPr lang="en-US" altLang="ko-KR" dirty="0"/>
              <a:t>Introduction to Regression in R</a:t>
            </a:r>
          </a:p>
          <a:p>
            <a:pPr lvl="2"/>
            <a:r>
              <a:rPr lang="en-US" altLang="ko-KR" dirty="0"/>
              <a:t>Intermediate Regression in R</a:t>
            </a:r>
          </a:p>
          <a:p>
            <a:pPr lvl="2"/>
            <a:r>
              <a:rPr lang="en-US" altLang="ko-KR" dirty="0"/>
              <a:t>Sampling in R</a:t>
            </a:r>
          </a:p>
          <a:p>
            <a:pPr lvl="2"/>
            <a:r>
              <a:rPr lang="en-US" altLang="ko-KR" dirty="0"/>
              <a:t>Hypothesis Testing in R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1117E9-0230-48F9-AA8B-6F34AC781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073CAE-0BAF-4E3F-973A-5DCA8B2D98B9}"/>
              </a:ext>
            </a:extLst>
          </p:cNvPr>
          <p:cNvSpPr txBox="1"/>
          <p:nvPr/>
        </p:nvSpPr>
        <p:spPr>
          <a:xfrm>
            <a:off x="6804248" y="2276872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*</a:t>
            </a:r>
            <a:r>
              <a:rPr lang="ko-KR" altLang="en-US" b="1" dirty="0">
                <a:solidFill>
                  <a:srgbClr val="FF0000"/>
                </a:solidFill>
              </a:rPr>
              <a:t>미리 제출 가능</a:t>
            </a:r>
            <a:r>
              <a:rPr lang="en-US" altLang="ko-KR" b="1" dirty="0">
                <a:solidFill>
                  <a:srgbClr val="FF0000"/>
                </a:solidFill>
              </a:rPr>
              <a:t>!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6126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DC5375-9904-47EE-802C-B470A79EC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Additional</a:t>
            </a:r>
            <a:r>
              <a:rPr lang="ko-KR" altLang="en-US" dirty="0"/>
              <a:t> </a:t>
            </a:r>
            <a:r>
              <a:rPr lang="en-US" altLang="ko-KR" dirty="0"/>
              <a:t>Coding</a:t>
            </a:r>
            <a:r>
              <a:rPr lang="ko-KR" altLang="en-US" dirty="0"/>
              <a:t> </a:t>
            </a:r>
            <a:r>
              <a:rPr lang="en-US" altLang="ko-KR" dirty="0"/>
              <a:t>Exercise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E38EA3-88AD-43F5-BF4C-741F069C8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접속 후</a:t>
            </a:r>
            <a:r>
              <a:rPr lang="en-US" altLang="ko-KR" dirty="0"/>
              <a:t>: </a:t>
            </a:r>
            <a:r>
              <a:rPr lang="ko-KR" altLang="en-US" dirty="0"/>
              <a:t>왼쪽 </a:t>
            </a:r>
            <a:r>
              <a:rPr lang="en-US" altLang="ko-KR" dirty="0"/>
              <a:t>CATALOG-Tracks-Skill Tracks-R </a:t>
            </a:r>
            <a:r>
              <a:rPr lang="ko-KR" altLang="en-US" dirty="0"/>
              <a:t>선택 </a:t>
            </a:r>
            <a:endParaRPr lang="en-US" altLang="ko-KR" dirty="0"/>
          </a:p>
          <a:p>
            <a:r>
              <a:rPr lang="ko-KR" altLang="en-US" dirty="0"/>
              <a:t> 수행</a:t>
            </a:r>
            <a:r>
              <a:rPr lang="en-US" altLang="ko-KR" dirty="0"/>
              <a:t>/</a:t>
            </a:r>
            <a:r>
              <a:rPr lang="ko-KR" altLang="en-US" dirty="0"/>
              <a:t>제출 리스트 </a:t>
            </a:r>
            <a:r>
              <a:rPr lang="en-US" altLang="ko-KR" dirty="0"/>
              <a:t>(Statement of Accomplishment </a:t>
            </a:r>
            <a:r>
              <a:rPr lang="ko-KR" altLang="en-US" dirty="0"/>
              <a:t>제출기한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Data Visualization with R </a:t>
            </a:r>
            <a:r>
              <a:rPr lang="en-US" altLang="ko-KR" b="1" dirty="0"/>
              <a:t>(May-31)</a:t>
            </a:r>
          </a:p>
          <a:p>
            <a:pPr lvl="2"/>
            <a:r>
              <a:rPr lang="en-US" altLang="ko-KR" dirty="0"/>
              <a:t>Introduction to Data Visualization with ggplot2</a:t>
            </a:r>
          </a:p>
          <a:p>
            <a:pPr lvl="2"/>
            <a:r>
              <a:rPr lang="en-US" altLang="ko-KR" dirty="0"/>
              <a:t>Intermediate Data Visualization with ggplot2</a:t>
            </a:r>
          </a:p>
          <a:p>
            <a:pPr lvl="2"/>
            <a:r>
              <a:rPr lang="en-US" altLang="ko-KR" dirty="0"/>
              <a:t>Visualization Best Practices in R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기한에 맞춰서 제출하면 </a:t>
            </a:r>
            <a:r>
              <a:rPr lang="en-US" altLang="ko-KR" dirty="0"/>
              <a:t>Participation Grading</a:t>
            </a:r>
            <a:r>
              <a:rPr lang="ko-KR" altLang="en-US" dirty="0"/>
              <a:t>에 반영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각 제출마다 </a:t>
            </a:r>
            <a:r>
              <a:rPr lang="en-US" altLang="ko-KR" dirty="0"/>
              <a:t>+3%, </a:t>
            </a:r>
            <a:r>
              <a:rPr lang="ko-KR" altLang="en-US" dirty="0"/>
              <a:t>기한 어기거나 미제출시 </a:t>
            </a:r>
            <a:r>
              <a:rPr lang="en-US" altLang="ko-KR" dirty="0"/>
              <a:t>0%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74EE64-3549-47EC-A656-D606FCAF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588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75756</TotalTime>
  <Words>1580</Words>
  <Application>Microsoft Office PowerPoint</Application>
  <PresentationFormat>화면 슬라이드 쇼(4:3)</PresentationFormat>
  <Paragraphs>188</Paragraphs>
  <Slides>25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4" baseType="lpstr">
      <vt:lpstr>나눔고딕 ExtraBold</vt:lpstr>
      <vt:lpstr>나눔고딕 Light</vt:lpstr>
      <vt:lpstr>맑은 고딕</vt:lpstr>
      <vt:lpstr>Arial</vt:lpstr>
      <vt:lpstr>Calibri</vt:lpstr>
      <vt:lpstr>Gill Sans MT</vt:lpstr>
      <vt:lpstr>Wingdings</vt:lpstr>
      <vt:lpstr>Office 테마</vt:lpstr>
      <vt:lpstr>Equation</vt:lpstr>
      <vt:lpstr>Lecture 01</vt:lpstr>
      <vt:lpstr>Course Overview</vt:lpstr>
      <vt:lpstr>Primary Textbook</vt:lpstr>
      <vt:lpstr>Course Schedule  (Spring 2022)</vt:lpstr>
      <vt:lpstr>Before Lecture 01</vt:lpstr>
      <vt:lpstr>Overview of WRSA</vt:lpstr>
      <vt:lpstr>Water Resources Systems Analysis (WRSA)</vt:lpstr>
      <vt:lpstr>WRSA- “Wicked” Problems?</vt:lpstr>
      <vt:lpstr>WRSA- “Wicked” Problems?</vt:lpstr>
      <vt:lpstr>Unsolved Problems in Hydrology-UPH</vt:lpstr>
      <vt:lpstr>Unsolved Problems in Hydrology-UPH</vt:lpstr>
      <vt:lpstr>Unsolved Problems in Hydrology-UPH</vt:lpstr>
      <vt:lpstr>Unsolved Problems in Hydrology-UPH</vt:lpstr>
      <vt:lpstr>Unsolved Problems in Hydrology-UPH</vt:lpstr>
      <vt:lpstr>Unsolved Problems in Hydrology-UPH</vt:lpstr>
      <vt:lpstr>Assignment #1-1번 문제</vt:lpstr>
      <vt:lpstr>Real-world Examples of WRSE in Korea</vt:lpstr>
      <vt:lpstr>Real-world Examples of WRSE in Korea</vt:lpstr>
      <vt:lpstr>Real-world Examples of WRSE in Korea</vt:lpstr>
      <vt:lpstr>Real-world Examples of WRSE in Korea</vt:lpstr>
      <vt:lpstr>Conclusion of Lecture 01</vt:lpstr>
      <vt:lpstr>Future Schedule Preview</vt:lpstr>
      <vt:lpstr>Additional Coding Exercise</vt:lpstr>
      <vt:lpstr>Additional Coding Exercise</vt:lpstr>
      <vt:lpstr>Additional Coding 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 Joo</dc:creator>
  <cp:lastModifiedBy> </cp:lastModifiedBy>
  <cp:revision>2166</cp:revision>
  <cp:lastPrinted>2021-11-18T01:41:47Z</cp:lastPrinted>
  <dcterms:created xsi:type="dcterms:W3CDTF">2020-01-02T02:18:47Z</dcterms:created>
  <dcterms:modified xsi:type="dcterms:W3CDTF">2022-03-07T04:18:32Z</dcterms:modified>
</cp:coreProperties>
</file>