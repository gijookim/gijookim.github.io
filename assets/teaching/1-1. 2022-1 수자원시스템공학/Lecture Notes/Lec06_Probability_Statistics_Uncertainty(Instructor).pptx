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694" r:id="rId3"/>
    <p:sldId id="699" r:id="rId4"/>
    <p:sldId id="712" r:id="rId5"/>
    <p:sldId id="710" r:id="rId6"/>
    <p:sldId id="713" r:id="rId7"/>
    <p:sldId id="714" r:id="rId8"/>
    <p:sldId id="715" r:id="rId9"/>
    <p:sldId id="707" r:id="rId10"/>
    <p:sldId id="716" r:id="rId11"/>
    <p:sldId id="717" r:id="rId12"/>
    <p:sldId id="719" r:id="rId13"/>
    <p:sldId id="720" r:id="rId14"/>
    <p:sldId id="701" r:id="rId15"/>
    <p:sldId id="705" r:id="rId16"/>
    <p:sldId id="706" r:id="rId17"/>
    <p:sldId id="708" r:id="rId18"/>
    <p:sldId id="721" r:id="rId19"/>
    <p:sldId id="709" r:id="rId20"/>
    <p:sldId id="724" r:id="rId21"/>
    <p:sldId id="723" r:id="rId22"/>
    <p:sldId id="722" r:id="rId23"/>
    <p:sldId id="725" r:id="rId24"/>
    <p:sldId id="726" r:id="rId25"/>
    <p:sldId id="727" r:id="rId26"/>
    <p:sldId id="728" r:id="rId27"/>
    <p:sldId id="730" r:id="rId28"/>
    <p:sldId id="731" r:id="rId29"/>
    <p:sldId id="729" r:id="rId30"/>
    <p:sldId id="732" r:id="rId31"/>
    <p:sldId id="733" r:id="rId32"/>
    <p:sldId id="703" r:id="rId33"/>
    <p:sldId id="698" r:id="rId34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379" autoAdjust="0"/>
  </p:normalViewPr>
  <p:slideViewPr>
    <p:cSldViewPr>
      <p:cViewPr varScale="1">
        <p:scale>
          <a:sx n="104" d="100"/>
          <a:sy n="10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1 2 </a:t>
            </a:r>
          </a:p>
          <a:p>
            <a:r>
              <a:rPr lang="en-US" altLang="ko-KR" dirty="0"/>
              <a:t>3 4 </a:t>
            </a:r>
            <a:r>
              <a:rPr lang="ko-KR" altLang="en-US" dirty="0"/>
              <a:t>순서대로 </a:t>
            </a:r>
            <a:r>
              <a:rPr lang="en-US" altLang="ko-KR" dirty="0"/>
              <a:t>CDF // CDF // PDF // PMF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7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0.png"/><Relationship Id="rId15" Type="http://schemas.openxmlformats.org/officeDocument/2006/relationships/image" Target="../media/image5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Relationship Id="rId1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06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Probability,</a:t>
            </a:r>
            <a:r>
              <a:rPr lang="ko-KR" altLang="en-US" sz="3600" dirty="0"/>
              <a:t> </a:t>
            </a:r>
            <a:r>
              <a:rPr lang="en-US" altLang="ko-KR" sz="3600" dirty="0"/>
              <a:t>Statistics,</a:t>
            </a:r>
            <a:r>
              <a:rPr lang="ko-KR" altLang="en-US" sz="3600" dirty="0"/>
              <a:t> </a:t>
            </a:r>
            <a:r>
              <a:rPr lang="en-US" altLang="ko-KR" sz="3600" dirty="0"/>
              <a:t>Uncertainty, and Stochastic Simulations </a:t>
            </a:r>
          </a:p>
          <a:p>
            <a:r>
              <a:rPr lang="en-US" altLang="ko-KR" sz="3600" dirty="0"/>
              <a:t>Part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Previous Lectures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03-04: Introduction to Conventional Optimization Models</a:t>
            </a:r>
          </a:p>
          <a:p>
            <a:pPr lvl="1"/>
            <a:r>
              <a:rPr lang="en-US" altLang="ko-KR" b="1" dirty="0"/>
              <a:t> Nonlinear Optimization Models, LP, DP 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05: Data-fitting, Evolutionary Optimization Models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EA</a:t>
            </a:r>
            <a:r>
              <a:rPr lang="en-US" altLang="ko-KR" dirty="0"/>
              <a:t>: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GA</a:t>
            </a:r>
            <a:r>
              <a:rPr lang="en-US" altLang="ko-KR" dirty="0"/>
              <a:t>: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GP/EP</a:t>
            </a:r>
            <a:r>
              <a:rPr lang="en-US" altLang="ko-KR" dirty="0"/>
              <a:t>: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ANN</a:t>
            </a:r>
            <a:r>
              <a:rPr lang="en-US" altLang="ko-KR" dirty="0"/>
              <a:t>: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DE</a:t>
            </a:r>
            <a:r>
              <a:rPr lang="en-US" altLang="ko-KR" dirty="0"/>
              <a:t>: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 EMODPS:</a:t>
            </a:r>
            <a:r>
              <a:rPr lang="en-US" altLang="ko-KR" dirty="0"/>
              <a:t> Multi-objective Direct Policy Search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진화적 다목적</a:t>
            </a:r>
            <a:r>
              <a:rPr lang="en-US" altLang="ko-KR" dirty="0"/>
              <a:t> </a:t>
            </a:r>
            <a:r>
              <a:rPr lang="ko-KR" altLang="en-US" dirty="0"/>
              <a:t>직접 정책 </a:t>
            </a:r>
            <a:r>
              <a:rPr lang="ko-KR" altLang="en-US" dirty="0" err="1"/>
              <a:t>검색법</a:t>
            </a:r>
            <a:r>
              <a:rPr lang="en-US" altLang="ko-KR" dirty="0"/>
              <a:t>)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AE7A9-F72A-4CA6-BE90-C10B3452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095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Probability, Statistics, Uncertainty and Stochastic Simulations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80AD7-68DB-407C-97A1-C0707F258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798234"/>
          </a:xfrm>
        </p:spPr>
        <p:txBody>
          <a:bodyPr/>
          <a:lstStyle/>
          <a:p>
            <a:r>
              <a:rPr lang="en-US" altLang="ko-KR" dirty="0"/>
              <a:t> Why does Uncertainty (</a:t>
            </a:r>
            <a:r>
              <a:rPr lang="ko-KR" altLang="en-US" dirty="0"/>
              <a:t>불확실성</a:t>
            </a:r>
            <a:r>
              <a:rPr lang="en-US" altLang="ko-KR" dirty="0"/>
              <a:t>) occur in WRSA?</a:t>
            </a:r>
          </a:p>
          <a:p>
            <a:pPr lvl="1"/>
            <a:r>
              <a:rPr lang="en-US" altLang="ko-KR" dirty="0"/>
              <a:t> Difference in the timing of Design, Building &amp; Operation</a:t>
            </a:r>
          </a:p>
          <a:p>
            <a:pPr lvl="2"/>
            <a:r>
              <a:rPr lang="en-US" altLang="ko-KR" dirty="0"/>
              <a:t>Time variability &amp; change (</a:t>
            </a:r>
            <a:r>
              <a:rPr lang="en-US" altLang="ko-KR" dirty="0" err="1"/>
              <a:t>Blöschl</a:t>
            </a:r>
            <a:r>
              <a:rPr lang="en-US" altLang="ko-KR" dirty="0"/>
              <a:t> et al. 2019) </a:t>
            </a:r>
          </a:p>
          <a:p>
            <a:pPr lvl="1"/>
            <a:r>
              <a:rPr lang="en-US" altLang="ko-KR" dirty="0"/>
              <a:t> Stochastic (randomness over time) nature of meteorological and hydrological processes such as rainfall and evaporation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 How to deal with Uncertainty?</a:t>
            </a:r>
          </a:p>
          <a:p>
            <a:pPr lvl="2"/>
            <a:r>
              <a:rPr lang="en-US" altLang="ko-KR" dirty="0"/>
              <a:t>Simplest approach = Replacing with </a:t>
            </a:r>
            <a:r>
              <a:rPr lang="en-US" altLang="ko-KR" b="1" u="sng" dirty="0"/>
              <a:t>representative values (</a:t>
            </a:r>
            <a:r>
              <a:rPr lang="ko-KR" altLang="en-US" b="1" u="sng" dirty="0" err="1"/>
              <a:t>대표값</a:t>
            </a:r>
            <a:r>
              <a:rPr lang="en-US" altLang="ko-KR" b="1" u="sng" dirty="0"/>
              <a:t>)</a:t>
            </a:r>
          </a:p>
          <a:p>
            <a:pPr lvl="2"/>
            <a:r>
              <a:rPr lang="en-US" altLang="ko-KR" dirty="0"/>
              <a:t>Mean (expected values), median, worst-case values, etc. … </a:t>
            </a:r>
          </a:p>
          <a:p>
            <a:pPr lvl="2"/>
            <a:r>
              <a:rPr lang="en-US" altLang="ko-KR" dirty="0"/>
              <a:t>However, can create a </a:t>
            </a:r>
            <a:r>
              <a:rPr lang="en-US" altLang="ko-KR" b="1" u="sng" dirty="0">
                <a:solidFill>
                  <a:srgbClr val="FF0000"/>
                </a:solidFill>
              </a:rPr>
              <a:t>poor representation of both the average performance &amp; the possible performance range</a:t>
            </a:r>
          </a:p>
          <a:p>
            <a:r>
              <a:rPr lang="en-US" altLang="ko-KR" dirty="0"/>
              <a:t> Probability &amp; Statistics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7F5A0-C20B-4795-AD6A-196145CA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6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</a:t>
            </a:r>
          </a:p>
          <a:p>
            <a:pPr marL="457200" lvl="1" indent="0">
              <a:buNone/>
            </a:pPr>
            <a:r>
              <a:rPr lang="en-US" altLang="ko-KR" b="1" dirty="0"/>
              <a:t>1) Measures of Central Tendency</a:t>
            </a:r>
          </a:p>
          <a:p>
            <a:pPr lvl="2"/>
            <a:r>
              <a:rPr lang="en-US" altLang="ko-KR" dirty="0"/>
              <a:t>Arithmetic Mean (expected values)</a:t>
            </a:r>
          </a:p>
          <a:p>
            <a:pPr lvl="2"/>
            <a:r>
              <a:rPr lang="en-US" altLang="ko-KR" dirty="0"/>
              <a:t>Median (</a:t>
            </a:r>
            <a:r>
              <a:rPr lang="ko-KR" altLang="en-US" dirty="0"/>
              <a:t>중앙값</a:t>
            </a:r>
            <a:r>
              <a:rPr lang="en-US" altLang="ko-KR" dirty="0"/>
              <a:t>) </a:t>
            </a:r>
          </a:p>
          <a:p>
            <a:pPr marL="914400" lvl="2" indent="0">
              <a:buNone/>
            </a:pPr>
            <a:r>
              <a:rPr lang="en-US" altLang="ko-KR" dirty="0"/>
              <a:t>    =&gt; useful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describing central tendency </a:t>
            </a:r>
            <a:br>
              <a:rPr lang="en-US" altLang="ko-KR" dirty="0"/>
            </a:br>
            <a:r>
              <a:rPr lang="en-US" altLang="ko-KR" dirty="0"/>
              <a:t>         regardless of skewness (less sensitive to outsiders)</a:t>
            </a:r>
          </a:p>
          <a:p>
            <a:pPr lvl="2"/>
            <a:r>
              <a:rPr lang="en-US" altLang="ko-KR" dirty="0"/>
              <a:t>Mode (</a:t>
            </a:r>
            <a:r>
              <a:rPr lang="ko-KR" altLang="en-US" dirty="0" err="1"/>
              <a:t>최빈값</a:t>
            </a:r>
            <a:r>
              <a:rPr lang="en-US" altLang="ko-KR" dirty="0"/>
              <a:t>) 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E0FA519-F296-4B04-AC65-A5E6807A5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9" t="81538" r="7591"/>
          <a:stretch>
            <a:fillRect/>
          </a:stretch>
        </p:blipFill>
        <p:spPr bwMode="auto">
          <a:xfrm>
            <a:off x="1614488" y="4107656"/>
            <a:ext cx="26701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0C52E4FA-158E-4FC8-BBA2-0DF8718F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02931"/>
            <a:ext cx="2819400" cy="16764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CF5E98F-C781-46F1-9547-A90F412CC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6169253"/>
            <a:ext cx="495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(Where n is the number of data points)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585AB52-4813-4805-BBC7-1CFB861D9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326731"/>
            <a:ext cx="32766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" name="Object 19">
            <a:extLst>
              <a:ext uri="{FF2B5EF4-FFF2-40B4-BE49-F238E27FC236}">
                <a16:creationId xmlns:a16="http://schemas.microsoft.com/office/drawing/2014/main" id="{9FA53D9F-450A-4035-9DBE-B08B6DBC8D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95447"/>
              </p:ext>
            </p:extLst>
          </p:nvPr>
        </p:nvGraphicFramePr>
        <p:xfrm>
          <a:off x="1981200" y="4504531"/>
          <a:ext cx="2019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4" imgW="647640" imgH="431640" progId="Equation.DSMT4">
                  <p:embed/>
                </p:oleObj>
              </mc:Choice>
              <mc:Fallback>
                <p:oleObj name="Equation" r:id="rId4" imgW="647640" imgH="431640" progId="Equation.DSMT4">
                  <p:embed/>
                  <p:pic>
                    <p:nvPicPr>
                      <p:cNvPr id="205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04531"/>
                        <a:ext cx="20193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AF10F83F-04C2-4F5B-A32A-DE008D734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131534"/>
              </p:ext>
            </p:extLst>
          </p:nvPr>
        </p:nvGraphicFramePr>
        <p:xfrm>
          <a:off x="4951455" y="4587527"/>
          <a:ext cx="1006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6" imgW="279360" imgH="253800" progId="Equation.DSMT4">
                  <p:embed/>
                </p:oleObj>
              </mc:Choice>
              <mc:Fallback>
                <p:oleObj name="Equation" r:id="rId6" imgW="279360" imgH="253800" progId="Equation.DSMT4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55" y="4587527"/>
                        <a:ext cx="1006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C17303-C865-4721-8AFB-23A631F65EF4}"/>
              </a:ext>
            </a:extLst>
          </p:cNvPr>
          <p:cNvSpPr txBox="1"/>
          <p:nvPr/>
        </p:nvSpPr>
        <p:spPr>
          <a:xfrm>
            <a:off x="5939814" y="4444563"/>
            <a:ext cx="2670175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1,3, 3, </a:t>
            </a:r>
            <a:r>
              <a:rPr lang="en-US" b="1" dirty="0"/>
              <a:t>6</a:t>
            </a:r>
            <a:r>
              <a:rPr lang="en-US" dirty="0"/>
              <a:t>, 7, 8, 9</a:t>
            </a:r>
          </a:p>
          <a:p>
            <a:pPr algn="ctr"/>
            <a:r>
              <a:rPr lang="en-US" dirty="0"/>
              <a:t>Median =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  <a:p>
            <a:pPr algn="ctr"/>
            <a:r>
              <a:rPr lang="en-US" dirty="0"/>
              <a:t>1, 2, 3, </a:t>
            </a:r>
            <a:r>
              <a:rPr lang="en-US" b="1" dirty="0"/>
              <a:t>4, 5</a:t>
            </a:r>
            <a:r>
              <a:rPr lang="en-US" dirty="0"/>
              <a:t>, 6, 8, 9</a:t>
            </a:r>
          </a:p>
          <a:p>
            <a:pPr algn="ctr"/>
            <a:r>
              <a:rPr lang="en-US" dirty="0"/>
              <a:t>Median = (4+5) / 2 = </a:t>
            </a:r>
            <a:r>
              <a:rPr lang="en-US" b="1" dirty="0">
                <a:solidFill>
                  <a:srgbClr val="FF0000"/>
                </a:solidFill>
              </a:rPr>
              <a:t>4.5</a:t>
            </a:r>
          </a:p>
        </p:txBody>
      </p:sp>
    </p:spTree>
    <p:extLst>
      <p:ext uri="{BB962C8B-B14F-4D97-AF65-F5344CB8AC3E}">
        <p14:creationId xmlns:p14="http://schemas.microsoft.com/office/powerpoint/2010/main" val="80759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3" name="Picture 13" descr="Interquartile Range | Understand, Calculate &amp; Visualize IQR">
            <a:extLst>
              <a:ext uri="{FF2B5EF4-FFF2-40B4-BE49-F238E27FC236}">
                <a16:creationId xmlns:a16="http://schemas.microsoft.com/office/drawing/2014/main" id="{E899D576-29A2-462B-919E-B0AB32CA0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70" y="3861879"/>
            <a:ext cx="44577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807C68-7E3D-4857-AB01-21E1F95A9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Basic Probability Concepts</a:t>
                </a:r>
              </a:p>
              <a:p>
                <a:pPr marL="457200" lvl="1" indent="0">
                  <a:buNone/>
                </a:pPr>
                <a:r>
                  <a:rPr lang="en-US" altLang="ko-KR" b="1" dirty="0"/>
                  <a:t>2) Measures of Dispersion: </a:t>
                </a:r>
                <a:r>
                  <a:rPr lang="en-US" altLang="ko-KR" dirty="0"/>
                  <a:t>Describes the spread of data</a:t>
                </a:r>
              </a:p>
              <a:p>
                <a:pPr lvl="1"/>
                <a:r>
                  <a:rPr lang="en-US" altLang="ko-KR" dirty="0"/>
                  <a:t> Examples include: </a:t>
                </a:r>
              </a:p>
              <a:p>
                <a:pPr lvl="2"/>
                <a:r>
                  <a:rPr lang="en-US" altLang="ko-KR" dirty="0"/>
                  <a:t>Range: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ko-KR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 err="1"/>
                  <a:t>관측값중</a:t>
                </a:r>
                <a:r>
                  <a:rPr lang="ko-KR" altLang="en-US" dirty="0"/>
                  <a:t> 가장 큰 값 </a:t>
                </a:r>
                <a:r>
                  <a:rPr lang="en-US" altLang="ko-KR" dirty="0"/>
                  <a:t>&amp; </a:t>
                </a:r>
                <a:r>
                  <a:rPr lang="ko-KR" altLang="en-US" dirty="0"/>
                  <a:t>가장 작은 값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Quartiles &amp; Interquartile Range</a:t>
                </a:r>
              </a:p>
              <a:p>
                <a:pPr lvl="2"/>
                <a:r>
                  <a:rPr lang="en-US" altLang="ko-KR" dirty="0"/>
                  <a:t>Variance (Standard Deviation)</a:t>
                </a:r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807C68-7E3D-4857-AB01-21E1F95A9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AF9BD2-FDB3-438E-AF3C-85BF556BD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341" y="4513395"/>
            <a:ext cx="3505200" cy="16764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6BA945C-367E-46D4-BCD6-2E1A9EAFD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4437195"/>
            <a:ext cx="38862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33">
            <a:extLst>
              <a:ext uri="{FF2B5EF4-FFF2-40B4-BE49-F238E27FC236}">
                <a16:creationId xmlns:a16="http://schemas.microsoft.com/office/drawing/2014/main" id="{BFA44183-3D4C-4477-B48B-7A432E6B2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189433"/>
              </p:ext>
            </p:extLst>
          </p:nvPr>
        </p:nvGraphicFramePr>
        <p:xfrm>
          <a:off x="5478016" y="4665795"/>
          <a:ext cx="27590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5" imgW="1091880" imgH="482400" progId="Equation.DSMT4">
                  <p:embed/>
                </p:oleObj>
              </mc:Choice>
              <mc:Fallback>
                <p:oleObj name="Equation" r:id="rId5" imgW="1091880" imgH="482400" progId="Equation.DSMT4">
                  <p:embed/>
                  <p:pic>
                    <p:nvPicPr>
                      <p:cNvPr id="409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016" y="4665795"/>
                        <a:ext cx="27590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9A49BD8-0A48-4669-BCD5-82892DC03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979" y="3429000"/>
            <a:ext cx="2977329" cy="1313353"/>
          </a:xfrm>
          <a:prstGeom prst="rect">
            <a:avLst/>
          </a:prstGeom>
        </p:spPr>
      </p:pic>
      <p:pic>
        <p:nvPicPr>
          <p:cNvPr id="5136" name="Picture 16" descr="Interquartile Range Calculator - Statistics How To">
            <a:extLst>
              <a:ext uri="{FF2B5EF4-FFF2-40B4-BE49-F238E27FC236}">
                <a16:creationId xmlns:a16="http://schemas.microsoft.com/office/drawing/2014/main" id="{3B303E09-FD74-4095-BD75-E1518CCE9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69" y="5339974"/>
            <a:ext cx="3510089" cy="130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64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</a:t>
            </a:r>
          </a:p>
          <a:p>
            <a:pPr marL="457200" lvl="1" indent="0">
              <a:buNone/>
            </a:pPr>
            <a:r>
              <a:rPr lang="en-US" altLang="ko-KR" b="1" dirty="0"/>
              <a:t>3) Measure of Asymmetry</a:t>
            </a:r>
          </a:p>
          <a:p>
            <a:pPr lvl="2"/>
            <a:r>
              <a:rPr lang="en-US" altLang="ko-KR" dirty="0"/>
              <a:t>Coefficient of Skew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77B15913-C490-42DA-A51A-D645309BC58A}"/>
              </a:ext>
            </a:extLst>
          </p:cNvPr>
          <p:cNvGrpSpPr>
            <a:grpSpLocks/>
          </p:cNvGrpSpPr>
          <p:nvPr/>
        </p:nvGrpSpPr>
        <p:grpSpPr bwMode="auto">
          <a:xfrm>
            <a:off x="3347864" y="2613025"/>
            <a:ext cx="5667375" cy="1631950"/>
            <a:chOff x="2079" y="960"/>
            <a:chExt cx="3570" cy="1028"/>
          </a:xfrm>
        </p:grpSpPr>
        <p:pic>
          <p:nvPicPr>
            <p:cNvPr id="6" name="Picture 9">
              <a:extLst>
                <a:ext uri="{FF2B5EF4-FFF2-40B4-BE49-F238E27FC236}">
                  <a16:creationId xmlns:a16="http://schemas.microsoft.com/office/drawing/2014/main" id="{7E079A0B-19E0-4047-A6C1-ACFEC83B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68" t="57155" r="5992" b="8614"/>
            <a:stretch>
              <a:fillRect/>
            </a:stretch>
          </p:blipFill>
          <p:spPr bwMode="auto">
            <a:xfrm>
              <a:off x="2079" y="960"/>
              <a:ext cx="3570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5CFBEADF-6857-4B3A-A723-B297871C0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2326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2D6D2353-3293-4FC6-BEBC-0229E29A5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3496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8BF6B847-8571-40D7-B7EA-053952D7E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4660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14">
            <a:extLst>
              <a:ext uri="{FF2B5EF4-FFF2-40B4-BE49-F238E27FC236}">
                <a16:creationId xmlns:a16="http://schemas.microsoft.com/office/drawing/2014/main" id="{EB9B08AC-A873-415C-9A10-C0CDB2423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99" y="2873375"/>
            <a:ext cx="2057400" cy="13716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2124EECB-C10B-4684-A9C5-06C83415B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99" y="2720975"/>
            <a:ext cx="24384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B51B28E7-BF81-4441-BD1B-70DC9D805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48098"/>
              </p:ext>
            </p:extLst>
          </p:nvPr>
        </p:nvGraphicFramePr>
        <p:xfrm>
          <a:off x="1127799" y="2949575"/>
          <a:ext cx="155098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Equation" r:id="rId5" imgW="533160" imgH="419040" progId="Equation.DSMT4">
                  <p:embed/>
                </p:oleObj>
              </mc:Choice>
              <mc:Fallback>
                <p:oleObj name="Equation" r:id="rId5" imgW="533160" imgH="419040" progId="Equation.DSMT4">
                  <p:embed/>
                  <p:pic>
                    <p:nvPicPr>
                      <p:cNvPr id="51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799" y="2949575"/>
                        <a:ext cx="155098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>
            <a:extLst>
              <a:ext uri="{FF2B5EF4-FFF2-40B4-BE49-F238E27FC236}">
                <a16:creationId xmlns:a16="http://schemas.microsoft.com/office/drawing/2014/main" id="{9019C85C-FDDF-4034-9297-9208CB299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5" t="42744" r="4840" b="42169"/>
          <a:stretch>
            <a:fillRect/>
          </a:stretch>
        </p:blipFill>
        <p:spPr bwMode="auto">
          <a:xfrm>
            <a:off x="6102177" y="5124450"/>
            <a:ext cx="16002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8">
            <a:extLst>
              <a:ext uri="{FF2B5EF4-FFF2-40B4-BE49-F238E27FC236}">
                <a16:creationId xmlns:a16="http://schemas.microsoft.com/office/drawing/2014/main" id="{BAA56F99-0AF3-44A1-AA37-3DBAD35B3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777" y="46609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Using the 3</a:t>
            </a:r>
            <a:r>
              <a:rPr lang="en-US" baseline="30000" dirty="0"/>
              <a:t>rd</a:t>
            </a:r>
            <a:r>
              <a:rPr lang="en-US" dirty="0"/>
              <a:t> moment and the standard deviation,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0C3481-58FD-4B9D-A525-E66335E8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777" y="5194300"/>
            <a:ext cx="2514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1592BF60-310B-41BC-8AA6-A9FAC015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7" t="20116" b="57256"/>
          <a:stretch>
            <a:fillRect/>
          </a:stretch>
        </p:blipFill>
        <p:spPr bwMode="auto">
          <a:xfrm>
            <a:off x="2215977" y="5027613"/>
            <a:ext cx="30480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7">
            <a:extLst>
              <a:ext uri="{FF2B5EF4-FFF2-40B4-BE49-F238E27FC236}">
                <a16:creationId xmlns:a16="http://schemas.microsoft.com/office/drawing/2014/main" id="{31B5D6A9-4B7E-4B0B-94E6-3D277BD13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377" y="5408613"/>
            <a:ext cx="137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35656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5" grpId="0" animBg="1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 </a:t>
            </a:r>
            <a:r>
              <a:rPr lang="en-US" altLang="ko-KR" b="1" dirty="0"/>
              <a:t>(Data observed in Pairs)</a:t>
            </a:r>
          </a:p>
          <a:p>
            <a:pPr marL="457200" lvl="1" indent="0">
              <a:buNone/>
            </a:pPr>
            <a:r>
              <a:rPr lang="en-US" altLang="ko-KR" b="1" dirty="0"/>
              <a:t>4) Measure of Correlation (Relation between two random variables)</a:t>
            </a:r>
          </a:p>
          <a:p>
            <a:pPr lvl="2"/>
            <a:r>
              <a:rPr lang="en-US" altLang="ko-KR" dirty="0"/>
              <a:t>Linear Correlation Coefficient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5BDC2BA-7B3D-459F-B82D-D305FD8AA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46173"/>
              </p:ext>
            </p:extLst>
          </p:nvPr>
        </p:nvGraphicFramePr>
        <p:xfrm>
          <a:off x="1695450" y="2636912"/>
          <a:ext cx="5753100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3" imgW="2463480" imgH="533160" progId="Equation.DSMT4">
                  <p:embed/>
                </p:oleObj>
              </mc:Choice>
              <mc:Fallback>
                <p:oleObj name="Equation" r:id="rId3" imgW="2463480" imgH="533160" progId="Equation.DSMT4">
                  <p:embed/>
                  <p:pic>
                    <p:nvPicPr>
                      <p:cNvPr id="717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2636912"/>
                        <a:ext cx="5753100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>
            <a:extLst>
              <a:ext uri="{FF2B5EF4-FFF2-40B4-BE49-F238E27FC236}">
                <a16:creationId xmlns:a16="http://schemas.microsoft.com/office/drawing/2014/main" id="{4B5E3C21-C4FB-48DD-AE40-2E133A7F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r="50392" b="51199"/>
          <a:stretch>
            <a:fillRect/>
          </a:stretch>
        </p:blipFill>
        <p:spPr bwMode="auto">
          <a:xfrm>
            <a:off x="1043608" y="3853666"/>
            <a:ext cx="3746635" cy="279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C2161AEA-B12F-4FEB-9132-C9568938B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486400"/>
            <a:ext cx="5105400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sz="2800">
                <a:solidFill>
                  <a:srgbClr val="808080"/>
                </a:solidFill>
              </a:rPr>
              <a:t>Correl(Rainfall,Runoff) = 0.91</a:t>
            </a:r>
          </a:p>
        </p:txBody>
      </p:sp>
    </p:spTree>
    <p:extLst>
      <p:ext uri="{BB962C8B-B14F-4D97-AF65-F5344CB8AC3E}">
        <p14:creationId xmlns:p14="http://schemas.microsoft.com/office/powerpoint/2010/main" val="336390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A73F2-FB8C-42EF-AED0-6381D425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104F0-3259-4931-A667-D5EA17C7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How to deal with Uncertainty?</a:t>
            </a:r>
          </a:p>
          <a:p>
            <a:pPr lvl="1"/>
            <a:r>
              <a:rPr lang="en-US" altLang="ko-KR" dirty="0"/>
              <a:t>Simplest approach = Replacing with </a:t>
            </a:r>
            <a:r>
              <a:rPr lang="en-US" altLang="ko-KR" b="1" u="sng" dirty="0"/>
              <a:t>representative values (</a:t>
            </a:r>
            <a:r>
              <a:rPr lang="ko-KR" altLang="en-US" b="1" u="sng" dirty="0" err="1"/>
              <a:t>대표값</a:t>
            </a:r>
            <a:r>
              <a:rPr lang="en-US" altLang="ko-KR" b="1" u="sng" dirty="0"/>
              <a:t>)</a:t>
            </a:r>
          </a:p>
          <a:p>
            <a:pPr lvl="1"/>
            <a:r>
              <a:rPr lang="en-US" altLang="ko-KR" dirty="0"/>
              <a:t>Mean (expected values), median, worst-case values, etc. … </a:t>
            </a:r>
          </a:p>
          <a:p>
            <a:pPr lvl="1"/>
            <a:r>
              <a:rPr lang="en-US" altLang="ko-KR" dirty="0"/>
              <a:t>However, can create a </a:t>
            </a:r>
            <a:r>
              <a:rPr lang="en-US" altLang="ko-KR" b="1" u="sng" dirty="0">
                <a:solidFill>
                  <a:srgbClr val="FF0000"/>
                </a:solidFill>
              </a:rPr>
              <a:t>poor representation of both the average performance &amp; the possible performance range</a:t>
            </a:r>
          </a:p>
          <a:p>
            <a:endParaRPr lang="en-US" altLang="ko-KR" sz="1600" dirty="0"/>
          </a:p>
          <a:p>
            <a:r>
              <a:rPr lang="en-US" altLang="ko-KR" b="1" dirty="0"/>
              <a:t> </a:t>
            </a:r>
            <a:r>
              <a:rPr lang="en-US" altLang="ko-KR" dirty="0"/>
              <a:t>Common Representative Values for: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Measures of Central Tendency: </a:t>
            </a:r>
            <a:r>
              <a:rPr lang="en-US" altLang="ko-KR" b="1" u="sng" dirty="0"/>
              <a:t>mean, median, mode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Measures of Dispersion: </a:t>
            </a:r>
            <a:r>
              <a:rPr lang="en-US" altLang="ko-KR" b="1" u="sng" dirty="0"/>
              <a:t>range, IQR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 of Asymmetry: </a:t>
            </a:r>
            <a:r>
              <a:rPr lang="en-US" altLang="ko-KR" b="1" u="sng" dirty="0"/>
              <a:t>coefficient of skew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 of Correlation: </a:t>
            </a:r>
            <a:r>
              <a:rPr lang="en-US" altLang="ko-KR" b="1" u="sng" dirty="0"/>
              <a:t>linear correlation coefficient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DADD2-9D2B-4955-8D75-C2C322B8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87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B13EE-9E3A-4EB7-B8FF-ABE2CD61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Explain the data with Rep. Values?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3621A-7E5F-4BE8-AA60-334656EF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88C58F9-66F6-409C-BBBD-24719DD01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" y="1978484"/>
            <a:ext cx="7877175" cy="316230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2A7BB8E-8675-4814-9FE1-EAF29CFE7500}"/>
              </a:ext>
            </a:extLst>
          </p:cNvPr>
          <p:cNvSpPr/>
          <p:nvPr/>
        </p:nvSpPr>
        <p:spPr>
          <a:xfrm>
            <a:off x="633411" y="5140784"/>
            <a:ext cx="7877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Justin </a:t>
            </a:r>
            <a:r>
              <a:rPr lang="en-US" sz="1200" i="1" dirty="0" err="1"/>
              <a:t>Matejka</a:t>
            </a:r>
            <a:r>
              <a:rPr lang="en-US" sz="1200" i="1" dirty="0"/>
              <a:t>, George Fitzmaurice (2017)</a:t>
            </a:r>
            <a:r>
              <a:rPr lang="en-US" sz="1200" dirty="0"/>
              <a:t>. Same Stats, Different Graphs: Generating Datasets with Varied Appearance and Identical Statistics through Simulated Annealing </a:t>
            </a:r>
            <a:r>
              <a:rPr lang="en-US" sz="1200" i="1" dirty="0"/>
              <a:t>CHI 2017 Conference proceedings:</a:t>
            </a:r>
            <a:r>
              <a:rPr lang="en-US" sz="1200" dirty="0"/>
              <a:t> ACM SIGCHI Conference on Human Factors in Computing Systems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CE6C368-0404-448B-BA95-7B1E09F59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b="1" dirty="0"/>
              <a:t> No! Proof?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55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CBF74-D07F-4234-BFE3-2556D1FE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Probability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02306C-8357-4392-82DD-57513F610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Random variables &amp; Distributions</a:t>
                </a:r>
              </a:p>
              <a:p>
                <a:pPr lvl="1"/>
                <a:r>
                  <a:rPr lang="en-US" altLang="ko-KR" dirty="0"/>
                  <a:t> Random variables (RVs, </a:t>
                </a:r>
                <a:r>
                  <a:rPr lang="ko-KR" altLang="en-US" dirty="0"/>
                  <a:t>확률 변수 </a:t>
                </a:r>
                <a:r>
                  <a:rPr lang="en-US" altLang="ko-KR" dirty="0"/>
                  <a:t>= stochastic variable): </a:t>
                </a:r>
                <a:br>
                  <a:rPr lang="en-US" altLang="ko-KR" dirty="0"/>
                </a:br>
                <a:r>
                  <a:rPr lang="en-US" altLang="ko-KR" dirty="0"/>
                  <a:t>function whose value cannot be predicted with certainty</a:t>
                </a:r>
              </a:p>
              <a:p>
                <a:pPr lvl="2"/>
                <a:r>
                  <a:rPr lang="en-US" altLang="ko-KR" dirty="0"/>
                  <a:t>For instance, let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denote a random variable, </a:t>
                </a:r>
                <a:br>
                  <a:rPr lang="en-US" altLang="ko-KR" dirty="0"/>
                </a:b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 possible value of the random variable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r>
                  <a:rPr lang="en-US" altLang="ko-KR" dirty="0"/>
                  <a:t>Types of RV: Discrete RV // Continuous RV</a:t>
                </a:r>
              </a:p>
              <a:p>
                <a:pPr lvl="3"/>
                <a:r>
                  <a:rPr lang="en-US" altLang="ko-KR" dirty="0"/>
                  <a:t>Examples? </a:t>
                </a:r>
              </a:p>
              <a:p>
                <a:pPr lvl="4"/>
                <a:r>
                  <a:rPr lang="en-US" altLang="ko-KR" dirty="0"/>
                  <a:t>Coin Toss</a:t>
                </a:r>
              </a:p>
              <a:p>
                <a:pPr lvl="4"/>
                <a:r>
                  <a:rPr lang="en-US" altLang="ko-KR" dirty="0"/>
                  <a:t>Height</a:t>
                </a:r>
              </a:p>
              <a:p>
                <a:pPr lvl="4"/>
                <a:r>
                  <a:rPr lang="en-US" altLang="ko-KR" dirty="0"/>
                  <a:t>Weight</a:t>
                </a:r>
              </a:p>
              <a:p>
                <a:pPr lvl="4"/>
                <a:r>
                  <a:rPr lang="en-US" altLang="ko-KR" dirty="0"/>
                  <a:t>Dice Roll</a:t>
                </a:r>
              </a:p>
              <a:p>
                <a:pPr lvl="4"/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02306C-8357-4392-82DD-57513F610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4354F-E979-4BFB-BF0E-645ACCFE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86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95347-3047-484E-8AB4-AD23A78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8A52C9E1-F3E6-4054-99E9-B8034C568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is a discrete random variable,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8A52C9E1-F3E6-4054-99E9-B8034C568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71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AE80F0-A80E-4E19-94A9-3F6E66AAB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is a continuous random variable,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AE80F0-A80E-4E19-94A9-3F6E66AAB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64744-49AB-4C9D-87C7-BE163C5D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31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B8924-A62B-4223-91CA-A42EAE30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1EA38CCF-FF3F-42FD-868A-8AEBA02B6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In case of joint probability distribution of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,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1EA38CCF-FF3F-42FD-868A-8AEBA02B6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28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14E8B-310B-4C74-B14F-D71820EB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the Probability Concepts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D6EECA-1580-4991-B0B4-CA0C463CE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4450" y="1268413"/>
            <a:ext cx="5695100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5BF81-32B3-4CA6-A829-3172FC3D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0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69CA1-96E4-4175-B31F-5591462A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D6A4E-0A56-4A55-ACED-91B2A908A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38" r="78770"/>
          <a:stretch>
            <a:fillRect/>
          </a:stretch>
        </p:blipFill>
        <p:spPr bwMode="auto">
          <a:xfrm>
            <a:off x="632495" y="330696"/>
            <a:ext cx="1676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3A0CA-1E88-480F-9652-8B6CC93FE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847"/>
          <a:stretch>
            <a:fillRect/>
          </a:stretch>
        </p:blipFill>
        <p:spPr bwMode="auto">
          <a:xfrm>
            <a:off x="632495" y="1245096"/>
            <a:ext cx="1676400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0455BA4-17E1-41AD-9C49-1255232F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9" t="81538"/>
          <a:stretch>
            <a:fillRect/>
          </a:stretch>
        </p:blipFill>
        <p:spPr bwMode="auto">
          <a:xfrm>
            <a:off x="2585120" y="330696"/>
            <a:ext cx="1676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4862121-96BE-40B3-AD82-046480E2A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7"/>
          <a:stretch>
            <a:fillRect/>
          </a:stretch>
        </p:blipFill>
        <p:spPr bwMode="auto">
          <a:xfrm>
            <a:off x="2508920" y="1245096"/>
            <a:ext cx="1704975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A4047F10-A6D9-4ADA-8BE0-E8EFCD50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5" b="10628"/>
          <a:stretch>
            <a:fillRect/>
          </a:stretch>
        </p:blipFill>
        <p:spPr bwMode="auto">
          <a:xfrm>
            <a:off x="2051720" y="4293096"/>
            <a:ext cx="274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C883FBD0-02E5-4DE2-ADCE-AB342AC95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40" b="18076"/>
          <a:stretch>
            <a:fillRect/>
          </a:stretch>
        </p:blipFill>
        <p:spPr bwMode="auto">
          <a:xfrm>
            <a:off x="603920" y="4293096"/>
            <a:ext cx="1600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1">
            <a:extLst>
              <a:ext uri="{FF2B5EF4-FFF2-40B4-BE49-F238E27FC236}">
                <a16:creationId xmlns:a16="http://schemas.microsoft.com/office/drawing/2014/main" id="{EEB2E37E-1B3B-4A02-B595-71CE81B2A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920" y="1321296"/>
            <a:ext cx="0" cy="50292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D3AFCCC9-87DF-4B11-B0A0-6E6F7AB56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7" r="80699" b="18462"/>
          <a:stretch>
            <a:fillRect/>
          </a:stretch>
        </p:blipFill>
        <p:spPr bwMode="auto">
          <a:xfrm>
            <a:off x="4981575" y="2057400"/>
            <a:ext cx="15240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F852D8A6-74E3-49A7-ABB9-B1D4A6E65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7" t="15897" b="18462"/>
          <a:stretch>
            <a:fillRect/>
          </a:stretch>
        </p:blipFill>
        <p:spPr bwMode="auto">
          <a:xfrm>
            <a:off x="6505575" y="2057400"/>
            <a:ext cx="233362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172D7B6-47F8-4383-AB18-3D8CC098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575" y="365127"/>
            <a:ext cx="3533774" cy="759618"/>
          </a:xfrm>
        </p:spPr>
        <p:txBody>
          <a:bodyPr/>
          <a:lstStyle/>
          <a:p>
            <a:r>
              <a:rPr lang="en-US" altLang="ko-KR" dirty="0"/>
              <a:t>Summary (2)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306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2E96B-AEC2-4863-AF38-6EA93703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Distributions in WRSA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69FCC-7D84-4AFD-91F8-CEC18E74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5E09C6-948D-489E-A565-BE6CD549E3C4}"/>
              </a:ext>
            </a:extLst>
          </p:cNvPr>
          <p:cNvGrpSpPr/>
          <p:nvPr/>
        </p:nvGrpSpPr>
        <p:grpSpPr>
          <a:xfrm>
            <a:off x="827584" y="1149085"/>
            <a:ext cx="7848600" cy="5181600"/>
            <a:chOff x="1066800" y="990600"/>
            <a:chExt cx="7848600" cy="5181600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E9553C0E-F257-4A6A-946C-6ECE52CD9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5" t="16969" r="6363" b="6667"/>
            <a:stretch>
              <a:fillRect/>
            </a:stretch>
          </p:blipFill>
          <p:spPr bwMode="auto">
            <a:xfrm>
              <a:off x="1066800" y="1020763"/>
              <a:ext cx="7696200" cy="4999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CBB1A08C-AA9E-4C41-AED7-77623A63A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990600"/>
              <a:ext cx="838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D0C6F094-A3BB-4E3B-89E0-43BFD0811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6388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33152BB6-AA79-453E-8313-95AD91B85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638800"/>
              <a:ext cx="2362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650165EE-C903-4FD5-95A3-5D9191AA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715000"/>
              <a:ext cx="1371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59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A8AA4-C1EE-4DB5-A330-80373A64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416"/>
            <a:ext cx="7886700" cy="1191666"/>
          </a:xfrm>
        </p:spPr>
        <p:txBody>
          <a:bodyPr>
            <a:normAutofit/>
          </a:bodyPr>
          <a:lstStyle/>
          <a:p>
            <a:r>
              <a:rPr lang="en-US" altLang="ko-KR" dirty="0"/>
              <a:t>More on the Normal </a:t>
            </a:r>
            <a:br>
              <a:rPr lang="en-US" altLang="ko-KR" dirty="0"/>
            </a:br>
            <a:r>
              <a:rPr lang="en-US" altLang="ko-KR" dirty="0"/>
              <a:t>Distribution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1839CE-9368-4E29-BB0F-BB8F515A2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517988"/>
                <a:ext cx="7886700" cy="36589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 Most commonly used distribution</a:t>
                </a:r>
              </a:p>
              <a:p>
                <a:r>
                  <a:rPr lang="en-US" altLang="ko-KR" dirty="0"/>
                  <a:t> Many variables in nature are normally distributed</a:t>
                </a:r>
              </a:p>
              <a:p>
                <a:r>
                  <a:rPr lang="en-US" altLang="ko-KR" dirty="0"/>
                  <a:t> Fully described by two parameters: </a:t>
                </a:r>
                <a:br>
                  <a:rPr lang="en-US" altLang="ko-KR" dirty="0"/>
                </a:br>
                <a:r>
                  <a:rPr lang="en-US" altLang="ko-KR" dirty="0"/>
                  <a:t>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 and standard deviation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The mean = the median</a:t>
                </a:r>
              </a:p>
              <a:p>
                <a:r>
                  <a:rPr lang="en-US" altLang="ko-KR" dirty="0"/>
                  <a:t> Central Limit Theorem (CLT)– </a:t>
                </a:r>
                <a:br>
                  <a:rPr lang="en-US" altLang="ko-KR" dirty="0"/>
                </a:br>
                <a:r>
                  <a:rPr lang="en-US" altLang="ko-KR" dirty="0"/>
                  <a:t>the sum of a large number of individual random components tends to be a normal distribution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1839CE-9368-4E29-BB0F-BB8F515A2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517988"/>
                <a:ext cx="7886700" cy="3658975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8777-D6CD-4E28-B913-7D759392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1BCC18F-12CE-4F2F-BA31-26DB8E914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88" y="208176"/>
            <a:ext cx="371792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9C193-C930-4FD9-914B-3F19034C57C8}"/>
                  </a:ext>
                </a:extLst>
              </p:cNvPr>
              <p:cNvSpPr txBox="1"/>
              <p:nvPr/>
            </p:nvSpPr>
            <p:spPr>
              <a:xfrm>
                <a:off x="1547664" y="1700808"/>
                <a:ext cx="17631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9C193-C930-4FD9-914B-3F19034C5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1700808"/>
                <a:ext cx="1763175" cy="369332"/>
              </a:xfrm>
              <a:prstGeom prst="rect">
                <a:avLst/>
              </a:prstGeom>
              <a:blipFill>
                <a:blip r:embed="rId4"/>
                <a:stretch>
                  <a:fillRect l="-3806" r="-5882" b="-34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34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EBD71-EFAC-4385-94DA-FAFBC7F7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Picture 4" descr="blood_pressure">
            <a:extLst>
              <a:ext uri="{FF2B5EF4-FFF2-40B4-BE49-F238E27FC236}">
                <a16:creationId xmlns:a16="http://schemas.microsoft.com/office/drawing/2014/main" id="{30EBF13B-05DA-4EA1-9A4D-526E773E0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3" y="2709863"/>
            <a:ext cx="4725987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FA8A9348-9AD8-44E7-B0A0-97A340E33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2479675"/>
            <a:ext cx="193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Blood pressure 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</a:p>
          <a:p>
            <a:pPr algn="ctr" eaLnBrk="1" hangingPunct="1"/>
            <a:r>
              <a:rPr lang="en-US" sz="1400">
                <a:solidFill>
                  <a:srgbClr val="FF0000"/>
                </a:solidFill>
              </a:rPr>
              <a:t>(1000 patients)</a:t>
            </a:r>
          </a:p>
        </p:txBody>
      </p:sp>
      <p:pic>
        <p:nvPicPr>
          <p:cNvPr id="7" name="Picture 6" descr="leaf_histogram">
            <a:extLst>
              <a:ext uri="{FF2B5EF4-FFF2-40B4-BE49-F238E27FC236}">
                <a16:creationId xmlns:a16="http://schemas.microsoft.com/office/drawing/2014/main" id="{9285AD78-D9FD-432D-B62C-AD4B89FDB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48"/>
          <a:stretch>
            <a:fillRect/>
          </a:stretch>
        </p:blipFill>
        <p:spPr bwMode="auto">
          <a:xfrm>
            <a:off x="501650" y="2914650"/>
            <a:ext cx="3871913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>
            <a:extLst>
              <a:ext uri="{FF2B5EF4-FFF2-40B4-BE49-F238E27FC236}">
                <a16:creationId xmlns:a16="http://schemas.microsoft.com/office/drawing/2014/main" id="{569DE165-983F-4695-9D51-D5F32BF85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2481263"/>
            <a:ext cx="1582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Leaf lengths</a:t>
            </a:r>
            <a:r>
              <a:rPr lang="en-US" baseline="3000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9" name="Picture 8" descr="leaf length">
            <a:extLst>
              <a:ext uri="{FF2B5EF4-FFF2-40B4-BE49-F238E27FC236}">
                <a16:creationId xmlns:a16="http://schemas.microsoft.com/office/drawing/2014/main" id="{A4313986-A8BA-4B39-A4EA-B38B3414B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565150"/>
            <a:ext cx="2525713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>
            <a:extLst>
              <a:ext uri="{FF2B5EF4-FFF2-40B4-BE49-F238E27FC236}">
                <a16:creationId xmlns:a16="http://schemas.microsoft.com/office/drawing/2014/main" id="{E9E99844-54F9-442F-B24F-43A3341F8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6011863"/>
            <a:ext cx="2155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 sz="1200" baseline="30000"/>
              <a:t>1</a:t>
            </a:r>
            <a:r>
              <a:rPr lang="en-US" sz="1200"/>
              <a:t>Oklahoma State University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73DDE8E-8E1A-4759-9055-51A251D88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313" y="5981700"/>
            <a:ext cx="164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 sz="1200" baseline="30000"/>
              <a:t>2</a:t>
            </a:r>
            <a:r>
              <a:rPr lang="en-US" sz="1200"/>
              <a:t>SurfStat Australia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B74F93-3B1A-4FA7-8BF7-1DB1AAC73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7944" y="528637"/>
            <a:ext cx="4908550" cy="1798638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Many random variables in nature follow a normal distribution  </a:t>
            </a:r>
          </a:p>
        </p:txBody>
      </p:sp>
    </p:spTree>
    <p:extLst>
      <p:ext uri="{BB962C8B-B14F-4D97-AF65-F5344CB8AC3E}">
        <p14:creationId xmlns:p14="http://schemas.microsoft.com/office/powerpoint/2010/main" val="385652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33A98-60D3-44D4-B429-E10CEED4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Standard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6127E-F632-4E8A-A203-3519AC73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Picture 6" descr="SND">
            <a:extLst>
              <a:ext uri="{FF2B5EF4-FFF2-40B4-BE49-F238E27FC236}">
                <a16:creationId xmlns:a16="http://schemas.microsoft.com/office/drawing/2014/main" id="{4BEF1ACB-BBDD-4A33-816D-DC5CF68BD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114425"/>
            <a:ext cx="4914900" cy="243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1">
            <a:extLst>
              <a:ext uri="{FF2B5EF4-FFF2-40B4-BE49-F238E27FC236}">
                <a16:creationId xmlns:a16="http://schemas.microsoft.com/office/drawing/2014/main" id="{635F5640-4C3B-453E-B2E3-C0007BD7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1587500"/>
            <a:ext cx="364172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000">
                <a:solidFill>
                  <a:srgbClr val="FF0000"/>
                </a:solidFill>
              </a:rPr>
              <a:t>A normal distribution with parameters </a:t>
            </a:r>
            <a:r>
              <a:rPr lang="el-GR" sz="2000">
                <a:solidFill>
                  <a:srgbClr val="FF0000"/>
                </a:solidFill>
              </a:rPr>
              <a:t>μ</a:t>
            </a:r>
            <a:r>
              <a:rPr lang="en-US" sz="2000">
                <a:solidFill>
                  <a:srgbClr val="FF0000"/>
                </a:solidFill>
              </a:rPr>
              <a:t> = 0 and </a:t>
            </a:r>
            <a:r>
              <a:rPr lang="el-GR" sz="2000">
                <a:solidFill>
                  <a:srgbClr val="FF0000"/>
                </a:solidFill>
              </a:rPr>
              <a:t>σ</a:t>
            </a:r>
            <a:r>
              <a:rPr lang="en-US" sz="2000" baseline="30000">
                <a:solidFill>
                  <a:srgbClr val="FF0000"/>
                </a:solidFill>
              </a:rPr>
              <a:t>2</a:t>
            </a:r>
            <a:r>
              <a:rPr lang="en-US" sz="2000">
                <a:solidFill>
                  <a:srgbClr val="FF0000"/>
                </a:solidFill>
              </a:rPr>
              <a:t> = 1 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is known as the 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 i="1">
                <a:solidFill>
                  <a:srgbClr val="FF0000"/>
                </a:solidFill>
              </a:rPr>
              <a:t>standard normal distribution</a:t>
            </a:r>
            <a:endParaRPr lang="el-GR" sz="2000" i="1">
              <a:solidFill>
                <a:srgbClr val="FF0000"/>
              </a:solidFill>
            </a:endParaRPr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DA537FE9-F9D5-4B9B-BB2E-BD0AF02534A1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74468508"/>
              </p:ext>
            </p:extLst>
          </p:nvPr>
        </p:nvGraphicFramePr>
        <p:xfrm>
          <a:off x="1475656" y="3828255"/>
          <a:ext cx="290036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4" imgW="1295280" imgH="419040" progId="Equation.3">
                  <p:embed/>
                </p:oleObj>
              </mc:Choice>
              <mc:Fallback>
                <p:oleObj name="Equation" r:id="rId4" imgW="1295280" imgH="419040" progId="Equation.3">
                  <p:embed/>
                  <p:pic>
                    <p:nvPicPr>
                      <p:cNvPr id="102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828255"/>
                        <a:ext cx="290036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77C593E6-574F-4703-9B1D-EC62B62B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931" y="5053805"/>
            <a:ext cx="3438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buFont typeface="Wingdings" pitchFamily="2" charset="2"/>
              <a:buChar char="à"/>
            </a:pPr>
            <a:r>
              <a:rPr lang="en-US" sz="2000">
                <a:sym typeface="Wingdings" pitchFamily="2" charset="2"/>
              </a:rPr>
              <a:t>Solved numerically and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000">
                <a:sym typeface="Wingdings" pitchFamily="2" charset="2"/>
              </a:rPr>
              <a:t>results widely tabulated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l-GR" sz="2000">
                <a:sym typeface="Wingdings" pitchFamily="2" charset="2"/>
              </a:rPr>
              <a:t>Φ</a:t>
            </a:r>
            <a:r>
              <a:rPr lang="en-US" sz="2000">
                <a:sym typeface="Wingdings" pitchFamily="2" charset="2"/>
              </a:rPr>
              <a:t>(z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 = F</a:t>
            </a:r>
            <a:r>
              <a:rPr lang="en-US" sz="2000" baseline="-25000">
                <a:sym typeface="Wingdings" pitchFamily="2" charset="2"/>
              </a:rPr>
              <a:t>Z</a:t>
            </a:r>
            <a:r>
              <a:rPr lang="en-US" sz="2000">
                <a:sym typeface="Wingdings" pitchFamily="2" charset="2"/>
              </a:rPr>
              <a:t>(z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 = P(z &lt; 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</a:t>
            </a:r>
            <a:endParaRPr lang="el-GR" sz="2000"/>
          </a:p>
        </p:txBody>
      </p:sp>
      <p:graphicFrame>
        <p:nvGraphicFramePr>
          <p:cNvPr id="9" name="Object 19">
            <a:extLst>
              <a:ext uri="{FF2B5EF4-FFF2-40B4-BE49-F238E27FC236}">
                <a16:creationId xmlns:a16="http://schemas.microsoft.com/office/drawing/2014/main" id="{A837A38E-096F-4D81-9789-662DC6264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341979"/>
              </p:ext>
            </p:extLst>
          </p:nvPr>
        </p:nvGraphicFramePr>
        <p:xfrm>
          <a:off x="1547094" y="4802980"/>
          <a:ext cx="24288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Equation" r:id="rId6" imgW="1143000" imgH="469800" progId="Equation.3">
                  <p:embed/>
                </p:oleObj>
              </mc:Choice>
              <mc:Fallback>
                <p:oleObj name="Equation" r:id="rId6" imgW="1143000" imgH="469800" progId="Equation.3">
                  <p:embed/>
                  <p:pic>
                    <p:nvPicPr>
                      <p:cNvPr id="10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094" y="4802980"/>
                        <a:ext cx="24288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8105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42352-D937-49D6-A6E0-490F71C8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Transforming into Standard Normal Dist.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21923-5855-4486-B785-F55E5712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DD9E2318-F295-44A3-8D2F-6CB2BD94A2F5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1298600"/>
            <a:ext cx="8618537" cy="5387975"/>
            <a:chOff x="139" y="761"/>
            <a:chExt cx="5429" cy="3394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CA34A9C3-794B-454A-9F52-6C5199AD5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2301"/>
              <a:ext cx="1527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600" dirty="0"/>
                <a:t>We use this equation to </a:t>
              </a:r>
              <a:r>
                <a:rPr lang="en-US" sz="1600" i="1" dirty="0"/>
                <a:t>normalize x</a:t>
              </a:r>
              <a:r>
                <a:rPr lang="en-US" sz="1600" dirty="0"/>
                <a:t> – in other words to find the value of z such that</a:t>
              </a:r>
            </a:p>
            <a:p>
              <a:pPr eaLnBrk="1" hangingPunct="1"/>
              <a:endParaRPr lang="en-US" sz="1600" dirty="0"/>
            </a:p>
            <a:p>
              <a:pPr algn="ctr" eaLnBrk="1" hangingPunct="1"/>
              <a:r>
                <a:rPr lang="en-US" sz="1600" dirty="0"/>
                <a:t>F</a:t>
              </a:r>
              <a:r>
                <a:rPr lang="en-US" sz="1600" baseline="-25000" dirty="0"/>
                <a:t>X</a:t>
              </a:r>
              <a:r>
                <a:rPr lang="en-US" sz="1600" dirty="0"/>
                <a:t>(x) = F</a:t>
              </a:r>
              <a:r>
                <a:rPr lang="en-US" sz="1600" baseline="-25000" dirty="0"/>
                <a:t>Z</a:t>
              </a:r>
              <a:r>
                <a:rPr lang="en-US" sz="1600" dirty="0"/>
                <a:t>(z)</a:t>
              </a:r>
            </a:p>
          </p:txBody>
        </p:sp>
        <p:pic>
          <p:nvPicPr>
            <p:cNvPr id="7" name="Picture 11" descr="filled">
              <a:extLst>
                <a:ext uri="{FF2B5EF4-FFF2-40B4-BE49-F238E27FC236}">
                  <a16:creationId xmlns:a16="http://schemas.microsoft.com/office/drawing/2014/main" id="{34CC59D1-5F85-47C3-AFDC-6F7402EF2D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" y="761"/>
              <a:ext cx="3795" cy="3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829C71E5-0A1E-400E-9AB2-6697389AE7C0}"/>
              </a:ext>
            </a:extLst>
          </p:cNvPr>
          <p:cNvGrpSpPr>
            <a:grpSpLocks/>
          </p:cNvGrpSpPr>
          <p:nvPr/>
        </p:nvGrpSpPr>
        <p:grpSpPr bwMode="auto">
          <a:xfrm>
            <a:off x="1989262" y="1690712"/>
            <a:ext cx="6997700" cy="1597025"/>
            <a:chOff x="1279" y="1008"/>
            <a:chExt cx="4408" cy="1006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3B02DBBA-B564-4362-B44E-B3AA04371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9" y="1008"/>
              <a:ext cx="1728" cy="1006"/>
              <a:chOff x="3959" y="1008"/>
              <a:chExt cx="1728" cy="1006"/>
            </a:xfrm>
          </p:grpSpPr>
          <p:graphicFrame>
            <p:nvGraphicFramePr>
              <p:cNvPr id="11" name="Object 4">
                <a:extLst>
                  <a:ext uri="{FF2B5EF4-FFF2-40B4-BE49-F238E27FC236}">
                    <a16:creationId xmlns:a16="http://schemas.microsoft.com/office/drawing/2014/main" id="{DA02FF27-832F-40F8-BAF0-104B641F33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62" y="1090"/>
              <a:ext cx="993" cy="6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6" name="Equation" r:id="rId4" imgW="609480" imgH="393480" progId="Equation.3">
                      <p:embed/>
                    </p:oleObj>
                  </mc:Choice>
                  <mc:Fallback>
                    <p:oleObj name="Equation" r:id="rId4" imgW="609480" imgH="393480" progId="Equation.3">
                      <p:embed/>
                      <p:pic>
                        <p:nvPicPr>
                          <p:cNvPr id="205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2" y="1090"/>
                            <a:ext cx="993" cy="6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67C9170D-909E-4474-A168-7320CE0A7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7" y="1008"/>
                <a:ext cx="1402" cy="768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DF024B25-E8B7-40DE-9386-D60D17CF0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" y="1802"/>
                <a:ext cx="17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/>
                <a:r>
                  <a:rPr lang="en-US" sz="1600"/>
                  <a:t>“Standard Normal Variate”</a:t>
                </a:r>
              </a:p>
            </p:txBody>
          </p:sp>
        </p:grp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1013C39-AA0C-4F04-BE3E-DDE52E9B4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1767"/>
              <a:ext cx="2006" cy="193"/>
            </a:xfrm>
            <a:custGeom>
              <a:avLst/>
              <a:gdLst>
                <a:gd name="T0" fmla="*/ 0 w 1920"/>
                <a:gd name="T1" fmla="*/ 0 h 203"/>
                <a:gd name="T2" fmla="*/ 411 w 1920"/>
                <a:gd name="T3" fmla="*/ 127 h 203"/>
                <a:gd name="T4" fmla="*/ 1875 w 1920"/>
                <a:gd name="T5" fmla="*/ 119 h 203"/>
                <a:gd name="T6" fmla="*/ 2006 w 1920"/>
                <a:gd name="T7" fmla="*/ 0 h 2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0"/>
                <a:gd name="T13" fmla="*/ 0 h 203"/>
                <a:gd name="T14" fmla="*/ 1920 w 1920"/>
                <a:gd name="T15" fmla="*/ 203 h 2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0" h="203">
                  <a:moveTo>
                    <a:pt x="0" y="0"/>
                  </a:moveTo>
                  <a:cubicBezTo>
                    <a:pt x="27" y="203"/>
                    <a:pt x="197" y="128"/>
                    <a:pt x="393" y="134"/>
                  </a:cubicBezTo>
                  <a:cubicBezTo>
                    <a:pt x="860" y="131"/>
                    <a:pt x="1328" y="131"/>
                    <a:pt x="1795" y="125"/>
                  </a:cubicBezTo>
                  <a:cubicBezTo>
                    <a:pt x="1856" y="124"/>
                    <a:pt x="1920" y="56"/>
                    <a:pt x="1920" y="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33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13167-5562-47DA-8DBB-33780F91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26383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68-95-99.7 rule for a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30899-D4DF-4B01-81F9-11B8E862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196" name="Picture 4" descr="https://miro.medium.com/max/1400/1*IZ2II2HYKeoMrdLU5jW6Dw.png">
            <a:extLst>
              <a:ext uri="{FF2B5EF4-FFF2-40B4-BE49-F238E27FC236}">
                <a16:creationId xmlns:a16="http://schemas.microsoft.com/office/drawing/2014/main" id="{53E68130-0DB3-45DE-ACA5-0FFC1F7A1A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51013"/>
            <a:ext cx="78867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668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E0C24-1215-4BEF-9FA1-27EA61F7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2CA45-2E80-437F-847D-FACB3FD49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1) Sketch the histogram</a:t>
            </a:r>
          </a:p>
          <a:p>
            <a:pPr marL="0" indent="0">
              <a:buNone/>
            </a:pPr>
            <a:r>
              <a:rPr lang="en-US" altLang="ko-KR" dirty="0"/>
              <a:t>2) Calculate μ and σ</a:t>
            </a:r>
          </a:p>
          <a:p>
            <a:pPr marL="0" indent="0">
              <a:buNone/>
            </a:pPr>
            <a:r>
              <a:rPr lang="en-US" altLang="ko-KR" dirty="0"/>
              <a:t>3) Assume a normal distribution </a:t>
            </a:r>
            <a:br>
              <a:rPr lang="en-US" altLang="ko-KR" dirty="0"/>
            </a:br>
            <a:r>
              <a:rPr lang="en-US" altLang="ko-KR" dirty="0"/>
              <a:t>    – is this reasonable?</a:t>
            </a:r>
          </a:p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88F2B-F580-4CA7-BDAA-5A660A11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5A72CCE-0323-4FF1-9D58-1174611A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2" t="15746" r="43587" b="48091"/>
          <a:stretch>
            <a:fillRect/>
          </a:stretch>
        </p:blipFill>
        <p:spPr bwMode="auto">
          <a:xfrm>
            <a:off x="4932040" y="1412776"/>
            <a:ext cx="3490912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064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B8311-26D2-4267-B4D6-CA9DB14E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9387B9-C493-408B-880D-D8440660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3F4F23E-4AA0-4A9D-AB40-969305C9E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16899" r="5341" b="4449"/>
          <a:stretch>
            <a:fillRect/>
          </a:stretch>
        </p:blipFill>
        <p:spPr bwMode="auto">
          <a:xfrm>
            <a:off x="5292080" y="1302808"/>
            <a:ext cx="311467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7EAA64C2-0B7B-49D1-BA97-A37C746D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9855" y="4177770"/>
            <a:ext cx="3176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en-US" dirty="0">
                <a:solidFill>
                  <a:srgbClr val="FF0000"/>
                </a:solidFill>
              </a:rPr>
              <a:t>  = 979.2 mm  </a:t>
            </a:r>
            <a:r>
              <a:rPr lang="el-GR" dirty="0">
                <a:solidFill>
                  <a:srgbClr val="FF0000"/>
                </a:solidFill>
              </a:rPr>
              <a:t>σ</a:t>
            </a:r>
            <a:r>
              <a:rPr lang="en-US" dirty="0">
                <a:solidFill>
                  <a:srgbClr val="FF0000"/>
                </a:solidFill>
              </a:rPr>
              <a:t> = 106.3 mm</a:t>
            </a:r>
          </a:p>
        </p:txBody>
      </p:sp>
      <p:grpSp>
        <p:nvGrpSpPr>
          <p:cNvPr id="7" name="Group 29">
            <a:extLst>
              <a:ext uri="{FF2B5EF4-FFF2-40B4-BE49-F238E27FC236}">
                <a16:creationId xmlns:a16="http://schemas.microsoft.com/office/drawing/2014/main" id="{143A367A-929F-4B7B-9161-83C5AE8CA34B}"/>
              </a:ext>
            </a:extLst>
          </p:cNvPr>
          <p:cNvGrpSpPr>
            <a:grpSpLocks/>
          </p:cNvGrpSpPr>
          <p:nvPr/>
        </p:nvGrpSpPr>
        <p:grpSpPr bwMode="auto">
          <a:xfrm>
            <a:off x="5681018" y="1501245"/>
            <a:ext cx="2393950" cy="2139950"/>
            <a:chOff x="3003" y="990"/>
            <a:chExt cx="1508" cy="1348"/>
          </a:xfrm>
        </p:grpSpPr>
        <p:pic>
          <p:nvPicPr>
            <p:cNvPr id="8" name="Picture 13">
              <a:extLst>
                <a:ext uri="{FF2B5EF4-FFF2-40B4-BE49-F238E27FC236}">
                  <a16:creationId xmlns:a16="http://schemas.microsoft.com/office/drawing/2014/main" id="{E77BA84C-AA95-457D-AE4B-95022B92BB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21" t="47215" r="43115" b="15521"/>
            <a:stretch>
              <a:fillRect/>
            </a:stretch>
          </p:blipFill>
          <p:spPr bwMode="auto">
            <a:xfrm>
              <a:off x="3003" y="1066"/>
              <a:ext cx="1508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5BC998BC-C9AD-43F7-94F0-72CB5A3A3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990"/>
              <a:ext cx="9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FF0000"/>
                  </a:solidFill>
                </a:rPr>
                <a:t>N(979.2, 106.3)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917B52F-9BC5-4288-BD95-041A09B5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413"/>
            <a:ext cx="7886700" cy="490855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1) Sketch the histogram</a:t>
            </a:r>
          </a:p>
          <a:p>
            <a:pPr marL="0" indent="0">
              <a:buNone/>
            </a:pPr>
            <a:r>
              <a:rPr lang="en-US" altLang="ko-KR" dirty="0"/>
              <a:t>2) Calculate μ and σ</a:t>
            </a:r>
          </a:p>
          <a:p>
            <a:pPr marL="0" indent="0">
              <a:buNone/>
            </a:pPr>
            <a:r>
              <a:rPr lang="en-US" altLang="ko-KR" dirty="0"/>
              <a:t>3) Assume a normal distribution </a:t>
            </a:r>
            <a:br>
              <a:rPr lang="en-US" altLang="ko-KR" dirty="0"/>
            </a:br>
            <a:r>
              <a:rPr lang="en-US" altLang="ko-KR" dirty="0"/>
              <a:t>    – is this reasonable?</a:t>
            </a:r>
          </a:p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73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ACA5E-B351-4050-830D-AC45B33F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05BDC-78CF-447D-B628-A55E4A162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591DFE4-46DD-4267-B31F-4AAA6A206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413"/>
            <a:ext cx="7886700" cy="490855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02FE026-B395-42CF-A469-41BC71ACF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" b="12161"/>
          <a:stretch/>
        </p:blipFill>
        <p:spPr bwMode="auto">
          <a:xfrm>
            <a:off x="1181364" y="3429000"/>
            <a:ext cx="6781272" cy="261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A3E1306A-778C-4625-8D3B-8441154DC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1428750"/>
            <a:ext cx="40350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l-GR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μ</a:t>
            </a: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= 979.2 mm, a = 1100 mm </a:t>
            </a:r>
            <a:r>
              <a:rPr lang="el-GR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106.3 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35D5FE-A093-4BD4-B6D1-06D565D1450B}"/>
                  </a:ext>
                </a:extLst>
              </p:cNvPr>
              <p:cNvSpPr txBox="1"/>
              <p:nvPr/>
            </p:nvSpPr>
            <p:spPr>
              <a:xfrm>
                <a:off x="4034939" y="1910972"/>
                <a:ext cx="498219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1100−979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106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≅1.14</m:t>
                      </m:r>
                    </m:oMath>
                  </m:oMathPara>
                </a14:m>
                <a:endParaRPr lang="en-US" sz="1800" b="0" dirty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35D5FE-A093-4BD4-B6D1-06D565D14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939" y="1910972"/>
                <a:ext cx="4982199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0AA68F-8948-4285-A63D-E77346E57B63}"/>
                  </a:ext>
                </a:extLst>
              </p:cNvPr>
              <p:cNvSpPr txBox="1"/>
              <p:nvPr/>
            </p:nvSpPr>
            <p:spPr>
              <a:xfrm>
                <a:off x="7164288" y="2448877"/>
                <a:ext cx="2035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𝑧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1.14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0AA68F-8948-4285-A63D-E77346E57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288" y="2448877"/>
                <a:ext cx="20353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51720-E323-4CFD-A96A-AD1C07297EFE}"/>
                  </a:ext>
                </a:extLst>
              </p:cNvPr>
              <p:cNvSpPr txBox="1"/>
              <p:nvPr/>
            </p:nvSpPr>
            <p:spPr>
              <a:xfrm>
                <a:off x="1139360" y="2956708"/>
                <a:ext cx="20353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1.14</m:t>
                          </m:r>
                        </m:e>
                      </m:d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=0.8729</m:t>
                      </m:r>
                    </m:oMath>
                  </m:oMathPara>
                </a14:m>
                <a:endParaRPr lang="en-US" sz="1800" b="0" dirty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51720-E323-4CFD-A96A-AD1C07297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60" y="2956708"/>
                <a:ext cx="20353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6219A5-D572-4C8D-B88E-395C84C1C2A7}"/>
                  </a:ext>
                </a:extLst>
              </p:cNvPr>
              <p:cNvSpPr txBox="1"/>
              <p:nvPr/>
            </p:nvSpPr>
            <p:spPr>
              <a:xfrm>
                <a:off x="4198405" y="6133305"/>
                <a:ext cx="49821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𝑨𝒏𝒔𝒘𝒆𝒓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: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𝑭</m:t>
                      </m:r>
                      <m:d>
                        <m:dPr>
                          <m:ctrlP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𝟏𝟐𝟕𝟐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8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Or less than a 12.71% chance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6219A5-D572-4C8D-B88E-395C84C1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405" y="6133305"/>
                <a:ext cx="4982199" cy="646331"/>
              </a:xfrm>
              <a:prstGeom prst="rect">
                <a:avLst/>
              </a:prstGeom>
              <a:blipFill>
                <a:blip r:embed="rId6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2">
            <a:extLst>
              <a:ext uri="{FF2B5EF4-FFF2-40B4-BE49-F238E27FC236}">
                <a16:creationId xmlns:a16="http://schemas.microsoft.com/office/drawing/2014/main" id="{57D0D4CA-F754-40C8-B6A0-CC7F314C7010}"/>
              </a:ext>
            </a:extLst>
          </p:cNvPr>
          <p:cNvSpPr/>
          <p:nvPr/>
        </p:nvSpPr>
        <p:spPr>
          <a:xfrm>
            <a:off x="4198405" y="5504405"/>
            <a:ext cx="512747" cy="2392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4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0A81-B82A-4300-BBE2-83003752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Finally, Conditional Probability P(A|B)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1B5D-9E7B-45FC-840C-9F6E4A9E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A5437B2-8EE5-4C00-9C91-AFD493ECF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t="16858" r="5746" b="11111"/>
          <a:stretch>
            <a:fillRect/>
          </a:stretch>
        </p:blipFill>
        <p:spPr bwMode="auto">
          <a:xfrm>
            <a:off x="755576" y="1344348"/>
            <a:ext cx="78486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56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6069-5B7B-40E2-8F58-3662BC16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DA8B2-AA1D-45A0-8531-361C3CA6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basics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i="1" dirty="0"/>
              <a:t>a priori</a:t>
            </a:r>
            <a:r>
              <a:rPr lang="en-US" altLang="ko-KR" dirty="0"/>
              <a:t> uncertainty + new information </a:t>
            </a:r>
          </a:p>
          <a:p>
            <a:pPr lvl="2"/>
            <a:r>
              <a:rPr lang="en-US" altLang="ko-KR" dirty="0"/>
              <a:t>Yields revised assessment of uncertainty</a:t>
            </a:r>
          </a:p>
          <a:p>
            <a:pPr lvl="2"/>
            <a:r>
              <a:rPr lang="en-US" altLang="ko-KR" dirty="0"/>
              <a:t>Multiple observations—use repetitions of Bayes Theorem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684F2-AB5F-4E6F-A58C-2E84606D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/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Bayes Theorem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4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𝑃𝑜𝑠𝑡𝑒𝑟𝑖𝑜𝑟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𝑔𝑖𝑣𝑒𝑛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𝑐𝑜𝑛𝑑𝑖𝑡𝑖𝑜𝑛𝑎𝑙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𝑚𝑎𝑘𝑖𝑛𝑔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blipFill>
                <a:blip r:embed="rId2"/>
                <a:stretch>
                  <a:fillRect l="-1104" t="-1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99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C5F24-EB80-422E-8D26-D5214094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648"/>
            <a:ext cx="7886700" cy="591631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P(E|O)</a:t>
            </a:r>
          </a:p>
          <a:p>
            <a:pPr lvl="1"/>
            <a:r>
              <a:rPr lang="en-US" altLang="ko-KR" dirty="0"/>
              <a:t>Read “probability of event E conditional on O having been observed”</a:t>
            </a:r>
          </a:p>
          <a:p>
            <a:pPr lvl="1"/>
            <a:r>
              <a:rPr lang="en-US" altLang="ko-KR" dirty="0"/>
              <a:t>New information in estimate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P(O|E)</a:t>
            </a:r>
          </a:p>
          <a:p>
            <a:pPr lvl="1"/>
            <a:r>
              <a:rPr lang="en-US" altLang="ko-KR" dirty="0"/>
              <a:t>Frequency that observation O is associated with </a:t>
            </a:r>
            <a:br>
              <a:rPr lang="en-US" altLang="ko-KR" dirty="0"/>
            </a:br>
            <a:r>
              <a:rPr lang="en-US" altLang="ko-KR" dirty="0"/>
              <a:t>existence of specific event E</a:t>
            </a:r>
          </a:p>
          <a:p>
            <a:pPr lvl="1"/>
            <a:r>
              <a:rPr lang="en-US" altLang="ko-KR" dirty="0"/>
              <a:t>Ex: probability of observing salt domes when there is oil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P(E|O) ≠ P(O|E) </a:t>
            </a:r>
            <a:r>
              <a:rPr lang="en-US" altLang="ko-KR" dirty="0">
                <a:solidFill>
                  <a:srgbClr val="FF0000"/>
                </a:solidFill>
              </a:rPr>
              <a:t>these probabilities are not symmetric!</a:t>
            </a:r>
          </a:p>
          <a:p>
            <a:pPr lvl="1"/>
            <a:r>
              <a:rPr lang="en-US" altLang="ko-KR" dirty="0"/>
              <a:t>P(O = male/E = king) = 1.0</a:t>
            </a:r>
          </a:p>
          <a:p>
            <a:pPr lvl="1"/>
            <a:r>
              <a:rPr lang="en-US" altLang="ko-KR" dirty="0"/>
              <a:t>P(E = king/ O = male) is probability of finding a king given the observation an individual is male = ~ 10</a:t>
            </a:r>
            <a:r>
              <a:rPr lang="en-US" altLang="ko-KR" baseline="30000" dirty="0"/>
              <a:t>-9</a:t>
            </a:r>
            <a:endParaRPr lang="en-US" altLang="ko-KR" sz="2200" dirty="0"/>
          </a:p>
          <a:p>
            <a:r>
              <a:rPr lang="en-US" altLang="ko-KR" sz="2200" i="1" dirty="0">
                <a:solidFill>
                  <a:srgbClr val="FF0000"/>
                </a:solidFill>
              </a:rPr>
              <a:t>P(O)</a:t>
            </a:r>
          </a:p>
          <a:p>
            <a:pPr lvl="1"/>
            <a:r>
              <a:rPr lang="en-US" altLang="ko-KR" dirty="0"/>
              <a:t>Probability of making a specific observation O considering all ways it can occur</a:t>
            </a:r>
          </a:p>
          <a:p>
            <a:pPr lvl="1"/>
            <a:r>
              <a:rPr lang="en-US" altLang="ko-KR" dirty="0"/>
              <a:t>The probability of making observation O may be associated with all possible events </a:t>
            </a:r>
            <a:r>
              <a:rPr lang="en-US" altLang="ko-KR" i="1" dirty="0" err="1"/>
              <a:t>E</a:t>
            </a:r>
            <a:r>
              <a:rPr lang="en-US" altLang="ko-KR" i="1" baseline="-25000" dirty="0" err="1"/>
              <a:t>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66A82-119D-4176-8837-56BD7DC7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C3D17B-C4F0-402C-AA9E-99E756DDD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06590"/>
              </p:ext>
            </p:extLst>
          </p:nvPr>
        </p:nvGraphicFramePr>
        <p:xfrm>
          <a:off x="3347864" y="5586676"/>
          <a:ext cx="3584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3" imgW="1600200" imgH="342720" progId="Equation.DSMT4">
                  <p:embed/>
                </p:oleObj>
              </mc:Choice>
              <mc:Fallback>
                <p:oleObj name="Equation" r:id="rId3" imgW="1600200" imgH="34272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7864" y="5586676"/>
                        <a:ext cx="358457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661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87F07-F4F5-466C-B444-ECE3DF25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 Theorem: Derivation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55858-1E44-427A-A007-BE0A546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2ADEDA0-F7F0-41DD-8C7D-B69C57DA0250}"/>
              </a:ext>
            </a:extLst>
          </p:cNvPr>
          <p:cNvGrpSpPr/>
          <p:nvPr/>
        </p:nvGrpSpPr>
        <p:grpSpPr>
          <a:xfrm>
            <a:off x="4427984" y="1463075"/>
            <a:ext cx="3882190" cy="1488740"/>
            <a:chOff x="2141621" y="1203158"/>
            <a:chExt cx="3882190" cy="14887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BA956B24-E036-4915-BBDA-8603CE308E87}"/>
                </a:ext>
              </a:extLst>
            </p:cNvPr>
            <p:cNvGrpSpPr/>
            <p:nvPr/>
          </p:nvGrpSpPr>
          <p:grpSpPr>
            <a:xfrm>
              <a:off x="2141621" y="1203158"/>
              <a:ext cx="3882190" cy="1488740"/>
              <a:chOff x="2141621" y="1203158"/>
              <a:chExt cx="3882190" cy="1488740"/>
            </a:xfrm>
          </p:grpSpPr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D7AE9872-37CA-4560-AAF6-AC57BF03F16D}"/>
                  </a:ext>
                </a:extLst>
              </p:cNvPr>
              <p:cNvSpPr/>
              <p:nvPr/>
            </p:nvSpPr>
            <p:spPr>
              <a:xfrm>
                <a:off x="2141621" y="1203158"/>
                <a:ext cx="3882190" cy="148389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15">
                <a:extLst>
                  <a:ext uri="{FF2B5EF4-FFF2-40B4-BE49-F238E27FC236}">
                    <a16:creationId xmlns:a16="http://schemas.microsoft.com/office/drawing/2014/main" id="{CD160878-3285-472B-BD23-001779EB3F75}"/>
                  </a:ext>
                </a:extLst>
              </p:cNvPr>
              <p:cNvSpPr/>
              <p:nvPr/>
            </p:nvSpPr>
            <p:spPr>
              <a:xfrm>
                <a:off x="2382253" y="1347537"/>
                <a:ext cx="1925052" cy="1074822"/>
              </a:xfrm>
              <a:prstGeom prst="ellipse">
                <a:avLst/>
              </a:prstGeom>
              <a:solidFill>
                <a:srgbClr val="3366FF">
                  <a:alpha val="7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16">
                <a:extLst>
                  <a:ext uri="{FF2B5EF4-FFF2-40B4-BE49-F238E27FC236}">
                    <a16:creationId xmlns:a16="http://schemas.microsoft.com/office/drawing/2014/main" id="{B298AD23-9E7D-4AE4-AE06-33562FFD6789}"/>
                  </a:ext>
                </a:extLst>
              </p:cNvPr>
              <p:cNvSpPr/>
              <p:nvPr/>
            </p:nvSpPr>
            <p:spPr>
              <a:xfrm>
                <a:off x="4010527" y="1451811"/>
                <a:ext cx="1507958" cy="818147"/>
              </a:xfrm>
              <a:prstGeom prst="ellipse">
                <a:avLst/>
              </a:prstGeom>
              <a:solidFill>
                <a:schemeClr val="accent1">
                  <a:alpha val="74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8C894D19-628E-4EE6-A08A-1F3AF8237A82}"/>
                      </a:ext>
                    </a:extLst>
                  </p:cNvPr>
                  <p:cNvSpPr/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9D9EDAEB-DC8D-4CCE-85C0-40119F116029}"/>
                      </a:ext>
                    </a:extLst>
                  </p:cNvPr>
                  <p:cNvSpPr/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A0DC5D04-B42E-4E20-B994-39B0309420B2}"/>
                      </a:ext>
                    </a:extLst>
                  </p:cNvPr>
                  <p:cNvSpPr/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25">
                    <a:extLst>
                      <a:ext uri="{FF2B5EF4-FFF2-40B4-BE49-F238E27FC236}">
                        <a16:creationId xmlns:a16="http://schemas.microsoft.com/office/drawing/2014/main" id="{B44A5388-32EF-454D-B981-D96D3DC33D8C}"/>
                      </a:ext>
                    </a:extLst>
                  </p:cNvPr>
                  <p:cNvSpPr/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Ω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Rectangle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21">
              <a:extLst>
                <a:ext uri="{FF2B5EF4-FFF2-40B4-BE49-F238E27FC236}">
                  <a16:creationId xmlns:a16="http://schemas.microsoft.com/office/drawing/2014/main" id="{AD3156E1-5AD4-421F-A06C-EEAD5BDCF4BE}"/>
                </a:ext>
              </a:extLst>
            </p:cNvPr>
            <p:cNvCxnSpPr/>
            <p:nvPr/>
          </p:nvCxnSpPr>
          <p:spPr>
            <a:xfrm flipH="1" flipV="1">
              <a:off x="4170947" y="1941097"/>
              <a:ext cx="224590" cy="45719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/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  <a:blipFill>
                <a:blip r:embed="rId12"/>
                <a:stretch>
                  <a:fillRect r="-2484"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/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  <a:blipFill>
                <a:blip r:embed="rId13"/>
                <a:stretch>
                  <a:fillRect r="-2484" b="-3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/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  <a:blipFill>
                <a:blip r:embed="rId14"/>
                <a:stretch>
                  <a:fillRect r="-66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/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  <a:blipFill>
                <a:blip r:embed="rId15"/>
                <a:stretch>
                  <a:fillRect r="-2419"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0">
            <a:extLst>
              <a:ext uri="{FF2B5EF4-FFF2-40B4-BE49-F238E27FC236}">
                <a16:creationId xmlns:a16="http://schemas.microsoft.com/office/drawing/2014/main" id="{E155A49F-DFFD-4FC9-BADB-53A6355DCBE0}"/>
              </a:ext>
            </a:extLst>
          </p:cNvPr>
          <p:cNvSpPr/>
          <p:nvPr/>
        </p:nvSpPr>
        <p:spPr>
          <a:xfrm>
            <a:off x="559774" y="2765592"/>
            <a:ext cx="34507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According to conditional probability, 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578262BC-6859-4B05-AFA6-820D805D5C1B}"/>
              </a:ext>
            </a:extLst>
          </p:cNvPr>
          <p:cNvSpPr/>
          <p:nvPr/>
        </p:nvSpPr>
        <p:spPr>
          <a:xfrm>
            <a:off x="567795" y="3760203"/>
            <a:ext cx="526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/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, the common factor: </a:t>
                </a:r>
              </a:p>
            </p:txBody>
          </p:sp>
        </mc:Choice>
        <mc:Fallback xmlns="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  <a:blipFill>
                <a:blip r:embed="rId16"/>
                <a:stretch>
                  <a:fillRect l="-1238" t="-8929" r="-6037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/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Rearranging to give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  <a:blipFill>
                <a:blip r:embed="rId17"/>
                <a:stretch>
                  <a:fillRect l="-1806" t="-10909" r="-5869" b="-3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6">
            <a:extLst>
              <a:ext uri="{FF2B5EF4-FFF2-40B4-BE49-F238E27FC236}">
                <a16:creationId xmlns:a16="http://schemas.microsoft.com/office/drawing/2014/main" id="{487AE2C1-2E4F-4A6D-9C7D-106F6006FA9B}"/>
              </a:ext>
            </a:extLst>
          </p:cNvPr>
          <p:cNvSpPr/>
          <p:nvPr/>
        </p:nvSpPr>
        <p:spPr>
          <a:xfrm>
            <a:off x="5709398" y="3232982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B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A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654DBF92-A5C7-463E-9832-F264B9F532E1}"/>
              </a:ext>
            </a:extLst>
          </p:cNvPr>
          <p:cNvSpPr/>
          <p:nvPr/>
        </p:nvSpPr>
        <p:spPr>
          <a:xfrm>
            <a:off x="5709398" y="3929080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A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B.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C30ED9F-C56C-4803-A4CD-847ADED6FAEB}"/>
              </a:ext>
            </a:extLst>
          </p:cNvPr>
          <p:cNvSpPr/>
          <p:nvPr/>
        </p:nvSpPr>
        <p:spPr>
          <a:xfrm>
            <a:off x="5990254" y="5574631"/>
            <a:ext cx="30744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one can reverse E and O </a:t>
            </a:r>
          </a:p>
          <a:p>
            <a:r>
              <a:rPr lang="en-US" dirty="0">
                <a:solidFill>
                  <a:srgbClr val="FF0000"/>
                </a:solidFill>
              </a:rPr>
              <a:t>and the solution is still valid</a:t>
            </a:r>
          </a:p>
        </p:txBody>
      </p:sp>
    </p:spTree>
    <p:extLst>
      <p:ext uri="{BB962C8B-B14F-4D97-AF65-F5344CB8AC3E}">
        <p14:creationId xmlns:p14="http://schemas.microsoft.com/office/powerpoint/2010/main" val="7556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2984E-7E44-4766-9A6F-87860E69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99587-A4DC-4520-9E1E-3FA21D8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the United States, approximately 1 in 100 otherwise healthy people has Celiac Disease1. A new diagnostic test, has a 95% reliability, i.e., 95% of people with Celiac test positive, and 95% of people without Celiac test negative. During trials, a randomly selected person tests positive. </a:t>
            </a:r>
          </a:p>
          <a:p>
            <a:pPr marL="457200" lvl="1" indent="0">
              <a:buNone/>
            </a:pPr>
            <a:r>
              <a:rPr lang="en-US" altLang="ko-KR" dirty="0"/>
              <a:t>(a) What is the probability that the person has Celiac Disease? </a:t>
            </a:r>
          </a:p>
          <a:p>
            <a:pPr marL="457200" lvl="1" indent="0">
              <a:buNone/>
            </a:pPr>
            <a:r>
              <a:rPr lang="en-US" altLang="ko-KR" dirty="0"/>
              <a:t>(b) What is the probability that the person doesn’t?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2C8F-6E61-4123-8EFB-605A1209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9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05A24-DF36-4188-BE5D-4337C5CA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CDC07-FEC6-4CCD-B664-5C52E22C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8F00A7-9FBD-41AA-B234-CEA2C708BE38}"/>
                  </a:ext>
                </a:extLst>
              </p:cNvPr>
              <p:cNvSpPr txBox="1"/>
              <p:nvPr/>
            </p:nvSpPr>
            <p:spPr>
              <a:xfrm>
                <a:off x="10484" y="4792120"/>
                <a:ext cx="4674648" cy="1525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𝐶𝑒𝑙𝑖𝑎𝑐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=0.01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0.95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0.059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0.161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8F00A7-9FBD-41AA-B234-CEA2C708B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" y="4792120"/>
                <a:ext cx="4674648" cy="1525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15197D8-8105-4034-9135-8DAB55ADD0DD}"/>
              </a:ext>
            </a:extLst>
          </p:cNvPr>
          <p:cNvSpPr txBox="1"/>
          <p:nvPr/>
        </p:nvSpPr>
        <p:spPr>
          <a:xfrm>
            <a:off x="190414" y="1404247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5">
                <a:extLst>
                  <a:ext uri="{FF2B5EF4-FFF2-40B4-BE49-F238E27FC236}">
                    <a16:creationId xmlns:a16="http://schemas.microsoft.com/office/drawing/2014/main" id="{51EA2656-62D6-4091-B6C0-C93B84DAE658}"/>
                  </a:ext>
                </a:extLst>
              </p:cNvPr>
              <p:cNvSpPr/>
              <p:nvPr/>
            </p:nvSpPr>
            <p:spPr>
              <a:xfrm>
                <a:off x="179415" y="2791596"/>
                <a:ext cx="4719990" cy="1578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95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=0.059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Rectangle 15">
                <a:extLst>
                  <a:ext uri="{FF2B5EF4-FFF2-40B4-BE49-F238E27FC236}">
                    <a16:creationId xmlns:a16="http://schemas.microsoft.com/office/drawing/2014/main" id="{51EA2656-62D6-4091-B6C0-C93B84DAE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15" y="2791596"/>
                <a:ext cx="4719990" cy="1578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31971A6B-EB75-4260-A721-39A796E2F2EB}"/>
                  </a:ext>
                </a:extLst>
              </p:cNvPr>
              <p:cNvSpPr/>
              <p:nvPr/>
            </p:nvSpPr>
            <p:spPr>
              <a:xfrm>
                <a:off x="158176" y="1700808"/>
                <a:ext cx="5942569" cy="669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𝐶𝑒𝑙𝑖𝑎𝑐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31971A6B-EB75-4260-A721-39A796E2F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76" y="1700808"/>
                <a:ext cx="5942569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16">
            <a:extLst>
              <a:ext uri="{FF2B5EF4-FFF2-40B4-BE49-F238E27FC236}">
                <a16:creationId xmlns:a16="http://schemas.microsoft.com/office/drawing/2014/main" id="{685EE526-7537-46D2-ACAB-AEAACA543F82}"/>
              </a:ext>
            </a:extLst>
          </p:cNvPr>
          <p:cNvSpPr/>
          <p:nvPr/>
        </p:nvSpPr>
        <p:spPr>
          <a:xfrm>
            <a:off x="7239815" y="3946578"/>
            <a:ext cx="230772" cy="24156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18">
            <a:extLst>
              <a:ext uri="{FF2B5EF4-FFF2-40B4-BE49-F238E27FC236}">
                <a16:creationId xmlns:a16="http://schemas.microsoft.com/office/drawing/2014/main" id="{F08357AA-AB4E-487C-B3DA-DDCC13D87FE3}"/>
              </a:ext>
            </a:extLst>
          </p:cNvPr>
          <p:cNvSpPr/>
          <p:nvPr/>
        </p:nvSpPr>
        <p:spPr>
          <a:xfrm>
            <a:off x="6891326" y="3579652"/>
            <a:ext cx="612648" cy="608492"/>
          </a:xfrm>
          <a:prstGeom prst="ellipse">
            <a:avLst/>
          </a:prstGeom>
          <a:solidFill>
            <a:srgbClr val="88A945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85D31A5C-C2D4-4B61-9C82-6BBA45E4FD98}"/>
              </a:ext>
            </a:extLst>
          </p:cNvPr>
          <p:cNvSpPr/>
          <p:nvPr/>
        </p:nvSpPr>
        <p:spPr>
          <a:xfrm>
            <a:off x="5314826" y="2252135"/>
            <a:ext cx="3753678" cy="37372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E6577-FEC6-42CB-80F9-0866149F482A}"/>
              </a:ext>
            </a:extLst>
          </p:cNvPr>
          <p:cNvSpPr txBox="1"/>
          <p:nvPr/>
        </p:nvSpPr>
        <p:spPr>
          <a:xfrm>
            <a:off x="6463008" y="2348217"/>
            <a:ext cx="156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Population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0EB3E3-DB7B-4F39-B125-A672B5F616C1}"/>
                  </a:ext>
                </a:extLst>
              </p:cNvPr>
              <p:cNvSpPr txBox="1"/>
              <p:nvPr/>
            </p:nvSpPr>
            <p:spPr>
              <a:xfrm>
                <a:off x="5510508" y="3310574"/>
                <a:ext cx="19050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P</a:t>
                </a:r>
                <a:r>
                  <a:rPr lang="en-GB" sz="1400" dirty="0">
                    <a:solidFill>
                      <a:schemeClr val="tx1"/>
                    </a:solidFill>
                  </a:rPr>
                  <a:t>ositive test result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400" dirty="0">
                  <a:solidFill>
                    <a:schemeClr val="tx1"/>
                  </a:solidFill>
                </a:endParaRPr>
              </a:p>
              <a:p>
                <a:r>
                  <a:rPr lang="en-GB" sz="1400" dirty="0"/>
                  <a:t>5.9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0EB3E3-DB7B-4F39-B125-A672B5F61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508" y="3310574"/>
                <a:ext cx="1905000" cy="738664"/>
              </a:xfrm>
              <a:prstGeom prst="rect">
                <a:avLst/>
              </a:prstGeom>
              <a:blipFill>
                <a:blip r:embed="rId5"/>
                <a:stretch>
                  <a:fillRect l="-962"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A762DA-6D44-4999-9F30-DA67648819E7}"/>
                  </a:ext>
                </a:extLst>
              </p:cNvPr>
              <p:cNvSpPr txBox="1"/>
              <p:nvPr/>
            </p:nvSpPr>
            <p:spPr>
              <a:xfrm>
                <a:off x="7503974" y="3947627"/>
                <a:ext cx="126236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+mn-lt"/>
                  </a:rPr>
                  <a:t>Patients with Celiac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𝐶𝑒𝑙𝑖𝑎𝑐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A762DA-6D44-4999-9F30-DA6764881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974" y="3947627"/>
                <a:ext cx="1262362" cy="738664"/>
              </a:xfrm>
              <a:prstGeom prst="rect">
                <a:avLst/>
              </a:prstGeom>
              <a:blipFill>
                <a:blip r:embed="rId6"/>
                <a:stretch>
                  <a:fillRect l="-1449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2">
                <a:extLst>
                  <a:ext uri="{FF2B5EF4-FFF2-40B4-BE49-F238E27FC236}">
                    <a16:creationId xmlns:a16="http://schemas.microsoft.com/office/drawing/2014/main" id="{55251DD6-7C48-4778-B153-2D8F1259F5C6}"/>
                  </a:ext>
                </a:extLst>
              </p:cNvPr>
              <p:cNvSpPr/>
              <p:nvPr/>
            </p:nvSpPr>
            <p:spPr>
              <a:xfrm>
                <a:off x="5842572" y="4768080"/>
                <a:ext cx="193636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32">
                <a:extLst>
                  <a:ext uri="{FF2B5EF4-FFF2-40B4-BE49-F238E27FC236}">
                    <a16:creationId xmlns:a16="http://schemas.microsoft.com/office/drawing/2014/main" id="{55251DD6-7C48-4778-B153-2D8F1259F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572" y="4768080"/>
                <a:ext cx="1936364" cy="338554"/>
              </a:xfrm>
              <a:prstGeom prst="rect">
                <a:avLst/>
              </a:prstGeom>
              <a:blipFill>
                <a:blip r:embed="rId7"/>
                <a:stretch>
                  <a:fillRect r="-1887"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33">
            <a:extLst>
              <a:ext uri="{FF2B5EF4-FFF2-40B4-BE49-F238E27FC236}">
                <a16:creationId xmlns:a16="http://schemas.microsoft.com/office/drawing/2014/main" id="{5FFB4A08-D6D0-41E3-AE36-9180549C8867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6810754" y="4057283"/>
            <a:ext cx="497868" cy="71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62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4AAF-5CC4-43D2-A0CB-E66ABA66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DA36A-3DB1-4000-9544-14EF6638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C52EE5-76B5-4490-A1A6-4AFBCC8F2A59}"/>
                  </a:ext>
                </a:extLst>
              </p:cNvPr>
              <p:cNvSpPr txBox="1"/>
              <p:nvPr/>
            </p:nvSpPr>
            <p:spPr>
              <a:xfrm>
                <a:off x="-53635" y="4287991"/>
                <a:ext cx="5151510" cy="1525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𝐻𝑒𝑎𝑙𝑡h𝑦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=0.99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num>
                        <m:den>
                          <m: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.059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=0.839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C52EE5-76B5-4490-A1A6-4AFBCC8F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635" y="4287991"/>
                <a:ext cx="5151510" cy="1525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7">
                <a:extLst>
                  <a:ext uri="{FF2B5EF4-FFF2-40B4-BE49-F238E27FC236}">
                    <a16:creationId xmlns:a16="http://schemas.microsoft.com/office/drawing/2014/main" id="{677E46FA-B049-47E7-930D-BE8C369E6B9B}"/>
                  </a:ext>
                </a:extLst>
              </p:cNvPr>
              <p:cNvSpPr/>
              <p:nvPr/>
            </p:nvSpPr>
            <p:spPr>
              <a:xfrm>
                <a:off x="0" y="1198223"/>
                <a:ext cx="6396043" cy="669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𝐻𝑒𝑎𝑙𝑡h𝑦</m:t>
                              </m:r>
                            </m:e>
                          </m:d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Rectangle 37">
                <a:extLst>
                  <a:ext uri="{FF2B5EF4-FFF2-40B4-BE49-F238E27FC236}">
                    <a16:creationId xmlns:a16="http://schemas.microsoft.com/office/drawing/2014/main" id="{677E46FA-B049-47E7-930D-BE8C369E6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8223"/>
                <a:ext cx="6396043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88E7D0B-E76D-425E-A9D4-7C6A5AB25FC4}"/>
              </a:ext>
            </a:extLst>
          </p:cNvPr>
          <p:cNvSpPr txBox="1"/>
          <p:nvPr/>
        </p:nvSpPr>
        <p:spPr>
          <a:xfrm>
            <a:off x="137328" y="1019429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23058-2463-4DDE-BC4E-5904121D62C1}"/>
              </a:ext>
            </a:extLst>
          </p:cNvPr>
          <p:cNvSpPr txBox="1"/>
          <p:nvPr/>
        </p:nvSpPr>
        <p:spPr>
          <a:xfrm>
            <a:off x="3673491" y="5471981"/>
            <a:ext cx="4685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Rare observations (patient with disease),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and very high or very low association with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event yield strong revisions!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03AFAD88-2BA5-4E20-A5F8-592743C03532}"/>
                  </a:ext>
                </a:extLst>
              </p:cNvPr>
              <p:cNvSpPr/>
              <p:nvPr/>
            </p:nvSpPr>
            <p:spPr>
              <a:xfrm>
                <a:off x="126329" y="2406778"/>
                <a:ext cx="4719990" cy="1578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𝐻𝑒𝑎𝑙𝑡h𝑦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95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=0.059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03AFAD88-2BA5-4E20-A5F8-592743C0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29" y="2406778"/>
                <a:ext cx="4719990" cy="1578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17">
            <a:extLst>
              <a:ext uri="{FF2B5EF4-FFF2-40B4-BE49-F238E27FC236}">
                <a16:creationId xmlns:a16="http://schemas.microsoft.com/office/drawing/2014/main" id="{2AC764AD-7B7E-4067-A913-F193598FCF15}"/>
              </a:ext>
            </a:extLst>
          </p:cNvPr>
          <p:cNvSpPr/>
          <p:nvPr/>
        </p:nvSpPr>
        <p:spPr>
          <a:xfrm>
            <a:off x="7186729" y="3561760"/>
            <a:ext cx="230772" cy="24156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18">
            <a:extLst>
              <a:ext uri="{FF2B5EF4-FFF2-40B4-BE49-F238E27FC236}">
                <a16:creationId xmlns:a16="http://schemas.microsoft.com/office/drawing/2014/main" id="{4C3C0DB5-F038-4900-A2D9-7FA8DD185353}"/>
              </a:ext>
            </a:extLst>
          </p:cNvPr>
          <p:cNvSpPr/>
          <p:nvPr/>
        </p:nvSpPr>
        <p:spPr>
          <a:xfrm>
            <a:off x="6838240" y="3194834"/>
            <a:ext cx="612648" cy="608492"/>
          </a:xfrm>
          <a:prstGeom prst="ellipse">
            <a:avLst/>
          </a:prstGeom>
          <a:solidFill>
            <a:srgbClr val="88A945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19">
            <a:extLst>
              <a:ext uri="{FF2B5EF4-FFF2-40B4-BE49-F238E27FC236}">
                <a16:creationId xmlns:a16="http://schemas.microsoft.com/office/drawing/2014/main" id="{2DBE3FD3-9518-43ED-834A-4ACA05D42C35}"/>
              </a:ext>
            </a:extLst>
          </p:cNvPr>
          <p:cNvSpPr/>
          <p:nvPr/>
        </p:nvSpPr>
        <p:spPr>
          <a:xfrm>
            <a:off x="5261740" y="1867317"/>
            <a:ext cx="3753678" cy="37372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309E52-F04B-404C-A97A-80EE0DA8911A}"/>
              </a:ext>
            </a:extLst>
          </p:cNvPr>
          <p:cNvSpPr txBox="1"/>
          <p:nvPr/>
        </p:nvSpPr>
        <p:spPr>
          <a:xfrm>
            <a:off x="6409922" y="1963399"/>
            <a:ext cx="156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Population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CF4EA8-9547-41FC-97A9-519A99189D70}"/>
                  </a:ext>
                </a:extLst>
              </p:cNvPr>
              <p:cNvSpPr txBox="1"/>
              <p:nvPr/>
            </p:nvSpPr>
            <p:spPr>
              <a:xfrm>
                <a:off x="5457422" y="2925756"/>
                <a:ext cx="19050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P</a:t>
                </a:r>
                <a:r>
                  <a:rPr lang="en-GB" sz="1400" dirty="0">
                    <a:solidFill>
                      <a:schemeClr val="tx1"/>
                    </a:solidFill>
                  </a:rPr>
                  <a:t>ositive test result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400" dirty="0">
                  <a:solidFill>
                    <a:schemeClr val="tx1"/>
                  </a:solidFill>
                </a:endParaRPr>
              </a:p>
              <a:p>
                <a:r>
                  <a:rPr lang="en-GB" sz="1400" dirty="0"/>
                  <a:t>5.9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CF4EA8-9547-41FC-97A9-519A99189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422" y="2925756"/>
                <a:ext cx="1905000" cy="738664"/>
              </a:xfrm>
              <a:prstGeom prst="rect">
                <a:avLst/>
              </a:prstGeom>
              <a:blipFill>
                <a:blip r:embed="rId5"/>
                <a:stretch>
                  <a:fillRect l="-958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F086B5-9124-43EE-B60B-382C2AD1CB6C}"/>
                  </a:ext>
                </a:extLst>
              </p:cNvPr>
              <p:cNvSpPr txBox="1"/>
              <p:nvPr/>
            </p:nvSpPr>
            <p:spPr>
              <a:xfrm>
                <a:off x="7450888" y="3562809"/>
                <a:ext cx="126236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+mn-lt"/>
                  </a:rPr>
                  <a:t>Patients with Celiac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𝐶𝑒𝑙𝑖𝑎𝑐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F086B5-9124-43EE-B60B-382C2AD1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888" y="3562809"/>
                <a:ext cx="1262362" cy="738664"/>
              </a:xfrm>
              <a:prstGeom prst="rect">
                <a:avLst/>
              </a:prstGeom>
              <a:blipFill>
                <a:blip r:embed="rId6"/>
                <a:stretch>
                  <a:fillRect l="-1449" t="-820" b="-7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23">
                <a:extLst>
                  <a:ext uri="{FF2B5EF4-FFF2-40B4-BE49-F238E27FC236}">
                    <a16:creationId xmlns:a16="http://schemas.microsoft.com/office/drawing/2014/main" id="{E37784BE-75B4-4E08-B4F5-DBC5EB0C5643}"/>
                  </a:ext>
                </a:extLst>
              </p:cNvPr>
              <p:cNvSpPr/>
              <p:nvPr/>
            </p:nvSpPr>
            <p:spPr>
              <a:xfrm>
                <a:off x="5789486" y="4383262"/>
                <a:ext cx="193636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23">
                <a:extLst>
                  <a:ext uri="{FF2B5EF4-FFF2-40B4-BE49-F238E27FC236}">
                    <a16:creationId xmlns:a16="http://schemas.microsoft.com/office/drawing/2014/main" id="{E37784BE-75B4-4E08-B4F5-DBC5EB0C5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486" y="4383262"/>
                <a:ext cx="1936364" cy="338554"/>
              </a:xfrm>
              <a:prstGeom prst="rect">
                <a:avLst/>
              </a:prstGeom>
              <a:blipFill>
                <a:blip r:embed="rId7"/>
                <a:stretch>
                  <a:fillRect r="-2208"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24">
            <a:extLst>
              <a:ext uri="{FF2B5EF4-FFF2-40B4-BE49-F238E27FC236}">
                <a16:creationId xmlns:a16="http://schemas.microsoft.com/office/drawing/2014/main" id="{193182B2-C01A-44AD-8B9B-D08E42E2B3D5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757668" y="3672465"/>
            <a:ext cx="497868" cy="71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0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D48F4-04B9-4770-9AFE-595414C2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Tips for the TEST (2022 Spring WRSE)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A62EF-5DF9-469D-9B8B-2CB15CFD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Closed Book, 150 mins, Calculators allows</a:t>
            </a:r>
          </a:p>
          <a:p>
            <a:pPr lvl="1"/>
            <a:r>
              <a:rPr lang="en-US" altLang="ko-KR" dirty="0"/>
              <a:t> Exact Time &amp; Place: May 17 </a:t>
            </a:r>
            <a:r>
              <a:rPr lang="ko-KR" altLang="en-US" dirty="0"/>
              <a:t>화요일</a:t>
            </a:r>
            <a:r>
              <a:rPr lang="en-US" altLang="ko-KR" dirty="0"/>
              <a:t>, 17:00-19:30, 35-431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출제 범위</a:t>
            </a:r>
            <a:endParaRPr lang="en-US" altLang="ko-KR" dirty="0"/>
          </a:p>
          <a:p>
            <a:pPr lvl="1"/>
            <a:r>
              <a:rPr lang="en-US" altLang="ko-KR" dirty="0"/>
              <a:t> Primary Textbook Chapters </a:t>
            </a:r>
          </a:p>
          <a:p>
            <a:pPr lvl="2"/>
            <a:r>
              <a:rPr lang="en-US" altLang="ko-KR" dirty="0"/>
              <a:t> 01, 02, 03, 04, 05, 06-(6.2.3, p.223 </a:t>
            </a:r>
            <a:r>
              <a:rPr lang="ko-KR" altLang="en-US" dirty="0"/>
              <a:t>까지 출제범위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Lecture Notes: 01, 02, 03, 04, 05, 06</a:t>
            </a:r>
          </a:p>
          <a:p>
            <a:pPr lvl="1"/>
            <a:r>
              <a:rPr lang="en-US" altLang="ko-KR" dirty="0"/>
              <a:t> Assignments: #1, #2</a:t>
            </a:r>
          </a:p>
          <a:p>
            <a:pPr lvl="1"/>
            <a:r>
              <a:rPr lang="en-US" altLang="ko-KR" dirty="0"/>
              <a:t> Quizzes: #1, #2</a:t>
            </a:r>
          </a:p>
          <a:p>
            <a:pPr lvl="1"/>
            <a:r>
              <a:rPr lang="en-US" altLang="ko-KR" dirty="0"/>
              <a:t> Other New Questions (1 Question, 2 Questions Max)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31D05-59BF-4A09-96AA-32C2A896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26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(~End of Course)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8191822" cy="4896544"/>
          </a:xfrm>
        </p:spPr>
        <p:txBody>
          <a:bodyPr>
            <a:normAutofit/>
          </a:bodyPr>
          <a:lstStyle/>
          <a:p>
            <a:r>
              <a:rPr lang="en-US" altLang="ko-KR" dirty="0"/>
              <a:t> May-17 (1): TEST</a:t>
            </a:r>
          </a:p>
          <a:p>
            <a:r>
              <a:rPr lang="en-US" altLang="ko-KR" dirty="0"/>
              <a:t> May-24 (2):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07: Probability, Statistics, Uncertainty, and Stochastic Simulations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08: Performance Criteria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Jun-14: Final Project Presentation + Report Due (5)</a:t>
            </a:r>
          </a:p>
          <a:p>
            <a:pPr lvl="1"/>
            <a:r>
              <a:rPr lang="en-US" altLang="ko-KR" dirty="0"/>
              <a:t> Report</a:t>
            </a:r>
            <a:r>
              <a:rPr lang="ko-KR" altLang="en-US" dirty="0"/>
              <a:t>는 추후에 기술기사로 출판할 예정 </a:t>
            </a:r>
            <a:r>
              <a:rPr lang="en-US" altLang="ko-KR" dirty="0"/>
              <a:t>(6-7</a:t>
            </a:r>
            <a:r>
              <a:rPr lang="ko-KR" altLang="en-US" dirty="0"/>
              <a:t>월 중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77976</TotalTime>
  <Words>1898</Words>
  <Application>Microsoft Office PowerPoint</Application>
  <PresentationFormat>화면 슬라이드 쇼(4:3)</PresentationFormat>
  <Paragraphs>263</Paragraphs>
  <Slides>33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4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Comic Sans MS</vt:lpstr>
      <vt:lpstr>Gill Sans MT</vt:lpstr>
      <vt:lpstr>Wingdings</vt:lpstr>
      <vt:lpstr>Office 테마</vt:lpstr>
      <vt:lpstr>Equation</vt:lpstr>
      <vt:lpstr>Lecture 06</vt:lpstr>
      <vt:lpstr>Review on Previous Lectures</vt:lpstr>
      <vt:lpstr>Today’s Topic: Probability, Statistics, Uncertainty and Stochastic Simulations</vt:lpstr>
      <vt:lpstr>Review on Common Representative Values</vt:lpstr>
      <vt:lpstr>Review on Common Representative Values</vt:lpstr>
      <vt:lpstr>Review on Common Representative Values</vt:lpstr>
      <vt:lpstr>Review on Common Representative Values</vt:lpstr>
      <vt:lpstr>Summary (1)</vt:lpstr>
      <vt:lpstr>Explain the data with Rep. Values?</vt:lpstr>
      <vt:lpstr>Concept of Probability </vt:lpstr>
      <vt:lpstr>PowerPoint 프레젠테이션</vt:lpstr>
      <vt:lpstr>PowerPoint 프레젠테이션</vt:lpstr>
      <vt:lpstr>PowerPoint 프레젠테이션</vt:lpstr>
      <vt:lpstr>Review on the Probability Concepts </vt:lpstr>
      <vt:lpstr>Summary (2)</vt:lpstr>
      <vt:lpstr>Common Distributions in WRSA</vt:lpstr>
      <vt:lpstr>More on the Normal  Distribution</vt:lpstr>
      <vt:lpstr>Many random variables in nature follow a normal distribution  </vt:lpstr>
      <vt:lpstr>Standard Normal Distribution</vt:lpstr>
      <vt:lpstr>Transforming into Standard Normal Dist.</vt:lpstr>
      <vt:lpstr>68-95-99.7 rule for a Normal Distribution</vt:lpstr>
      <vt:lpstr>Example Problem: Annual Precipitation</vt:lpstr>
      <vt:lpstr>Example Problem: Annual Precipitation</vt:lpstr>
      <vt:lpstr>Example Problem: Annual Precipitation</vt:lpstr>
      <vt:lpstr>Finally, Conditional Probability P(A|B)</vt:lpstr>
      <vt:lpstr>Bayes Theorem</vt:lpstr>
      <vt:lpstr>PowerPoint 프레젠테이션</vt:lpstr>
      <vt:lpstr>Bayes Theorem: Derivation</vt:lpstr>
      <vt:lpstr>Example Problem: Bayes Theorem</vt:lpstr>
      <vt:lpstr>Example Problem: Bayes Theorem</vt:lpstr>
      <vt:lpstr>Example Problem: Bayes Theorem</vt:lpstr>
      <vt:lpstr>Tips for the TEST (2022 Spring WRSE)</vt:lpstr>
      <vt:lpstr>Future Schedule (~End of Course)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2338</cp:revision>
  <cp:lastPrinted>2022-03-21T05:50:04Z</cp:lastPrinted>
  <dcterms:created xsi:type="dcterms:W3CDTF">2020-01-02T02:18:47Z</dcterms:created>
  <dcterms:modified xsi:type="dcterms:W3CDTF">2022-05-10T07:47:33Z</dcterms:modified>
</cp:coreProperties>
</file>