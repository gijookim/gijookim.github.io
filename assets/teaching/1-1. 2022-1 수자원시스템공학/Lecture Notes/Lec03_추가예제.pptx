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742" r:id="rId2"/>
    <p:sldId id="743" r:id="rId3"/>
    <p:sldId id="745" r:id="rId4"/>
    <p:sldId id="748" r:id="rId5"/>
    <p:sldId id="746" r:id="rId6"/>
    <p:sldId id="747" r:id="rId7"/>
  </p:sldIdLst>
  <p:sldSz cx="9144000" cy="6858000" type="screen4x3"/>
  <p:notesSz cx="6735763" cy="986631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7CC"/>
    <a:srgbClr val="F60A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23" autoAdjust="0"/>
    <p:restoredTop sz="94262" autoAdjust="0"/>
  </p:normalViewPr>
  <p:slideViewPr>
    <p:cSldViewPr>
      <p:cViewPr varScale="1">
        <p:scale>
          <a:sx n="104" d="100"/>
          <a:sy n="104" d="100"/>
        </p:scale>
        <p:origin x="159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2" y="0"/>
            <a:ext cx="2918830" cy="495029"/>
          </a:xfrm>
          <a:prstGeom prst="rect">
            <a:avLst/>
          </a:prstGeom>
        </p:spPr>
        <p:txBody>
          <a:bodyPr vert="horz" lIns="90756" tIns="45378" rIns="90756" bIns="45378" rtlCol="0"/>
          <a:lstStyle>
            <a:lvl1pPr algn="l">
              <a:defRPr sz="1200"/>
            </a:lvl1pPr>
          </a:lstStyle>
          <a:p>
            <a:endParaRPr lang="ko-KR" altLang="en-US"/>
          </a:p>
        </p:txBody>
      </p:sp>
      <p:sp>
        <p:nvSpPr>
          <p:cNvPr id="3" name="날짜 개체 틀 2"/>
          <p:cNvSpPr>
            <a:spLocks noGrp="1"/>
          </p:cNvSpPr>
          <p:nvPr>
            <p:ph type="dt" idx="1"/>
          </p:nvPr>
        </p:nvSpPr>
        <p:spPr>
          <a:xfrm>
            <a:off x="3815375" y="0"/>
            <a:ext cx="2918830" cy="495029"/>
          </a:xfrm>
          <a:prstGeom prst="rect">
            <a:avLst/>
          </a:prstGeom>
        </p:spPr>
        <p:txBody>
          <a:bodyPr vert="horz" lIns="90756" tIns="45378" rIns="90756" bIns="45378" rtlCol="0"/>
          <a:lstStyle>
            <a:lvl1pPr algn="r">
              <a:defRPr sz="1200"/>
            </a:lvl1pPr>
          </a:lstStyle>
          <a:p>
            <a:fld id="{E1DBA18E-019D-4DB5-9C84-C80C9EC0EDE4}" type="datetimeFigureOut">
              <a:rPr lang="ko-KR" altLang="en-US" smtClean="0"/>
              <a:t>2022-03-27</a:t>
            </a:fld>
            <a:endParaRPr lang="ko-KR" altLang="en-US"/>
          </a:p>
        </p:txBody>
      </p:sp>
      <p:sp>
        <p:nvSpPr>
          <p:cNvPr id="4" name="슬라이드 이미지 개체 틀 3"/>
          <p:cNvSpPr>
            <a:spLocks noGrp="1" noRot="1" noChangeAspect="1"/>
          </p:cNvSpPr>
          <p:nvPr>
            <p:ph type="sldImg" idx="2"/>
          </p:nvPr>
        </p:nvSpPr>
        <p:spPr>
          <a:xfrm>
            <a:off x="1149350" y="1233488"/>
            <a:ext cx="4437063" cy="3328987"/>
          </a:xfrm>
          <a:prstGeom prst="rect">
            <a:avLst/>
          </a:prstGeom>
          <a:noFill/>
          <a:ln w="12700">
            <a:solidFill>
              <a:prstClr val="black"/>
            </a:solidFill>
          </a:ln>
        </p:spPr>
        <p:txBody>
          <a:bodyPr vert="horz" lIns="90756" tIns="45378" rIns="90756" bIns="45378" rtlCol="0" anchor="ctr"/>
          <a:lstStyle/>
          <a:p>
            <a:endParaRPr lang="ko-KR" altLang="en-US"/>
          </a:p>
        </p:txBody>
      </p:sp>
      <p:sp>
        <p:nvSpPr>
          <p:cNvPr id="5" name="슬라이드 노트 개체 틀 4"/>
          <p:cNvSpPr>
            <a:spLocks noGrp="1"/>
          </p:cNvSpPr>
          <p:nvPr>
            <p:ph type="body" sz="quarter" idx="3"/>
          </p:nvPr>
        </p:nvSpPr>
        <p:spPr>
          <a:xfrm>
            <a:off x="673577" y="4748164"/>
            <a:ext cx="5388610" cy="3884861"/>
          </a:xfrm>
          <a:prstGeom prst="rect">
            <a:avLst/>
          </a:prstGeom>
        </p:spPr>
        <p:txBody>
          <a:bodyPr vert="horz" lIns="90756" tIns="45378" rIns="90756" bIns="45378"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2" y="9371286"/>
            <a:ext cx="2918830" cy="495028"/>
          </a:xfrm>
          <a:prstGeom prst="rect">
            <a:avLst/>
          </a:prstGeom>
        </p:spPr>
        <p:txBody>
          <a:bodyPr vert="horz" lIns="90756" tIns="45378" rIns="90756" bIns="45378"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15375" y="9371286"/>
            <a:ext cx="2918830" cy="495028"/>
          </a:xfrm>
          <a:prstGeom prst="rect">
            <a:avLst/>
          </a:prstGeom>
        </p:spPr>
        <p:txBody>
          <a:bodyPr vert="horz" lIns="90756" tIns="45378" rIns="90756" bIns="45378" rtlCol="0" anchor="b"/>
          <a:lstStyle>
            <a:lvl1pPr algn="r">
              <a:defRPr sz="1200"/>
            </a:lvl1pPr>
          </a:lstStyle>
          <a:p>
            <a:fld id="{3B93C0B1-E0F9-447B-AFB5-BCC5935C28C8}" type="slidenum">
              <a:rPr lang="ko-KR" altLang="en-US" smtClean="0"/>
              <a:t>‹#›</a:t>
            </a:fld>
            <a:endParaRPr lang="ko-KR" altLang="en-US"/>
          </a:p>
        </p:txBody>
      </p:sp>
    </p:spTree>
    <p:extLst>
      <p:ext uri="{BB962C8B-B14F-4D97-AF65-F5344CB8AC3E}">
        <p14:creationId xmlns:p14="http://schemas.microsoft.com/office/powerpoint/2010/main" val="277698145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a:lvl1pPr>
          </a:lstStyle>
          <a:p>
            <a:r>
              <a:rPr lang="ko-KR" altLang="en-US" dirty="0"/>
              <a:t>마스터 제목 스타일 편집</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3340037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dirty="0"/>
              <a:t>마스터 제목 스타일 편집</a:t>
            </a:r>
            <a:endParaRPr lang="en-US" dirty="0"/>
          </a:p>
        </p:txBody>
      </p:sp>
      <p:sp>
        <p:nvSpPr>
          <p:cNvPr id="3" name="Content Placeholder 2"/>
          <p:cNvSpPr>
            <a:spLocks noGrp="1"/>
          </p:cNvSpPr>
          <p:nvPr>
            <p:ph idx="1"/>
          </p:nvPr>
        </p:nvSpPr>
        <p:spPr/>
        <p:txBody>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859942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ko-KR" altLang="en-US"/>
              <a:t>마스터 제목 스타일 편집</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98277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a:xfrm>
            <a:off x="6300192" y="6356349"/>
            <a:ext cx="2215158" cy="365125"/>
          </a:xfrm>
          <a:prstGeom prst="rect">
            <a:avLst/>
          </a:prstGeom>
        </p:spPr>
        <p:txBody>
          <a:bodyPr/>
          <a:lstStyle/>
          <a:p>
            <a:fld id="{4DF68E14-CAEA-49EF-A996-488ADFD1D606}" type="datetime1">
              <a:rPr lang="ko-KR" altLang="en-US" smtClean="0"/>
              <a:t>2022-03-27</a:t>
            </a:fld>
            <a:endParaRPr lang="ko-KR" altLang="en-US"/>
          </a:p>
        </p:txBody>
      </p:sp>
      <p:sp>
        <p:nvSpPr>
          <p:cNvPr id="7" name="Slide Number Placeholder 6"/>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639544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629842" y="2505075"/>
            <a:ext cx="3868340"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4629150" y="2505075"/>
            <a:ext cx="3887391"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9" name="Slide Number Placeholder 8"/>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1899829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5" name="Slide Number Placeholder 4"/>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2554999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300192" y="6356349"/>
            <a:ext cx="2215158" cy="365125"/>
          </a:xfrm>
          <a:prstGeom prst="rect">
            <a:avLst/>
          </a:prstGeom>
        </p:spPr>
        <p:txBody>
          <a:bodyPr/>
          <a:lstStyle/>
          <a:p>
            <a:fld id="{9A647E19-6206-463B-9AE9-66BE4F630FC0}" type="datetime1">
              <a:rPr lang="ko-KR" altLang="en-US" smtClean="0"/>
              <a:t>2022-03-27</a:t>
            </a:fld>
            <a:endParaRPr lang="ko-KR" altLang="en-US"/>
          </a:p>
        </p:txBody>
      </p:sp>
      <p:sp>
        <p:nvSpPr>
          <p:cNvPr id="4" name="Slide Number Placeholder 3"/>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3" name="제목 2">
            <a:extLst>
              <a:ext uri="{FF2B5EF4-FFF2-40B4-BE49-F238E27FC236}">
                <a16:creationId xmlns:a16="http://schemas.microsoft.com/office/drawing/2014/main" id="{03339795-4603-4C4B-B582-9870510CEFD8}"/>
              </a:ext>
            </a:extLst>
          </p:cNvPr>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9279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a:xfrm>
            <a:off x="6300192" y="6356349"/>
            <a:ext cx="2215158" cy="365125"/>
          </a:xfrm>
          <a:prstGeom prst="rect">
            <a:avLst/>
          </a:prstGeom>
        </p:spPr>
        <p:txBody>
          <a:bodyPr/>
          <a:lstStyle/>
          <a:p>
            <a:fld id="{93CDF756-7DF6-4EF7-9AE5-1CDBCC6807D0}" type="datetime1">
              <a:rPr lang="ko-KR" altLang="en-US" smtClean="0"/>
              <a:t>2022-03-27</a:t>
            </a:fld>
            <a:endParaRPr lang="ko-KR" altLang="en-US"/>
          </a:p>
        </p:txBody>
      </p:sp>
      <p:sp>
        <p:nvSpPr>
          <p:cNvPr id="7" name="Slide Number Placeholder 6"/>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702833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a:xfrm>
            <a:off x="6300192" y="6356349"/>
            <a:ext cx="2215158" cy="365125"/>
          </a:xfrm>
          <a:prstGeom prst="rect">
            <a:avLst/>
          </a:prstGeom>
        </p:spPr>
        <p:txBody>
          <a:bodyPr/>
          <a:lstStyle/>
          <a:p>
            <a:fld id="{0E00B1B8-02ED-4B71-B2A9-756D11FCE97A}" type="datetime1">
              <a:rPr lang="ko-KR" altLang="en-US" smtClean="0"/>
              <a:t>2022-03-27</a:t>
            </a:fld>
            <a:endParaRPr lang="ko-KR" altLang="en-US"/>
          </a:p>
        </p:txBody>
      </p:sp>
      <p:sp>
        <p:nvSpPr>
          <p:cNvPr id="7" name="Slide Number Placeholder 6"/>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4063382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a:xfrm>
            <a:off x="6300192" y="6356349"/>
            <a:ext cx="2215158" cy="365125"/>
          </a:xfrm>
          <a:prstGeom prst="rect">
            <a:avLst/>
          </a:prstGeom>
        </p:spPr>
        <p:txBody>
          <a:bodyPr/>
          <a:lstStyle/>
          <a:p>
            <a:fld id="{F8842333-966D-4877-82E2-6DF5FF1AA6FD}" type="datetime1">
              <a:rPr lang="ko-KR" altLang="en-US" smtClean="0"/>
              <a:t>2022-03-27</a:t>
            </a:fld>
            <a:endParaRPr lang="ko-KR" altLang="en-US"/>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643917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세로 제목 및 텍스트">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28650" y="365125"/>
            <a:ext cx="5800725"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a:xfrm>
            <a:off x="6300192" y="6356349"/>
            <a:ext cx="2215158" cy="365125"/>
          </a:xfrm>
          <a:prstGeom prst="rect">
            <a:avLst/>
          </a:prstGeom>
        </p:spPr>
        <p:txBody>
          <a:bodyPr/>
          <a:lstStyle/>
          <a:p>
            <a:fld id="{C882E481-74EE-447E-B10C-224EAA33899A}" type="datetime1">
              <a:rPr lang="ko-KR" altLang="en-US" smtClean="0"/>
              <a:t>2022-03-27</a:t>
            </a:fld>
            <a:endParaRPr lang="ko-KR" altLang="en-US"/>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제목 4">
            <a:extLst>
              <a:ext uri="{FF2B5EF4-FFF2-40B4-BE49-F238E27FC236}">
                <a16:creationId xmlns:a16="http://schemas.microsoft.com/office/drawing/2014/main" id="{DE5D0810-B190-47E1-A347-C4E62ABB5443}"/>
              </a:ext>
            </a:extLst>
          </p:cNvPr>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3466951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7"/>
            <a:ext cx="7886700" cy="759618"/>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Text Placeholder 2"/>
          <p:cNvSpPr>
            <a:spLocks noGrp="1"/>
          </p:cNvSpPr>
          <p:nvPr>
            <p:ph type="body" idx="1"/>
          </p:nvPr>
        </p:nvSpPr>
        <p:spPr>
          <a:xfrm>
            <a:off x="628650" y="1268760"/>
            <a:ext cx="7886700" cy="4908203"/>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4"/>
          </p:nvPr>
        </p:nvSpPr>
        <p:spPr>
          <a:xfrm>
            <a:off x="3543300" y="6355026"/>
            <a:ext cx="2057400" cy="365125"/>
          </a:xfrm>
          <a:prstGeom prst="rect">
            <a:avLst/>
          </a:prstGeom>
        </p:spPr>
        <p:txBody>
          <a:bodyPr vert="horz" lIns="91440" tIns="45720" rIns="91440" bIns="45720" rtlCol="0" anchor="ctr"/>
          <a:lstStyle>
            <a:lvl1pPr algn="ctr">
              <a:defRPr sz="1200">
                <a:solidFill>
                  <a:schemeClr val="tx1"/>
                </a:solidFill>
              </a:defRPr>
            </a:lvl1pPr>
          </a:lstStyle>
          <a:p>
            <a:fld id="{79822AFB-C284-4A8E-A6EE-41BAA9C576A0}" type="slidenum">
              <a:rPr lang="ko-KR" altLang="en-US" smtClean="0"/>
              <a:pPr/>
              <a:t>‹#›</a:t>
            </a:fld>
            <a:endParaRPr lang="ko-KR" altLang="en-US" dirty="0"/>
          </a:p>
        </p:txBody>
      </p:sp>
      <p:pic>
        <p:nvPicPr>
          <p:cNvPr id="7" name="그림 6"/>
          <p:cNvPicPr>
            <a:picLocks noChangeAspect="1"/>
          </p:cNvPicPr>
          <p:nvPr userDrawn="1"/>
        </p:nvPicPr>
        <p:blipFill>
          <a:blip r:embed="rId13"/>
          <a:stretch>
            <a:fillRect/>
          </a:stretch>
        </p:blipFill>
        <p:spPr>
          <a:xfrm>
            <a:off x="6804248" y="6250409"/>
            <a:ext cx="1711102" cy="576999"/>
          </a:xfrm>
          <a:prstGeom prst="rect">
            <a:avLst/>
          </a:prstGeom>
        </p:spPr>
      </p:pic>
      <p:sp>
        <p:nvSpPr>
          <p:cNvPr id="8" name="Date Placeholder 3">
            <a:extLst>
              <a:ext uri="{FF2B5EF4-FFF2-40B4-BE49-F238E27FC236}">
                <a16:creationId xmlns:a16="http://schemas.microsoft.com/office/drawing/2014/main" id="{40298C54-76D9-4D1A-B6B3-194E1AE53373}"/>
              </a:ext>
            </a:extLst>
          </p:cNvPr>
          <p:cNvSpPr txBox="1">
            <a:spLocks/>
          </p:cNvSpPr>
          <p:nvPr userDrawn="1"/>
        </p:nvSpPr>
        <p:spPr>
          <a:xfrm>
            <a:off x="628650" y="6356347"/>
            <a:ext cx="2719214" cy="365125"/>
          </a:xfrm>
          <a:prstGeom prst="rect">
            <a:avLst/>
          </a:prstGeom>
        </p:spPr>
        <p:txBody>
          <a:bodyPr vert="horz" lIns="91440" tIns="45720" rIns="91440" bIns="45720" rtlCol="0" anchor="ctr"/>
          <a:lstStyle>
            <a:defPPr>
              <a:defRPr lang="ko-KR"/>
            </a:defPPr>
            <a:lvl1pPr marL="0" algn="r" defTabSz="914400" rtl="0" eaLnBrk="1" latinLnBrk="1" hangingPunct="1">
              <a:defRPr sz="1200" b="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l"/>
            <a:r>
              <a:rPr lang="en-US" altLang="ko-KR" dirty="0">
                <a:latin typeface="Gill Sans MT" panose="020B0502020104020203" pitchFamily="34" charset="0"/>
                <a:cs typeface="Calibri" panose="020F0502020204030204" pitchFamily="34" charset="0"/>
              </a:rPr>
              <a:t>Water Resources Systems Engineering</a:t>
            </a:r>
          </a:p>
          <a:p>
            <a:pPr algn="l"/>
            <a:r>
              <a:rPr lang="en-US" altLang="ko-KR" dirty="0">
                <a:latin typeface="Gill Sans MT" panose="020B0502020104020203" pitchFamily="34" charset="0"/>
                <a:cs typeface="Calibri" panose="020F0502020204030204" pitchFamily="34" charset="0"/>
              </a:rPr>
              <a:t>Spring 2022, Dr. Gi Joo Kim</a:t>
            </a:r>
            <a:endParaRPr lang="ko-KR" altLang="en-US" dirty="0">
              <a:latin typeface="Gill Sans MT" panose="020B0502020104020203" pitchFamily="34" charset="0"/>
              <a:cs typeface="Calibri" panose="020F0502020204030204" pitchFamily="34" charset="0"/>
            </a:endParaRPr>
          </a:p>
        </p:txBody>
      </p:sp>
    </p:spTree>
    <p:extLst>
      <p:ext uri="{BB962C8B-B14F-4D97-AF65-F5344CB8AC3E}">
        <p14:creationId xmlns:p14="http://schemas.microsoft.com/office/powerpoint/2010/main" val="35243996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914400" rtl="0" eaLnBrk="1" latinLnBrk="1" hangingPunct="1">
        <a:lnSpc>
          <a:spcPct val="90000"/>
        </a:lnSpc>
        <a:spcBef>
          <a:spcPct val="0"/>
        </a:spcBef>
        <a:buNone/>
        <a:defRPr sz="3200" kern="1200">
          <a:solidFill>
            <a:schemeClr val="tx1"/>
          </a:solidFill>
          <a:latin typeface="나눔고딕 ExtraBold" panose="020D0904000000000000" pitchFamily="50" charset="-127"/>
          <a:ea typeface="나눔고딕 ExtraBold" panose="020D0904000000000000" pitchFamily="50" charset="-127"/>
          <a:cs typeface="+mj-cs"/>
        </a:defRPr>
      </a:lvl1pPr>
    </p:titleStyle>
    <p:body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나눔고딕 Light" panose="020D0904000000000000" pitchFamily="50" charset="-127"/>
          <a:ea typeface="나눔고딕 Light" panose="020D0904000000000000" pitchFamily="50" charset="-127"/>
          <a:cs typeface="+mn-cs"/>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나눔고딕 Light" panose="020D0904000000000000" pitchFamily="50" charset="-127"/>
          <a:ea typeface="나눔고딕 Light" panose="020D0904000000000000"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나눔고딕 Light" panose="020D0904000000000000" pitchFamily="50" charset="-127"/>
          <a:ea typeface="나눔고딕 Light" panose="020D0904000000000000" pitchFamily="50" charset="-127"/>
          <a:cs typeface="+mn-cs"/>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나눔고딕 Light" panose="020D0904000000000000" pitchFamily="50" charset="-127"/>
          <a:ea typeface="나눔고딕 Light" panose="020D0904000000000000" pitchFamily="50" charset="-127"/>
          <a:cs typeface="+mn-cs"/>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나눔고딕 Light" panose="020D0904000000000000" pitchFamily="50" charset="-127"/>
          <a:ea typeface="나눔고딕 Light" panose="020D0904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39BEBC-D3F7-4713-9098-6E24ECD5C563}"/>
              </a:ext>
            </a:extLst>
          </p:cNvPr>
          <p:cNvSpPr>
            <a:spLocks noGrp="1"/>
          </p:cNvSpPr>
          <p:nvPr>
            <p:ph type="title"/>
          </p:nvPr>
        </p:nvSpPr>
        <p:spPr/>
        <p:txBody>
          <a:bodyPr/>
          <a:lstStyle/>
          <a:p>
            <a:r>
              <a:rPr lang="en-US" altLang="ko-KR" dirty="0"/>
              <a:t>Lagrange</a:t>
            </a:r>
            <a:r>
              <a:rPr lang="ko-KR" altLang="en-US" dirty="0"/>
              <a:t> </a:t>
            </a:r>
            <a:r>
              <a:rPr lang="en-US" altLang="ko-KR" dirty="0"/>
              <a:t>Multiplier</a:t>
            </a:r>
            <a:r>
              <a:rPr lang="ko-KR" altLang="en-US" dirty="0"/>
              <a:t> </a:t>
            </a:r>
            <a:r>
              <a:rPr lang="en-US" altLang="ko-KR" dirty="0"/>
              <a:t>Example</a:t>
            </a:r>
            <a:endParaRPr lang="ko-KR" altLang="en-US" dirty="0"/>
          </a:p>
        </p:txBody>
      </p:sp>
      <p:sp>
        <p:nvSpPr>
          <p:cNvPr id="3" name="내용 개체 틀 2">
            <a:extLst>
              <a:ext uri="{FF2B5EF4-FFF2-40B4-BE49-F238E27FC236}">
                <a16:creationId xmlns:a16="http://schemas.microsoft.com/office/drawing/2014/main" id="{CA484EBF-C13C-4A23-80A9-5E43D0BFD5CB}"/>
              </a:ext>
            </a:extLst>
          </p:cNvPr>
          <p:cNvSpPr>
            <a:spLocks noGrp="1"/>
          </p:cNvSpPr>
          <p:nvPr>
            <p:ph idx="1"/>
          </p:nvPr>
        </p:nvSpPr>
        <p:spPr/>
        <p:txBody>
          <a:bodyPr>
            <a:normAutofit/>
          </a:bodyPr>
          <a:lstStyle/>
          <a:p>
            <a:pPr marL="0" indent="0">
              <a:buNone/>
            </a:pPr>
            <a:r>
              <a:rPr lang="en-US" altLang="ko-KR" sz="1600" dirty="0"/>
              <a:t>(Textbook Exercise 4.13-p.166-167)</a:t>
            </a:r>
          </a:p>
          <a:p>
            <a:r>
              <a:rPr lang="en-US" altLang="ko-KR" sz="1400" dirty="0"/>
              <a:t>An industrial firm makes two products, A and B. These products require water and other resources. Water is the scare resource-they have plenty of other necessary</a:t>
            </a:r>
            <a:r>
              <a:rPr lang="ko-KR" altLang="en-US" sz="1400" dirty="0"/>
              <a:t> </a:t>
            </a:r>
            <a:r>
              <a:rPr lang="en-US" altLang="ko-KR" sz="1400" dirty="0"/>
              <a:t>resources.</a:t>
            </a:r>
            <a:r>
              <a:rPr lang="ko-KR" altLang="en-US" sz="1400" dirty="0"/>
              <a:t> </a:t>
            </a:r>
            <a:r>
              <a:rPr lang="en-US" altLang="ko-KR" sz="1400" dirty="0"/>
              <a:t>The products they make are unique, and hence they can set the unit price of each product at any value they want to. However experience tells them that the higher the unit price for a product, the less amount of that product they will sell. The relationship between unit price and quantity that can be sold is given by the following two demand functions. Assume for simplicity that the unit price for product A is (8 − A) and for product B is (6 − 1.5B).</a:t>
            </a:r>
            <a:endParaRPr lang="ko-KR" altLang="en-US" sz="1400" dirty="0"/>
          </a:p>
        </p:txBody>
      </p:sp>
      <p:sp>
        <p:nvSpPr>
          <p:cNvPr id="4" name="슬라이드 번호 개체 틀 3">
            <a:extLst>
              <a:ext uri="{FF2B5EF4-FFF2-40B4-BE49-F238E27FC236}">
                <a16:creationId xmlns:a16="http://schemas.microsoft.com/office/drawing/2014/main" id="{F253E550-F609-4956-82E5-3DC874B100CB}"/>
              </a:ext>
            </a:extLst>
          </p:cNvPr>
          <p:cNvSpPr>
            <a:spLocks noGrp="1"/>
          </p:cNvSpPr>
          <p:nvPr>
            <p:ph type="sldNum" sz="quarter" idx="12"/>
          </p:nvPr>
        </p:nvSpPr>
        <p:spPr/>
        <p:txBody>
          <a:bodyPr/>
          <a:lstStyle/>
          <a:p>
            <a:fld id="{79822AFB-C284-4A8E-A6EE-41BAA9C576A0}" type="slidenum">
              <a:rPr lang="ko-KR" altLang="en-US" smtClean="0"/>
              <a:t>1</a:t>
            </a:fld>
            <a:endParaRPr lang="ko-KR" altLang="en-US"/>
          </a:p>
        </p:txBody>
      </p:sp>
      <p:pic>
        <p:nvPicPr>
          <p:cNvPr id="5" name="그림 4">
            <a:extLst>
              <a:ext uri="{FF2B5EF4-FFF2-40B4-BE49-F238E27FC236}">
                <a16:creationId xmlns:a16="http://schemas.microsoft.com/office/drawing/2014/main" id="{DFB2F79B-056E-4AFF-897C-D0313338BC3D}"/>
              </a:ext>
            </a:extLst>
          </p:cNvPr>
          <p:cNvPicPr>
            <a:picLocks noChangeAspect="1"/>
          </p:cNvPicPr>
          <p:nvPr/>
        </p:nvPicPr>
        <p:blipFill>
          <a:blip r:embed="rId2"/>
          <a:stretch>
            <a:fillRect/>
          </a:stretch>
        </p:blipFill>
        <p:spPr>
          <a:xfrm>
            <a:off x="1331640" y="3722861"/>
            <a:ext cx="6205586" cy="2054720"/>
          </a:xfrm>
          <a:prstGeom prst="rect">
            <a:avLst/>
          </a:prstGeom>
        </p:spPr>
      </p:pic>
    </p:spTree>
    <p:extLst>
      <p:ext uri="{BB962C8B-B14F-4D97-AF65-F5344CB8AC3E}">
        <p14:creationId xmlns:p14="http://schemas.microsoft.com/office/powerpoint/2010/main" val="739341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a:extLst>
              <a:ext uri="{FF2B5EF4-FFF2-40B4-BE49-F238E27FC236}">
                <a16:creationId xmlns:a16="http://schemas.microsoft.com/office/drawing/2014/main" id="{1E2C6921-0CA2-4B38-BB47-4F58D4FF1BF3}"/>
              </a:ext>
            </a:extLst>
          </p:cNvPr>
          <p:cNvSpPr>
            <a:spLocks noGrp="1"/>
          </p:cNvSpPr>
          <p:nvPr>
            <p:ph idx="1"/>
          </p:nvPr>
        </p:nvSpPr>
        <p:spPr>
          <a:xfrm>
            <a:off x="628650" y="404664"/>
            <a:ext cx="7886700" cy="5772299"/>
          </a:xfrm>
        </p:spPr>
        <p:txBody>
          <a:bodyPr/>
          <a:lstStyle/>
          <a:p>
            <a:pPr marL="0" indent="0">
              <a:buNone/>
            </a:pPr>
            <a:r>
              <a:rPr lang="en-US" altLang="ko-KR" dirty="0"/>
              <a:t>(a) What are the amounts of A and B, and their unit prices, that maximize the total revenue obtained?</a:t>
            </a:r>
            <a:endParaRPr lang="ko-KR" altLang="en-US" dirty="0"/>
          </a:p>
        </p:txBody>
      </p:sp>
      <p:sp>
        <p:nvSpPr>
          <p:cNvPr id="4" name="슬라이드 번호 개체 틀 3">
            <a:extLst>
              <a:ext uri="{FF2B5EF4-FFF2-40B4-BE49-F238E27FC236}">
                <a16:creationId xmlns:a16="http://schemas.microsoft.com/office/drawing/2014/main" id="{5EAAD498-E710-4C8C-BE3A-F49C02FE3222}"/>
              </a:ext>
            </a:extLst>
          </p:cNvPr>
          <p:cNvSpPr>
            <a:spLocks noGrp="1"/>
          </p:cNvSpPr>
          <p:nvPr>
            <p:ph type="sldNum" sz="quarter" idx="12"/>
          </p:nvPr>
        </p:nvSpPr>
        <p:spPr/>
        <p:txBody>
          <a:bodyPr/>
          <a:lstStyle/>
          <a:p>
            <a:fld id="{79822AFB-C284-4A8E-A6EE-41BAA9C576A0}" type="slidenum">
              <a:rPr lang="ko-KR" altLang="en-US" smtClean="0"/>
              <a:t>2</a:t>
            </a:fld>
            <a:endParaRPr lang="ko-KR" altLang="en-US"/>
          </a:p>
        </p:txBody>
      </p:sp>
    </p:spTree>
    <p:extLst>
      <p:ext uri="{BB962C8B-B14F-4D97-AF65-F5344CB8AC3E}">
        <p14:creationId xmlns:p14="http://schemas.microsoft.com/office/powerpoint/2010/main" val="1393946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a:extLst>
              <a:ext uri="{FF2B5EF4-FFF2-40B4-BE49-F238E27FC236}">
                <a16:creationId xmlns:a16="http://schemas.microsoft.com/office/drawing/2014/main" id="{1E2C6921-0CA2-4B38-BB47-4F58D4FF1BF3}"/>
              </a:ext>
            </a:extLst>
          </p:cNvPr>
          <p:cNvSpPr>
            <a:spLocks noGrp="1"/>
          </p:cNvSpPr>
          <p:nvPr>
            <p:ph idx="1"/>
          </p:nvPr>
        </p:nvSpPr>
        <p:spPr>
          <a:xfrm>
            <a:off x="628650" y="404664"/>
            <a:ext cx="7886700" cy="5772299"/>
          </a:xfrm>
        </p:spPr>
        <p:txBody>
          <a:bodyPr>
            <a:normAutofit/>
          </a:bodyPr>
          <a:lstStyle/>
          <a:p>
            <a:pPr marL="0" indent="0">
              <a:buNone/>
            </a:pPr>
            <a:r>
              <a:rPr lang="en-US" altLang="ko-KR" dirty="0"/>
              <a:t>(b) Suppose the total amount of A and B could not exceed some amount </a:t>
            </a:r>
            <a:r>
              <a:rPr lang="en-US" altLang="ko-KR" dirty="0" err="1"/>
              <a:t>Tmax</a:t>
            </a:r>
            <a:r>
              <a:rPr lang="en-US" altLang="ko-KR" dirty="0"/>
              <a:t>. What are the amounts of A and B, and their unit prices, that maximize total revenue, if (</a:t>
            </a:r>
            <a:r>
              <a:rPr lang="en-US" altLang="ko-KR" dirty="0" err="1"/>
              <a:t>i</a:t>
            </a:r>
            <a:r>
              <a:rPr lang="en-US" altLang="ko-KR" dirty="0"/>
              <a:t>) </a:t>
            </a:r>
            <a:r>
              <a:rPr lang="en-US" altLang="ko-KR" dirty="0" err="1"/>
              <a:t>Tmax</a:t>
            </a:r>
            <a:r>
              <a:rPr lang="en-US" altLang="ko-KR" dirty="0"/>
              <a:t> = 10 (ii) </a:t>
            </a:r>
            <a:r>
              <a:rPr lang="en-US" altLang="ko-KR" dirty="0" err="1"/>
              <a:t>Tmax</a:t>
            </a:r>
            <a:r>
              <a:rPr lang="en-US" altLang="ko-KR" dirty="0"/>
              <a:t> = 5 Water is needed to make each unit of A and B. The production functions relating the amount of water XA needed to make A, and the amount of water XB needed to make B, are A = 0.5XA, and B = 0.25XB, respectively.</a:t>
            </a:r>
            <a:endParaRPr lang="ko-KR" altLang="en-US" dirty="0"/>
          </a:p>
        </p:txBody>
      </p:sp>
      <p:sp>
        <p:nvSpPr>
          <p:cNvPr id="4" name="슬라이드 번호 개체 틀 3">
            <a:extLst>
              <a:ext uri="{FF2B5EF4-FFF2-40B4-BE49-F238E27FC236}">
                <a16:creationId xmlns:a16="http://schemas.microsoft.com/office/drawing/2014/main" id="{5EAAD498-E710-4C8C-BE3A-F49C02FE3222}"/>
              </a:ext>
            </a:extLst>
          </p:cNvPr>
          <p:cNvSpPr>
            <a:spLocks noGrp="1"/>
          </p:cNvSpPr>
          <p:nvPr>
            <p:ph type="sldNum" sz="quarter" idx="12"/>
          </p:nvPr>
        </p:nvSpPr>
        <p:spPr/>
        <p:txBody>
          <a:bodyPr/>
          <a:lstStyle/>
          <a:p>
            <a:fld id="{79822AFB-C284-4A8E-A6EE-41BAA9C576A0}" type="slidenum">
              <a:rPr lang="ko-KR" altLang="en-US" smtClean="0"/>
              <a:t>3</a:t>
            </a:fld>
            <a:endParaRPr lang="ko-KR" altLang="en-US"/>
          </a:p>
        </p:txBody>
      </p:sp>
    </p:spTree>
    <p:extLst>
      <p:ext uri="{BB962C8B-B14F-4D97-AF65-F5344CB8AC3E}">
        <p14:creationId xmlns:p14="http://schemas.microsoft.com/office/powerpoint/2010/main" val="4187817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3EA3060A-23D9-4840-B6A9-CF319AF6E3E0}"/>
              </a:ext>
            </a:extLst>
          </p:cNvPr>
          <p:cNvSpPr>
            <a:spLocks noGrp="1"/>
          </p:cNvSpPr>
          <p:nvPr>
            <p:ph type="sldNum" sz="quarter" idx="12"/>
          </p:nvPr>
        </p:nvSpPr>
        <p:spPr/>
        <p:txBody>
          <a:bodyPr/>
          <a:lstStyle/>
          <a:p>
            <a:fld id="{79822AFB-C284-4A8E-A6EE-41BAA9C576A0}" type="slidenum">
              <a:rPr lang="ko-KR" altLang="en-US" smtClean="0"/>
              <a:t>4</a:t>
            </a:fld>
            <a:endParaRPr lang="ko-KR" altLang="en-US"/>
          </a:p>
        </p:txBody>
      </p:sp>
    </p:spTree>
    <p:extLst>
      <p:ext uri="{BB962C8B-B14F-4D97-AF65-F5344CB8AC3E}">
        <p14:creationId xmlns:p14="http://schemas.microsoft.com/office/powerpoint/2010/main" val="4117525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a:extLst>
              <a:ext uri="{FF2B5EF4-FFF2-40B4-BE49-F238E27FC236}">
                <a16:creationId xmlns:a16="http://schemas.microsoft.com/office/drawing/2014/main" id="{1E2C6921-0CA2-4B38-BB47-4F58D4FF1BF3}"/>
              </a:ext>
            </a:extLst>
          </p:cNvPr>
          <p:cNvSpPr>
            <a:spLocks noGrp="1"/>
          </p:cNvSpPr>
          <p:nvPr>
            <p:ph idx="1"/>
          </p:nvPr>
        </p:nvSpPr>
        <p:spPr>
          <a:xfrm>
            <a:off x="628650" y="404664"/>
            <a:ext cx="7886700" cy="5772299"/>
          </a:xfrm>
        </p:spPr>
        <p:txBody>
          <a:bodyPr/>
          <a:lstStyle/>
          <a:p>
            <a:pPr marL="0" indent="0">
              <a:buNone/>
            </a:pPr>
            <a:r>
              <a:rPr lang="en-US" altLang="ko-KR" dirty="0"/>
              <a:t>(c) Find the amounts of A and B and their unit prices that maximize total revenue assuming the total amount of water available is 10 units.</a:t>
            </a:r>
            <a:endParaRPr lang="ko-KR" altLang="en-US" dirty="0"/>
          </a:p>
        </p:txBody>
      </p:sp>
      <p:sp>
        <p:nvSpPr>
          <p:cNvPr id="4" name="슬라이드 번호 개체 틀 3">
            <a:extLst>
              <a:ext uri="{FF2B5EF4-FFF2-40B4-BE49-F238E27FC236}">
                <a16:creationId xmlns:a16="http://schemas.microsoft.com/office/drawing/2014/main" id="{5EAAD498-E710-4C8C-BE3A-F49C02FE3222}"/>
              </a:ext>
            </a:extLst>
          </p:cNvPr>
          <p:cNvSpPr>
            <a:spLocks noGrp="1"/>
          </p:cNvSpPr>
          <p:nvPr>
            <p:ph type="sldNum" sz="quarter" idx="12"/>
          </p:nvPr>
        </p:nvSpPr>
        <p:spPr/>
        <p:txBody>
          <a:bodyPr/>
          <a:lstStyle/>
          <a:p>
            <a:fld id="{79822AFB-C284-4A8E-A6EE-41BAA9C576A0}" type="slidenum">
              <a:rPr lang="ko-KR" altLang="en-US" smtClean="0"/>
              <a:t>5</a:t>
            </a:fld>
            <a:endParaRPr lang="ko-KR" altLang="en-US"/>
          </a:p>
        </p:txBody>
      </p:sp>
    </p:spTree>
    <p:extLst>
      <p:ext uri="{BB962C8B-B14F-4D97-AF65-F5344CB8AC3E}">
        <p14:creationId xmlns:p14="http://schemas.microsoft.com/office/powerpoint/2010/main" val="3134190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a:extLst>
              <a:ext uri="{FF2B5EF4-FFF2-40B4-BE49-F238E27FC236}">
                <a16:creationId xmlns:a16="http://schemas.microsoft.com/office/drawing/2014/main" id="{1E2C6921-0CA2-4B38-BB47-4F58D4FF1BF3}"/>
              </a:ext>
            </a:extLst>
          </p:cNvPr>
          <p:cNvSpPr>
            <a:spLocks noGrp="1"/>
          </p:cNvSpPr>
          <p:nvPr>
            <p:ph idx="1"/>
          </p:nvPr>
        </p:nvSpPr>
        <p:spPr>
          <a:xfrm>
            <a:off x="628650" y="404664"/>
            <a:ext cx="7886700" cy="5772299"/>
          </a:xfrm>
        </p:spPr>
        <p:txBody>
          <a:bodyPr/>
          <a:lstStyle/>
          <a:p>
            <a:pPr marL="0" indent="0">
              <a:buNone/>
            </a:pPr>
            <a:r>
              <a:rPr lang="en-US" altLang="ko-KR" dirty="0"/>
              <a:t>(d) What is the value of the dual variable, or shadow price, associated with the 10 units of available water?</a:t>
            </a:r>
            <a:endParaRPr lang="ko-KR" altLang="en-US" dirty="0"/>
          </a:p>
        </p:txBody>
      </p:sp>
      <p:sp>
        <p:nvSpPr>
          <p:cNvPr id="4" name="슬라이드 번호 개체 틀 3">
            <a:extLst>
              <a:ext uri="{FF2B5EF4-FFF2-40B4-BE49-F238E27FC236}">
                <a16:creationId xmlns:a16="http://schemas.microsoft.com/office/drawing/2014/main" id="{5EAAD498-E710-4C8C-BE3A-F49C02FE3222}"/>
              </a:ext>
            </a:extLst>
          </p:cNvPr>
          <p:cNvSpPr>
            <a:spLocks noGrp="1"/>
          </p:cNvSpPr>
          <p:nvPr>
            <p:ph type="sldNum" sz="quarter" idx="12"/>
          </p:nvPr>
        </p:nvSpPr>
        <p:spPr/>
        <p:txBody>
          <a:bodyPr/>
          <a:lstStyle/>
          <a:p>
            <a:fld id="{79822AFB-C284-4A8E-A6EE-41BAA9C576A0}" type="slidenum">
              <a:rPr lang="ko-KR" altLang="en-US" smtClean="0"/>
              <a:t>6</a:t>
            </a:fld>
            <a:endParaRPr lang="ko-KR" altLang="en-US"/>
          </a:p>
        </p:txBody>
      </p:sp>
    </p:spTree>
    <p:extLst>
      <p:ext uri="{BB962C8B-B14F-4D97-AF65-F5344CB8AC3E}">
        <p14:creationId xmlns:p14="http://schemas.microsoft.com/office/powerpoint/2010/main" val="1939988252"/>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75491</TotalTime>
  <Words>319</Words>
  <Application>Microsoft Office PowerPoint</Application>
  <PresentationFormat>화면 슬라이드 쇼(4:3)</PresentationFormat>
  <Paragraphs>13</Paragraphs>
  <Slides>6</Slides>
  <Notes>0</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6</vt:i4>
      </vt:variant>
    </vt:vector>
  </HeadingPairs>
  <TitlesOfParts>
    <vt:vector size="14" baseType="lpstr">
      <vt:lpstr>나눔고딕 ExtraBold</vt:lpstr>
      <vt:lpstr>나눔고딕 Light</vt:lpstr>
      <vt:lpstr>맑은 고딕</vt:lpstr>
      <vt:lpstr>Arial</vt:lpstr>
      <vt:lpstr>Calibri</vt:lpstr>
      <vt:lpstr>Gill Sans MT</vt:lpstr>
      <vt:lpstr>Wingdings</vt:lpstr>
      <vt:lpstr>Office 테마</vt:lpstr>
      <vt:lpstr>Lagrange Multiplier Example</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Kim Gi Joo</dc:creator>
  <cp:lastModifiedBy> </cp:lastModifiedBy>
  <cp:revision>2161</cp:revision>
  <cp:lastPrinted>2022-03-21T05:50:04Z</cp:lastPrinted>
  <dcterms:created xsi:type="dcterms:W3CDTF">2020-01-02T02:18:47Z</dcterms:created>
  <dcterms:modified xsi:type="dcterms:W3CDTF">2022-03-27T06:02:03Z</dcterms:modified>
</cp:coreProperties>
</file>