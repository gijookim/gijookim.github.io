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733" r:id="rId3"/>
    <p:sldId id="694" r:id="rId4"/>
    <p:sldId id="734" r:id="rId5"/>
    <p:sldId id="714" r:id="rId6"/>
    <p:sldId id="712" r:id="rId7"/>
    <p:sldId id="715" r:id="rId8"/>
    <p:sldId id="736" r:id="rId9"/>
    <p:sldId id="735" r:id="rId10"/>
    <p:sldId id="737" r:id="rId11"/>
    <p:sldId id="716" r:id="rId12"/>
    <p:sldId id="717" r:id="rId13"/>
    <p:sldId id="718" r:id="rId14"/>
    <p:sldId id="722" r:id="rId15"/>
    <p:sldId id="723" r:id="rId16"/>
    <p:sldId id="724" r:id="rId17"/>
    <p:sldId id="719" r:id="rId18"/>
    <p:sldId id="720" r:id="rId19"/>
    <p:sldId id="727" r:id="rId20"/>
    <p:sldId id="728" r:id="rId21"/>
    <p:sldId id="729" r:id="rId22"/>
    <p:sldId id="721" r:id="rId23"/>
    <p:sldId id="725" r:id="rId24"/>
    <p:sldId id="740" r:id="rId25"/>
    <p:sldId id="741" r:id="rId26"/>
    <p:sldId id="726" r:id="rId27"/>
    <p:sldId id="739" r:id="rId28"/>
    <p:sldId id="738" r:id="rId29"/>
    <p:sldId id="700" r:id="rId30"/>
    <p:sldId id="698" r:id="rId31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23" autoAdjust="0"/>
    <p:restoredTop sz="94262" autoAdjust="0"/>
  </p:normalViewPr>
  <p:slideViewPr>
    <p:cSldViewPr>
      <p:cViewPr varScale="1">
        <p:scale>
          <a:sx n="104" d="100"/>
          <a:sy n="104" d="100"/>
        </p:scale>
        <p:origin x="15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6" tIns="45378" rIns="90756" bIns="453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0756" tIns="45378" rIns="90756" bIns="4537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https://snu-ac-kr.zoom.us/j/84027051484?pwd=aU5OZitOKzUyRW9DQ0s0TkpIMSs4UT09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538"/>
            <a:r>
              <a:rPr lang="en-US" altLang="ko-KR" dirty="0"/>
              <a:t>Explain on Blackboard with the equations in pg.104 (4.41-4.46)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411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2022-03-21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Water Resources Systems Engineering</a:t>
            </a:r>
          </a:p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Spring 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30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7" Type="http://schemas.openxmlformats.org/officeDocument/2006/relationships/hyperlink" Target="http://www.lindo.com/" TargetMode="External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48880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03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35128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45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3087442"/>
            <a:ext cx="7772400" cy="1171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Introduction to Conventional Optimization Models (DP&amp;LP) Part 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D0852A-0247-44F9-83D9-78C5C6E3C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F0CE57FC-6221-4132-BC8D-58A6948219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0954" y="974725"/>
            <a:ext cx="7282092" cy="490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3240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6321C-1EF0-441A-B6C2-CC93F57F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 on Lecture 02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C7CF82-3060-4574-BAF8-ED9639DDA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7886700" cy="5040560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en-US" altLang="ko-KR" b="1" dirty="0"/>
              <a:t>Modeling</a:t>
            </a:r>
            <a:r>
              <a:rPr lang="ko-KR" altLang="en-US" b="1" dirty="0"/>
              <a:t> </a:t>
            </a:r>
            <a:r>
              <a:rPr lang="en-US" altLang="ko-KR" b="1" dirty="0"/>
              <a:t>Water</a:t>
            </a:r>
            <a:r>
              <a:rPr lang="ko-KR" altLang="en-US" b="1" dirty="0"/>
              <a:t> </a:t>
            </a:r>
            <a:r>
              <a:rPr lang="en-US" altLang="ko-KR" b="1" dirty="0"/>
              <a:t>Resources</a:t>
            </a:r>
            <a:r>
              <a:rPr lang="ko-KR" altLang="en-US" b="1" dirty="0"/>
              <a:t> </a:t>
            </a:r>
            <a:r>
              <a:rPr lang="en-US" altLang="ko-KR" b="1" dirty="0"/>
              <a:t>Systems</a:t>
            </a:r>
          </a:p>
          <a:p>
            <a:pPr lvl="1"/>
            <a:r>
              <a:rPr lang="en-US" altLang="ko-KR" dirty="0"/>
              <a:t> Models = </a:t>
            </a:r>
            <a:r>
              <a:rPr lang="en-US" altLang="ko-KR" b="1" u="sng" dirty="0"/>
              <a:t>“</a:t>
            </a:r>
            <a:r>
              <a:rPr lang="en-US" altLang="ko-KR" b="1" u="sng" dirty="0">
                <a:solidFill>
                  <a:schemeClr val="bg1"/>
                </a:solidFill>
              </a:rPr>
              <a:t>Simplified Representations</a:t>
            </a:r>
            <a:r>
              <a:rPr lang="en-US" altLang="ko-KR" b="1" u="sng" dirty="0"/>
              <a:t>”</a:t>
            </a:r>
            <a:r>
              <a:rPr lang="en-US" altLang="ko-KR" dirty="0"/>
              <a:t> of the real-world systems</a:t>
            </a:r>
          </a:p>
          <a:p>
            <a:pPr lvl="1"/>
            <a:r>
              <a:rPr lang="en-US" altLang="ko-KR" dirty="0"/>
              <a:t> We use models to predict (or answer “what if” questions) possible consequences (especially </a:t>
            </a:r>
            <a:r>
              <a:rPr lang="en-US" altLang="ko-KR" b="1" u="sng" dirty="0">
                <a:solidFill>
                  <a:schemeClr val="bg1"/>
                </a:solidFill>
              </a:rPr>
              <a:t>quantitative</a:t>
            </a:r>
            <a:r>
              <a:rPr lang="en-US" altLang="ko-KR" dirty="0"/>
              <a:t>) of our actions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 Types of Water Resources Systems Models</a:t>
            </a:r>
          </a:p>
          <a:p>
            <a:pPr lvl="1"/>
            <a:r>
              <a:rPr lang="en-US" altLang="ko-KR" dirty="0"/>
              <a:t> Optimization, Simulation, Simulation/Optimization Models</a:t>
            </a:r>
          </a:p>
          <a:p>
            <a:pPr lvl="1"/>
            <a:endParaRPr lang="en-US" altLang="ko-KR" dirty="0"/>
          </a:p>
          <a:p>
            <a:r>
              <a:rPr lang="en-US" altLang="ko-KR" b="1" dirty="0"/>
              <a:t> Examples of Water Resources Systems Models</a:t>
            </a:r>
          </a:p>
          <a:p>
            <a:pPr lvl="1"/>
            <a:r>
              <a:rPr lang="en-US" altLang="ko-KR" dirty="0"/>
              <a:t> HEC-HMS, HEC-RAS, HEC-</a:t>
            </a:r>
            <a:r>
              <a:rPr lang="en-US" altLang="ko-KR" dirty="0" err="1"/>
              <a:t>ResSim</a:t>
            </a:r>
            <a:r>
              <a:rPr lang="en-US" altLang="ko-KR" dirty="0"/>
              <a:t> Models</a:t>
            </a:r>
          </a:p>
          <a:p>
            <a:pPr lvl="1"/>
            <a:r>
              <a:rPr lang="en-US" altLang="ko-KR" dirty="0"/>
              <a:t> Shared Vision Planning Model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6250FC-3434-41AD-BEDE-BFE34FBB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53E12-D584-4CBF-B383-F1ABC27D6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Review</a:t>
            </a:r>
            <a:r>
              <a:rPr lang="ko-KR" altLang="en-US" dirty="0"/>
              <a:t> </a:t>
            </a:r>
            <a:r>
              <a:rPr lang="en-US" altLang="ko-KR" dirty="0"/>
              <a:t>on</a:t>
            </a:r>
            <a:r>
              <a:rPr lang="ko-KR" altLang="en-US" dirty="0"/>
              <a:t> </a:t>
            </a:r>
            <a:r>
              <a:rPr lang="en-US" altLang="ko-KR" dirty="0"/>
              <a:t>Assignment</a:t>
            </a:r>
            <a:r>
              <a:rPr lang="ko-KR" altLang="en-US" dirty="0"/>
              <a:t> </a:t>
            </a:r>
            <a:r>
              <a:rPr lang="en-US" altLang="ko-KR" dirty="0"/>
              <a:t>#1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59EF30-1B35-4F1C-A5D8-B4CC3F6C9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arenR"/>
            </a:pPr>
            <a:r>
              <a:rPr lang="en-US" altLang="ko-KR" dirty="0"/>
              <a:t>23 UPH </a:t>
            </a:r>
            <a:r>
              <a:rPr lang="ko-KR" altLang="en-US" dirty="0"/>
              <a:t>중 가장 중요하다고 생각하는 질문</a:t>
            </a:r>
            <a:r>
              <a:rPr lang="en-US" altLang="ko-KR" dirty="0"/>
              <a:t>?</a:t>
            </a:r>
          </a:p>
          <a:p>
            <a:pPr marL="457200" indent="-457200">
              <a:buAutoNum type="arabicParenR"/>
            </a:pPr>
            <a:r>
              <a:rPr lang="en-US" altLang="ko-KR" dirty="0"/>
              <a:t>IWRM vs Sustainable Water Resources Management</a:t>
            </a:r>
          </a:p>
          <a:p>
            <a:pPr marL="457200" indent="-457200">
              <a:buAutoNum type="arabicParenR"/>
            </a:pPr>
            <a:r>
              <a:rPr lang="en-US" altLang="ko-KR" dirty="0"/>
              <a:t>Statistics regarding worldwide water resources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4) - 5) </a:t>
            </a:r>
            <a:r>
              <a:rPr lang="en-US" altLang="ko-KR" dirty="0" err="1"/>
              <a:t>Boryeong</a:t>
            </a:r>
            <a:r>
              <a:rPr lang="en-US" altLang="ko-KR" dirty="0"/>
              <a:t> Reservoir Model Building</a:t>
            </a:r>
          </a:p>
          <a:p>
            <a:pPr lvl="1"/>
            <a:r>
              <a:rPr lang="en-US" altLang="ko-KR" dirty="0"/>
              <a:t> Effects on Implementation of Hedging rules: </a:t>
            </a:r>
            <a:br>
              <a:rPr lang="en-US" altLang="ko-KR" dirty="0"/>
            </a:br>
            <a:r>
              <a:rPr lang="en-US" altLang="ko-KR" dirty="0"/>
              <a:t>Theory and in practice?</a:t>
            </a:r>
          </a:p>
          <a:p>
            <a:pPr lvl="1"/>
            <a:r>
              <a:rPr lang="en-US" altLang="ko-KR" dirty="0"/>
              <a:t> Key assumptions inside the model you built</a:t>
            </a:r>
          </a:p>
          <a:p>
            <a:pPr lvl="1"/>
            <a:r>
              <a:rPr lang="en-US" altLang="ko-KR" dirty="0"/>
              <a:t> How to enhance model’s practicality? </a:t>
            </a:r>
          </a:p>
          <a:p>
            <a:pPr lvl="1"/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6D5135-BE25-46AA-9329-ED84F52F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07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A3EC2-1917-4C25-9091-5F608EA37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Before</a:t>
            </a:r>
            <a:r>
              <a:rPr lang="ko-KR" altLang="en-US" dirty="0"/>
              <a:t> </a:t>
            </a:r>
            <a:r>
              <a:rPr lang="en-US" altLang="ko-KR" dirty="0"/>
              <a:t>Lecture</a:t>
            </a:r>
            <a:r>
              <a:rPr lang="ko-KR" altLang="en-US" dirty="0"/>
              <a:t> </a:t>
            </a:r>
            <a:r>
              <a:rPr lang="en-US" altLang="ko-KR" dirty="0"/>
              <a:t>03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B2F914-6312-4039-9E94-2C1234AE5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u="sng" dirty="0"/>
              <a:t>Acronyms (</a:t>
            </a:r>
            <a:r>
              <a:rPr lang="ko-KR" altLang="en-US" b="1" u="sng" dirty="0"/>
              <a:t>약어</a:t>
            </a:r>
            <a:r>
              <a:rPr lang="en-US" altLang="ko-KR" b="1" u="sng" dirty="0"/>
              <a:t>)/Keywords</a:t>
            </a:r>
            <a:r>
              <a:rPr lang="en-US" altLang="ko-KR" dirty="0"/>
              <a:t> in Lecture 03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DP</a:t>
            </a:r>
            <a:r>
              <a:rPr lang="en-US" altLang="ko-KR" dirty="0"/>
              <a:t>: Dynamic Programming (</a:t>
            </a:r>
            <a:r>
              <a:rPr lang="ko-KR" altLang="en-US" dirty="0"/>
              <a:t>동적 계획법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b="1" dirty="0"/>
              <a:t> LP</a:t>
            </a:r>
            <a:r>
              <a:rPr lang="en-US" altLang="ko-KR" dirty="0"/>
              <a:t>: Linear Programming (</a:t>
            </a:r>
            <a:r>
              <a:rPr lang="ko-KR" altLang="en-US" dirty="0"/>
              <a:t>선형 계획법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>
                <a:solidFill>
                  <a:schemeClr val="bg1"/>
                </a:solidFill>
              </a:rPr>
              <a:t>Shadow Price</a:t>
            </a:r>
            <a:r>
              <a:rPr lang="en-US" altLang="ko-KR" dirty="0">
                <a:solidFill>
                  <a:schemeClr val="bg1"/>
                </a:solidFill>
              </a:rPr>
              <a:t> (</a:t>
            </a:r>
            <a:r>
              <a:rPr lang="ko-KR" altLang="en-US" dirty="0">
                <a:solidFill>
                  <a:schemeClr val="bg1"/>
                </a:solidFill>
              </a:rPr>
              <a:t>잠재 가격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pPr lvl="2"/>
            <a:r>
              <a:rPr lang="en-US" altLang="ko-KR" dirty="0"/>
              <a:t>the change in the objective value of the optimal solution of an optimization problem obtained by relaxing the constraint by one unit</a:t>
            </a:r>
          </a:p>
          <a:p>
            <a:pPr lvl="2"/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marginal</a:t>
            </a:r>
            <a:r>
              <a:rPr lang="ko-KR" altLang="en-US" dirty="0"/>
              <a:t> </a:t>
            </a:r>
            <a:r>
              <a:rPr lang="en-US" altLang="ko-KR" dirty="0"/>
              <a:t>utility of relaxing the constraint</a:t>
            </a:r>
          </a:p>
          <a:p>
            <a:pPr lvl="2"/>
            <a:r>
              <a:rPr lang="en-US" altLang="ko-KR" dirty="0"/>
              <a:t>= marginal cost of strengthening the constraint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AA1B89-6561-4E73-9AD0-8541AFBAF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3074" name="Picture 2" descr="https://miro.medium.com/max/700/1*plTlPrL0-drV22lAlpmwPQ.png">
            <a:extLst>
              <a:ext uri="{FF2B5EF4-FFF2-40B4-BE49-F238E27FC236}">
                <a16:creationId xmlns:a16="http://schemas.microsoft.com/office/drawing/2014/main" id="{4D335F9C-7A7D-4E22-AE4B-02B64A4DE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999" y="4823708"/>
            <a:ext cx="2485481" cy="1803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miro.medium.com/max/700/1*PRzSdtC1E9WaGnH0685M5A.png">
            <a:extLst>
              <a:ext uri="{FF2B5EF4-FFF2-40B4-BE49-F238E27FC236}">
                <a16:creationId xmlns:a16="http://schemas.microsoft.com/office/drawing/2014/main" id="{C611CE26-437E-414C-B877-844C040B4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4797152"/>
            <a:ext cx="3586733" cy="1844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CFC56CA-4672-4D52-98DD-EC4A59B0C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1090697"/>
            <a:ext cx="3128273" cy="212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33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52C8C-CA5B-4D05-BB08-C8857EE47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91665"/>
          </a:xfrm>
        </p:spPr>
        <p:txBody>
          <a:bodyPr>
            <a:normAutofit/>
          </a:bodyPr>
          <a:lstStyle/>
          <a:p>
            <a:r>
              <a:rPr lang="en-US" altLang="ko-KR" dirty="0"/>
              <a:t>Today’s Topic: </a:t>
            </a:r>
            <a:br>
              <a:rPr lang="en-US" altLang="ko-KR" dirty="0"/>
            </a:br>
            <a:r>
              <a:rPr lang="en-US" altLang="ko-KR" dirty="0"/>
              <a:t>Intro to Traditional Optimization Models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E66E45-96C8-43C1-B1C9-741A860D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FF95656-6779-4E30-9150-A1179B104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6791"/>
            <a:ext cx="7886700" cy="5163360"/>
          </a:xfrm>
        </p:spPr>
        <p:txBody>
          <a:bodyPr>
            <a:normAutofit/>
          </a:bodyPr>
          <a:lstStyle/>
          <a:p>
            <a:r>
              <a:rPr lang="en-US" altLang="ko-KR" dirty="0"/>
              <a:t> Engineering Economics: </a:t>
            </a:r>
            <a:br>
              <a:rPr lang="en-US" altLang="ko-KR" dirty="0"/>
            </a:br>
            <a:r>
              <a:rPr lang="en-US" altLang="ko-KR" dirty="0"/>
              <a:t>Time Streams of Economic Benefits &amp; Costs</a:t>
            </a:r>
          </a:p>
          <a:p>
            <a:r>
              <a:rPr lang="en-US" altLang="ko-KR" dirty="0"/>
              <a:t> Solving Nonlinear Optimization Models with Calculus</a:t>
            </a:r>
          </a:p>
          <a:p>
            <a:pPr lvl="1"/>
            <a:r>
              <a:rPr lang="en-US" altLang="ko-KR" dirty="0"/>
              <a:t>Solution Using Calculus</a:t>
            </a:r>
          </a:p>
          <a:p>
            <a:pPr lvl="1"/>
            <a:r>
              <a:rPr lang="en-US" altLang="ko-KR" dirty="0"/>
              <a:t>Solution Using Hill Climbing</a:t>
            </a:r>
          </a:p>
          <a:p>
            <a:pPr lvl="1"/>
            <a:r>
              <a:rPr lang="en-US" altLang="ko-KR" dirty="0"/>
              <a:t>Solution Using the Lagrange Multiplier</a:t>
            </a:r>
          </a:p>
          <a:p>
            <a:endParaRPr lang="en-US" altLang="ko-KR" sz="1000" dirty="0"/>
          </a:p>
          <a:p>
            <a:r>
              <a:rPr lang="en-US" altLang="ko-KR" dirty="0"/>
              <a:t> Concepts of Dynamic Programming Models (DP)</a:t>
            </a:r>
          </a:p>
          <a:p>
            <a:r>
              <a:rPr lang="en-US" altLang="ko-KR" dirty="0"/>
              <a:t> Examples of Problem Solving with DP Models</a:t>
            </a:r>
          </a:p>
          <a:p>
            <a:r>
              <a:rPr lang="en-US" altLang="ko-KR" dirty="0"/>
              <a:t> Concepts of Linear Programming Models (LP)</a:t>
            </a:r>
          </a:p>
          <a:p>
            <a:r>
              <a:rPr lang="en-US" altLang="ko-KR" dirty="0"/>
              <a:t> Real-world Applications of Traditional Optimization Models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888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0546B-2445-4468-970F-C61A4AFF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Engineering Economics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D41BBA-5F19-4262-9F58-AAFA65A21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Key Concepts: Time Streams of Economic Benefits &amp; Costs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/>
              <a:t>Interest Rate (</a:t>
            </a:r>
            <a:r>
              <a:rPr lang="ko-KR" altLang="en-US" b="1" u="sng" dirty="0"/>
              <a:t>이자율</a:t>
            </a:r>
            <a:r>
              <a:rPr lang="en-US" altLang="ko-KR" b="1" u="sng" dirty="0"/>
              <a:t>)</a:t>
            </a:r>
            <a:r>
              <a:rPr lang="en-US" altLang="ko-KR" dirty="0"/>
              <a:t> = </a:t>
            </a:r>
            <a:r>
              <a:rPr lang="en-US" altLang="ko-KR" i="1" u="sng" dirty="0">
                <a:solidFill>
                  <a:schemeClr val="bg1"/>
                </a:solidFill>
              </a:rPr>
              <a:t>marginal rate of return on capital</a:t>
            </a:r>
          </a:p>
          <a:p>
            <a:pPr lvl="2"/>
            <a:r>
              <a:rPr lang="en-US" altLang="ko-KR" b="1" dirty="0">
                <a:solidFill>
                  <a:schemeClr val="bg1"/>
                </a:solidFill>
              </a:rPr>
              <a:t>Time value of money </a:t>
            </a:r>
            <a:br>
              <a:rPr lang="en-US" altLang="ko-KR" dirty="0"/>
            </a:br>
            <a:r>
              <a:rPr lang="en-US" altLang="ko-KR" dirty="0"/>
              <a:t>(willingness to pay something to obtain money now rather than to obtain the same amount later)</a:t>
            </a:r>
          </a:p>
          <a:p>
            <a:pPr lvl="2"/>
            <a:r>
              <a:rPr lang="en-US" altLang="ko-KR" b="1" dirty="0">
                <a:solidFill>
                  <a:schemeClr val="bg1"/>
                </a:solidFill>
              </a:rPr>
              <a:t>Risk of losing capital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en-US" altLang="ko-KR" dirty="0"/>
              <a:t>(not getting the full amount of a loan or investment returned at some future time)</a:t>
            </a:r>
          </a:p>
          <a:p>
            <a:pPr lvl="2"/>
            <a:r>
              <a:rPr lang="en-US" altLang="ko-KR" b="1" dirty="0">
                <a:solidFill>
                  <a:schemeClr val="bg1"/>
                </a:solidFill>
              </a:rPr>
              <a:t>Risk of reduced purchasing capability </a:t>
            </a:r>
            <a:br>
              <a:rPr lang="en-US" altLang="ko-KR" dirty="0"/>
            </a:br>
            <a:r>
              <a:rPr lang="en-US" altLang="ko-KR" dirty="0"/>
              <a:t>(the expected inflation over time) </a:t>
            </a:r>
          </a:p>
          <a:p>
            <a:pPr lvl="1"/>
            <a:endParaRPr lang="en-US" altLang="ko-KR" sz="1100" dirty="0"/>
          </a:p>
          <a:p>
            <a:pPr lvl="1"/>
            <a:r>
              <a:rPr lang="en-US" altLang="ko-KR" dirty="0"/>
              <a:t> Equivalent Present Value: converting</a:t>
            </a:r>
            <a:r>
              <a:rPr lang="ko-KR" altLang="en-US" dirty="0"/>
              <a:t> </a:t>
            </a:r>
            <a:r>
              <a:rPr lang="en-US" altLang="ko-KR" dirty="0"/>
              <a:t>each</a:t>
            </a:r>
            <a:r>
              <a:rPr lang="ko-KR" altLang="en-US" dirty="0"/>
              <a:t> </a:t>
            </a:r>
            <a:r>
              <a:rPr lang="en-US" altLang="ko-KR" dirty="0"/>
              <a:t>amount</a:t>
            </a:r>
            <a:r>
              <a:rPr lang="ko-KR" altLang="en-US" dirty="0"/>
              <a:t> </a:t>
            </a:r>
            <a:r>
              <a:rPr lang="en-US" altLang="ko-KR" dirty="0"/>
              <a:t>in</a:t>
            </a:r>
            <a:r>
              <a:rPr lang="ko-KR" altLang="en-US" dirty="0"/>
              <a:t> </a:t>
            </a:r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time</a:t>
            </a:r>
            <a:r>
              <a:rPr lang="ko-KR" altLang="en-US" dirty="0"/>
              <a:t> </a:t>
            </a:r>
            <a:r>
              <a:rPr lang="en-US" altLang="ko-KR" dirty="0"/>
              <a:t>series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what</a:t>
            </a:r>
            <a:r>
              <a:rPr lang="ko-KR" altLang="en-US" dirty="0"/>
              <a:t> </a:t>
            </a:r>
            <a:r>
              <a:rPr lang="en-US" altLang="ko-KR" dirty="0"/>
              <a:t>it</a:t>
            </a:r>
            <a:r>
              <a:rPr lang="ko-KR" altLang="en-US" dirty="0"/>
              <a:t> </a:t>
            </a:r>
            <a:r>
              <a:rPr lang="en-US" altLang="ko-KR" dirty="0"/>
              <a:t>is</a:t>
            </a:r>
            <a:r>
              <a:rPr lang="ko-KR" altLang="en-US" dirty="0"/>
              <a:t> </a:t>
            </a:r>
            <a:r>
              <a:rPr lang="en-US" altLang="ko-KR" dirty="0"/>
              <a:t>worth</a:t>
            </a:r>
            <a:r>
              <a:rPr lang="ko-KR" altLang="en-US" dirty="0"/>
              <a:t> </a:t>
            </a:r>
            <a:r>
              <a:rPr lang="en-US" altLang="ko-KR" dirty="0"/>
              <a:t>today</a:t>
            </a:r>
            <a:r>
              <a:rPr lang="ko-KR" altLang="en-US" dirty="0"/>
              <a:t> </a:t>
            </a:r>
            <a:r>
              <a:rPr lang="en-US" altLang="ko-KR" dirty="0"/>
              <a:t>(present</a:t>
            </a:r>
            <a:r>
              <a:rPr lang="ko-KR" altLang="en-US" dirty="0"/>
              <a:t> </a:t>
            </a:r>
            <a:r>
              <a:rPr lang="en-US" altLang="ko-KR" dirty="0"/>
              <a:t>worth)</a:t>
            </a:r>
          </a:p>
          <a:p>
            <a:pPr lvl="1"/>
            <a:r>
              <a:rPr lang="en-US" altLang="ko-KR" dirty="0"/>
              <a:t> Equivalent Annual Value (EAV)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6EB7B2-EEB5-471D-B08C-B2B278D84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078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15BE5-E93D-4D8B-85CA-87321DD10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Engineering Economics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7E02CE-EE71-4800-BEC8-F0A27866C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단순이자</a:t>
            </a:r>
            <a:r>
              <a:rPr lang="en-US" altLang="ko-KR" dirty="0"/>
              <a:t>(</a:t>
            </a:r>
            <a:r>
              <a:rPr lang="ko-KR" altLang="en-US" dirty="0" err="1"/>
              <a:t>단리</a:t>
            </a:r>
            <a:r>
              <a:rPr lang="en-US" altLang="ko-KR" dirty="0"/>
              <a:t>)/</a:t>
            </a:r>
            <a:r>
              <a:rPr lang="ko-KR" altLang="en-US" dirty="0"/>
              <a:t>복합이자</a:t>
            </a:r>
            <a:r>
              <a:rPr lang="en-US" altLang="ko-KR" dirty="0"/>
              <a:t>(</a:t>
            </a:r>
            <a:r>
              <a:rPr lang="ko-KR" altLang="en-US" dirty="0"/>
              <a:t>복리</a:t>
            </a:r>
            <a:r>
              <a:rPr lang="en-US" altLang="ko-KR" dirty="0"/>
              <a:t>)</a:t>
            </a:r>
            <a:r>
              <a:rPr lang="ko-KR" altLang="en-US" dirty="0"/>
              <a:t>의 차이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단순이자</a:t>
            </a:r>
            <a:r>
              <a:rPr lang="en-US" altLang="ko-KR" dirty="0"/>
              <a:t>(simple interest): </a:t>
            </a:r>
            <a:r>
              <a:rPr lang="ko-KR" altLang="en-US" dirty="0"/>
              <a:t>이자계산기간에 원금에 대해서만 이자 발생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b="1" u="sng" dirty="0"/>
              <a:t>복합이자</a:t>
            </a:r>
            <a:r>
              <a:rPr lang="en-US" altLang="ko-KR" b="1" u="sng" dirty="0"/>
              <a:t>(compound interest)</a:t>
            </a:r>
            <a:r>
              <a:rPr lang="en-US" altLang="ko-KR" b="1" dirty="0"/>
              <a:t>: </a:t>
            </a:r>
            <a:r>
              <a:rPr lang="ko-KR" altLang="en-US" dirty="0"/>
              <a:t>매 이자계산기간의 이자를 직적기간 말에 누적된 총액에 기초하여 계산 </a:t>
            </a:r>
            <a:r>
              <a:rPr lang="en-US" altLang="ko-KR" dirty="0"/>
              <a:t>…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기본 원리 </a:t>
            </a:r>
            <a:r>
              <a:rPr lang="en-US" altLang="ko-KR" dirty="0"/>
              <a:t>(P/F/A)</a:t>
            </a:r>
          </a:p>
          <a:p>
            <a:pPr lvl="1"/>
            <a:r>
              <a:rPr lang="en-US" altLang="ko-KR" dirty="0"/>
              <a:t> P (</a:t>
            </a:r>
            <a:r>
              <a:rPr lang="ko-KR" altLang="en-US" dirty="0"/>
              <a:t>현재가치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F (</a:t>
            </a:r>
            <a:r>
              <a:rPr lang="ko-KR" altLang="en-US" dirty="0"/>
              <a:t>미래가치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 A (</a:t>
            </a:r>
            <a:r>
              <a:rPr lang="ko-KR" altLang="en-US" dirty="0"/>
              <a:t>동일자금열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2459A4-8CFD-4086-A326-D99AE556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C9281E46-0CC5-4031-B872-5D5B0B05CB19}"/>
                  </a:ext>
                </a:extLst>
              </p:cNvPr>
              <p:cNvSpPr/>
              <p:nvPr/>
            </p:nvSpPr>
            <p:spPr>
              <a:xfrm>
                <a:off x="3131840" y="4641955"/>
                <a:ext cx="561662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C9281E46-0CC5-4031-B872-5D5B0B05CB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4641955"/>
                <a:ext cx="5616624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77B24C29-82C6-4044-B230-E23DC97017DB}"/>
                  </a:ext>
                </a:extLst>
              </p:cNvPr>
              <p:cNvSpPr/>
              <p:nvPr/>
            </p:nvSpPr>
            <p:spPr>
              <a:xfrm>
                <a:off x="3103691" y="5068967"/>
                <a:ext cx="561662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77B24C29-82C6-4044-B230-E23DC97017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691" y="5068967"/>
                <a:ext cx="5616624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710CF43E-2FF1-4F95-8C9C-A3086B06F991}"/>
                  </a:ext>
                </a:extLst>
              </p:cNvPr>
              <p:cNvSpPr/>
              <p:nvPr/>
            </p:nvSpPr>
            <p:spPr>
              <a:xfrm>
                <a:off x="4211960" y="5567820"/>
                <a:ext cx="3079254" cy="7418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710CF43E-2FF1-4F95-8C9C-A3086B06F9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5567820"/>
                <a:ext cx="3079254" cy="7418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2982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66933-5F5E-402F-AD03-A3A4D4FC7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Engineering Economics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E81E1-09C6-466A-A5C6-44CFB6295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예제 </a:t>
            </a:r>
            <a:r>
              <a:rPr lang="en-US" altLang="ko-KR" dirty="0"/>
              <a:t>1 (Equivalent Present Value)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만약 </a:t>
            </a:r>
            <a:r>
              <a:rPr lang="en-US" altLang="ko-KR" dirty="0"/>
              <a:t>5</a:t>
            </a:r>
            <a:r>
              <a:rPr lang="ko-KR" altLang="en-US" dirty="0"/>
              <a:t>년 후에 확실히 </a:t>
            </a:r>
            <a:r>
              <a:rPr lang="en-US" altLang="ko-KR" dirty="0"/>
              <a:t>3,000</a:t>
            </a:r>
            <a:r>
              <a:rPr lang="ko-KR" altLang="en-US" dirty="0"/>
              <a:t>만원을 받거나</a:t>
            </a:r>
            <a:r>
              <a:rPr lang="en-US" altLang="ko-KR" dirty="0"/>
              <a:t>, </a:t>
            </a:r>
            <a:r>
              <a:rPr lang="ko-KR" altLang="en-US" dirty="0"/>
              <a:t>지금 </a:t>
            </a:r>
            <a:r>
              <a:rPr lang="en-US" altLang="ko-KR" dirty="0"/>
              <a:t>P</a:t>
            </a:r>
            <a:r>
              <a:rPr lang="ko-KR" altLang="en-US" dirty="0"/>
              <a:t>원을 받을 수 있는 두 가지 대안이 있다고 가정하자</a:t>
            </a:r>
            <a:r>
              <a:rPr lang="en-US" altLang="ko-KR" dirty="0"/>
              <a:t>. </a:t>
            </a:r>
            <a:r>
              <a:rPr lang="ko-KR" altLang="en-US" dirty="0"/>
              <a:t>만일 지금 </a:t>
            </a:r>
            <a:r>
              <a:rPr lang="en-US" altLang="ko-KR" dirty="0"/>
              <a:t>P</a:t>
            </a:r>
            <a:r>
              <a:rPr lang="ko-KR" altLang="en-US" dirty="0"/>
              <a:t>원을 받는 경우</a:t>
            </a:r>
            <a:r>
              <a:rPr lang="en-US" altLang="ko-KR" dirty="0"/>
              <a:t>, </a:t>
            </a:r>
            <a:r>
              <a:rPr lang="ko-KR" altLang="en-US" dirty="0"/>
              <a:t>연 </a:t>
            </a:r>
            <a:r>
              <a:rPr lang="en-US" altLang="ko-KR" dirty="0"/>
              <a:t>8%</a:t>
            </a:r>
            <a:r>
              <a:rPr lang="ko-KR" altLang="en-US" dirty="0"/>
              <a:t>의 이자율을 갖는 은행계좌에 적립할 수 있다고 가정한다면</a:t>
            </a:r>
            <a:r>
              <a:rPr lang="en-US" altLang="ko-KR" dirty="0"/>
              <a:t>, 5</a:t>
            </a:r>
            <a:r>
              <a:rPr lang="ko-KR" altLang="en-US" dirty="0"/>
              <a:t>년 후에 </a:t>
            </a:r>
            <a:r>
              <a:rPr lang="en-US" altLang="ko-KR" dirty="0"/>
              <a:t>3,000</a:t>
            </a:r>
            <a:r>
              <a:rPr lang="ko-KR" altLang="en-US" dirty="0"/>
              <a:t>원만원을 받을 수 있는 약속과 지금 </a:t>
            </a:r>
            <a:r>
              <a:rPr lang="en-US" altLang="ko-KR" dirty="0"/>
              <a:t>P</a:t>
            </a:r>
            <a:r>
              <a:rPr lang="ko-KR" altLang="en-US" dirty="0"/>
              <a:t>원이 동일하게 되는 </a:t>
            </a:r>
            <a:r>
              <a:rPr lang="en-US" altLang="ko-KR" dirty="0"/>
              <a:t>P</a:t>
            </a:r>
            <a:r>
              <a:rPr lang="ko-KR" altLang="en-US" dirty="0"/>
              <a:t>값은 얼마여야 하는가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Sol)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9F100A-7D72-4092-9274-6D3EF6C20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FBB7EBD0-967F-440E-ABF6-615D1A448D80}"/>
                  </a:ext>
                </a:extLst>
              </p:cNvPr>
              <p:cNvSpPr/>
              <p:nvPr/>
            </p:nvSpPr>
            <p:spPr>
              <a:xfrm>
                <a:off x="1691680" y="3059668"/>
                <a:ext cx="252028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FBB7EBD0-967F-440E-ABF6-615D1A448D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3059668"/>
                <a:ext cx="2520280" cy="369332"/>
              </a:xfrm>
              <a:prstGeom prst="rect">
                <a:avLst/>
              </a:prstGeom>
              <a:blipFill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025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A939F-6A0A-4308-8AC8-C4ADA26FA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Engineering Economics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B599F0-E165-4FF8-913B-AAD254F27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예제 </a:t>
            </a:r>
            <a:r>
              <a:rPr lang="en-US" altLang="ko-KR" dirty="0"/>
              <a:t>2 (Equivalent Annual Value)</a:t>
            </a:r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지금부터 </a:t>
            </a:r>
            <a:r>
              <a:rPr lang="en-US" altLang="ko-KR" dirty="0"/>
              <a:t>5</a:t>
            </a:r>
            <a:r>
              <a:rPr lang="ko-KR" altLang="en-US" dirty="0"/>
              <a:t>년 동안 매년 말 </a:t>
            </a:r>
            <a:r>
              <a:rPr lang="en-US" altLang="ko-KR" dirty="0"/>
              <a:t>5,000</a:t>
            </a:r>
            <a:r>
              <a:rPr lang="ko-KR" altLang="en-US" dirty="0" err="1"/>
              <a:t>만원씩을</a:t>
            </a:r>
            <a:r>
              <a:rPr lang="ko-KR" altLang="en-US" dirty="0"/>
              <a:t> 예금계좌에 적립하기로 하였다</a:t>
            </a:r>
            <a:r>
              <a:rPr lang="en-US" altLang="ko-KR" dirty="0"/>
              <a:t>. </a:t>
            </a:r>
            <a:r>
              <a:rPr lang="ko-KR" altLang="en-US" dirty="0"/>
              <a:t>만일 이 예금계좌의 이자율이 연 </a:t>
            </a:r>
            <a:r>
              <a:rPr lang="en-US" altLang="ko-KR" dirty="0"/>
              <a:t>6%</a:t>
            </a:r>
            <a:r>
              <a:rPr lang="ko-KR" altLang="en-US" dirty="0"/>
              <a:t>라고 하면</a:t>
            </a:r>
            <a:r>
              <a:rPr lang="en-US" altLang="ko-KR" dirty="0"/>
              <a:t>, 5</a:t>
            </a:r>
            <a:r>
              <a:rPr lang="ko-KR" altLang="en-US" dirty="0"/>
              <a:t>년 말에는 얼마를 찾을 수 있겠는가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Sol)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0BC605-8802-4479-B72D-28F867642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53C6B866-DAFC-42E5-8DCC-FBFF2EF4F253}"/>
                  </a:ext>
                </a:extLst>
              </p:cNvPr>
              <p:cNvSpPr/>
              <p:nvPr/>
            </p:nvSpPr>
            <p:spPr>
              <a:xfrm>
                <a:off x="2627784" y="2420888"/>
                <a:ext cx="3079254" cy="7418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53C6B866-DAFC-42E5-8DCC-FBFF2EF4F2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784" y="2420888"/>
                <a:ext cx="3079254" cy="7418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5805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BA659-4B2D-439E-B551-5B69EC199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0648"/>
            <a:ext cx="7886700" cy="1191665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Optimization</a:t>
            </a:r>
            <a:r>
              <a:rPr lang="ko-KR" altLang="en-US" dirty="0"/>
              <a:t> </a:t>
            </a:r>
            <a:r>
              <a:rPr lang="en-US" altLang="ko-KR" dirty="0"/>
              <a:t>Models &amp; Solution Procedures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BDD916-1DA5-468E-9DE2-1ABC1808C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620171"/>
          </a:xfrm>
        </p:spPr>
        <p:txBody>
          <a:bodyPr>
            <a:normAutofit/>
          </a:bodyPr>
          <a:lstStyle/>
          <a:p>
            <a:r>
              <a:rPr lang="en-US" altLang="ko-KR" dirty="0"/>
              <a:t> Mathematical Programming (Constrained Optimization)</a:t>
            </a:r>
          </a:p>
          <a:p>
            <a:pPr lvl="1"/>
            <a:r>
              <a:rPr lang="en-US" altLang="ko-KR" dirty="0"/>
              <a:t> Calculus-based methods: ex. Lagrange multipliers</a:t>
            </a:r>
          </a:p>
          <a:p>
            <a:pPr lvl="1"/>
            <a:r>
              <a:rPr lang="en-US" altLang="ko-KR" dirty="0"/>
              <a:t> Dynamic programming</a:t>
            </a:r>
          </a:p>
          <a:p>
            <a:pPr lvl="1"/>
            <a:r>
              <a:rPr lang="en-US" altLang="ko-KR" dirty="0"/>
              <a:t> Quadratic programming</a:t>
            </a:r>
          </a:p>
          <a:p>
            <a:pPr lvl="1"/>
            <a:r>
              <a:rPr lang="en-US" altLang="ko-KR" dirty="0"/>
              <a:t> Fractional programming</a:t>
            </a:r>
          </a:p>
          <a:p>
            <a:pPr lvl="1"/>
            <a:r>
              <a:rPr lang="en-US" altLang="ko-KR" dirty="0"/>
              <a:t> Geometric programming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/>
              <a:t>HIGHLY DEPENDENT</a:t>
            </a:r>
            <a:r>
              <a:rPr lang="en-US" altLang="ko-KR" dirty="0"/>
              <a:t> on the mathematic structure of the model </a:t>
            </a:r>
            <a:br>
              <a:rPr lang="en-US" altLang="ko-KR" dirty="0"/>
            </a:br>
            <a:r>
              <a:rPr lang="en-US" altLang="ko-KR" dirty="0"/>
              <a:t>(= dependent on how the system is formulated)</a:t>
            </a:r>
          </a:p>
          <a:p>
            <a:pPr lvl="1"/>
            <a:r>
              <a:rPr lang="en-US" altLang="ko-KR" dirty="0"/>
              <a:t> People tend to construct models in a way that will allow them to use a particular optimization technique they think is best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8F32D5-A96E-4076-9350-1575499EC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115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C5143-10EA-41F0-B31F-E558B635B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Nonlinear Optimization Model: Example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EEAB1A-57ED-4ABE-A6F0-A954938CC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518885-FFA5-42D4-9DC5-810913A66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04" y="1124745"/>
            <a:ext cx="6300192" cy="347285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7EF31BE-564F-4A72-8391-61E9AD76B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52" y="4623151"/>
            <a:ext cx="5292080" cy="18697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168848-C134-43F7-A199-77972A0EA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908" y="4789266"/>
            <a:ext cx="2477442" cy="153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03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F48A52-6781-4255-A122-B4087170F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Nonlinear Optimization Model: Example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F2CB65B-82FB-44B8-B899-4A8B190979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Approach #1: Solution Using Calculus</a:t>
                </a:r>
              </a:p>
              <a:p>
                <a:pPr lvl="1"/>
                <a:r>
                  <a:rPr lang="en-US" altLang="ko-KR" dirty="0"/>
                  <a:t> What are Optimal values of x1, x2, and x3? Provide answers by solving the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problem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using calculus.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altLang="ko-KR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=2.33</m:t>
                    </m:r>
                  </m:oMath>
                </a14:m>
                <a:endParaRPr lang="en-US" altLang="ko-KR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altLang="ko-KR" dirty="0">
                  <a:solidFill>
                    <a:schemeClr val="bg1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=13.33</m:t>
                    </m:r>
                  </m:oMath>
                </a14:m>
                <a:endParaRPr lang="en-US" altLang="ko-KR" dirty="0">
                  <a:solidFill>
                    <a:schemeClr val="bg1"/>
                  </a:solidFill>
                </a:endParaRPr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 What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altLang="ko-KR" dirty="0"/>
                  <a:t>?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F2CB65B-82FB-44B8-B899-4A8B190979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7DC1D2-66F8-4B44-8009-02739601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328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311A0-80A8-46C6-B453-71DF5E833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Nonlinear Optimization Model: Example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7297DC-89EF-408B-87A8-42CCC4E7A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Approach #2: Solution Using Hill Climbing</a:t>
            </a:r>
          </a:p>
          <a:p>
            <a:pPr lvl="1"/>
            <a:r>
              <a:rPr lang="en-US" altLang="ko-KR" dirty="0"/>
              <a:t> What are Optimal values of x1, x2, and x3? Provide answers by solving the</a:t>
            </a:r>
            <a:r>
              <a:rPr lang="ko-KR" altLang="en-US" dirty="0"/>
              <a:t> </a:t>
            </a:r>
            <a:r>
              <a:rPr lang="en-US" altLang="ko-KR" dirty="0"/>
              <a:t>problem</a:t>
            </a:r>
            <a:r>
              <a:rPr lang="ko-KR" altLang="en-US" dirty="0"/>
              <a:t> </a:t>
            </a:r>
            <a:r>
              <a:rPr lang="en-US" altLang="ko-KR" dirty="0"/>
              <a:t>using the hill climbing method.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D0E431-8D4B-4F97-9DB0-4C1F5414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03E42B-49BD-4EDF-BBB5-661ACF35D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189" y="2681945"/>
            <a:ext cx="6073621" cy="349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18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311A0-80A8-46C6-B453-71DF5E833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Nonlinear Optimization Model: Example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7297DC-89EF-408B-87A8-42CCC4E7A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Approach #2: Solution Using Hill Climbing</a:t>
            </a:r>
          </a:p>
          <a:p>
            <a:pPr lvl="1"/>
            <a:r>
              <a:rPr lang="en-US" altLang="ko-KR" dirty="0"/>
              <a:t> What are Optimal values of x1, x2, and x3? Provide answers by solving the</a:t>
            </a:r>
            <a:r>
              <a:rPr lang="ko-KR" altLang="en-US" dirty="0"/>
              <a:t> </a:t>
            </a:r>
            <a:r>
              <a:rPr lang="en-US" altLang="ko-KR" dirty="0"/>
              <a:t>problem</a:t>
            </a:r>
            <a:r>
              <a:rPr lang="ko-KR" altLang="en-US" dirty="0"/>
              <a:t> </a:t>
            </a:r>
            <a:r>
              <a:rPr lang="en-US" altLang="ko-KR" dirty="0"/>
              <a:t>using the hill climbing method.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D0E431-8D4B-4F97-9DB0-4C1F5414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E129254-3D77-43D7-9DFF-970EE2490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045" y="2708920"/>
            <a:ext cx="5615909" cy="327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47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311A0-80A8-46C6-B453-71DF5E833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Nonlinear Optimization Model: Example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7297DC-89EF-408B-87A8-42CCC4E7A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Approach #2: Solution Using Hill Climbing</a:t>
            </a:r>
          </a:p>
          <a:p>
            <a:pPr lvl="1"/>
            <a:r>
              <a:rPr lang="en-US" altLang="ko-KR" dirty="0"/>
              <a:t> What are Optimal values of x1, x2, and x3? Provide answers by solving the</a:t>
            </a:r>
            <a:r>
              <a:rPr lang="ko-KR" altLang="en-US" dirty="0"/>
              <a:t> </a:t>
            </a:r>
            <a:r>
              <a:rPr lang="en-US" altLang="ko-KR" dirty="0"/>
              <a:t>problem</a:t>
            </a:r>
            <a:r>
              <a:rPr lang="ko-KR" altLang="en-US" dirty="0"/>
              <a:t> </a:t>
            </a:r>
            <a:r>
              <a:rPr lang="en-US" altLang="ko-KR" dirty="0"/>
              <a:t>using the hill climbing method.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D0E431-8D4B-4F97-9DB0-4C1F5414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6F4DF5-6011-404E-A48B-947557B37690}"/>
              </a:ext>
            </a:extLst>
          </p:cNvPr>
          <p:cNvSpPr txBox="1"/>
          <p:nvPr/>
        </p:nvSpPr>
        <p:spPr>
          <a:xfrm>
            <a:off x="827584" y="2916761"/>
            <a:ext cx="796532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Limitations?</a:t>
            </a:r>
          </a:p>
          <a:p>
            <a:r>
              <a:rPr lang="en-US" altLang="ko-KR" sz="2400" dirty="0">
                <a:solidFill>
                  <a:srgbClr val="FF0000"/>
                </a:solidFill>
              </a:rPr>
              <a:t>-&gt; ONLY leads to optimal allocations </a:t>
            </a:r>
            <a:br>
              <a:rPr lang="en-US" altLang="ko-KR" sz="2400" dirty="0">
                <a:solidFill>
                  <a:srgbClr val="FF0000"/>
                </a:solidFill>
              </a:rPr>
            </a:br>
            <a:r>
              <a:rPr lang="en-US" altLang="ko-KR" sz="2400" dirty="0">
                <a:solidFill>
                  <a:srgbClr val="FF0000"/>
                </a:solidFill>
              </a:rPr>
              <a:t>only if ALL of the net benefit functions whose sum </a:t>
            </a:r>
            <a:br>
              <a:rPr lang="en-US" altLang="ko-KR" sz="2400" dirty="0">
                <a:solidFill>
                  <a:srgbClr val="FF0000"/>
                </a:solidFill>
              </a:rPr>
            </a:br>
            <a:r>
              <a:rPr lang="en-US" altLang="ko-KR" sz="2400" dirty="0">
                <a:solidFill>
                  <a:srgbClr val="FF0000"/>
                </a:solidFill>
              </a:rPr>
              <a:t>is being maximized are </a:t>
            </a:r>
            <a:r>
              <a:rPr lang="en-US" altLang="ko-KR" sz="2400" b="1" u="sng" dirty="0">
                <a:solidFill>
                  <a:schemeClr val="bg1"/>
                </a:solidFill>
              </a:rPr>
              <a:t>concave</a:t>
            </a:r>
          </a:p>
          <a:p>
            <a:r>
              <a:rPr lang="en-US" altLang="ko-KR" sz="2400" dirty="0">
                <a:solidFill>
                  <a:srgbClr val="FF0000"/>
                </a:solidFill>
              </a:rPr>
              <a:t>(=marginal net benefits decrease as the allocation increases)</a:t>
            </a:r>
          </a:p>
          <a:p>
            <a:r>
              <a:rPr lang="en-US" altLang="ko-KR" sz="2400" dirty="0">
                <a:solidFill>
                  <a:srgbClr val="FF0000"/>
                </a:solidFill>
              </a:rPr>
              <a:t>Otherwise, only a </a:t>
            </a:r>
            <a:r>
              <a:rPr lang="en-US" altLang="ko-KR" sz="2400" u="sng" dirty="0">
                <a:solidFill>
                  <a:schemeClr val="bg1"/>
                </a:solidFill>
              </a:rPr>
              <a:t>local optimum</a:t>
            </a:r>
            <a:r>
              <a:rPr lang="en-US" altLang="ko-KR" sz="2400" dirty="0">
                <a:solidFill>
                  <a:srgbClr val="FF0000"/>
                </a:solidFill>
              </a:rPr>
              <a:t> is guaranteed.</a:t>
            </a:r>
          </a:p>
          <a:p>
            <a:r>
              <a:rPr lang="en-US" altLang="ko-KR" sz="2400" dirty="0">
                <a:solidFill>
                  <a:srgbClr val="FF0000"/>
                </a:solidFill>
              </a:rPr>
              <a:t>(true in all calculus-based optimization procedure/algorithm)</a:t>
            </a:r>
          </a:p>
        </p:txBody>
      </p:sp>
    </p:spTree>
    <p:extLst>
      <p:ext uri="{BB962C8B-B14F-4D97-AF65-F5344CB8AC3E}">
        <p14:creationId xmlns:p14="http://schemas.microsoft.com/office/powerpoint/2010/main" val="278053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299934C1-0E41-48D1-90AA-C6AEB06FB40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Lagrange Multiplier 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b="1" dirty="0"/>
                  <a:t>: Example</a:t>
                </a:r>
                <a:endParaRPr lang="ko-KR" altLang="en-US" b="1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299934C1-0E41-48D1-90AA-C6AEB06FB4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46E43C-F57C-431F-AD32-3A5D67470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4087366" cy="2786033"/>
          </a:xfrm>
        </p:spPr>
        <p:txBody>
          <a:bodyPr/>
          <a:lstStyle/>
          <a:p>
            <a:r>
              <a:rPr lang="en-US" altLang="ko-KR" b="1" dirty="0"/>
              <a:t> Production Functions P(x)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000897-4A2C-4BC1-80C6-3D4D01711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619601-8F97-436E-AF8C-EF6CDD9C4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824558"/>
            <a:ext cx="2939039" cy="1898303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52B8B478-2332-41A1-A1CE-2C11F55BA28E}"/>
              </a:ext>
            </a:extLst>
          </p:cNvPr>
          <p:cNvSpPr txBox="1">
            <a:spLocks/>
          </p:cNvSpPr>
          <p:nvPr/>
        </p:nvSpPr>
        <p:spPr>
          <a:xfrm>
            <a:off x="4438767" y="1269438"/>
            <a:ext cx="4087366" cy="2785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2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Cost Functions C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CB890F-72E0-4B2D-A61B-1DBEF8854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285" y="1824558"/>
            <a:ext cx="2897410" cy="1873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7179A8CD-42FB-484E-B901-B82211357C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56731" y="3877698"/>
                <a:ext cx="5507815" cy="15355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0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§"/>
                  <a:defRPr sz="14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200" kern="1200">
                    <a:solidFill>
                      <a:schemeClr val="tx1"/>
                    </a:solidFill>
                    <a:latin typeface="나눔고딕 Light" panose="020D0904000000000000" pitchFamily="50" charset="-127"/>
                    <a:ea typeface="나눔고딕 Light" panose="020D0904000000000000" pitchFamily="50" charset="-127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b="1" dirty="0"/>
                  <a:t> Price of Each Units (Should be p, not 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en-US" altLang="ko-KR" b="1" dirty="0"/>
                  <a:t>) </a:t>
                </a:r>
                <a:endParaRPr lang="ko-KR" altLang="en-US" b="1" dirty="0"/>
              </a:p>
            </p:txBody>
          </p:sp>
        </mc:Choice>
        <mc:Fallback xmlns="">
          <p:sp>
            <p:nvSpPr>
              <p:cNvPr id="9" name="내용 개체 틀 2">
                <a:extLst>
                  <a:ext uri="{FF2B5EF4-FFF2-40B4-BE49-F238E27FC236}">
                    <a16:creationId xmlns:a16="http://schemas.microsoft.com/office/drawing/2014/main" id="{7179A8CD-42FB-484E-B901-B82211357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731" y="3877698"/>
                <a:ext cx="5507815" cy="1535595"/>
              </a:xfrm>
              <a:prstGeom prst="rect">
                <a:avLst/>
              </a:prstGeom>
              <a:blipFill>
                <a:blip r:embed="rId5"/>
                <a:stretch>
                  <a:fillRect l="-9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3E66F2CB-5206-4B09-AEBE-1FFE5064FC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3470" y="4323189"/>
            <a:ext cx="4810594" cy="224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043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ECE13084-9021-4F7C-8A66-1E4C83F419D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Lagrange Multiplier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b="1" dirty="0"/>
                  <a:t>: Example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ECE13084-9021-4F7C-8A66-1E4C83F419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3C5597-382B-4608-B856-8974E5B71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7CBA3CD-CE01-402B-B29E-172CD0FDDEE5}"/>
              </a:ext>
            </a:extLst>
          </p:cNvPr>
          <p:cNvSpPr txBox="1">
            <a:spLocks/>
          </p:cNvSpPr>
          <p:nvPr/>
        </p:nvSpPr>
        <p:spPr>
          <a:xfrm>
            <a:off x="827584" y="1196752"/>
            <a:ext cx="5507815" cy="1535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2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Objective: Maximize Net Benefit</a:t>
            </a:r>
            <a:br>
              <a:rPr lang="en-US" altLang="ko-KR" b="1" dirty="0"/>
            </a:br>
            <a:r>
              <a:rPr lang="en-US" altLang="ko-KR" b="1" dirty="0"/>
              <a:t>(Net Benefit = Total Return – Total Cost)</a:t>
            </a:r>
            <a:endParaRPr lang="ko-KR" altLang="en-US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189DBF-CE95-4657-BE9F-4B0705214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06" y="2105463"/>
            <a:ext cx="4032448" cy="19605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D211992-8661-4E62-B7E7-6F5E829BA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056" y="2494532"/>
            <a:ext cx="3750096" cy="1378241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55D6D2B-BCC7-4EC2-9D41-9A7521ED1D47}"/>
              </a:ext>
            </a:extLst>
          </p:cNvPr>
          <p:cNvSpPr txBox="1">
            <a:spLocks/>
          </p:cNvSpPr>
          <p:nvPr/>
        </p:nvSpPr>
        <p:spPr>
          <a:xfrm>
            <a:off x="827584" y="4539367"/>
            <a:ext cx="5507815" cy="1535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18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200" kern="1200">
                <a:solidFill>
                  <a:schemeClr val="tx1"/>
                </a:solidFill>
                <a:latin typeface="나눔고딕 Light" panose="020D0904000000000000" pitchFamily="50" charset="-127"/>
                <a:ea typeface="나눔고딕 Light" panose="020D0904000000000000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/>
              <a:t> Subject to</a:t>
            </a:r>
            <a:endParaRPr lang="ko-KR" altLang="en-US" b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B303301-1388-4FA7-9F38-7F88FB08AC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7784" y="4791835"/>
            <a:ext cx="2545829" cy="128797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27AFA58-B743-4BAB-957F-23CAA24A21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3416" y="5200887"/>
            <a:ext cx="3111798" cy="46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749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9D41499-103E-4CB0-9217-AB9FF4650A3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Lagrange Multiplier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b="1" dirty="0"/>
                  <a:t>: Example Sol.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9D41499-103E-4CB0-9217-AB9FF4650A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E153844-4305-455D-A657-2BD3C7898D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First, in case of an unconstrained case, </a:t>
                </a:r>
              </a:p>
              <a:p>
                <a:pPr lvl="1"/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 Solving with Lagrange Multipliers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endParaRPr lang="en-US" altLang="ko-KR" dirty="0"/>
              </a:p>
              <a:p>
                <a:pPr marL="457200" lvl="1" indent="0">
                  <a:buNone/>
                </a:pPr>
                <a:r>
                  <a:rPr lang="en-US" altLang="ko-KR" dirty="0"/>
                  <a:t>1) Set up the </a:t>
                </a:r>
                <a:r>
                  <a:rPr lang="en-US" altLang="ko-KR" u="sng" dirty="0"/>
                  <a:t>Lagrange function L(X,</a:t>
                </a:r>
                <a:r>
                  <a:rPr lang="ko-KR" altLang="en-US" u="sng" dirty="0"/>
                  <a:t> </a:t>
                </a:r>
                <a14:m>
                  <m:oMath xmlns:m="http://schemas.openxmlformats.org/officeDocument/2006/math">
                    <m:r>
                      <a:rPr lang="ko-KR" altLang="en-US" b="0" i="1" u="sng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u="sng" dirty="0"/>
                  <a:t>)</a:t>
                </a:r>
                <a:endParaRPr lang="ko-KR" altLang="en-US" u="sng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E153844-4305-455D-A657-2BD3C7898D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FFC326-1546-4BCD-944C-D1D0103E3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BD08C8-5A00-4719-947F-ED46733F6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8434" y="1772816"/>
            <a:ext cx="2250125" cy="187210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E59B95C-0251-4E2C-B5EA-AE00F2704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9645" y="1797321"/>
            <a:ext cx="2655267" cy="15005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754338F-6C06-4032-BF18-0255828944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8877" y="4555480"/>
            <a:ext cx="3569237" cy="1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818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9D41499-103E-4CB0-9217-AB9FF4650A3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Lagrange Multiplier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b="1" dirty="0"/>
                  <a:t>: Example Sol.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9D41499-103E-4CB0-9217-AB9FF4650A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E153844-4305-455D-A657-2BD3C7898D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Solving with Lagrange Multipliers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endParaRPr lang="en-US" altLang="ko-KR" dirty="0"/>
              </a:p>
              <a:p>
                <a:pPr marL="457200" lvl="1" indent="0">
                  <a:buNone/>
                </a:pPr>
                <a:r>
                  <a:rPr lang="en-US" altLang="ko-KR" dirty="0"/>
                  <a:t>2) Differentiate the </a:t>
                </a:r>
                <a:r>
                  <a:rPr lang="en-US" altLang="ko-KR" u="sng" dirty="0"/>
                  <a:t>Lagrange function L(X,</a:t>
                </a:r>
                <a:r>
                  <a:rPr lang="ko-KR" altLang="en-US" u="sng" dirty="0"/>
                  <a:t> </a:t>
                </a:r>
                <a14:m>
                  <m:oMath xmlns:m="http://schemas.openxmlformats.org/officeDocument/2006/math">
                    <m:r>
                      <a:rPr lang="ko-KR" altLang="en-US" i="1" u="sng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u="sng" dirty="0"/>
                  <a:t>)</a:t>
                </a:r>
                <a:r>
                  <a:rPr lang="en-US" altLang="ko-KR" dirty="0"/>
                  <a:t> with respect to ten unknowns and set the resulting equations to 0:</a:t>
                </a:r>
                <a:endParaRPr lang="ko-KR" altLang="en-US" u="sng" dirty="0"/>
              </a:p>
              <a:p>
                <a:pPr lvl="1"/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E153844-4305-455D-A657-2BD3C7898D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FFC326-1546-4BCD-944C-D1D0103E3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1AF7835-9841-468B-8D52-363336D7C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366" y="2780928"/>
            <a:ext cx="3503454" cy="140925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B979A3D-111C-4C5D-BEC9-342B2EFB93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764" y="4190183"/>
            <a:ext cx="3676658" cy="62196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6E3B1F5-B418-4EAF-8432-2BB2643049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8024" y="2780928"/>
            <a:ext cx="3474545" cy="30952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A4BE28-DC10-4A21-98A7-B7F7B554DBDE}"/>
              </a:ext>
            </a:extLst>
          </p:cNvPr>
          <p:cNvSpPr txBox="1"/>
          <p:nvPr/>
        </p:nvSpPr>
        <p:spPr>
          <a:xfrm>
            <a:off x="1972785" y="5253633"/>
            <a:ext cx="17806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LINGO, </a:t>
            </a:r>
            <a:br>
              <a:rPr lang="en-US" altLang="ko-KR" dirty="0"/>
            </a:br>
            <a:r>
              <a:rPr lang="en-US" altLang="ko-KR" dirty="0">
                <a:hlinkClick r:id="rId7"/>
              </a:rPr>
              <a:t>www.LINDO.com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62730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9D41499-103E-4CB0-9217-AB9FF4650A3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Lagrange Multiplier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b="1" dirty="0"/>
                  <a:t>: Example Sol.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C9D41499-103E-4CB0-9217-AB9FF4650A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E153844-4305-455D-A657-2BD3C7898D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 Solving with Lagrange Multipliers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endParaRPr lang="en-US" altLang="ko-KR" dirty="0"/>
              </a:p>
              <a:p>
                <a:pPr marL="457200" lvl="1" indent="0">
                  <a:buNone/>
                </a:pPr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E153844-4305-455D-A657-2BD3C7898D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FFC326-1546-4BCD-944C-D1D0103E3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7D90796-6A98-4D0C-B2D9-2AD6F733D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26" y="1964453"/>
            <a:ext cx="6903347" cy="362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153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9C418679-759B-441C-9110-0E77893EE7D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Lagrange Multiplier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dirty="0"/>
                  <a:t>: General Form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9C418679-759B-441C-9110-0E77893EE7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977EB9-4C39-44F6-A312-5FCEF81E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66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60F02FA0-489D-4E0C-8C90-B603A09F80E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Lagrange Multiplier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dirty="0"/>
                  <a:t>: General Form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60F02FA0-489D-4E0C-8C90-B603A09F80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389440-20A6-4C13-BE85-38BE1FEEB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987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60F02FA0-489D-4E0C-8C90-B603A09F80E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Lagrange Multiplier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dirty="0"/>
                  <a:t>: General Form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60F02FA0-489D-4E0C-8C90-B603A09F80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389440-20A6-4C13-BE85-38BE1FEEB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988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60F02FA0-489D-4E0C-8C90-B603A09F80E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Lagrange Multiplier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dirty="0"/>
                  <a:t>: General Form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60F02FA0-489D-4E0C-8C90-B603A09F80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932" t="-1600" b="-11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389440-20A6-4C13-BE85-38BE1FEEB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6533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A84F4D-AE46-47B9-8A76-5008F759B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with Lagrange Multipliers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0A53AB-C9B5-41A4-8EE1-F90BA67CD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Solve Exercise 4.13 in the Primary Textbook p.166-167.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6C2908-90EC-4AA8-9A73-A801FF4F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506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B42E22-BCD0-4141-914B-8DEAD81B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4E5F94-2C65-4B47-8396-687BD5362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45F020-6EF5-4366-AB9B-135AFE4FC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5180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4AAC4-05C4-4379-9C72-2E294299C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CC453F-C606-4D55-928A-FEB011FB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3DA154-7146-4E85-A2A3-79000846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3190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32D9C-5B9C-463C-A183-253D11ABB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 of Lecture 03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B54ED7-E2F6-4D40-AFB0-9CF5058BC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 Engineering Economics: </a:t>
            </a:r>
            <a:br>
              <a:rPr lang="en-US" altLang="ko-KR" b="1" dirty="0"/>
            </a:br>
            <a:r>
              <a:rPr lang="en-US" altLang="ko-KR" b="1" dirty="0"/>
              <a:t>Time Streams of Economic Benefits &amp; Costs</a:t>
            </a:r>
          </a:p>
          <a:p>
            <a:r>
              <a:rPr lang="en-US" altLang="ko-KR" b="1" dirty="0"/>
              <a:t> Solving Nonlinear Optimization Models with Calculus</a:t>
            </a:r>
          </a:p>
          <a:p>
            <a:pPr lvl="1"/>
            <a:r>
              <a:rPr lang="en-US" altLang="ko-KR" b="1" dirty="0"/>
              <a:t>Solution Using Calculus</a:t>
            </a:r>
          </a:p>
          <a:p>
            <a:pPr lvl="1"/>
            <a:r>
              <a:rPr lang="en-US" altLang="ko-KR" b="1" dirty="0"/>
              <a:t>Solution Using Hill Climbing</a:t>
            </a:r>
          </a:p>
          <a:p>
            <a:pPr lvl="1"/>
            <a:r>
              <a:rPr lang="en-US" altLang="ko-KR" b="1" dirty="0"/>
              <a:t>Solution Using the Lagrange Multiplier</a:t>
            </a:r>
          </a:p>
          <a:p>
            <a:endParaRPr lang="en-US" altLang="ko-KR" sz="1000" dirty="0"/>
          </a:p>
          <a:p>
            <a:r>
              <a:rPr lang="en-US" altLang="ko-KR" dirty="0"/>
              <a:t> Concepts of Dynamic Programming Models (DP)</a:t>
            </a:r>
          </a:p>
          <a:p>
            <a:r>
              <a:rPr lang="en-US" altLang="ko-KR" dirty="0"/>
              <a:t> Examples of Problem Solving with DP Models</a:t>
            </a:r>
          </a:p>
          <a:p>
            <a:r>
              <a:rPr lang="en-US" altLang="ko-KR" dirty="0"/>
              <a:t> Concepts of Linear Programming Models (LP)</a:t>
            </a:r>
          </a:p>
          <a:p>
            <a:r>
              <a:rPr lang="en-US" altLang="ko-KR" dirty="0"/>
              <a:t> Real-world Applications of Traditional Optimization Models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950B24-59D4-4FEE-AEE7-6908BEC1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412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Future Schedule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451391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다음 주 강의 </a:t>
            </a:r>
            <a:r>
              <a:rPr lang="en-US" altLang="ko-KR" dirty="0"/>
              <a:t>(2022-03-29 </a:t>
            </a:r>
            <a:r>
              <a:rPr lang="ko-KR" altLang="en-US" dirty="0"/>
              <a:t>화요일 </a:t>
            </a:r>
            <a:r>
              <a:rPr lang="en-US" altLang="ko-KR" dirty="0"/>
              <a:t>17:00-19:50)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03: Introduction to Conventional Optimization Models (DP&amp;LP) Part II</a:t>
            </a:r>
          </a:p>
          <a:p>
            <a:pPr lvl="2"/>
            <a:r>
              <a:rPr lang="en-US" altLang="ko-KR" dirty="0"/>
              <a:t>Engineering Economics: Time Streams of Economic Benefits &amp; Costs</a:t>
            </a:r>
          </a:p>
          <a:p>
            <a:pPr lvl="2"/>
            <a:r>
              <a:rPr lang="en-US" altLang="ko-KR" dirty="0"/>
              <a:t> Solving Nonlinear Optimization Models with Calculus</a:t>
            </a:r>
          </a:p>
          <a:p>
            <a:pPr lvl="3"/>
            <a:r>
              <a:rPr lang="en-US" altLang="ko-KR" dirty="0"/>
              <a:t>Solution Using Calculus</a:t>
            </a:r>
          </a:p>
          <a:p>
            <a:pPr lvl="3"/>
            <a:r>
              <a:rPr lang="en-US" altLang="ko-KR" dirty="0"/>
              <a:t>Solution Using Hill Climbing</a:t>
            </a:r>
          </a:p>
          <a:p>
            <a:pPr lvl="3"/>
            <a:r>
              <a:rPr lang="en-US" altLang="ko-KR" dirty="0"/>
              <a:t>Solution Using the Lagrange Multiplier</a:t>
            </a:r>
          </a:p>
          <a:p>
            <a:pPr lvl="2"/>
            <a:endParaRPr lang="en-US" altLang="ko-KR" sz="600" dirty="0"/>
          </a:p>
          <a:p>
            <a:pPr lvl="2"/>
            <a:r>
              <a:rPr lang="en-US" altLang="ko-KR" b="1" dirty="0"/>
              <a:t> Concepts of Dynamic Programming Models (DP)</a:t>
            </a:r>
          </a:p>
          <a:p>
            <a:pPr lvl="2"/>
            <a:r>
              <a:rPr lang="en-US" altLang="ko-KR" b="1" dirty="0"/>
              <a:t> Examples of Problem Solving with DP Models</a:t>
            </a:r>
          </a:p>
          <a:p>
            <a:pPr lvl="2"/>
            <a:r>
              <a:rPr lang="en-US" altLang="ko-KR" b="1" dirty="0"/>
              <a:t> Concepts of Linear Programming Models (LP)</a:t>
            </a:r>
          </a:p>
          <a:p>
            <a:pPr lvl="2"/>
            <a:r>
              <a:rPr lang="en-US" altLang="ko-KR" b="1" dirty="0"/>
              <a:t> Real-world Applications of Traditional Optimization Models</a:t>
            </a:r>
          </a:p>
          <a:p>
            <a:pPr lvl="2"/>
            <a:endParaRPr lang="en-US" altLang="ko-KR" sz="400" dirty="0"/>
          </a:p>
          <a:p>
            <a:pPr lvl="1"/>
            <a:r>
              <a:rPr lang="en-US" altLang="ko-KR" dirty="0"/>
              <a:t>Quiz #1 on Mar-29 // </a:t>
            </a:r>
            <a:r>
              <a:rPr lang="en-US" altLang="ko-KR" dirty="0" err="1"/>
              <a:t>Datacamp</a:t>
            </a:r>
            <a:r>
              <a:rPr lang="en-US" altLang="ko-KR" dirty="0"/>
              <a:t> #1 Due Mar-29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75244</TotalTime>
  <Words>1364</Words>
  <Application>Microsoft Office PowerPoint</Application>
  <PresentationFormat>화면 슬라이드 쇼(4:3)</PresentationFormat>
  <Paragraphs>198</Paragraphs>
  <Slides>30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0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Gill Sans MT</vt:lpstr>
      <vt:lpstr>Wingdings</vt:lpstr>
      <vt:lpstr>Office 테마</vt:lpstr>
      <vt:lpstr>Equation</vt:lpstr>
      <vt:lpstr>Lecture 03</vt:lpstr>
      <vt:lpstr>PowerPoint 프레젠테이션</vt:lpstr>
      <vt:lpstr>Review on Lecture 02</vt:lpstr>
      <vt:lpstr>Review on Assignment #1</vt:lpstr>
      <vt:lpstr>Before Lecture 03</vt:lpstr>
      <vt:lpstr>Today’s Topic:  Intro to Traditional Optimization Models</vt:lpstr>
      <vt:lpstr>Engineering Economics</vt:lpstr>
      <vt:lpstr>Engineering Economics </vt:lpstr>
      <vt:lpstr>Engineering Economics </vt:lpstr>
      <vt:lpstr>Engineering Economics </vt:lpstr>
      <vt:lpstr>Introduction to Optimization Models &amp; Solution Procedures</vt:lpstr>
      <vt:lpstr>Nonlinear Optimization Model: Example</vt:lpstr>
      <vt:lpstr>Nonlinear Optimization Model: Example</vt:lpstr>
      <vt:lpstr>Nonlinear Optimization Model: Example</vt:lpstr>
      <vt:lpstr>Nonlinear Optimization Model: Example</vt:lpstr>
      <vt:lpstr>Nonlinear Optimization Model: Example</vt:lpstr>
      <vt:lpstr>Lagrange Multiplier λ: Example</vt:lpstr>
      <vt:lpstr>Lagrange Multiplier λ: Example</vt:lpstr>
      <vt:lpstr>Lagrange Multiplier λ: Example Sol.</vt:lpstr>
      <vt:lpstr>Lagrange Multiplier λ: Example Sol.</vt:lpstr>
      <vt:lpstr>Lagrange Multiplier λ: Example Sol.</vt:lpstr>
      <vt:lpstr>Lagrange Multiplier λ: General Form</vt:lpstr>
      <vt:lpstr>Lagrange Multiplier λ: General Form</vt:lpstr>
      <vt:lpstr>Lagrange Multiplier λ: General Form</vt:lpstr>
      <vt:lpstr>Lagrange Multiplier λ: General Form</vt:lpstr>
      <vt:lpstr>Example with Lagrange Multipliers</vt:lpstr>
      <vt:lpstr>PowerPoint 프레젠테이션</vt:lpstr>
      <vt:lpstr>PowerPoint 프레젠테이션</vt:lpstr>
      <vt:lpstr>Conclusion of Lecture 03</vt:lpstr>
      <vt:lpstr>Future 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2155</cp:revision>
  <cp:lastPrinted>2022-03-21T05:50:04Z</cp:lastPrinted>
  <dcterms:created xsi:type="dcterms:W3CDTF">2020-01-02T02:18:47Z</dcterms:created>
  <dcterms:modified xsi:type="dcterms:W3CDTF">2022-03-21T08:54:02Z</dcterms:modified>
</cp:coreProperties>
</file>