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694" r:id="rId3"/>
    <p:sldId id="714" r:id="rId4"/>
    <p:sldId id="712" r:id="rId5"/>
    <p:sldId id="715" r:id="rId6"/>
    <p:sldId id="718" r:id="rId7"/>
    <p:sldId id="716" r:id="rId8"/>
    <p:sldId id="717" r:id="rId9"/>
    <p:sldId id="719" r:id="rId10"/>
    <p:sldId id="725" r:id="rId11"/>
    <p:sldId id="721" r:id="rId12"/>
    <p:sldId id="722" r:id="rId13"/>
    <p:sldId id="723" r:id="rId14"/>
    <p:sldId id="729" r:id="rId15"/>
    <p:sldId id="724" r:id="rId16"/>
    <p:sldId id="720" r:id="rId17"/>
    <p:sldId id="727" r:id="rId18"/>
    <p:sldId id="728" r:id="rId19"/>
    <p:sldId id="700" r:id="rId20"/>
    <p:sldId id="698" r:id="rId21"/>
  </p:sldIdLst>
  <p:sldSz cx="9144000" cy="6858000" type="screen4x3"/>
  <p:notesSz cx="6735763" cy="98663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CC"/>
    <a:srgbClr val="F60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23" autoAdjust="0"/>
    <p:restoredTop sz="92155" autoAdjust="0"/>
  </p:normalViewPr>
  <p:slideViewPr>
    <p:cSldViewPr>
      <p:cViewPr varScale="1">
        <p:scale>
          <a:sx n="102" d="100"/>
          <a:sy n="102" d="100"/>
        </p:scale>
        <p:origin x="16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2" y="0"/>
            <a:ext cx="2918830" cy="495029"/>
          </a:xfrm>
          <a:prstGeom prst="rect">
            <a:avLst/>
          </a:prstGeom>
        </p:spPr>
        <p:txBody>
          <a:bodyPr vert="horz" lIns="90756" tIns="45378" rIns="90756" bIns="45378" rtlCol="0"/>
          <a:lstStyle>
            <a:lvl1pPr algn="l">
              <a:defRPr sz="1200"/>
            </a:lvl1pPr>
          </a:lstStyle>
          <a:p>
            <a:endParaRPr lang="ko-KR" altLang="en-US"/>
          </a:p>
        </p:txBody>
      </p:sp>
      <p:sp>
        <p:nvSpPr>
          <p:cNvPr id="3" name="날짜 개체 틀 2"/>
          <p:cNvSpPr>
            <a:spLocks noGrp="1"/>
          </p:cNvSpPr>
          <p:nvPr>
            <p:ph type="dt" idx="1"/>
          </p:nvPr>
        </p:nvSpPr>
        <p:spPr>
          <a:xfrm>
            <a:off x="3815375" y="0"/>
            <a:ext cx="2918830" cy="495029"/>
          </a:xfrm>
          <a:prstGeom prst="rect">
            <a:avLst/>
          </a:prstGeom>
        </p:spPr>
        <p:txBody>
          <a:bodyPr vert="horz" lIns="90756" tIns="45378" rIns="90756" bIns="45378" rtlCol="0"/>
          <a:lstStyle>
            <a:lvl1pPr algn="r">
              <a:defRPr sz="1200"/>
            </a:lvl1pPr>
          </a:lstStyle>
          <a:p>
            <a:fld id="{E1DBA18E-019D-4DB5-9C84-C80C9EC0EDE4}" type="datetimeFigureOut">
              <a:rPr lang="ko-KR" altLang="en-US" smtClean="0"/>
              <a:t>2022-03-29</a:t>
            </a:fld>
            <a:endParaRPr lang="ko-KR" altLang="en-US"/>
          </a:p>
        </p:txBody>
      </p:sp>
      <p:sp>
        <p:nvSpPr>
          <p:cNvPr id="4" name="슬라이드 이미지 개체 틀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0756" tIns="45378" rIns="90756" bIns="45378" rtlCol="0" anchor="ctr"/>
          <a:lstStyle/>
          <a:p>
            <a:endParaRPr lang="ko-KR" altLang="en-US"/>
          </a:p>
        </p:txBody>
      </p:sp>
      <p:sp>
        <p:nvSpPr>
          <p:cNvPr id="5" name="슬라이드 노트 개체 틀 4"/>
          <p:cNvSpPr>
            <a:spLocks noGrp="1"/>
          </p:cNvSpPr>
          <p:nvPr>
            <p:ph type="body" sz="quarter" idx="3"/>
          </p:nvPr>
        </p:nvSpPr>
        <p:spPr>
          <a:xfrm>
            <a:off x="673577" y="4748164"/>
            <a:ext cx="5388610" cy="3884861"/>
          </a:xfrm>
          <a:prstGeom prst="rect">
            <a:avLst/>
          </a:prstGeom>
        </p:spPr>
        <p:txBody>
          <a:bodyPr vert="horz" lIns="90756" tIns="45378" rIns="90756" bIns="45378"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2" y="9371286"/>
            <a:ext cx="2918830" cy="495028"/>
          </a:xfrm>
          <a:prstGeom prst="rect">
            <a:avLst/>
          </a:prstGeom>
        </p:spPr>
        <p:txBody>
          <a:bodyPr vert="horz" lIns="90756" tIns="45378" rIns="90756" bIns="45378"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6"/>
            <a:ext cx="2918830" cy="495028"/>
          </a:xfrm>
          <a:prstGeom prst="rect">
            <a:avLst/>
          </a:prstGeom>
        </p:spPr>
        <p:txBody>
          <a:bodyPr vert="horz" lIns="90756" tIns="45378" rIns="90756" bIns="45378" rtlCol="0" anchor="b"/>
          <a:lstStyle>
            <a:lvl1pPr algn="r">
              <a:defRPr sz="1200"/>
            </a:lvl1pPr>
          </a:lstStyle>
          <a:p>
            <a:fld id="{3B93C0B1-E0F9-447B-AFB5-BCC5935C28C8}" type="slidenum">
              <a:rPr lang="ko-KR" altLang="en-US" smtClean="0"/>
              <a:t>‹#›</a:t>
            </a:fld>
            <a:endParaRPr lang="ko-KR" altLang="en-US"/>
          </a:p>
        </p:txBody>
      </p:sp>
    </p:spTree>
    <p:extLst>
      <p:ext uri="{BB962C8B-B14F-4D97-AF65-F5344CB8AC3E}">
        <p14:creationId xmlns:p14="http://schemas.microsoft.com/office/powerpoint/2010/main" val="27769814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ehoeskrap.tistory.com/154"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https://snu-ac-kr.zoom.us/j/84027051484?pwd=aU5OZitOKzUyRW9DQ0s0TkpIMSs4UT09</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a:t>
            </a:fld>
            <a:endParaRPr lang="ko-KR" altLang="en-US"/>
          </a:p>
        </p:txBody>
      </p:sp>
    </p:spTree>
    <p:extLst>
      <p:ext uri="{BB962C8B-B14F-4D97-AF65-F5344CB8AC3E}">
        <p14:creationId xmlns:p14="http://schemas.microsoft.com/office/powerpoint/2010/main" val="145569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1" i="0" kern="1200" dirty="0" err="1">
                <a:solidFill>
                  <a:schemeClr val="tx1"/>
                </a:solidFill>
                <a:effectLst/>
                <a:latin typeface="+mn-lt"/>
                <a:ea typeface="+mn-ea"/>
                <a:cs typeface="+mn-cs"/>
              </a:rPr>
              <a:t>마코프</a:t>
            </a:r>
            <a:r>
              <a:rPr lang="ko-KR" altLang="en-US" sz="1200" b="1" i="0" kern="1200" dirty="0">
                <a:solidFill>
                  <a:schemeClr val="tx1"/>
                </a:solidFill>
                <a:effectLst/>
                <a:latin typeface="+mn-lt"/>
                <a:ea typeface="+mn-ea"/>
                <a:cs typeface="+mn-cs"/>
              </a:rPr>
              <a:t> 과정은 어떤 상태가 일정한 간격으로 변하고</a:t>
            </a:r>
            <a:r>
              <a:rPr lang="en-US" altLang="ko-KR" sz="1200" b="1" i="0" kern="1200" dirty="0">
                <a:solidFill>
                  <a:schemeClr val="tx1"/>
                </a:solidFill>
                <a:effectLst/>
                <a:latin typeface="+mn-lt"/>
                <a:ea typeface="+mn-ea"/>
                <a:cs typeface="+mn-cs"/>
              </a:rPr>
              <a:t>, </a:t>
            </a:r>
            <a:r>
              <a:rPr lang="ko-KR" altLang="en-US" sz="1200" b="1" i="0" kern="1200" dirty="0">
                <a:solidFill>
                  <a:schemeClr val="tx1"/>
                </a:solidFill>
                <a:effectLst/>
                <a:latin typeface="+mn-lt"/>
                <a:ea typeface="+mn-ea"/>
                <a:cs typeface="+mn-cs"/>
              </a:rPr>
              <a:t>다음 상태는 현재상태에만 의존하며 확률적으로 변하는 경우의 상태의 변화를 뜻한다</a:t>
            </a:r>
            <a:r>
              <a:rPr lang="en-US" altLang="ko-KR" sz="1200" b="1"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즉</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현재 상태에 대해서만 다음 상태가 결정되며</a:t>
            </a:r>
            <a:r>
              <a:rPr lang="en-US" altLang="ko-KR" sz="1200" b="0" i="0" kern="1200" dirty="0">
                <a:solidFill>
                  <a:schemeClr val="tx1"/>
                </a:solidFill>
                <a:effectLst/>
                <a:latin typeface="+mn-lt"/>
                <a:ea typeface="+mn-ea"/>
                <a:cs typeface="+mn-cs"/>
              </a:rPr>
              <a:t>, </a:t>
            </a:r>
            <a:r>
              <a:rPr lang="ko-KR" altLang="en-US" sz="1200" b="0" i="0" kern="1200" dirty="0">
                <a:solidFill>
                  <a:schemeClr val="tx1"/>
                </a:solidFill>
                <a:effectLst/>
                <a:latin typeface="+mn-lt"/>
                <a:ea typeface="+mn-ea"/>
                <a:cs typeface="+mn-cs"/>
              </a:rPr>
              <a:t>현재 상태에 이르기까지의 과정은 전혀 고려할 필요가 없다</a:t>
            </a:r>
            <a:r>
              <a:rPr lang="en-US" altLang="ko-KR" sz="1200" b="0" i="0" kern="1200" dirty="0">
                <a:solidFill>
                  <a:schemeClr val="tx1"/>
                </a:solidFill>
                <a:effectLst/>
                <a:latin typeface="+mn-lt"/>
                <a:ea typeface="+mn-ea"/>
                <a:cs typeface="+mn-cs"/>
              </a:rPr>
              <a:t>.</a:t>
            </a:r>
            <a:br>
              <a:rPr lang="ko-KR" altLang="en-US" dirty="0"/>
            </a:br>
            <a:br>
              <a:rPr lang="ko-KR" altLang="en-US" dirty="0"/>
            </a:br>
            <a:r>
              <a:rPr lang="ko-KR" altLang="en-US" sz="1200" b="0" i="0" kern="1200" dirty="0">
                <a:solidFill>
                  <a:schemeClr val="tx1"/>
                </a:solidFill>
                <a:effectLst/>
                <a:latin typeface="+mn-lt"/>
                <a:ea typeface="+mn-ea"/>
                <a:cs typeface="+mn-cs"/>
              </a:rPr>
              <a:t>출처</a:t>
            </a:r>
            <a:r>
              <a:rPr lang="en-US" altLang="ko-KR"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hlinkClick r:id="rId3"/>
              </a:rPr>
              <a:t>https://eehoeskrap.tistory.com/154</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[Enough is not enough]</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5</a:t>
            </a:fld>
            <a:endParaRPr lang="ko-KR" altLang="en-US"/>
          </a:p>
        </p:txBody>
      </p:sp>
    </p:spTree>
    <p:extLst>
      <p:ext uri="{BB962C8B-B14F-4D97-AF65-F5344CB8AC3E}">
        <p14:creationId xmlns:p14="http://schemas.microsoft.com/office/powerpoint/2010/main" val="3114702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Stage(</a:t>
            </a:r>
            <a:r>
              <a:rPr lang="ko-KR" altLang="en-US" dirty="0"/>
              <a:t>단계</a:t>
            </a:r>
            <a:r>
              <a:rPr lang="en-US" altLang="ko-KR" dirty="0"/>
              <a:t>): </a:t>
            </a:r>
            <a:r>
              <a:rPr lang="ko-KR" altLang="en-US" dirty="0"/>
              <a:t>의사결정이 이루어지는 위치</a:t>
            </a:r>
            <a:r>
              <a:rPr lang="en-US" altLang="ko-KR" dirty="0"/>
              <a:t>(point), </a:t>
            </a:r>
            <a:r>
              <a:rPr lang="ko-KR" altLang="en-US" dirty="0"/>
              <a:t>저수지 운영에서 운영시간의 간격</a:t>
            </a:r>
            <a:r>
              <a:rPr lang="en-US" altLang="ko-KR" dirty="0"/>
              <a:t>(operational time step)</a:t>
            </a:r>
            <a:r>
              <a:rPr lang="ko-KR" altLang="en-US" dirty="0"/>
              <a:t>을 나타냄</a:t>
            </a:r>
            <a:endParaRPr lang="en-US" altLang="ko-KR" dirty="0"/>
          </a:p>
          <a:p>
            <a:r>
              <a:rPr lang="en-US" altLang="ko-KR" dirty="0"/>
              <a:t>State Variable(</a:t>
            </a:r>
            <a:r>
              <a:rPr lang="ko-KR" altLang="en-US" dirty="0"/>
              <a:t>상태변수</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6</a:t>
            </a:fld>
            <a:endParaRPr lang="ko-KR" altLang="en-US"/>
          </a:p>
        </p:txBody>
      </p:sp>
    </p:spTree>
    <p:extLst>
      <p:ext uri="{BB962C8B-B14F-4D97-AF65-F5344CB8AC3E}">
        <p14:creationId xmlns:p14="http://schemas.microsoft.com/office/powerpoint/2010/main" val="3913635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lvl1pPr>
          </a:lstStyle>
          <a:p>
            <a:r>
              <a:rPr lang="ko-KR" altLang="en-US" dirty="0"/>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334003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dirty="0"/>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859942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98277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4DF68E14-CAEA-49EF-A996-488ADFD1D606}"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39544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9" name="Slide Number Placeholder 8"/>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189982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5" name="Slide Number Placeholder 4"/>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2554999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300192" y="6356349"/>
            <a:ext cx="2215158" cy="365125"/>
          </a:xfrm>
          <a:prstGeom prst="rect">
            <a:avLst/>
          </a:prstGeom>
        </p:spPr>
        <p:txBody>
          <a:bodyPr/>
          <a:lstStyle/>
          <a:p>
            <a:fld id="{9A647E19-6206-463B-9AE9-66BE4F630FC0}" type="datetime1">
              <a:rPr lang="ko-KR" altLang="en-US" smtClean="0"/>
              <a:t>2022-03-29</a:t>
            </a:fld>
            <a:endParaRPr lang="ko-KR" altLang="en-US"/>
          </a:p>
        </p:txBody>
      </p:sp>
      <p:sp>
        <p:nvSpPr>
          <p:cNvPr id="4" name="Slide Number Placeholder 3"/>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3" name="제목 2">
            <a:extLst>
              <a:ext uri="{FF2B5EF4-FFF2-40B4-BE49-F238E27FC236}">
                <a16:creationId xmlns:a16="http://schemas.microsoft.com/office/drawing/2014/main" id="{03339795-4603-4C4B-B582-9870510CEFD8}"/>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927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93CDF756-7DF6-4EF7-9AE5-1CDBCC6807D0}"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70283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a:xfrm>
            <a:off x="6300192" y="6356349"/>
            <a:ext cx="2215158" cy="365125"/>
          </a:xfrm>
          <a:prstGeom prst="rect">
            <a:avLst/>
          </a:prstGeom>
        </p:spPr>
        <p:txBody>
          <a:bodyPr/>
          <a:lstStyle/>
          <a:p>
            <a:fld id="{0E00B1B8-02ED-4B71-B2A9-756D11FCE97A}" type="datetime1">
              <a:rPr lang="ko-KR" altLang="en-US" smtClean="0"/>
              <a:t>2022-03-29</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406338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F8842333-966D-4877-82E2-6DF5FF1AA6FD}" type="datetime1">
              <a:rPr lang="ko-KR" altLang="en-US" smtClean="0"/>
              <a:t>2022-03-29</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4391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a:xfrm>
            <a:off x="6300192" y="6356349"/>
            <a:ext cx="2215158" cy="365125"/>
          </a:xfrm>
          <a:prstGeom prst="rect">
            <a:avLst/>
          </a:prstGeom>
        </p:spPr>
        <p:txBody>
          <a:bodyPr/>
          <a:lstStyle/>
          <a:p>
            <a:fld id="{C882E481-74EE-447E-B10C-224EAA33899A}" type="datetime1">
              <a:rPr lang="ko-KR" altLang="en-US" smtClean="0"/>
              <a:t>2022-03-29</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제목 4">
            <a:extLst>
              <a:ext uri="{FF2B5EF4-FFF2-40B4-BE49-F238E27FC236}">
                <a16:creationId xmlns:a16="http://schemas.microsoft.com/office/drawing/2014/main" id="{DE5D0810-B190-47E1-A347-C4E62ABB544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6695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75961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28650" y="1268760"/>
            <a:ext cx="7886700" cy="490820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4"/>
          </p:nvPr>
        </p:nvSpPr>
        <p:spPr>
          <a:xfrm>
            <a:off x="3543300" y="6355026"/>
            <a:ext cx="2057400" cy="365125"/>
          </a:xfrm>
          <a:prstGeom prst="rect">
            <a:avLst/>
          </a:prstGeom>
        </p:spPr>
        <p:txBody>
          <a:bodyPr vert="horz" lIns="91440" tIns="45720" rIns="91440" bIns="45720" rtlCol="0" anchor="ctr"/>
          <a:lstStyle>
            <a:lvl1pPr algn="ctr">
              <a:defRPr sz="1200">
                <a:solidFill>
                  <a:schemeClr val="tx1"/>
                </a:solidFill>
              </a:defRPr>
            </a:lvl1pPr>
          </a:lstStyle>
          <a:p>
            <a:fld id="{79822AFB-C284-4A8E-A6EE-41BAA9C576A0}" type="slidenum">
              <a:rPr lang="ko-KR" altLang="en-US" smtClean="0"/>
              <a:pPr/>
              <a:t>‹#›</a:t>
            </a:fld>
            <a:endParaRPr lang="ko-KR" altLang="en-US" dirty="0"/>
          </a:p>
        </p:txBody>
      </p:sp>
      <p:pic>
        <p:nvPicPr>
          <p:cNvPr id="7" name="그림 6"/>
          <p:cNvPicPr>
            <a:picLocks noChangeAspect="1"/>
          </p:cNvPicPr>
          <p:nvPr userDrawn="1"/>
        </p:nvPicPr>
        <p:blipFill>
          <a:blip r:embed="rId13"/>
          <a:stretch>
            <a:fillRect/>
          </a:stretch>
        </p:blipFill>
        <p:spPr>
          <a:xfrm>
            <a:off x="6804248" y="6250409"/>
            <a:ext cx="1711102" cy="576999"/>
          </a:xfrm>
          <a:prstGeom prst="rect">
            <a:avLst/>
          </a:prstGeom>
        </p:spPr>
      </p:pic>
      <p:sp>
        <p:nvSpPr>
          <p:cNvPr id="8" name="Date Placeholder 3">
            <a:extLst>
              <a:ext uri="{FF2B5EF4-FFF2-40B4-BE49-F238E27FC236}">
                <a16:creationId xmlns:a16="http://schemas.microsoft.com/office/drawing/2014/main" id="{40298C54-76D9-4D1A-B6B3-194E1AE53373}"/>
              </a:ext>
            </a:extLst>
          </p:cNvPr>
          <p:cNvSpPr txBox="1">
            <a:spLocks/>
          </p:cNvSpPr>
          <p:nvPr userDrawn="1"/>
        </p:nvSpPr>
        <p:spPr>
          <a:xfrm>
            <a:off x="628650" y="6356347"/>
            <a:ext cx="2719214" cy="365125"/>
          </a:xfrm>
          <a:prstGeom prst="rect">
            <a:avLst/>
          </a:prstGeom>
        </p:spPr>
        <p:txBody>
          <a:bodyPr vert="horz" lIns="91440" tIns="45720" rIns="91440" bIns="45720" rtlCol="0" anchor="ctr"/>
          <a:lstStyle>
            <a:defPPr>
              <a:defRPr lang="ko-KR"/>
            </a:defPPr>
            <a:lvl1pPr marL="0" algn="r" defTabSz="914400" rtl="0" eaLnBrk="1" latinLnBrk="1" hangingPunct="1">
              <a:defRPr sz="1200" b="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a:r>
              <a:rPr lang="en-US" altLang="ko-KR" dirty="0">
                <a:latin typeface="Gill Sans MT" panose="020B0502020104020203" pitchFamily="34" charset="0"/>
                <a:cs typeface="Calibri" panose="020F0502020204030204" pitchFamily="34" charset="0"/>
              </a:rPr>
              <a:t>Water Resources Systems Engineering</a:t>
            </a:r>
          </a:p>
          <a:p>
            <a:pPr algn="l"/>
            <a:r>
              <a:rPr lang="en-US" altLang="ko-KR" dirty="0">
                <a:latin typeface="Gill Sans MT" panose="020B0502020104020203" pitchFamily="34" charset="0"/>
                <a:cs typeface="Calibri" panose="020F0502020204030204" pitchFamily="34" charset="0"/>
              </a:rPr>
              <a:t>Spring 2022, Dr. Gi Joo Kim</a:t>
            </a:r>
            <a:endParaRPr lang="ko-KR" altLang="en-US" dirty="0">
              <a:latin typeface="Gill Sans MT" panose="020B0502020104020203" pitchFamily="34" charset="0"/>
              <a:cs typeface="Calibri" panose="020F0502020204030204" pitchFamily="34" charset="0"/>
            </a:endParaRPr>
          </a:p>
        </p:txBody>
      </p:sp>
    </p:spTree>
    <p:extLst>
      <p:ext uri="{BB962C8B-B14F-4D97-AF65-F5344CB8AC3E}">
        <p14:creationId xmlns:p14="http://schemas.microsoft.com/office/powerpoint/2010/main" val="35243996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1" hangingPunct="1">
        <a:lnSpc>
          <a:spcPct val="90000"/>
        </a:lnSpc>
        <a:spcBef>
          <a:spcPct val="0"/>
        </a:spcBef>
        <a:buNone/>
        <a:defRPr sz="3200" kern="1200">
          <a:solidFill>
            <a:schemeClr val="tx1"/>
          </a:solidFill>
          <a:latin typeface="나눔고딕 ExtraBold" panose="020D0904000000000000" pitchFamily="50" charset="-127"/>
          <a:ea typeface="나눔고딕 ExtraBold" panose="020D0904000000000000" pitchFamily="50" charset="-127"/>
          <a:cs typeface="+mj-cs"/>
        </a:defRPr>
      </a:lvl1pPr>
    </p:titleStyle>
    <p:body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나눔고딕 Light" panose="020D0904000000000000" pitchFamily="50" charset="-127"/>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나눔고딕 Light" panose="020D0904000000000000" pitchFamily="50" charset="-127"/>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나눔고딕 Light" panose="020D0904000000000000" pitchFamily="50" charset="-127"/>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나눔고딕 Light" panose="020D0904000000000000" pitchFamily="50" charset="-127"/>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나눔고딕 Light" panose="020D0904000000000000" pitchFamily="50" charset="-127"/>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348880"/>
            <a:ext cx="7772400" cy="720080"/>
          </a:xfrm>
        </p:spPr>
        <p:txBody>
          <a:bodyPr>
            <a:normAutofit/>
          </a:bodyPr>
          <a:lstStyle/>
          <a:p>
            <a:r>
              <a:rPr lang="en-US" altLang="ko-KR" sz="4000" dirty="0"/>
              <a:t>Lecture</a:t>
            </a:r>
            <a:r>
              <a:rPr lang="ko-KR" altLang="en-US" sz="4000" dirty="0"/>
              <a:t> </a:t>
            </a:r>
            <a:r>
              <a:rPr lang="en-US" altLang="ko-KR" sz="4000" dirty="0"/>
              <a:t>04</a:t>
            </a:r>
            <a:endParaRPr lang="ko-KR" altLang="en-US" dirty="0"/>
          </a:p>
        </p:txBody>
      </p:sp>
      <p:graphicFrame>
        <p:nvGraphicFramePr>
          <p:cNvPr id="4" name="개체 3"/>
          <p:cNvGraphicFramePr>
            <a:graphicFrameLocks noChangeAspect="1"/>
          </p:cNvGraphicFramePr>
          <p:nvPr>
            <p:extLst>
              <p:ext uri="{D42A27DB-BD31-4B8C-83A1-F6EECF244321}">
                <p14:modId xmlns:p14="http://schemas.microsoft.com/office/powerpoint/2010/main" val="3291035128"/>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spid="_x0000_s3081" name="Equation" r:id="rId4" imgW="914400" imgH="198720" progId="Equation.DSMT4">
                  <p:embed/>
                </p:oleObj>
              </mc:Choice>
              <mc:Fallback>
                <p:oleObj name="Equation" r:id="rId4" imgW="914400" imgH="198720" progId="Equation.DSMT4">
                  <p:embed/>
                  <p:pic>
                    <p:nvPicPr>
                      <p:cNvPr id="0" name=""/>
                      <p:cNvPicPr/>
                      <p:nvPr/>
                    </p:nvPicPr>
                    <p:blipFill>
                      <a:blip r:embed="rId5"/>
                      <a:stretch>
                        <a:fillRect/>
                      </a:stretch>
                    </p:blipFill>
                    <p:spPr>
                      <a:xfrm>
                        <a:off x="6146800" y="3352800"/>
                        <a:ext cx="914400" cy="198438"/>
                      </a:xfrm>
                      <a:prstGeom prst="rect">
                        <a:avLst/>
                      </a:prstGeom>
                    </p:spPr>
                  </p:pic>
                </p:oleObj>
              </mc:Fallback>
            </mc:AlternateContent>
          </a:graphicData>
        </a:graphic>
      </p:graphicFrame>
      <p:sp>
        <p:nvSpPr>
          <p:cNvPr id="7" name="슬라이드 번호 개체 틀 6">
            <a:extLst>
              <a:ext uri="{FF2B5EF4-FFF2-40B4-BE49-F238E27FC236}">
                <a16:creationId xmlns:a16="http://schemas.microsoft.com/office/drawing/2014/main" id="{A69520F9-6515-4E4B-A8F6-4A7B0AA74678}"/>
              </a:ext>
            </a:extLst>
          </p:cNvPr>
          <p:cNvSpPr>
            <a:spLocks noGrp="1"/>
          </p:cNvSpPr>
          <p:nvPr>
            <p:ph type="sldNum" sz="quarter" idx="12"/>
          </p:nvPr>
        </p:nvSpPr>
        <p:spPr/>
        <p:txBody>
          <a:bodyPr/>
          <a:lstStyle/>
          <a:p>
            <a:fld id="{79822AFB-C284-4A8E-A6EE-41BAA9C576A0}" type="slidenum">
              <a:rPr lang="ko-KR" altLang="en-US" smtClean="0"/>
              <a:t>1</a:t>
            </a:fld>
            <a:endParaRPr lang="ko-KR" altLang="en-US" dirty="0"/>
          </a:p>
        </p:txBody>
      </p:sp>
      <p:sp>
        <p:nvSpPr>
          <p:cNvPr id="9" name="제목 1">
            <a:extLst>
              <a:ext uri="{FF2B5EF4-FFF2-40B4-BE49-F238E27FC236}">
                <a16:creationId xmlns:a16="http://schemas.microsoft.com/office/drawing/2014/main" id="{550591F5-0612-4BF1-AA16-517BECFA19B6}"/>
              </a:ext>
            </a:extLst>
          </p:cNvPr>
          <p:cNvSpPr txBox="1">
            <a:spLocks/>
          </p:cNvSpPr>
          <p:nvPr/>
        </p:nvSpPr>
        <p:spPr>
          <a:xfrm>
            <a:off x="685800" y="3087442"/>
            <a:ext cx="7772400" cy="1171068"/>
          </a:xfrm>
          <a:prstGeom prst="rect">
            <a:avLst/>
          </a:prstGeom>
        </p:spPr>
        <p:txBody>
          <a:bodyPr vert="horz" lIns="91440" tIns="45720" rIns="91440" bIns="45720" rtlCol="0" anchor="b">
            <a:normAutofit fontScale="92500"/>
          </a:bodyPr>
          <a:lstStyle>
            <a:lvl1pPr algn="ctr" defTabSz="914400" rtl="0" eaLnBrk="1" latinLnBrk="1" hangingPunct="1">
              <a:lnSpc>
                <a:spcPct val="90000"/>
              </a:lnSpc>
              <a:spcBef>
                <a:spcPct val="0"/>
              </a:spcBef>
              <a:buNone/>
              <a:defRPr sz="4400" kern="1200">
                <a:solidFill>
                  <a:schemeClr val="tx1"/>
                </a:solidFill>
                <a:latin typeface="나눔고딕 ExtraBold" panose="020D0904000000000000" pitchFamily="50" charset="-127"/>
                <a:ea typeface="나눔고딕 ExtraBold" panose="020D0904000000000000" pitchFamily="50" charset="-127"/>
                <a:cs typeface="+mj-cs"/>
              </a:defRPr>
            </a:lvl1pPr>
          </a:lstStyle>
          <a:p>
            <a:r>
              <a:rPr lang="en-US" altLang="ko-KR" sz="3600" dirty="0"/>
              <a:t>Introduction to Conventional Optimization Models (DP&amp;LP) Part II</a:t>
            </a:r>
            <a:endParaRPr lang="ko-KR" altLang="en-US" dirty="0"/>
          </a:p>
        </p:txBody>
      </p:sp>
    </p:spTree>
    <p:extLst>
      <p:ext uri="{BB962C8B-B14F-4D97-AF65-F5344CB8AC3E}">
        <p14:creationId xmlns:p14="http://schemas.microsoft.com/office/powerpoint/2010/main" val="913091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86321C-1EF0-441A-B6C2-CC93F57FF114}"/>
              </a:ext>
            </a:extLst>
          </p:cNvPr>
          <p:cNvSpPr>
            <a:spLocks noGrp="1"/>
          </p:cNvSpPr>
          <p:nvPr>
            <p:ph type="title"/>
          </p:nvPr>
        </p:nvSpPr>
        <p:spPr/>
        <p:txBody>
          <a:bodyPr/>
          <a:lstStyle/>
          <a:p>
            <a:r>
              <a:rPr lang="en-US" altLang="ko-KR" dirty="0"/>
              <a:t>Review on Lecture 03</a:t>
            </a:r>
            <a:endParaRPr lang="ko-KR" altLang="en-US" dirty="0"/>
          </a:p>
        </p:txBody>
      </p:sp>
      <p:sp>
        <p:nvSpPr>
          <p:cNvPr id="3" name="내용 개체 틀 2">
            <a:extLst>
              <a:ext uri="{FF2B5EF4-FFF2-40B4-BE49-F238E27FC236}">
                <a16:creationId xmlns:a16="http://schemas.microsoft.com/office/drawing/2014/main" id="{87C7CF82-3060-4574-BAF8-ED9639DDA31A}"/>
              </a:ext>
            </a:extLst>
          </p:cNvPr>
          <p:cNvSpPr>
            <a:spLocks noGrp="1"/>
          </p:cNvSpPr>
          <p:nvPr>
            <p:ph idx="1"/>
          </p:nvPr>
        </p:nvSpPr>
        <p:spPr>
          <a:xfrm>
            <a:off x="628650" y="1268761"/>
            <a:ext cx="7886700" cy="5040560"/>
          </a:xfrm>
        </p:spPr>
        <p:txBody>
          <a:bodyPr>
            <a:normAutofit/>
          </a:bodyPr>
          <a:lstStyle/>
          <a:p>
            <a:r>
              <a:rPr lang="en-US" altLang="ko-KR" b="1" dirty="0"/>
              <a:t> Engineering Economics: </a:t>
            </a:r>
            <a:br>
              <a:rPr lang="en-US" altLang="ko-KR" b="1" dirty="0"/>
            </a:br>
            <a:r>
              <a:rPr lang="en-US" altLang="ko-KR" b="1" dirty="0"/>
              <a:t>Time Streams of Economic Benefits &amp; Costs</a:t>
            </a:r>
          </a:p>
          <a:p>
            <a:r>
              <a:rPr lang="en-US" altLang="ko-KR" b="1" dirty="0"/>
              <a:t> Solving Nonlinear Optimization Models with Calculus</a:t>
            </a:r>
          </a:p>
          <a:p>
            <a:pPr lvl="1"/>
            <a:r>
              <a:rPr lang="en-US" altLang="ko-KR" b="1" dirty="0"/>
              <a:t>Solution Using Calculus</a:t>
            </a:r>
          </a:p>
          <a:p>
            <a:pPr lvl="1"/>
            <a:r>
              <a:rPr lang="en-US" altLang="ko-KR" b="1" dirty="0"/>
              <a:t>Solution Using Hill Climbing</a:t>
            </a:r>
          </a:p>
          <a:p>
            <a:pPr lvl="1"/>
            <a:r>
              <a:rPr lang="en-US" altLang="ko-KR" b="1" u="sng"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
        <p:nvSpPr>
          <p:cNvPr id="4" name="슬라이드 번호 개체 틀 3">
            <a:extLst>
              <a:ext uri="{FF2B5EF4-FFF2-40B4-BE49-F238E27FC236}">
                <a16:creationId xmlns:a16="http://schemas.microsoft.com/office/drawing/2014/main" id="{126250FC-3434-41AD-BEDE-BFE34FBB234D}"/>
              </a:ext>
            </a:extLst>
          </p:cNvPr>
          <p:cNvSpPr>
            <a:spLocks noGrp="1"/>
          </p:cNvSpPr>
          <p:nvPr>
            <p:ph type="sldNum" sz="quarter" idx="12"/>
          </p:nvPr>
        </p:nvSpPr>
        <p:spPr/>
        <p:txBody>
          <a:bodyPr/>
          <a:lstStyle/>
          <a:p>
            <a:fld id="{79822AFB-C284-4A8E-A6EE-41BAA9C576A0}" type="slidenum">
              <a:rPr lang="ko-KR" altLang="en-US" smtClean="0"/>
              <a:t>2</a:t>
            </a:fld>
            <a:endParaRPr lang="ko-KR" altLang="en-US"/>
          </a:p>
        </p:txBody>
      </p:sp>
    </p:spTree>
    <p:extLst>
      <p:ext uri="{BB962C8B-B14F-4D97-AF65-F5344CB8AC3E}">
        <p14:creationId xmlns:p14="http://schemas.microsoft.com/office/powerpoint/2010/main" val="527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3A3EC2-1917-4C25-9091-5F608EA371A0}"/>
              </a:ext>
            </a:extLst>
          </p:cNvPr>
          <p:cNvSpPr>
            <a:spLocks noGrp="1"/>
          </p:cNvSpPr>
          <p:nvPr>
            <p:ph type="title"/>
          </p:nvPr>
        </p:nvSpPr>
        <p:spPr/>
        <p:txBody>
          <a:bodyPr/>
          <a:lstStyle/>
          <a:p>
            <a:r>
              <a:rPr lang="en-US" altLang="ko-KR" dirty="0"/>
              <a:t>Before</a:t>
            </a:r>
            <a:r>
              <a:rPr lang="ko-KR" altLang="en-US" dirty="0"/>
              <a:t> </a:t>
            </a:r>
            <a:r>
              <a:rPr lang="en-US" altLang="ko-KR" dirty="0"/>
              <a:t>Lecture</a:t>
            </a:r>
            <a:r>
              <a:rPr lang="ko-KR" altLang="en-US" dirty="0"/>
              <a:t> </a:t>
            </a:r>
            <a:r>
              <a:rPr lang="en-US" altLang="ko-KR" dirty="0"/>
              <a:t>04</a:t>
            </a:r>
            <a:endParaRPr lang="ko-KR" altLang="en-US" dirty="0"/>
          </a:p>
        </p:txBody>
      </p:sp>
      <p:sp>
        <p:nvSpPr>
          <p:cNvPr id="3" name="내용 개체 틀 2">
            <a:extLst>
              <a:ext uri="{FF2B5EF4-FFF2-40B4-BE49-F238E27FC236}">
                <a16:creationId xmlns:a16="http://schemas.microsoft.com/office/drawing/2014/main" id="{92B2F914-6312-4039-9E94-2C1234AE5A0C}"/>
              </a:ext>
            </a:extLst>
          </p:cNvPr>
          <p:cNvSpPr>
            <a:spLocks noGrp="1"/>
          </p:cNvSpPr>
          <p:nvPr>
            <p:ph idx="1"/>
          </p:nvPr>
        </p:nvSpPr>
        <p:spPr/>
        <p:txBody>
          <a:bodyPr/>
          <a:lstStyle/>
          <a:p>
            <a:r>
              <a:rPr lang="en-US" altLang="ko-KR" dirty="0"/>
              <a:t> </a:t>
            </a:r>
            <a:r>
              <a:rPr lang="en-US" altLang="ko-KR" b="1" u="sng" dirty="0"/>
              <a:t>Acronyms (</a:t>
            </a:r>
            <a:r>
              <a:rPr lang="ko-KR" altLang="en-US" b="1" u="sng" dirty="0"/>
              <a:t>약어</a:t>
            </a:r>
            <a:r>
              <a:rPr lang="en-US" altLang="ko-KR" b="1" u="sng" dirty="0"/>
              <a:t>)/Keywords</a:t>
            </a:r>
            <a:r>
              <a:rPr lang="en-US" altLang="ko-KR" dirty="0"/>
              <a:t> in Lecture 03</a:t>
            </a:r>
          </a:p>
          <a:p>
            <a:pPr lvl="1"/>
            <a:r>
              <a:rPr lang="en-US" altLang="ko-KR" dirty="0"/>
              <a:t> </a:t>
            </a:r>
            <a:r>
              <a:rPr lang="en-US" altLang="ko-KR" b="1" dirty="0"/>
              <a:t>DP</a:t>
            </a:r>
            <a:r>
              <a:rPr lang="en-US" altLang="ko-KR" dirty="0"/>
              <a:t>: Dynamic Programming (</a:t>
            </a:r>
            <a:r>
              <a:rPr lang="ko-KR" altLang="en-US" dirty="0"/>
              <a:t>동적 계획법</a:t>
            </a:r>
            <a:r>
              <a:rPr lang="en-US" altLang="ko-KR" dirty="0"/>
              <a:t>)</a:t>
            </a:r>
          </a:p>
          <a:p>
            <a:pPr lvl="1"/>
            <a:r>
              <a:rPr lang="en-US" altLang="ko-KR" b="1" dirty="0"/>
              <a:t> LP</a:t>
            </a:r>
            <a:r>
              <a:rPr lang="en-US" altLang="ko-KR" dirty="0"/>
              <a:t>: Linear Programming (</a:t>
            </a:r>
            <a:r>
              <a:rPr lang="ko-KR" altLang="en-US" dirty="0"/>
              <a:t>선형 계획법</a:t>
            </a:r>
            <a:r>
              <a:rPr lang="en-US" altLang="ko-KR" dirty="0"/>
              <a:t>)</a:t>
            </a:r>
          </a:p>
          <a:p>
            <a:pPr lvl="1"/>
            <a:endParaRPr lang="en-US" altLang="ko-KR" dirty="0"/>
          </a:p>
          <a:p>
            <a:pPr lvl="1"/>
            <a:r>
              <a:rPr lang="en-US" altLang="ko-KR" dirty="0"/>
              <a:t> </a:t>
            </a:r>
            <a:r>
              <a:rPr lang="en-US" altLang="ko-KR" b="1" u="sng" dirty="0"/>
              <a:t>Principle of Optimality </a:t>
            </a:r>
            <a:r>
              <a:rPr lang="en-US" altLang="ko-KR" dirty="0"/>
              <a:t>(</a:t>
            </a:r>
            <a:r>
              <a:rPr lang="ko-KR" altLang="en-US" dirty="0"/>
              <a:t>최적화의 원리</a:t>
            </a:r>
            <a:r>
              <a:rPr lang="en-US" altLang="ko-KR" dirty="0"/>
              <a:t>) (Bellman 1957)</a:t>
            </a:r>
          </a:p>
          <a:p>
            <a:pPr lvl="2"/>
            <a:r>
              <a:rPr lang="en-US" altLang="ko-KR" dirty="0"/>
              <a:t>No</a:t>
            </a:r>
            <a:r>
              <a:rPr lang="ko-KR" altLang="en-US" dirty="0"/>
              <a:t> </a:t>
            </a:r>
            <a:r>
              <a:rPr lang="en-US" altLang="ko-KR" dirty="0"/>
              <a:t>matter</a:t>
            </a:r>
            <a:r>
              <a:rPr lang="ko-KR" altLang="en-US" dirty="0"/>
              <a:t> </a:t>
            </a:r>
            <a:r>
              <a:rPr lang="en-US" altLang="ko-KR" dirty="0"/>
              <a:t>what the state and stage (i.e., the particular node you are at), an optimal policy is one that proceeds forward from that node or state and stage optimally – recursive equation of DP</a:t>
            </a:r>
          </a:p>
          <a:p>
            <a:pPr lvl="2"/>
            <a:r>
              <a:rPr lang="ko-KR" altLang="en-US" dirty="0"/>
              <a:t>현재 상태에서의 최적결정은 이전 단계에서 어떠한 결정을 하였는가에 관계없이 앞으로의 의사결정만을 </a:t>
            </a:r>
            <a:r>
              <a:rPr lang="ko-KR" altLang="en-US" dirty="0" err="1"/>
              <a:t>최적화시키며</a:t>
            </a:r>
            <a:r>
              <a:rPr lang="ko-KR" altLang="en-US" dirty="0"/>
              <a:t> 나아가면 된다는 원리</a:t>
            </a:r>
            <a:endParaRPr lang="en-US" altLang="ko-KR" dirty="0"/>
          </a:p>
          <a:p>
            <a:endParaRPr lang="en-US" altLang="ko-KR" sz="1400" dirty="0"/>
          </a:p>
          <a:p>
            <a:r>
              <a:rPr lang="en-US" altLang="ko-KR" b="1" u="sng" dirty="0">
                <a:solidFill>
                  <a:srgbClr val="FF0000"/>
                </a:solidFill>
              </a:rPr>
              <a:t> </a:t>
            </a:r>
            <a:r>
              <a:rPr lang="ko-KR" altLang="en-US" b="1" u="sng" dirty="0" err="1">
                <a:solidFill>
                  <a:srgbClr val="FF0000"/>
                </a:solidFill>
              </a:rPr>
              <a:t>보령댐</a:t>
            </a:r>
            <a:r>
              <a:rPr lang="ko-KR" altLang="en-US" b="1" u="sng" dirty="0">
                <a:solidFill>
                  <a:srgbClr val="FF0000"/>
                </a:solidFill>
              </a:rPr>
              <a:t> 견학 일정</a:t>
            </a:r>
            <a:r>
              <a:rPr lang="en-US" altLang="ko-KR" b="1" u="sng" dirty="0">
                <a:solidFill>
                  <a:srgbClr val="FF0000"/>
                </a:solidFill>
              </a:rPr>
              <a:t>? (4</a:t>
            </a:r>
            <a:r>
              <a:rPr lang="ko-KR" altLang="en-US" b="1" u="sng" dirty="0">
                <a:solidFill>
                  <a:srgbClr val="FF0000"/>
                </a:solidFill>
              </a:rPr>
              <a:t>월 마지막주 예정</a:t>
            </a:r>
            <a:r>
              <a:rPr lang="en-US" altLang="ko-KR" b="1" u="sng" dirty="0">
                <a:solidFill>
                  <a:srgbClr val="FF0000"/>
                </a:solidFill>
              </a:rPr>
              <a:t>), 4/25 </a:t>
            </a:r>
            <a:r>
              <a:rPr lang="ko-KR" altLang="en-US" b="1" u="sng" dirty="0">
                <a:solidFill>
                  <a:srgbClr val="FF0000"/>
                </a:solidFill>
              </a:rPr>
              <a:t>월 유력</a:t>
            </a:r>
          </a:p>
        </p:txBody>
      </p:sp>
      <p:sp>
        <p:nvSpPr>
          <p:cNvPr id="4" name="슬라이드 번호 개체 틀 3">
            <a:extLst>
              <a:ext uri="{FF2B5EF4-FFF2-40B4-BE49-F238E27FC236}">
                <a16:creationId xmlns:a16="http://schemas.microsoft.com/office/drawing/2014/main" id="{B5AA1B89-6561-4E73-9AD0-8541AFBAF144}"/>
              </a:ext>
            </a:extLst>
          </p:cNvPr>
          <p:cNvSpPr>
            <a:spLocks noGrp="1"/>
          </p:cNvSpPr>
          <p:nvPr>
            <p:ph type="sldNum" sz="quarter" idx="12"/>
          </p:nvPr>
        </p:nvSpPr>
        <p:spPr/>
        <p:txBody>
          <a:bodyPr/>
          <a:lstStyle/>
          <a:p>
            <a:fld id="{79822AFB-C284-4A8E-A6EE-41BAA9C576A0}" type="slidenum">
              <a:rPr lang="ko-KR" altLang="en-US" smtClean="0"/>
              <a:t>3</a:t>
            </a:fld>
            <a:endParaRPr lang="ko-KR" altLang="en-US"/>
          </a:p>
        </p:txBody>
      </p:sp>
    </p:spTree>
    <p:extLst>
      <p:ext uri="{BB962C8B-B14F-4D97-AF65-F5344CB8AC3E}">
        <p14:creationId xmlns:p14="http://schemas.microsoft.com/office/powerpoint/2010/main" val="292653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552C8C-CA5B-4D05-BB08-C8857EE47A71}"/>
              </a:ext>
            </a:extLst>
          </p:cNvPr>
          <p:cNvSpPr>
            <a:spLocks noGrp="1"/>
          </p:cNvSpPr>
          <p:nvPr>
            <p:ph type="title"/>
          </p:nvPr>
        </p:nvSpPr>
        <p:spPr>
          <a:xfrm>
            <a:off x="628650" y="365126"/>
            <a:ext cx="7886700" cy="1191665"/>
          </a:xfrm>
        </p:spPr>
        <p:txBody>
          <a:bodyPr>
            <a:normAutofit/>
          </a:bodyPr>
          <a:lstStyle/>
          <a:p>
            <a:r>
              <a:rPr lang="en-US" altLang="ko-KR" dirty="0"/>
              <a:t>Today’s Topic: </a:t>
            </a:r>
            <a:br>
              <a:rPr lang="en-US" altLang="ko-KR" dirty="0"/>
            </a:br>
            <a:r>
              <a:rPr lang="en-US" altLang="ko-KR" dirty="0"/>
              <a:t>Intro to Traditional Optimization Models</a:t>
            </a:r>
            <a:endParaRPr lang="ko-KR" altLang="en-US" dirty="0"/>
          </a:p>
        </p:txBody>
      </p:sp>
      <p:sp>
        <p:nvSpPr>
          <p:cNvPr id="4" name="슬라이드 번호 개체 틀 3">
            <a:extLst>
              <a:ext uri="{FF2B5EF4-FFF2-40B4-BE49-F238E27FC236}">
                <a16:creationId xmlns:a16="http://schemas.microsoft.com/office/drawing/2014/main" id="{95E66E45-96C8-43C1-B1C9-741A860D2DBA}"/>
              </a:ext>
            </a:extLst>
          </p:cNvPr>
          <p:cNvSpPr>
            <a:spLocks noGrp="1"/>
          </p:cNvSpPr>
          <p:nvPr>
            <p:ph type="sldNum" sz="quarter" idx="12"/>
          </p:nvPr>
        </p:nvSpPr>
        <p:spPr/>
        <p:txBody>
          <a:bodyPr/>
          <a:lstStyle/>
          <a:p>
            <a:fld id="{79822AFB-C284-4A8E-A6EE-41BAA9C576A0}" type="slidenum">
              <a:rPr lang="ko-KR" altLang="en-US" smtClean="0"/>
              <a:t>4</a:t>
            </a:fld>
            <a:endParaRPr lang="ko-KR" altLang="en-US"/>
          </a:p>
        </p:txBody>
      </p:sp>
      <p:sp>
        <p:nvSpPr>
          <p:cNvPr id="8" name="내용 개체 틀 2">
            <a:extLst>
              <a:ext uri="{FF2B5EF4-FFF2-40B4-BE49-F238E27FC236}">
                <a16:creationId xmlns:a16="http://schemas.microsoft.com/office/drawing/2014/main" id="{4FF95656-6779-4E30-9150-A1179B104CF6}"/>
              </a:ext>
            </a:extLst>
          </p:cNvPr>
          <p:cNvSpPr>
            <a:spLocks noGrp="1"/>
          </p:cNvSpPr>
          <p:nvPr>
            <p:ph idx="1"/>
          </p:nvPr>
        </p:nvSpPr>
        <p:spPr>
          <a:xfrm>
            <a:off x="628650" y="1556791"/>
            <a:ext cx="7886700" cy="5163360"/>
          </a:xfrm>
        </p:spPr>
        <p:txBody>
          <a:bodyPr>
            <a:normAutofit/>
          </a:bodyPr>
          <a:lstStyle/>
          <a:p>
            <a:r>
              <a:rPr lang="en-US" altLang="ko-KR" dirty="0"/>
              <a:t> Engineering Economics: </a:t>
            </a:r>
            <a:br>
              <a:rPr lang="en-US" altLang="ko-KR" dirty="0"/>
            </a:br>
            <a:r>
              <a:rPr lang="en-US" altLang="ko-KR" dirty="0"/>
              <a:t>Time Streams of Economic Benefits &amp; Costs</a:t>
            </a:r>
          </a:p>
          <a:p>
            <a:r>
              <a:rPr lang="en-US" altLang="ko-KR" dirty="0"/>
              <a:t> Solving Nonlinear Optimization Models with Calculus</a:t>
            </a:r>
          </a:p>
          <a:p>
            <a:pPr lvl="1"/>
            <a:r>
              <a:rPr lang="en-US" altLang="ko-KR" dirty="0"/>
              <a:t>Solution Using Calculus</a:t>
            </a:r>
          </a:p>
          <a:p>
            <a:pPr lvl="1"/>
            <a:r>
              <a:rPr lang="en-US" altLang="ko-KR" dirty="0"/>
              <a:t>Solution Using Hill Climbing</a:t>
            </a:r>
          </a:p>
          <a:p>
            <a:pPr lvl="1"/>
            <a:r>
              <a:rPr lang="en-US" altLang="ko-KR"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Tree>
    <p:extLst>
      <p:ext uri="{BB962C8B-B14F-4D97-AF65-F5344CB8AC3E}">
        <p14:creationId xmlns:p14="http://schemas.microsoft.com/office/powerpoint/2010/main" val="72888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7E984E-2AF1-4210-928F-3C178A745FCD}"/>
              </a:ext>
            </a:extLst>
          </p:cNvPr>
          <p:cNvSpPr>
            <a:spLocks noGrp="1"/>
          </p:cNvSpPr>
          <p:nvPr>
            <p:ph type="title"/>
          </p:nvPr>
        </p:nvSpPr>
        <p:spPr/>
        <p:txBody>
          <a:bodyPr>
            <a:normAutofit/>
          </a:bodyPr>
          <a:lstStyle/>
          <a:p>
            <a:r>
              <a:rPr lang="en-US" altLang="ko-KR" dirty="0"/>
              <a:t>Dynamic Programming (DP) (</a:t>
            </a:r>
            <a:r>
              <a:rPr lang="ko-KR" altLang="en-US" dirty="0"/>
              <a:t>동적계획법</a:t>
            </a:r>
            <a:r>
              <a:rPr lang="en-US" altLang="ko-KR" dirty="0"/>
              <a:t>)</a:t>
            </a:r>
            <a:endParaRPr lang="ko-KR" altLang="en-US" dirty="0"/>
          </a:p>
        </p:txBody>
      </p:sp>
      <p:sp>
        <p:nvSpPr>
          <p:cNvPr id="3" name="내용 개체 틀 2">
            <a:extLst>
              <a:ext uri="{FF2B5EF4-FFF2-40B4-BE49-F238E27FC236}">
                <a16:creationId xmlns:a16="http://schemas.microsoft.com/office/drawing/2014/main" id="{421AA8C8-98BB-47CB-9E32-8924B4C857CC}"/>
              </a:ext>
            </a:extLst>
          </p:cNvPr>
          <p:cNvSpPr>
            <a:spLocks noGrp="1"/>
          </p:cNvSpPr>
          <p:nvPr>
            <p:ph idx="1"/>
          </p:nvPr>
        </p:nvSpPr>
        <p:spPr>
          <a:xfrm>
            <a:off x="628650" y="1268760"/>
            <a:ext cx="7886700" cy="5328592"/>
          </a:xfrm>
        </p:spPr>
        <p:txBody>
          <a:bodyPr/>
          <a:lstStyle/>
          <a:p>
            <a:r>
              <a:rPr lang="en-US" altLang="ko-KR" sz="1600" dirty="0"/>
              <a:t> </a:t>
            </a:r>
            <a:r>
              <a:rPr lang="ko-KR" altLang="en-US" sz="1600" dirty="0"/>
              <a:t>기존 </a:t>
            </a:r>
            <a:r>
              <a:rPr lang="en-US" altLang="ko-KR" sz="1600" dirty="0"/>
              <a:t>Calculus-based Optimization model</a:t>
            </a:r>
            <a:r>
              <a:rPr lang="ko-KR" altLang="en-US" sz="1600" dirty="0"/>
              <a:t>의 단점 </a:t>
            </a:r>
            <a:br>
              <a:rPr lang="en-US" altLang="ko-KR" sz="1600" dirty="0"/>
            </a:br>
            <a:r>
              <a:rPr lang="en-US" altLang="ko-KR" sz="1600" dirty="0"/>
              <a:t>(hill-climbing or Lagrange multipliers)</a:t>
            </a:r>
          </a:p>
          <a:p>
            <a:pPr lvl="1"/>
            <a:r>
              <a:rPr lang="en-US" altLang="ko-KR" sz="1400" dirty="0"/>
              <a:t> Objective Functions should be </a:t>
            </a:r>
            <a:r>
              <a:rPr lang="en-US" altLang="ko-KR" sz="1400" b="1" dirty="0">
                <a:solidFill>
                  <a:schemeClr val="bg1"/>
                </a:solidFill>
              </a:rPr>
              <a:t>BOTH </a:t>
            </a:r>
            <a:r>
              <a:rPr lang="en-US" altLang="ko-KR" sz="1400" b="1" u="sng" dirty="0">
                <a:solidFill>
                  <a:schemeClr val="bg1"/>
                </a:solidFill>
              </a:rPr>
              <a:t>continuous &amp; differentiable</a:t>
            </a:r>
          </a:p>
          <a:p>
            <a:endParaRPr lang="en-US" altLang="ko-KR" sz="1050" dirty="0"/>
          </a:p>
          <a:p>
            <a:r>
              <a:rPr lang="en-US" altLang="ko-KR" b="1" dirty="0"/>
              <a:t> Dynamic Programming (</a:t>
            </a:r>
            <a:r>
              <a:rPr lang="ko-KR" altLang="en-US" b="1" dirty="0"/>
              <a:t>동적계획법</a:t>
            </a:r>
            <a:r>
              <a:rPr lang="en-US" altLang="ko-KR" b="1" dirty="0"/>
              <a:t>)</a:t>
            </a:r>
          </a:p>
          <a:p>
            <a:pPr lvl="1"/>
            <a:r>
              <a:rPr lang="en-US" altLang="ko-KR" dirty="0"/>
              <a:t> </a:t>
            </a:r>
            <a:r>
              <a:rPr lang="en-US" altLang="ko-KR" b="1" u="sng" dirty="0"/>
              <a:t>Basic Concept</a:t>
            </a:r>
            <a:r>
              <a:rPr lang="en-US" altLang="ko-KR" dirty="0"/>
              <a:t>: Approach that divides the original optimization problem, with all of its variables, into a set of smaller optimization problems, each of which needs to be solved before the overall optimum solution to the original problem can be identified. </a:t>
            </a:r>
          </a:p>
          <a:p>
            <a:pPr lvl="1"/>
            <a:endParaRPr lang="en-US" altLang="ko-KR" dirty="0"/>
          </a:p>
          <a:p>
            <a:pPr lvl="1"/>
            <a:r>
              <a:rPr lang="en-US" altLang="ko-KR" sz="1600" dirty="0"/>
              <a:t> </a:t>
            </a:r>
            <a:r>
              <a:rPr lang="ko-KR" altLang="en-US" sz="1600" dirty="0"/>
              <a:t>목적함수와 제약조건</a:t>
            </a:r>
            <a:r>
              <a:rPr lang="en-US" altLang="ko-KR" sz="1600" dirty="0"/>
              <a:t>, </a:t>
            </a:r>
            <a:r>
              <a:rPr lang="ko-KR" altLang="en-US" sz="1600" dirty="0"/>
              <a:t>즉 발전함수와 같은 식에 존재하는 </a:t>
            </a:r>
            <a:r>
              <a:rPr lang="ko-KR" altLang="en-US" sz="1600" dirty="0">
                <a:solidFill>
                  <a:schemeClr val="bg1"/>
                </a:solidFill>
              </a:rPr>
              <a:t>비선형성</a:t>
            </a:r>
            <a:r>
              <a:rPr lang="ko-KR" altLang="en-US" sz="1600" dirty="0"/>
              <a:t>을 다루기 쉽고</a:t>
            </a:r>
            <a:endParaRPr lang="en-US" altLang="ko-KR" sz="1600" dirty="0"/>
          </a:p>
          <a:p>
            <a:pPr lvl="1"/>
            <a:r>
              <a:rPr lang="en-US" altLang="ko-KR" sz="1600" dirty="0"/>
              <a:t> </a:t>
            </a:r>
            <a:r>
              <a:rPr lang="en-US" altLang="ko-KR" sz="1600" dirty="0">
                <a:solidFill>
                  <a:schemeClr val="bg1"/>
                </a:solidFill>
              </a:rPr>
              <a:t>Markov </a:t>
            </a:r>
            <a:r>
              <a:rPr lang="ko-KR" altLang="en-US" sz="1600" dirty="0">
                <a:solidFill>
                  <a:schemeClr val="bg1"/>
                </a:solidFill>
              </a:rPr>
              <a:t>의사결정과정</a:t>
            </a:r>
            <a:r>
              <a:rPr lang="ko-KR" altLang="en-US" sz="1600" dirty="0"/>
              <a:t>을 통해 추계학적 특성을 가진 문제를 다루기 유용하며 </a:t>
            </a:r>
            <a:endParaRPr lang="en-US" altLang="ko-KR" sz="1600" dirty="0"/>
          </a:p>
          <a:p>
            <a:pPr lvl="1"/>
            <a:r>
              <a:rPr lang="ko-KR" altLang="en-US" sz="1600" dirty="0"/>
              <a:t> 저수지 운영과 같은 </a:t>
            </a:r>
            <a:r>
              <a:rPr lang="ko-KR" altLang="en-US" sz="1600" dirty="0">
                <a:solidFill>
                  <a:schemeClr val="bg1"/>
                </a:solidFill>
              </a:rPr>
              <a:t>다중 의사결정</a:t>
            </a:r>
            <a:r>
              <a:rPr lang="ko-KR" altLang="en-US" sz="1600" dirty="0"/>
              <a:t>을 요구하는 문제에 체계적 과정을 제공할 수 있어 시스템최적화 분야에 널리 사용된 대표적인 최적화 기법 중 하나</a:t>
            </a:r>
            <a:r>
              <a:rPr lang="en-US" altLang="ko-KR" sz="1600" dirty="0"/>
              <a:t>. </a:t>
            </a:r>
          </a:p>
          <a:p>
            <a:pPr lvl="1"/>
            <a:endParaRPr lang="ko-KR" altLang="en-US" dirty="0"/>
          </a:p>
        </p:txBody>
      </p:sp>
      <p:sp>
        <p:nvSpPr>
          <p:cNvPr id="4" name="슬라이드 번호 개체 틀 3">
            <a:extLst>
              <a:ext uri="{FF2B5EF4-FFF2-40B4-BE49-F238E27FC236}">
                <a16:creationId xmlns:a16="http://schemas.microsoft.com/office/drawing/2014/main" id="{3E9F0586-A886-4102-AAC9-41BD50FA452C}"/>
              </a:ext>
            </a:extLst>
          </p:cNvPr>
          <p:cNvSpPr>
            <a:spLocks noGrp="1"/>
          </p:cNvSpPr>
          <p:nvPr>
            <p:ph type="sldNum" sz="quarter" idx="12"/>
          </p:nvPr>
        </p:nvSpPr>
        <p:spPr/>
        <p:txBody>
          <a:bodyPr/>
          <a:lstStyle/>
          <a:p>
            <a:fld id="{79822AFB-C284-4A8E-A6EE-41BAA9C576A0}" type="slidenum">
              <a:rPr lang="ko-KR" altLang="en-US" smtClean="0"/>
              <a:t>5</a:t>
            </a:fld>
            <a:endParaRPr lang="ko-KR" altLang="en-US"/>
          </a:p>
        </p:txBody>
      </p:sp>
    </p:spTree>
    <p:extLst>
      <p:ext uri="{BB962C8B-B14F-4D97-AF65-F5344CB8AC3E}">
        <p14:creationId xmlns:p14="http://schemas.microsoft.com/office/powerpoint/2010/main" val="283679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81ACAF52-B894-4C94-890A-434A2535DC41}"/>
              </a:ext>
            </a:extLst>
          </p:cNvPr>
          <p:cNvSpPr>
            <a:spLocks noGrp="1"/>
          </p:cNvSpPr>
          <p:nvPr>
            <p:ph type="sldNum" sz="quarter" idx="12"/>
          </p:nvPr>
        </p:nvSpPr>
        <p:spPr/>
        <p:txBody>
          <a:bodyPr/>
          <a:lstStyle/>
          <a:p>
            <a:fld id="{79822AFB-C284-4A8E-A6EE-41BAA9C576A0}" type="slidenum">
              <a:rPr lang="ko-KR" altLang="en-US" smtClean="0"/>
              <a:t>6</a:t>
            </a:fld>
            <a:endParaRPr lang="ko-KR" altLang="en-US"/>
          </a:p>
        </p:txBody>
      </p:sp>
      <p:sp>
        <p:nvSpPr>
          <p:cNvPr id="5" name="직사각형 4">
            <a:extLst>
              <a:ext uri="{FF2B5EF4-FFF2-40B4-BE49-F238E27FC236}">
                <a16:creationId xmlns:a16="http://schemas.microsoft.com/office/drawing/2014/main" id="{31B9F26A-5BAB-4BF9-A947-103A334958E1}"/>
              </a:ext>
            </a:extLst>
          </p:cNvPr>
          <p:cNvSpPr/>
          <p:nvPr/>
        </p:nvSpPr>
        <p:spPr>
          <a:xfrm>
            <a:off x="247480" y="148006"/>
            <a:ext cx="8649040" cy="3641034"/>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6" name="TextBox 5">
            <a:extLst>
              <a:ext uri="{FF2B5EF4-FFF2-40B4-BE49-F238E27FC236}">
                <a16:creationId xmlns:a16="http://schemas.microsoft.com/office/drawing/2014/main" id="{5A49CDB5-D2F1-4ACC-BE4D-DC1BEEC93310}"/>
              </a:ext>
            </a:extLst>
          </p:cNvPr>
          <p:cNvSpPr txBox="1"/>
          <p:nvPr/>
        </p:nvSpPr>
        <p:spPr>
          <a:xfrm>
            <a:off x="7875747" y="1153035"/>
            <a:ext cx="1105730" cy="1200329"/>
          </a:xfrm>
          <a:prstGeom prst="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altLang="ko-KR" dirty="0">
                <a:latin typeface="나눔고딕 Light" panose="020D0904000000000000" pitchFamily="50" charset="-127"/>
                <a:ea typeface="나눔고딕 Light" panose="020D0904000000000000" pitchFamily="50" charset="-127"/>
              </a:rPr>
              <a:t>m </a:t>
            </a:r>
          </a:p>
          <a:p>
            <a:pPr algn="ctr"/>
            <a:r>
              <a:rPr lang="en-US" altLang="ko-KR" dirty="0">
                <a:latin typeface="나눔고딕 Light" panose="020D0904000000000000" pitchFamily="50" charset="-127"/>
                <a:ea typeface="나눔고딕 Light" panose="020D0904000000000000" pitchFamily="50" charset="-127"/>
              </a:rPr>
              <a:t>:possible discrete states </a:t>
            </a:r>
            <a:endParaRPr lang="ko-KR" altLang="en-US" dirty="0">
              <a:latin typeface="나눔고딕 Light" panose="020D0904000000000000" pitchFamily="50" charset="-127"/>
              <a:ea typeface="나눔고딕 Light" panose="020D0904000000000000" pitchFamily="50" charset="-127"/>
            </a:endParaRPr>
          </a:p>
        </p:txBody>
      </p:sp>
      <p:grpSp>
        <p:nvGrpSpPr>
          <p:cNvPr id="7" name="그룹 6">
            <a:extLst>
              <a:ext uri="{FF2B5EF4-FFF2-40B4-BE49-F238E27FC236}">
                <a16:creationId xmlns:a16="http://schemas.microsoft.com/office/drawing/2014/main" id="{2C9A6A3F-AA70-446F-9FF3-52EBA2541B6A}"/>
              </a:ext>
            </a:extLst>
          </p:cNvPr>
          <p:cNvGrpSpPr/>
          <p:nvPr/>
        </p:nvGrpSpPr>
        <p:grpSpPr>
          <a:xfrm>
            <a:off x="6610439" y="1039545"/>
            <a:ext cx="1240213" cy="1372710"/>
            <a:chOff x="6629400" y="3465513"/>
            <a:chExt cx="1323975" cy="1472247"/>
          </a:xfrm>
        </p:grpSpPr>
        <p:sp>
          <p:nvSpPr>
            <p:cNvPr id="8" name="타원 7">
              <a:extLst>
                <a:ext uri="{FF2B5EF4-FFF2-40B4-BE49-F238E27FC236}">
                  <a16:creationId xmlns:a16="http://schemas.microsoft.com/office/drawing/2014/main" id="{B9760861-A5A7-4788-BFDD-B49340F2AA72}"/>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9" name="직선 연결선 8">
              <a:extLst>
                <a:ext uri="{FF2B5EF4-FFF2-40B4-BE49-F238E27FC236}">
                  <a16:creationId xmlns:a16="http://schemas.microsoft.com/office/drawing/2014/main" id="{78662C31-1DD0-4ABE-ABFC-6C7CDF6F3036}"/>
                </a:ext>
              </a:extLst>
            </p:cNvPr>
            <p:cNvCxnSpPr>
              <a:stCxn id="8"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2C2859CC-1436-4F4A-A773-DCA4755BE657}"/>
                </a:ext>
              </a:extLst>
            </p:cNvPr>
            <p:cNvCxnSpPr>
              <a:stCxn id="8"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13FFAE16-1267-4F39-A1D7-535B8B0B5906}"/>
                </a:ext>
              </a:extLst>
            </p:cNvPr>
            <p:cNvCxnSpPr>
              <a:stCxn id="8"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grpSp>
        <p:nvGrpSpPr>
          <p:cNvPr id="12" name="그룹 11">
            <a:extLst>
              <a:ext uri="{FF2B5EF4-FFF2-40B4-BE49-F238E27FC236}">
                <a16:creationId xmlns:a16="http://schemas.microsoft.com/office/drawing/2014/main" id="{1C0D7AAB-7216-45FF-8183-CCB07544ECED}"/>
              </a:ext>
            </a:extLst>
          </p:cNvPr>
          <p:cNvGrpSpPr/>
          <p:nvPr/>
        </p:nvGrpSpPr>
        <p:grpSpPr>
          <a:xfrm>
            <a:off x="1335653" y="1020469"/>
            <a:ext cx="1240213" cy="1372710"/>
            <a:chOff x="6629400" y="3465513"/>
            <a:chExt cx="1323975" cy="1472247"/>
          </a:xfrm>
        </p:grpSpPr>
        <p:sp>
          <p:nvSpPr>
            <p:cNvPr id="13" name="타원 12">
              <a:extLst>
                <a:ext uri="{FF2B5EF4-FFF2-40B4-BE49-F238E27FC236}">
                  <a16:creationId xmlns:a16="http://schemas.microsoft.com/office/drawing/2014/main" id="{9398F701-106B-4FFC-B67D-A7450452C897}"/>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14" name="직선 연결선 13">
              <a:extLst>
                <a:ext uri="{FF2B5EF4-FFF2-40B4-BE49-F238E27FC236}">
                  <a16:creationId xmlns:a16="http://schemas.microsoft.com/office/drawing/2014/main" id="{4CC1238D-0A5C-4E5A-B5C1-2CAEA0BB3435}"/>
                </a:ext>
              </a:extLst>
            </p:cNvPr>
            <p:cNvCxnSpPr>
              <a:stCxn id="13"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5A8F4001-1B52-471E-9A87-39DD1071A260}"/>
                </a:ext>
              </a:extLst>
            </p:cNvPr>
            <p:cNvCxnSpPr>
              <a:stCxn id="13"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812E10F7-3D82-4048-8558-5A16C84C6C93}"/>
                </a:ext>
              </a:extLst>
            </p:cNvPr>
            <p:cNvCxnSpPr>
              <a:stCxn id="13"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grpSp>
        <p:nvGrpSpPr>
          <p:cNvPr id="17" name="그룹 16">
            <a:extLst>
              <a:ext uri="{FF2B5EF4-FFF2-40B4-BE49-F238E27FC236}">
                <a16:creationId xmlns:a16="http://schemas.microsoft.com/office/drawing/2014/main" id="{ECD60471-A6D2-4898-AACE-7685141BB6E4}"/>
              </a:ext>
            </a:extLst>
          </p:cNvPr>
          <p:cNvGrpSpPr/>
          <p:nvPr/>
        </p:nvGrpSpPr>
        <p:grpSpPr>
          <a:xfrm>
            <a:off x="3155564" y="1020469"/>
            <a:ext cx="1240213" cy="1372710"/>
            <a:chOff x="6629400" y="3465513"/>
            <a:chExt cx="1323975" cy="1472247"/>
          </a:xfrm>
        </p:grpSpPr>
        <p:sp>
          <p:nvSpPr>
            <p:cNvPr id="18" name="타원 17">
              <a:extLst>
                <a:ext uri="{FF2B5EF4-FFF2-40B4-BE49-F238E27FC236}">
                  <a16:creationId xmlns:a16="http://schemas.microsoft.com/office/drawing/2014/main" id="{7081042B-F47F-46F1-91FD-B0EFA72EAFB9}"/>
                </a:ext>
              </a:extLst>
            </p:cNvPr>
            <p:cNvSpPr/>
            <p:nvPr/>
          </p:nvSpPr>
          <p:spPr>
            <a:xfrm>
              <a:off x="6629400" y="3952875"/>
              <a:ext cx="581025" cy="600075"/>
            </a:xfrm>
            <a:prstGeom prst="ellipse">
              <a:avLst/>
            </a:prstGeom>
            <a:solidFill>
              <a:schemeClr val="accent1">
                <a:lumMod val="20000"/>
                <a:lumOff val="80000"/>
              </a:schemeClr>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cxnSp>
          <p:nvCxnSpPr>
            <p:cNvPr id="19" name="직선 연결선 18">
              <a:extLst>
                <a:ext uri="{FF2B5EF4-FFF2-40B4-BE49-F238E27FC236}">
                  <a16:creationId xmlns:a16="http://schemas.microsoft.com/office/drawing/2014/main" id="{AC1E2FF8-DDC4-41D5-B91E-A044441DDB1B}"/>
                </a:ext>
              </a:extLst>
            </p:cNvPr>
            <p:cNvCxnSpPr>
              <a:stCxn id="18" idx="7"/>
            </p:cNvCxnSpPr>
            <p:nvPr/>
          </p:nvCxnSpPr>
          <p:spPr>
            <a:xfrm flipV="1">
              <a:off x="7125336" y="3465513"/>
              <a:ext cx="828039" cy="575241"/>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B08E61E2-1D24-4A7D-BCD1-D3F957FFEB99}"/>
                </a:ext>
              </a:extLst>
            </p:cNvPr>
            <p:cNvCxnSpPr>
              <a:stCxn id="18" idx="6"/>
            </p:cNvCxnSpPr>
            <p:nvPr/>
          </p:nvCxnSpPr>
          <p:spPr>
            <a:xfrm flipV="1">
              <a:off x="7210425" y="4247555"/>
              <a:ext cx="742950" cy="5358"/>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3A4E5184-7AD4-48AF-B75A-7598191D105A}"/>
                </a:ext>
              </a:extLst>
            </p:cNvPr>
            <p:cNvCxnSpPr>
              <a:stCxn id="18" idx="5"/>
            </p:cNvCxnSpPr>
            <p:nvPr/>
          </p:nvCxnSpPr>
          <p:spPr>
            <a:xfrm>
              <a:off x="7125336" y="4465071"/>
              <a:ext cx="828039" cy="472689"/>
            </a:xfrm>
            <a:prstGeom prst="line">
              <a:avLst/>
            </a:prstGeom>
            <a:ln w="28575">
              <a:solidFill>
                <a:srgbClr val="0066FF"/>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739CA34C-9B10-4ECD-8417-51FA22816F89}"/>
              </a:ext>
            </a:extLst>
          </p:cNvPr>
          <p:cNvSpPr txBox="1"/>
          <p:nvPr/>
        </p:nvSpPr>
        <p:spPr>
          <a:xfrm>
            <a:off x="5571002" y="1327164"/>
            <a:ext cx="555460" cy="584775"/>
          </a:xfrm>
          <a:prstGeom prst="rect">
            <a:avLst/>
          </a:prstGeom>
          <a:noFill/>
        </p:spPr>
        <p:txBody>
          <a:bodyPr wrap="square" rtlCol="0">
            <a:spAutoFit/>
          </a:bodyPr>
          <a:lstStyle/>
          <a:p>
            <a:r>
              <a:rPr lang="en-US" altLang="ko-KR" sz="3200" b="1" dirty="0">
                <a:solidFill>
                  <a:srgbClr val="0033CC"/>
                </a:solidFill>
                <a:latin typeface="나눔고딕 Light" panose="020D0904000000000000" pitchFamily="50" charset="-127"/>
                <a:ea typeface="나눔고딕 Light" panose="020D0904000000000000" pitchFamily="50" charset="-127"/>
              </a:rPr>
              <a:t>…</a:t>
            </a:r>
            <a:endParaRPr lang="ko-KR" altLang="en-US" sz="3200" b="1" dirty="0">
              <a:solidFill>
                <a:srgbClr val="0033CC"/>
              </a:solidFill>
              <a:latin typeface="나눔고딕 Light" panose="020D0904000000000000" pitchFamily="50" charset="-127"/>
              <a:ea typeface="나눔고딕 Light" panose="020D0904000000000000" pitchFamily="50" charset="-127"/>
            </a:endParaRPr>
          </a:p>
        </p:txBody>
      </p:sp>
      <p:sp>
        <p:nvSpPr>
          <p:cNvPr id="23" name="왼쪽 중괄호 22">
            <a:extLst>
              <a:ext uri="{FF2B5EF4-FFF2-40B4-BE49-F238E27FC236}">
                <a16:creationId xmlns:a16="http://schemas.microsoft.com/office/drawing/2014/main" id="{D60F6276-A47D-4020-9777-854EDEE0ACCB}"/>
              </a:ext>
            </a:extLst>
          </p:cNvPr>
          <p:cNvSpPr/>
          <p:nvPr/>
        </p:nvSpPr>
        <p:spPr>
          <a:xfrm rot="5400000">
            <a:off x="4273279" y="-2565520"/>
            <a:ext cx="549622" cy="642487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24" name="왼쪽 중괄호 23">
            <a:extLst>
              <a:ext uri="{FF2B5EF4-FFF2-40B4-BE49-F238E27FC236}">
                <a16:creationId xmlns:a16="http://schemas.microsoft.com/office/drawing/2014/main" id="{543372B3-C41B-45B7-BE77-F92886499079}"/>
              </a:ext>
            </a:extLst>
          </p:cNvPr>
          <p:cNvSpPr/>
          <p:nvPr/>
        </p:nvSpPr>
        <p:spPr>
          <a:xfrm rot="5400000" flipV="1">
            <a:off x="6815159" y="-72442"/>
            <a:ext cx="533476" cy="1835840"/>
          </a:xfrm>
          <a:prstGeom prst="leftBrace">
            <a:avLst>
              <a:gd name="adj1" fmla="val 9743"/>
              <a:gd name="adj2" fmla="val 49152"/>
            </a:avLst>
          </a:prstGeom>
          <a:ln w="28575">
            <a:solidFill>
              <a:srgbClr val="FF33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latin typeface="나눔고딕 Light" panose="020D0904000000000000" pitchFamily="50" charset="-127"/>
              <a:ea typeface="나눔고딕 Light" panose="020D0904000000000000" pitchFamily="50" charset="-127"/>
            </a:endParaRPr>
          </a:p>
        </p:txBody>
      </p:sp>
      <p:sp>
        <p:nvSpPr>
          <p:cNvPr id="25" name="직사각형 24">
            <a:extLst>
              <a:ext uri="{FF2B5EF4-FFF2-40B4-BE49-F238E27FC236}">
                <a16:creationId xmlns:a16="http://schemas.microsoft.com/office/drawing/2014/main" id="{0E1D80D6-A2A5-4D93-9941-37947DDC6A2D}"/>
              </a:ext>
            </a:extLst>
          </p:cNvPr>
          <p:cNvSpPr/>
          <p:nvPr/>
        </p:nvSpPr>
        <p:spPr>
          <a:xfrm>
            <a:off x="1048588" y="194861"/>
            <a:ext cx="3312368" cy="369332"/>
          </a:xfrm>
          <a:prstGeom prst="rect">
            <a:avLst/>
          </a:prstGeom>
        </p:spPr>
        <p:txBody>
          <a:bodyPr wrap="square">
            <a:spAutoFit/>
          </a:bodyPr>
          <a:lstStyle/>
          <a:p>
            <a:r>
              <a:rPr lang="en-US" altLang="ko-KR" dirty="0">
                <a:solidFill>
                  <a:srgbClr val="0033CC"/>
                </a:solidFill>
                <a:latin typeface="나눔고딕 Light" panose="020D0904000000000000" pitchFamily="50" charset="-127"/>
                <a:ea typeface="나눔고딕 Light" panose="020D0904000000000000" pitchFamily="50" charset="-127"/>
              </a:rPr>
              <a:t>original optimization problem</a:t>
            </a:r>
            <a:endParaRPr lang="ko-KR" altLang="en-US" dirty="0">
              <a:latin typeface="나눔고딕 Light" panose="020D0904000000000000" pitchFamily="50" charset="-127"/>
              <a:ea typeface="나눔고딕 Light" panose="020D0904000000000000" pitchFamily="50" charset="-127"/>
            </a:endParaRPr>
          </a:p>
        </p:txBody>
      </p:sp>
      <p:sp>
        <p:nvSpPr>
          <p:cNvPr id="26" name="직사각형 25">
            <a:extLst>
              <a:ext uri="{FF2B5EF4-FFF2-40B4-BE49-F238E27FC236}">
                <a16:creationId xmlns:a16="http://schemas.microsoft.com/office/drawing/2014/main" id="{B7048D3E-A058-4B2F-ACA5-5A4CFED661E2}"/>
              </a:ext>
            </a:extLst>
          </p:cNvPr>
          <p:cNvSpPr/>
          <p:nvPr/>
        </p:nvSpPr>
        <p:spPr>
          <a:xfrm>
            <a:off x="4883135" y="188640"/>
            <a:ext cx="3545477" cy="369332"/>
          </a:xfrm>
          <a:prstGeom prst="rect">
            <a:avLst/>
          </a:prstGeom>
        </p:spPr>
        <p:txBody>
          <a:bodyPr wrap="square">
            <a:spAutoFit/>
          </a:bodyPr>
          <a:lstStyle/>
          <a:p>
            <a:r>
              <a:rPr lang="en-US" altLang="ko-KR" dirty="0">
                <a:solidFill>
                  <a:srgbClr val="FF3300"/>
                </a:solidFill>
                <a:latin typeface="나눔고딕 Light" panose="020D0904000000000000" pitchFamily="50" charset="-127"/>
                <a:ea typeface="나눔고딕 Light" panose="020D0904000000000000" pitchFamily="50" charset="-127"/>
              </a:rPr>
              <a:t>smaller optimization problem</a:t>
            </a:r>
            <a:endParaRPr lang="ko-KR" altLang="en-US" dirty="0">
              <a:solidFill>
                <a:srgbClr val="FF3300"/>
              </a:solidFill>
              <a:latin typeface="나눔고딕 Light" panose="020D0904000000000000" pitchFamily="50" charset="-127"/>
              <a:ea typeface="나눔고딕 Light" panose="020D0904000000000000" pitchFamily="50" charset="-127"/>
            </a:endParaRPr>
          </a:p>
        </p:txBody>
      </p:sp>
      <p:sp>
        <p:nvSpPr>
          <p:cNvPr id="27" name="직사각형 26">
            <a:extLst>
              <a:ext uri="{FF2B5EF4-FFF2-40B4-BE49-F238E27FC236}">
                <a16:creationId xmlns:a16="http://schemas.microsoft.com/office/drawing/2014/main" id="{7F966954-90B4-4796-ABD0-5D15A274D8F9}"/>
              </a:ext>
            </a:extLst>
          </p:cNvPr>
          <p:cNvSpPr/>
          <p:nvPr/>
        </p:nvSpPr>
        <p:spPr>
          <a:xfrm>
            <a:off x="467544" y="2655812"/>
            <a:ext cx="7226910"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Stage(j)   :   1,                           2,                               ,…,                    n</a:t>
            </a:r>
            <a:endParaRPr lang="ko-KR" altLang="en-US" sz="1600" dirty="0">
              <a:solidFill>
                <a:schemeClr val="tx1"/>
              </a:solidFill>
              <a:latin typeface="나눔고딕 Light" panose="020D0904000000000000" pitchFamily="50" charset="-127"/>
              <a:ea typeface="나눔고딕 Light" panose="020D0904000000000000" pitchFamily="50" charset="-127"/>
            </a:endParaRPr>
          </a:p>
        </p:txBody>
      </p:sp>
      <p:sp>
        <p:nvSpPr>
          <p:cNvPr id="28" name="직사각형 27">
            <a:extLst>
              <a:ext uri="{FF2B5EF4-FFF2-40B4-BE49-F238E27FC236}">
                <a16:creationId xmlns:a16="http://schemas.microsoft.com/office/drawing/2014/main" id="{B80F207F-DC5C-4950-83D7-258D305E9FC6}"/>
              </a:ext>
            </a:extLst>
          </p:cNvPr>
          <p:cNvSpPr/>
          <p:nvPr/>
        </p:nvSpPr>
        <p:spPr>
          <a:xfrm>
            <a:off x="467544" y="3015938"/>
            <a:ext cx="7226909"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Decision(j):  x</a:t>
            </a:r>
            <a:r>
              <a:rPr lang="en-US" altLang="ko-KR" sz="1600" baseline="-25000" dirty="0">
                <a:solidFill>
                  <a:schemeClr val="tx1"/>
                </a:solidFill>
                <a:latin typeface="나눔고딕 Light" panose="020D0904000000000000" pitchFamily="50" charset="-127"/>
                <a:ea typeface="나눔고딕 Light" panose="020D0904000000000000" pitchFamily="50" charset="-127"/>
              </a:rPr>
              <a:t>1</a:t>
            </a:r>
            <a:r>
              <a:rPr lang="en-US" altLang="ko-KR" sz="1600" dirty="0">
                <a:solidFill>
                  <a:schemeClr val="tx1"/>
                </a:solidFill>
                <a:latin typeface="나눔고딕 Light" panose="020D0904000000000000" pitchFamily="50" charset="-127"/>
                <a:ea typeface="나눔고딕 Light" panose="020D0904000000000000" pitchFamily="50" charset="-127"/>
              </a:rPr>
              <a:t>,                         x</a:t>
            </a:r>
            <a:r>
              <a:rPr lang="en-US" altLang="ko-KR" sz="1600" baseline="-25000" dirty="0">
                <a:solidFill>
                  <a:schemeClr val="tx1"/>
                </a:solidFill>
                <a:latin typeface="나눔고딕 Light" panose="020D0904000000000000" pitchFamily="50" charset="-127"/>
                <a:ea typeface="나눔고딕 Light" panose="020D0904000000000000" pitchFamily="50" charset="-127"/>
              </a:rPr>
              <a:t>2</a:t>
            </a:r>
            <a:r>
              <a:rPr lang="en-US" altLang="ko-KR" sz="1600" dirty="0">
                <a:solidFill>
                  <a:schemeClr val="tx1"/>
                </a:solidFill>
                <a:latin typeface="나눔고딕 Light" panose="020D0904000000000000" pitchFamily="50" charset="-127"/>
                <a:ea typeface="나눔고딕 Light" panose="020D0904000000000000" pitchFamily="50" charset="-127"/>
              </a:rPr>
              <a:t>,                               ,…,                    </a:t>
            </a:r>
            <a:r>
              <a:rPr lang="en-US" altLang="ko-KR" sz="1600" dirty="0" err="1">
                <a:solidFill>
                  <a:schemeClr val="tx1"/>
                </a:solidFill>
                <a:latin typeface="나눔고딕 Light" panose="020D0904000000000000" pitchFamily="50" charset="-127"/>
                <a:ea typeface="나눔고딕 Light" panose="020D0904000000000000" pitchFamily="50" charset="-127"/>
              </a:rPr>
              <a:t>x</a:t>
            </a:r>
            <a:r>
              <a:rPr lang="en-US" altLang="ko-KR" sz="1600" baseline="-25000" dirty="0" err="1">
                <a:solidFill>
                  <a:schemeClr val="tx1"/>
                </a:solidFill>
                <a:latin typeface="나눔고딕 Light" panose="020D0904000000000000" pitchFamily="50" charset="-127"/>
                <a:ea typeface="나눔고딕 Light" panose="020D0904000000000000" pitchFamily="50" charset="-127"/>
              </a:rPr>
              <a:t>n</a:t>
            </a:r>
            <a:endParaRPr lang="ko-KR" altLang="en-US" sz="1600" baseline="-25000" dirty="0">
              <a:solidFill>
                <a:schemeClr val="tx1"/>
              </a:solidFill>
              <a:latin typeface="나눔고딕 Light" panose="020D0904000000000000" pitchFamily="50" charset="-127"/>
              <a:ea typeface="나눔고딕 Light" panose="020D0904000000000000" pitchFamily="50" charset="-127"/>
            </a:endParaRPr>
          </a:p>
        </p:txBody>
      </p:sp>
      <p:sp>
        <p:nvSpPr>
          <p:cNvPr id="29" name="직사각형 28">
            <a:extLst>
              <a:ext uri="{FF2B5EF4-FFF2-40B4-BE49-F238E27FC236}">
                <a16:creationId xmlns:a16="http://schemas.microsoft.com/office/drawing/2014/main" id="{A3A352E7-2522-4BD6-8726-7A69CBF8B18F}"/>
              </a:ext>
            </a:extLst>
          </p:cNvPr>
          <p:cNvSpPr/>
          <p:nvPr/>
        </p:nvSpPr>
        <p:spPr>
          <a:xfrm>
            <a:off x="467544" y="3367592"/>
            <a:ext cx="7226909" cy="212614"/>
          </a:xfrm>
          <a:prstGeom prst="rect">
            <a:avLst/>
          </a:prstGeom>
          <a:solidFill>
            <a:srgbClr val="FFFF99"/>
          </a:solidFill>
          <a:ln>
            <a:solidFill>
              <a:schemeClr val="tx2">
                <a:lumMod val="20000"/>
                <a:lumOff val="8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tx1"/>
                </a:solidFill>
                <a:latin typeface="나눔고딕 Light" panose="020D0904000000000000" pitchFamily="50" charset="-127"/>
                <a:ea typeface="나눔고딕 Light" panose="020D0904000000000000" pitchFamily="50" charset="-127"/>
              </a:rPr>
              <a:t>State(j)   :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1</a:t>
            </a:r>
            <a:r>
              <a:rPr lang="en-US" altLang="ko-KR" sz="1600" dirty="0">
                <a:solidFill>
                  <a:schemeClr val="tx1"/>
                </a:solidFill>
                <a:latin typeface="나눔고딕 Light" panose="020D0904000000000000" pitchFamily="50" charset="-127"/>
                <a:ea typeface="나눔고딕 Light" panose="020D0904000000000000" pitchFamily="50" charset="-127"/>
              </a:rPr>
              <a:t>,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2</a:t>
            </a:r>
            <a:r>
              <a:rPr lang="en-US" altLang="ko-KR" sz="1600" dirty="0">
                <a:solidFill>
                  <a:schemeClr val="tx1"/>
                </a:solidFill>
                <a:latin typeface="나눔고딕 Light" panose="020D0904000000000000" pitchFamily="50" charset="-127"/>
                <a:ea typeface="나눔고딕 Light" panose="020D0904000000000000" pitchFamily="50" charset="-127"/>
              </a:rPr>
              <a:t>,                               ,…,                    S</a:t>
            </a:r>
            <a:r>
              <a:rPr lang="en-US" altLang="ko-KR" sz="1600" baseline="-25000" dirty="0">
                <a:solidFill>
                  <a:schemeClr val="tx1"/>
                </a:solidFill>
                <a:latin typeface="나눔고딕 Light" panose="020D0904000000000000" pitchFamily="50" charset="-127"/>
                <a:ea typeface="나눔고딕 Light" panose="020D0904000000000000" pitchFamily="50" charset="-127"/>
              </a:rPr>
              <a:t>n</a:t>
            </a:r>
            <a:endParaRPr lang="ko-KR" altLang="en-US" sz="1600" baseline="-25000" dirty="0">
              <a:solidFill>
                <a:schemeClr val="tx1"/>
              </a:solidFill>
              <a:latin typeface="나눔고딕 Light" panose="020D0904000000000000" pitchFamily="50" charset="-127"/>
              <a:ea typeface="나눔고딕 Light" panose="020D0904000000000000" pitchFamily="50" charset="-127"/>
            </a:endParaRPr>
          </a:p>
        </p:txBody>
      </p:sp>
      <p:sp>
        <p:nvSpPr>
          <p:cNvPr id="39" name="내용 개체 틀 2">
            <a:extLst>
              <a:ext uri="{FF2B5EF4-FFF2-40B4-BE49-F238E27FC236}">
                <a16:creationId xmlns:a16="http://schemas.microsoft.com/office/drawing/2014/main" id="{CEAC86FB-0091-46E7-BC49-C9B127486373}"/>
              </a:ext>
            </a:extLst>
          </p:cNvPr>
          <p:cNvSpPr>
            <a:spLocks noGrp="1"/>
          </p:cNvSpPr>
          <p:nvPr>
            <p:ph idx="1"/>
          </p:nvPr>
        </p:nvSpPr>
        <p:spPr>
          <a:xfrm>
            <a:off x="247480" y="3953017"/>
            <a:ext cx="8649040" cy="2593794"/>
          </a:xfrm>
        </p:spPr>
        <p:txBody>
          <a:bodyPr>
            <a:normAutofit/>
          </a:bodyPr>
          <a:lstStyle/>
          <a:p>
            <a:pPr>
              <a:lnSpc>
                <a:spcPct val="100000"/>
              </a:lnSpc>
            </a:pPr>
            <a:r>
              <a:rPr lang="en-US" altLang="ko-KR" sz="1400" b="1" dirty="0"/>
              <a:t> </a:t>
            </a:r>
            <a:r>
              <a:rPr lang="en-US" altLang="ko-KR" sz="1400" b="1" dirty="0">
                <a:solidFill>
                  <a:schemeClr val="bg1"/>
                </a:solidFill>
              </a:rPr>
              <a:t>Stage (</a:t>
            </a:r>
            <a:r>
              <a:rPr lang="ko-KR" altLang="en-US" sz="1400" b="1" dirty="0">
                <a:solidFill>
                  <a:schemeClr val="bg1"/>
                </a:solidFill>
              </a:rPr>
              <a:t>단계</a:t>
            </a:r>
            <a:r>
              <a:rPr lang="en-US" altLang="ko-KR" sz="1400" b="1" dirty="0">
                <a:solidFill>
                  <a:schemeClr val="bg1"/>
                </a:solidFill>
              </a:rPr>
              <a:t>): </a:t>
            </a:r>
            <a:r>
              <a:rPr lang="ko-KR" altLang="en-US" sz="1400" b="1" dirty="0"/>
              <a:t>의사결정이 이루어지는 위치</a:t>
            </a:r>
            <a:r>
              <a:rPr lang="en-US" altLang="ko-KR" sz="1400" b="1" dirty="0"/>
              <a:t>(point). </a:t>
            </a:r>
            <a:r>
              <a:rPr lang="ko-KR" altLang="en-US" sz="1400" b="1" dirty="0"/>
              <a:t>저수지 운영에서 운영시간의 간격</a:t>
            </a:r>
            <a:r>
              <a:rPr lang="en-US" altLang="ko-KR" sz="1400" b="1" dirty="0"/>
              <a:t>(operational time step)</a:t>
            </a:r>
            <a:r>
              <a:rPr lang="ko-KR" altLang="en-US" sz="1400" b="1" dirty="0"/>
              <a:t>을 나타냄</a:t>
            </a:r>
            <a:r>
              <a:rPr lang="en-US" altLang="ko-KR" sz="1400" b="1" dirty="0"/>
              <a:t>.</a:t>
            </a:r>
          </a:p>
          <a:p>
            <a:pPr>
              <a:lnSpc>
                <a:spcPct val="100000"/>
              </a:lnSpc>
            </a:pPr>
            <a:r>
              <a:rPr lang="en-US" altLang="ko-KR" sz="1400" b="1" dirty="0"/>
              <a:t> </a:t>
            </a:r>
            <a:r>
              <a:rPr lang="en-US" altLang="ko-KR" sz="1400" b="1" dirty="0">
                <a:solidFill>
                  <a:schemeClr val="bg1"/>
                </a:solidFill>
              </a:rPr>
              <a:t>State Variable (</a:t>
            </a:r>
            <a:r>
              <a:rPr lang="ko-KR" altLang="en-US" sz="1400" b="1" dirty="0">
                <a:solidFill>
                  <a:schemeClr val="bg1"/>
                </a:solidFill>
              </a:rPr>
              <a:t>상태변수</a:t>
            </a:r>
            <a:r>
              <a:rPr lang="en-US" altLang="ko-KR" sz="1400" b="1" dirty="0">
                <a:solidFill>
                  <a:schemeClr val="bg1"/>
                </a:solidFill>
              </a:rPr>
              <a:t>)</a:t>
            </a:r>
            <a:r>
              <a:rPr lang="en-US" altLang="ko-KR" sz="1400" b="1" dirty="0"/>
              <a:t>: </a:t>
            </a:r>
            <a:r>
              <a:rPr lang="ko-KR" altLang="en-US" sz="1400" b="1" dirty="0"/>
              <a:t>시스템의 상태를 나타내고 있는 어느 단계 </a:t>
            </a:r>
            <a:r>
              <a:rPr lang="en-US" altLang="ko-KR" sz="1400" b="1" dirty="0"/>
              <a:t>t</a:t>
            </a:r>
            <a:r>
              <a:rPr lang="ko-KR" altLang="en-US" sz="1400" b="1" dirty="0"/>
              <a:t>에서의 과거 정보를 집약하는 변수</a:t>
            </a:r>
            <a:r>
              <a:rPr lang="en-US" altLang="ko-KR" sz="1400" b="1" dirty="0"/>
              <a:t>. </a:t>
            </a:r>
            <a:r>
              <a:rPr lang="ko-KR" altLang="en-US" sz="1400" b="1" dirty="0"/>
              <a:t>저수지 운영에서는 저수량의 초기 상태나 전 단계의 유입량</a:t>
            </a:r>
            <a:r>
              <a:rPr lang="en-US" altLang="ko-KR" sz="1400" b="1" dirty="0"/>
              <a:t>/</a:t>
            </a:r>
            <a:r>
              <a:rPr lang="ko-KR" altLang="en-US" sz="1400" b="1" dirty="0"/>
              <a:t>현 단계의 </a:t>
            </a:r>
            <a:r>
              <a:rPr lang="ko-KR" altLang="en-US" sz="1400" b="1" dirty="0" err="1"/>
              <a:t>예측유입량</a:t>
            </a:r>
            <a:r>
              <a:rPr lang="ko-KR" altLang="en-US" sz="1400" b="1" dirty="0"/>
              <a:t> 등의 수문상태변수를 이용하기도 함</a:t>
            </a:r>
            <a:r>
              <a:rPr lang="en-US" altLang="ko-KR" sz="1400" b="1" dirty="0"/>
              <a:t>. </a:t>
            </a:r>
            <a:r>
              <a:rPr lang="ko-KR" altLang="en-US" sz="1400" b="1" dirty="0"/>
              <a:t>이산화가 필수</a:t>
            </a:r>
            <a:r>
              <a:rPr lang="en-US" altLang="ko-KR" sz="1400" b="1" dirty="0"/>
              <a:t>. </a:t>
            </a:r>
          </a:p>
          <a:p>
            <a:pPr>
              <a:lnSpc>
                <a:spcPct val="100000"/>
              </a:lnSpc>
            </a:pPr>
            <a:r>
              <a:rPr lang="en-US" altLang="ko-KR" sz="1400" b="1" dirty="0"/>
              <a:t> </a:t>
            </a:r>
            <a:r>
              <a:rPr lang="en-US" altLang="ko-KR" sz="1400" b="1" dirty="0">
                <a:solidFill>
                  <a:schemeClr val="bg1"/>
                </a:solidFill>
              </a:rPr>
              <a:t>Decision Variable (</a:t>
            </a:r>
            <a:r>
              <a:rPr lang="ko-KR" altLang="en-US" sz="1400" b="1" dirty="0">
                <a:solidFill>
                  <a:schemeClr val="bg1"/>
                </a:solidFill>
              </a:rPr>
              <a:t>결정변수</a:t>
            </a:r>
            <a:r>
              <a:rPr lang="en-US" altLang="ko-KR" sz="1400" b="1" dirty="0">
                <a:solidFill>
                  <a:schemeClr val="bg1"/>
                </a:solidFill>
              </a:rPr>
              <a:t>)</a:t>
            </a:r>
            <a:r>
              <a:rPr lang="en-US" altLang="ko-KR" sz="1400" b="1" dirty="0"/>
              <a:t>: </a:t>
            </a:r>
            <a:r>
              <a:rPr lang="ko-KR" altLang="en-US" sz="1400" b="1" dirty="0"/>
              <a:t>상태변수를 알고있는 각각의 단계에서 취할 수 있는 대안 행동 </a:t>
            </a:r>
            <a:r>
              <a:rPr lang="en-US" altLang="ko-KR" sz="1400" b="1" dirty="0"/>
              <a:t>(alternative action). </a:t>
            </a:r>
            <a:r>
              <a:rPr lang="ko-KR" altLang="en-US" sz="1400" b="1" dirty="0"/>
              <a:t>이는 저수지 운영에서 일반적으로 </a:t>
            </a:r>
            <a:r>
              <a:rPr lang="ko-KR" altLang="en-US" sz="1400" b="1" dirty="0" err="1"/>
              <a:t>방류량이나</a:t>
            </a:r>
            <a:r>
              <a:rPr lang="ko-KR" altLang="en-US" sz="1400" b="1" dirty="0"/>
              <a:t> 말기 저수량</a:t>
            </a:r>
            <a:r>
              <a:rPr lang="en-US" altLang="ko-KR" sz="1400" b="1" dirty="0"/>
              <a:t>.</a:t>
            </a:r>
          </a:p>
          <a:p>
            <a:pPr>
              <a:lnSpc>
                <a:spcPct val="100000"/>
              </a:lnSpc>
            </a:pPr>
            <a:r>
              <a:rPr lang="en-US" altLang="ko-KR" sz="1400" b="1" dirty="0"/>
              <a:t> </a:t>
            </a:r>
            <a:r>
              <a:rPr lang="en-US" altLang="ko-KR" sz="1400" b="1" dirty="0">
                <a:solidFill>
                  <a:schemeClr val="bg1"/>
                </a:solidFill>
              </a:rPr>
              <a:t>Stage return (</a:t>
            </a:r>
            <a:r>
              <a:rPr lang="ko-KR" altLang="en-US" sz="1400" b="1" dirty="0">
                <a:solidFill>
                  <a:schemeClr val="bg1"/>
                </a:solidFill>
              </a:rPr>
              <a:t>단계수익</a:t>
            </a:r>
            <a:r>
              <a:rPr lang="en-US" altLang="ko-KR" sz="1400" b="1" dirty="0">
                <a:solidFill>
                  <a:schemeClr val="bg1"/>
                </a:solidFill>
              </a:rPr>
              <a:t>)</a:t>
            </a:r>
            <a:r>
              <a:rPr lang="en-US" altLang="ko-KR" sz="1400" b="1" dirty="0"/>
              <a:t>: </a:t>
            </a:r>
            <a:r>
              <a:rPr lang="ko-KR" altLang="en-US" sz="1400" b="1" dirty="0"/>
              <a:t>각 단계에서 내린 의사결정의 유효성을 나타내는 </a:t>
            </a:r>
            <a:r>
              <a:rPr lang="ko-KR" altLang="en-US" sz="1400" b="1" dirty="0" err="1"/>
              <a:t>스칼라값</a:t>
            </a:r>
            <a:r>
              <a:rPr lang="en-US" altLang="ko-KR" sz="1400" b="1" dirty="0"/>
              <a:t>. </a:t>
            </a:r>
            <a:r>
              <a:rPr lang="ko-KR" altLang="en-US" sz="1400" b="1" dirty="0"/>
              <a:t>저수지 운영에서 전력생산이나 용수부족 등의 운영으로 인한 편익을 나타냄</a:t>
            </a:r>
            <a:r>
              <a:rPr lang="en-US" altLang="ko-KR" sz="1400" b="1" dirty="0"/>
              <a:t>.</a:t>
            </a:r>
            <a:endParaRPr lang="ko-KR" altLang="en-US" sz="1400" b="1" dirty="0"/>
          </a:p>
        </p:txBody>
      </p:sp>
      <p:sp>
        <p:nvSpPr>
          <p:cNvPr id="41" name="직사각형 40">
            <a:extLst>
              <a:ext uri="{FF2B5EF4-FFF2-40B4-BE49-F238E27FC236}">
                <a16:creationId xmlns:a16="http://schemas.microsoft.com/office/drawing/2014/main" id="{9F35E03A-312B-4A4E-858F-14962E0CD858}"/>
              </a:ext>
            </a:extLst>
          </p:cNvPr>
          <p:cNvSpPr/>
          <p:nvPr/>
        </p:nvSpPr>
        <p:spPr>
          <a:xfrm>
            <a:off x="1802673" y="969941"/>
            <a:ext cx="769763" cy="369332"/>
          </a:xfrm>
          <a:prstGeom prst="rect">
            <a:avLst/>
          </a:prstGeom>
        </p:spPr>
        <p:txBody>
          <a:bodyPr wrap="none">
            <a:spAutoFit/>
          </a:bodyPr>
          <a:lstStyle/>
          <a:p>
            <a:r>
              <a:rPr lang="en-US" altLang="ko-KR" dirty="0">
                <a:latin typeface="나눔고딕 Light" panose="020D0904000000000000" pitchFamily="50" charset="-127"/>
                <a:ea typeface="나눔고딕 Light" panose="020D0904000000000000" pitchFamily="50" charset="-127"/>
              </a:rPr>
              <a:t>F</a:t>
            </a:r>
            <a:r>
              <a:rPr lang="en-US" altLang="ko-KR" baseline="-25000" dirty="0">
                <a:latin typeface="나눔고딕 Light" panose="020D0904000000000000" pitchFamily="50" charset="-127"/>
                <a:ea typeface="나눔고딕 Light" panose="020D0904000000000000" pitchFamily="50" charset="-127"/>
              </a:rPr>
              <a:t>1</a:t>
            </a:r>
            <a:r>
              <a:rPr lang="en-US" altLang="ko-KR" dirty="0">
                <a:latin typeface="나눔고딕 Light" panose="020D0904000000000000" pitchFamily="50" charset="-127"/>
                <a:ea typeface="나눔고딕 Light" panose="020D0904000000000000" pitchFamily="50" charset="-127"/>
              </a:rPr>
              <a:t>(x</a:t>
            </a:r>
            <a:r>
              <a:rPr lang="en-US" altLang="ko-KR" baseline="-25000" dirty="0">
                <a:latin typeface="나눔고딕 Light" panose="020D0904000000000000" pitchFamily="50" charset="-127"/>
                <a:ea typeface="나눔고딕 Light" panose="020D0904000000000000" pitchFamily="50" charset="-127"/>
              </a:rPr>
              <a:t>1</a:t>
            </a:r>
            <a:r>
              <a:rPr lang="en-US" altLang="ko-KR" dirty="0">
                <a:latin typeface="나눔고딕 Light" panose="020D0904000000000000" pitchFamily="50" charset="-127"/>
                <a:ea typeface="나눔고딕 Light" panose="020D0904000000000000" pitchFamily="50" charset="-127"/>
              </a:rPr>
              <a:t>)</a:t>
            </a:r>
            <a:endParaRPr lang="ko-KR" altLang="en-US" dirty="0"/>
          </a:p>
        </p:txBody>
      </p:sp>
      <p:sp>
        <p:nvSpPr>
          <p:cNvPr id="42" name="직사각형 41">
            <a:extLst>
              <a:ext uri="{FF2B5EF4-FFF2-40B4-BE49-F238E27FC236}">
                <a16:creationId xmlns:a16="http://schemas.microsoft.com/office/drawing/2014/main" id="{7D059F8E-AB82-4053-A623-6437378FE04A}"/>
              </a:ext>
            </a:extLst>
          </p:cNvPr>
          <p:cNvSpPr/>
          <p:nvPr/>
        </p:nvSpPr>
        <p:spPr>
          <a:xfrm>
            <a:off x="3812672" y="1446180"/>
            <a:ext cx="769763" cy="369332"/>
          </a:xfrm>
          <a:prstGeom prst="rect">
            <a:avLst/>
          </a:prstGeom>
        </p:spPr>
        <p:txBody>
          <a:bodyPr wrap="none">
            <a:spAutoFit/>
          </a:bodyPr>
          <a:lstStyle/>
          <a:p>
            <a:r>
              <a:rPr lang="en-US" altLang="ko-KR" dirty="0">
                <a:latin typeface="나눔고딕 Light" panose="020D0904000000000000" pitchFamily="50" charset="-127"/>
                <a:ea typeface="나눔고딕 Light" panose="020D0904000000000000" pitchFamily="50" charset="-127"/>
              </a:rPr>
              <a:t>F</a:t>
            </a:r>
            <a:r>
              <a:rPr lang="en-US" altLang="ko-KR" baseline="-25000" dirty="0">
                <a:latin typeface="나눔고딕 Light" panose="020D0904000000000000" pitchFamily="50" charset="-127"/>
                <a:ea typeface="나눔고딕 Light" panose="020D0904000000000000" pitchFamily="50" charset="-127"/>
              </a:rPr>
              <a:t>2</a:t>
            </a:r>
            <a:r>
              <a:rPr lang="en-US" altLang="ko-KR" dirty="0">
                <a:latin typeface="나눔고딕 Light" panose="020D0904000000000000" pitchFamily="50" charset="-127"/>
                <a:ea typeface="나눔고딕 Light" panose="020D0904000000000000" pitchFamily="50" charset="-127"/>
              </a:rPr>
              <a:t>(x</a:t>
            </a:r>
            <a:r>
              <a:rPr lang="en-US" altLang="ko-KR" baseline="-25000" dirty="0">
                <a:latin typeface="나눔고딕 Light" panose="020D0904000000000000" pitchFamily="50" charset="-127"/>
                <a:ea typeface="나눔고딕 Light" panose="020D0904000000000000" pitchFamily="50" charset="-127"/>
              </a:rPr>
              <a:t>2</a:t>
            </a:r>
            <a:r>
              <a:rPr lang="en-US" altLang="ko-KR" dirty="0">
                <a:latin typeface="나눔고딕 Light" panose="020D0904000000000000" pitchFamily="50" charset="-127"/>
                <a:ea typeface="나눔고딕 Light" panose="020D0904000000000000" pitchFamily="50" charset="-127"/>
              </a:rPr>
              <a:t>)</a:t>
            </a:r>
            <a:endParaRPr lang="ko-KR" altLang="en-US" dirty="0"/>
          </a:p>
        </p:txBody>
      </p:sp>
    </p:spTree>
    <p:extLst>
      <p:ext uri="{BB962C8B-B14F-4D97-AF65-F5344CB8AC3E}">
        <p14:creationId xmlns:p14="http://schemas.microsoft.com/office/powerpoint/2010/main" val="2230892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F0A950-0A05-4C98-8A6A-15349D3440DC}"/>
              </a:ext>
            </a:extLst>
          </p:cNvPr>
          <p:cNvSpPr>
            <a:spLocks noGrp="1"/>
          </p:cNvSpPr>
          <p:nvPr>
            <p:ph type="title"/>
          </p:nvPr>
        </p:nvSpPr>
        <p:spPr/>
        <p:txBody>
          <a:bodyPr/>
          <a:lstStyle/>
          <a:p>
            <a:r>
              <a:rPr lang="en-US" altLang="ko-KR" dirty="0"/>
              <a:t>Water Allocation Example (p.105~)</a:t>
            </a:r>
            <a:endParaRPr lang="ko-KR" altLang="en-US" dirty="0"/>
          </a:p>
        </p:txBody>
      </p:sp>
      <p:sp>
        <p:nvSpPr>
          <p:cNvPr id="4" name="슬라이드 번호 개체 틀 3">
            <a:extLst>
              <a:ext uri="{FF2B5EF4-FFF2-40B4-BE49-F238E27FC236}">
                <a16:creationId xmlns:a16="http://schemas.microsoft.com/office/drawing/2014/main" id="{8E41A153-6B88-4D53-AEF7-EBE08DA28472}"/>
              </a:ext>
            </a:extLst>
          </p:cNvPr>
          <p:cNvSpPr>
            <a:spLocks noGrp="1"/>
          </p:cNvSpPr>
          <p:nvPr>
            <p:ph type="sldNum" sz="quarter" idx="12"/>
          </p:nvPr>
        </p:nvSpPr>
        <p:spPr/>
        <p:txBody>
          <a:bodyPr/>
          <a:lstStyle/>
          <a:p>
            <a:fld id="{79822AFB-C284-4A8E-A6EE-41BAA9C576A0}" type="slidenum">
              <a:rPr lang="ko-KR" altLang="en-US" smtClean="0"/>
              <a:t>7</a:t>
            </a:fld>
            <a:endParaRPr lang="ko-KR" altLang="en-US"/>
          </a:p>
        </p:txBody>
      </p:sp>
      <p:pic>
        <p:nvPicPr>
          <p:cNvPr id="6" name="그림 5">
            <a:extLst>
              <a:ext uri="{FF2B5EF4-FFF2-40B4-BE49-F238E27FC236}">
                <a16:creationId xmlns:a16="http://schemas.microsoft.com/office/drawing/2014/main" id="{8020B119-D5B3-4DB1-8DE2-FB2452BE4BFE}"/>
              </a:ext>
            </a:extLst>
          </p:cNvPr>
          <p:cNvPicPr>
            <a:picLocks noChangeAspect="1"/>
          </p:cNvPicPr>
          <p:nvPr/>
        </p:nvPicPr>
        <p:blipFill>
          <a:blip r:embed="rId2"/>
          <a:stretch>
            <a:fillRect/>
          </a:stretch>
        </p:blipFill>
        <p:spPr>
          <a:xfrm>
            <a:off x="393204" y="1124745"/>
            <a:ext cx="6300192" cy="3472852"/>
          </a:xfrm>
          <a:prstGeom prst="rect">
            <a:avLst/>
          </a:prstGeom>
        </p:spPr>
      </p:pic>
      <p:pic>
        <p:nvPicPr>
          <p:cNvPr id="7" name="그림 6">
            <a:extLst>
              <a:ext uri="{FF2B5EF4-FFF2-40B4-BE49-F238E27FC236}">
                <a16:creationId xmlns:a16="http://schemas.microsoft.com/office/drawing/2014/main" id="{39C68668-4F6D-4F43-A2EB-4EEFAF2FCFA6}"/>
              </a:ext>
            </a:extLst>
          </p:cNvPr>
          <p:cNvPicPr>
            <a:picLocks noChangeAspect="1"/>
          </p:cNvPicPr>
          <p:nvPr/>
        </p:nvPicPr>
        <p:blipFill>
          <a:blip r:embed="rId3"/>
          <a:stretch>
            <a:fillRect/>
          </a:stretch>
        </p:blipFill>
        <p:spPr>
          <a:xfrm>
            <a:off x="608852" y="4623151"/>
            <a:ext cx="5292080" cy="1869722"/>
          </a:xfrm>
          <a:prstGeom prst="rect">
            <a:avLst/>
          </a:prstGeom>
        </p:spPr>
      </p:pic>
      <p:pic>
        <p:nvPicPr>
          <p:cNvPr id="8" name="그림 7">
            <a:extLst>
              <a:ext uri="{FF2B5EF4-FFF2-40B4-BE49-F238E27FC236}">
                <a16:creationId xmlns:a16="http://schemas.microsoft.com/office/drawing/2014/main" id="{92BF043E-26C3-49A7-BF8D-DFA84DC64980}"/>
              </a:ext>
            </a:extLst>
          </p:cNvPr>
          <p:cNvPicPr>
            <a:picLocks noChangeAspect="1"/>
          </p:cNvPicPr>
          <p:nvPr/>
        </p:nvPicPr>
        <p:blipFill>
          <a:blip r:embed="rId4"/>
          <a:stretch>
            <a:fillRect/>
          </a:stretch>
        </p:blipFill>
        <p:spPr>
          <a:xfrm>
            <a:off x="6037908" y="4789266"/>
            <a:ext cx="2477442" cy="1537491"/>
          </a:xfrm>
          <a:prstGeom prst="rect">
            <a:avLst/>
          </a:prstGeom>
        </p:spPr>
      </p:pic>
    </p:spTree>
    <p:extLst>
      <p:ext uri="{BB962C8B-B14F-4D97-AF65-F5344CB8AC3E}">
        <p14:creationId xmlns:p14="http://schemas.microsoft.com/office/powerpoint/2010/main" val="4006167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9809AC-557C-4A4F-812B-F144D37D111D}"/>
              </a:ext>
            </a:extLst>
          </p:cNvPr>
          <p:cNvSpPr>
            <a:spLocks noGrp="1"/>
          </p:cNvSpPr>
          <p:nvPr>
            <p:ph type="title"/>
          </p:nvPr>
        </p:nvSpPr>
        <p:spPr/>
        <p:txBody>
          <a:bodyPr/>
          <a:lstStyle/>
          <a:p>
            <a:r>
              <a:rPr lang="en-US" altLang="ko-KR" dirty="0"/>
              <a:t>Water Allocation Example (p.105~)</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57742123-D778-4053-89BC-D300EDA404AB}"/>
                  </a:ext>
                </a:extLst>
              </p:cNvPr>
              <p:cNvSpPr>
                <a:spLocks noGrp="1"/>
              </p:cNvSpPr>
              <p:nvPr>
                <p:ph idx="1"/>
              </p:nvPr>
            </p:nvSpPr>
            <p:spPr/>
            <p:txBody>
              <a:bodyPr/>
              <a:lstStyle/>
              <a:p>
                <a:r>
                  <a:rPr lang="en-US" altLang="ko-KR" dirty="0"/>
                  <a:t> Variable Setting</a:t>
                </a:r>
              </a:p>
              <a:p>
                <a:pPr lvl="1"/>
                <a:r>
                  <a:rPr lang="en-US" altLang="ko-KR" dirty="0"/>
                  <a:t> Decision variable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𝑥</m:t>
                        </m:r>
                      </m:e>
                      <m:sub>
                        <m:r>
                          <a:rPr lang="en-US" altLang="ko-KR" b="0" i="1" smtClean="0">
                            <a:latin typeface="Cambria Math" panose="02040503050406030204" pitchFamily="18" charset="0"/>
                          </a:rPr>
                          <m:t>𝑗</m:t>
                        </m:r>
                      </m:sub>
                    </m:sSub>
                  </m:oMath>
                </a14:m>
                <a:r>
                  <a:rPr lang="en-US" altLang="ko-KR" dirty="0"/>
                  <a:t> (Link)</a:t>
                </a:r>
              </a:p>
              <a:p>
                <a:pPr lvl="2"/>
                <a:r>
                  <a:rPr lang="en-US" altLang="ko-KR" dirty="0"/>
                  <a:t>Water allocation at firm j = 0~10</a:t>
                </a:r>
              </a:p>
              <a:p>
                <a:pPr lvl="2"/>
                <a:r>
                  <a:rPr lang="en-US" altLang="ko-KR" dirty="0"/>
                  <a:t>Discretization as the table</a:t>
                </a:r>
              </a:p>
              <a:p>
                <a:pPr lvl="1"/>
                <a:endParaRPr lang="en-US" altLang="ko-KR" dirty="0"/>
              </a:p>
              <a:p>
                <a:pPr lvl="1"/>
                <a:r>
                  <a:rPr lang="en-US" altLang="ko-KR" dirty="0"/>
                  <a:t> State Variable </a:t>
                </a:r>
                <a14:m>
                  <m:oMath xmlns:m="http://schemas.openxmlformats.org/officeDocument/2006/math">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𝑆</m:t>
                        </m:r>
                      </m:e>
                      <m:sub>
                        <m:r>
                          <a:rPr lang="en-US" altLang="ko-KR" i="1">
                            <a:latin typeface="Cambria Math" panose="02040503050406030204" pitchFamily="18" charset="0"/>
                          </a:rPr>
                          <m:t>𝑗</m:t>
                        </m:r>
                      </m:sub>
                    </m:sSub>
                  </m:oMath>
                </a14:m>
                <a:r>
                  <a:rPr lang="en-US" altLang="ko-KR" dirty="0"/>
                  <a:t> (Node)</a:t>
                </a:r>
              </a:p>
              <a:p>
                <a:pPr lvl="2"/>
                <a:r>
                  <a:rPr lang="en-US" altLang="ko-KR" dirty="0"/>
                  <a:t>Quantity of water remaining</a:t>
                </a:r>
                <a:br>
                  <a:rPr lang="en-US" altLang="ko-KR" dirty="0"/>
                </a:br>
                <a:r>
                  <a:rPr lang="en-US" altLang="ko-KR" dirty="0"/>
                  <a:t>after an allocation has been</a:t>
                </a:r>
                <a:br>
                  <a:rPr lang="en-US" altLang="ko-KR" dirty="0"/>
                </a:br>
                <a:r>
                  <a:rPr lang="en-US" altLang="ko-KR" dirty="0"/>
                  <a:t>made</a:t>
                </a:r>
              </a:p>
              <a:p>
                <a:pPr lvl="2"/>
                <a:endParaRPr lang="en-US" altLang="ko-KR" dirty="0"/>
              </a:p>
              <a:p>
                <a:endParaRPr lang="ko-KR" altLang="en-US" dirty="0"/>
              </a:p>
            </p:txBody>
          </p:sp>
        </mc:Choice>
        <mc:Fallback xmlns="">
          <p:sp>
            <p:nvSpPr>
              <p:cNvPr id="3" name="내용 개체 틀 2">
                <a:extLst>
                  <a:ext uri="{FF2B5EF4-FFF2-40B4-BE49-F238E27FC236}">
                    <a16:creationId xmlns:a16="http://schemas.microsoft.com/office/drawing/2014/main" id="{57742123-D778-4053-89BC-D300EDA404AB}"/>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B9A3FADA-39A0-4F9A-8DCB-083314BC6238}"/>
              </a:ext>
            </a:extLst>
          </p:cNvPr>
          <p:cNvSpPr>
            <a:spLocks noGrp="1"/>
          </p:cNvSpPr>
          <p:nvPr>
            <p:ph type="sldNum" sz="quarter" idx="12"/>
          </p:nvPr>
        </p:nvSpPr>
        <p:spPr/>
        <p:txBody>
          <a:bodyPr/>
          <a:lstStyle/>
          <a:p>
            <a:fld id="{79822AFB-C284-4A8E-A6EE-41BAA9C576A0}" type="slidenum">
              <a:rPr lang="ko-KR" altLang="en-US" smtClean="0"/>
              <a:t>8</a:t>
            </a:fld>
            <a:endParaRPr lang="ko-KR" altLang="en-US"/>
          </a:p>
        </p:txBody>
      </p:sp>
      <p:graphicFrame>
        <p:nvGraphicFramePr>
          <p:cNvPr id="5" name="표 4">
            <a:extLst>
              <a:ext uri="{FF2B5EF4-FFF2-40B4-BE49-F238E27FC236}">
                <a16:creationId xmlns:a16="http://schemas.microsoft.com/office/drawing/2014/main" id="{5FE9E63C-523B-43F2-A52E-8E59B97D8C9F}"/>
              </a:ext>
            </a:extLst>
          </p:cNvPr>
          <p:cNvGraphicFramePr>
            <a:graphicFrameLocks noGrp="1"/>
          </p:cNvGraphicFramePr>
          <p:nvPr>
            <p:extLst>
              <p:ext uri="{D42A27DB-BD31-4B8C-83A1-F6EECF244321}">
                <p14:modId xmlns:p14="http://schemas.microsoft.com/office/powerpoint/2010/main" val="2879659193"/>
              </p:ext>
            </p:extLst>
          </p:nvPr>
        </p:nvGraphicFramePr>
        <p:xfrm>
          <a:off x="5436096" y="1844824"/>
          <a:ext cx="1892796" cy="900216"/>
        </p:xfrm>
        <a:graphic>
          <a:graphicData uri="http://schemas.openxmlformats.org/drawingml/2006/table">
            <a:tbl>
              <a:tblPr>
                <a:tableStyleId>{5C22544A-7EE6-4342-B048-85BDC9FD1C3A}</a:tableStyleId>
              </a:tblPr>
              <a:tblGrid>
                <a:gridCol w="630932">
                  <a:extLst>
                    <a:ext uri="{9D8B030D-6E8A-4147-A177-3AD203B41FA5}">
                      <a16:colId xmlns:a16="http://schemas.microsoft.com/office/drawing/2014/main" val="425252575"/>
                    </a:ext>
                  </a:extLst>
                </a:gridCol>
                <a:gridCol w="630932">
                  <a:extLst>
                    <a:ext uri="{9D8B030D-6E8A-4147-A177-3AD203B41FA5}">
                      <a16:colId xmlns:a16="http://schemas.microsoft.com/office/drawing/2014/main" val="1335520359"/>
                    </a:ext>
                  </a:extLst>
                </a:gridCol>
                <a:gridCol w="630932">
                  <a:extLst>
                    <a:ext uri="{9D8B030D-6E8A-4147-A177-3AD203B41FA5}">
                      <a16:colId xmlns:a16="http://schemas.microsoft.com/office/drawing/2014/main" val="3835914516"/>
                    </a:ext>
                  </a:extLst>
                </a:gridCol>
              </a:tblGrid>
              <a:tr h="225054">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1</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2</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x</a:t>
                      </a:r>
                      <a:r>
                        <a:rPr lang="en-US" sz="1200" u="none" strike="noStrike" baseline="-25000" dirty="0">
                          <a:effectLst/>
                          <a:latin typeface="서울남산 장체M" panose="02020603020101020101" pitchFamily="18" charset="-127"/>
                          <a:ea typeface="서울남산 장체M" panose="02020603020101020101" pitchFamily="18" charset="-127"/>
                        </a:rPr>
                        <a:t>3</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161263"/>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0</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3</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4</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39376623"/>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1</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4</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5</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32892051"/>
                  </a:ext>
                </a:extLst>
              </a:tr>
              <a:tr h="225054">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2</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5</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6</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3612432"/>
                  </a:ext>
                </a:extLst>
              </a:tr>
            </a:tbl>
          </a:graphicData>
        </a:graphic>
      </p:graphicFrame>
      <p:pic>
        <p:nvPicPr>
          <p:cNvPr id="6" name="그림 5">
            <a:extLst>
              <a:ext uri="{FF2B5EF4-FFF2-40B4-BE49-F238E27FC236}">
                <a16:creationId xmlns:a16="http://schemas.microsoft.com/office/drawing/2014/main" id="{CD0DE421-5654-4307-A4B8-E225983D41A8}"/>
              </a:ext>
            </a:extLst>
          </p:cNvPr>
          <p:cNvPicPr>
            <a:picLocks noChangeAspect="1"/>
          </p:cNvPicPr>
          <p:nvPr/>
        </p:nvPicPr>
        <p:blipFill>
          <a:blip r:embed="rId3"/>
          <a:stretch>
            <a:fillRect/>
          </a:stretch>
        </p:blipFill>
        <p:spPr>
          <a:xfrm>
            <a:off x="4860032" y="3166737"/>
            <a:ext cx="3868083" cy="3370851"/>
          </a:xfrm>
          <a:prstGeom prst="rect">
            <a:avLst/>
          </a:prstGeom>
        </p:spPr>
      </p:pic>
      <p:graphicFrame>
        <p:nvGraphicFramePr>
          <p:cNvPr id="8" name="표 7">
            <a:extLst>
              <a:ext uri="{FF2B5EF4-FFF2-40B4-BE49-F238E27FC236}">
                <a16:creationId xmlns:a16="http://schemas.microsoft.com/office/drawing/2014/main" id="{AADCEA02-3461-4D2C-897A-EDA941C13D76}"/>
              </a:ext>
            </a:extLst>
          </p:cNvPr>
          <p:cNvGraphicFramePr>
            <a:graphicFrameLocks noGrp="1"/>
          </p:cNvGraphicFramePr>
          <p:nvPr>
            <p:extLst>
              <p:ext uri="{D42A27DB-BD31-4B8C-83A1-F6EECF244321}">
                <p14:modId xmlns:p14="http://schemas.microsoft.com/office/powerpoint/2010/main" val="2603133610"/>
              </p:ext>
            </p:extLst>
          </p:nvPr>
        </p:nvGraphicFramePr>
        <p:xfrm>
          <a:off x="1835696" y="4627215"/>
          <a:ext cx="2625768" cy="962025"/>
        </p:xfrm>
        <a:graphic>
          <a:graphicData uri="http://schemas.openxmlformats.org/drawingml/2006/table">
            <a:tbl>
              <a:tblPr>
                <a:tableStyleId>{5C22544A-7EE6-4342-B048-85BDC9FD1C3A}</a:tableStyleId>
              </a:tblPr>
              <a:tblGrid>
                <a:gridCol w="656442">
                  <a:extLst>
                    <a:ext uri="{9D8B030D-6E8A-4147-A177-3AD203B41FA5}">
                      <a16:colId xmlns:a16="http://schemas.microsoft.com/office/drawing/2014/main" val="2309797514"/>
                    </a:ext>
                  </a:extLst>
                </a:gridCol>
                <a:gridCol w="656442">
                  <a:extLst>
                    <a:ext uri="{9D8B030D-6E8A-4147-A177-3AD203B41FA5}">
                      <a16:colId xmlns:a16="http://schemas.microsoft.com/office/drawing/2014/main" val="1532682094"/>
                    </a:ext>
                  </a:extLst>
                </a:gridCol>
                <a:gridCol w="656442">
                  <a:extLst>
                    <a:ext uri="{9D8B030D-6E8A-4147-A177-3AD203B41FA5}">
                      <a16:colId xmlns:a16="http://schemas.microsoft.com/office/drawing/2014/main" val="2947802034"/>
                    </a:ext>
                  </a:extLst>
                </a:gridCol>
                <a:gridCol w="656442">
                  <a:extLst>
                    <a:ext uri="{9D8B030D-6E8A-4147-A177-3AD203B41FA5}">
                      <a16:colId xmlns:a16="http://schemas.microsoft.com/office/drawing/2014/main" val="1899050268"/>
                    </a:ext>
                  </a:extLst>
                </a:gridCol>
              </a:tblGrid>
              <a:tr h="180975">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1</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2</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3</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u="none" strike="noStrike" dirty="0">
                          <a:effectLst/>
                          <a:latin typeface="서울남산 장체M" panose="02020603020101020101" pitchFamily="18" charset="-127"/>
                          <a:ea typeface="서울남산 장체M" panose="02020603020101020101" pitchFamily="18" charset="-127"/>
                        </a:rPr>
                        <a:t>S</a:t>
                      </a:r>
                      <a:r>
                        <a:rPr lang="en-US" sz="1200" u="none" strike="noStrike" baseline="-25000" dirty="0">
                          <a:effectLst/>
                          <a:latin typeface="서울남산 장체M" panose="02020603020101020101" pitchFamily="18" charset="-127"/>
                          <a:ea typeface="서울남산 장체M" panose="02020603020101020101" pitchFamily="18" charset="-127"/>
                        </a:rPr>
                        <a:t>4</a:t>
                      </a:r>
                      <a:endParaRPr lang="en-US" sz="1200" b="0" i="0" u="none" strike="noStrike" baseline="-25000"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5511609"/>
                  </a:ext>
                </a:extLst>
              </a:tr>
              <a:tr h="180975">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10</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10</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7</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3</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61442391"/>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9</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6</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2</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09181358"/>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8</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5</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1</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4155708"/>
                  </a:ext>
                </a:extLst>
              </a:tr>
              <a:tr h="180975">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endParaRPr lang="ko-KR" altLang="en-US"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altLang="ko-KR" sz="1200" u="none" strike="noStrike">
                          <a:effectLst/>
                          <a:latin typeface="서울남산 장체M" panose="02020603020101020101" pitchFamily="18" charset="-127"/>
                          <a:ea typeface="서울남산 장체M" panose="02020603020101020101" pitchFamily="18" charset="-127"/>
                        </a:rPr>
                        <a:t>4</a:t>
                      </a:r>
                      <a:endParaRPr lang="en-US" altLang="ko-KR" sz="1200" b="0" i="0" u="none" strike="noStrike">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altLang="ko-KR" sz="1200" u="none" strike="noStrike" dirty="0">
                          <a:effectLst/>
                          <a:latin typeface="서울남산 장체M" panose="02020603020101020101" pitchFamily="18" charset="-127"/>
                          <a:ea typeface="서울남산 장체M" panose="02020603020101020101" pitchFamily="18" charset="-127"/>
                        </a:rPr>
                        <a:t>0</a:t>
                      </a:r>
                      <a:endParaRPr lang="en-US" altLang="ko-KR" sz="1200" b="0" i="0" u="none" strike="noStrike" dirty="0">
                        <a:solidFill>
                          <a:srgbClr val="000000"/>
                        </a:solidFill>
                        <a:effectLst/>
                        <a:latin typeface="서울남산 장체M" panose="02020603020101020101" pitchFamily="18" charset="-127"/>
                        <a:ea typeface="서울남산 장체M" panose="02020603020101020101" pitchFamily="18" charset="-127"/>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665990"/>
                  </a:ext>
                </a:extLst>
              </a:tr>
            </a:tbl>
          </a:graphicData>
        </a:graphic>
      </p:graphicFrame>
    </p:spTree>
    <p:extLst>
      <p:ext uri="{BB962C8B-B14F-4D97-AF65-F5344CB8AC3E}">
        <p14:creationId xmlns:p14="http://schemas.microsoft.com/office/powerpoint/2010/main" val="3705138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1C9CB1-DE67-42F6-A8CC-E07E7DAB2EA3}"/>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2F144DCA-1B5F-4005-B1C1-1E7A0F354B6C}"/>
              </a:ext>
            </a:extLst>
          </p:cNvPr>
          <p:cNvSpPr>
            <a:spLocks noGrp="1"/>
          </p:cNvSpPr>
          <p:nvPr>
            <p:ph idx="1"/>
          </p:nvPr>
        </p:nvSpPr>
        <p:spPr>
          <a:xfrm>
            <a:off x="628650" y="1268760"/>
            <a:ext cx="7886700" cy="5328592"/>
          </a:xfrm>
        </p:spPr>
        <p:txBody>
          <a:bodyPr/>
          <a:lstStyle/>
          <a:p>
            <a:r>
              <a:rPr lang="en-US" altLang="ko-KR" dirty="0"/>
              <a:t> Net Benefit Calculation &amp; Objective Setting</a:t>
            </a:r>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lvl="1"/>
            <a:endParaRPr lang="en-US" altLang="ko-KR" dirty="0"/>
          </a:p>
          <a:p>
            <a:pPr lvl="1"/>
            <a:endParaRPr lang="en-US" altLang="ko-KR" dirty="0"/>
          </a:p>
          <a:p>
            <a:pPr lvl="1"/>
            <a:r>
              <a:rPr lang="en-US" altLang="ko-KR" dirty="0"/>
              <a:t> </a:t>
            </a:r>
            <a:r>
              <a:rPr lang="ko-KR" altLang="en-US" dirty="0"/>
              <a:t>어느 길로 가야 가장 최적일까</a:t>
            </a:r>
            <a:r>
              <a:rPr lang="en-US" altLang="ko-KR" dirty="0"/>
              <a:t>?</a:t>
            </a:r>
            <a:br>
              <a:rPr lang="en-US" altLang="ko-KR" dirty="0"/>
            </a:br>
            <a:r>
              <a:rPr lang="en-US" altLang="ko-KR" dirty="0"/>
              <a:t>(=</a:t>
            </a:r>
            <a:r>
              <a:rPr lang="ko-KR" altLang="en-US" dirty="0"/>
              <a:t>최대의 이익이 가능할까</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3DA93521-867C-412C-96A5-425AA1FDEE84}"/>
              </a:ext>
            </a:extLst>
          </p:cNvPr>
          <p:cNvSpPr>
            <a:spLocks noGrp="1"/>
          </p:cNvSpPr>
          <p:nvPr>
            <p:ph type="sldNum" sz="quarter" idx="12"/>
          </p:nvPr>
        </p:nvSpPr>
        <p:spPr/>
        <p:txBody>
          <a:bodyPr/>
          <a:lstStyle/>
          <a:p>
            <a:fld id="{79822AFB-C284-4A8E-A6EE-41BAA9C576A0}" type="slidenum">
              <a:rPr lang="ko-KR" altLang="en-US" smtClean="0"/>
              <a:t>9</a:t>
            </a:fld>
            <a:endParaRPr lang="ko-KR" altLang="en-US"/>
          </a:p>
        </p:txBody>
      </p:sp>
      <p:pic>
        <p:nvPicPr>
          <p:cNvPr id="6" name="그림 5">
            <a:extLst>
              <a:ext uri="{FF2B5EF4-FFF2-40B4-BE49-F238E27FC236}">
                <a16:creationId xmlns:a16="http://schemas.microsoft.com/office/drawing/2014/main" id="{A636AD6F-F70C-42CF-9FC6-611CF4A22629}"/>
              </a:ext>
            </a:extLst>
          </p:cNvPr>
          <p:cNvPicPr>
            <a:picLocks noChangeAspect="1"/>
          </p:cNvPicPr>
          <p:nvPr/>
        </p:nvPicPr>
        <p:blipFill>
          <a:blip r:embed="rId2"/>
          <a:stretch>
            <a:fillRect/>
          </a:stretch>
        </p:blipFill>
        <p:spPr>
          <a:xfrm>
            <a:off x="1115616" y="1813750"/>
            <a:ext cx="3240360" cy="2617214"/>
          </a:xfrm>
          <a:prstGeom prst="rect">
            <a:avLst/>
          </a:prstGeom>
        </p:spPr>
      </p:pic>
      <p:pic>
        <p:nvPicPr>
          <p:cNvPr id="7" name="그림 6">
            <a:extLst>
              <a:ext uri="{FF2B5EF4-FFF2-40B4-BE49-F238E27FC236}">
                <a16:creationId xmlns:a16="http://schemas.microsoft.com/office/drawing/2014/main" id="{A0881F4B-2987-4178-B793-4EF518047209}"/>
              </a:ext>
            </a:extLst>
          </p:cNvPr>
          <p:cNvPicPr>
            <a:picLocks noChangeAspect="1"/>
          </p:cNvPicPr>
          <p:nvPr/>
        </p:nvPicPr>
        <p:blipFill>
          <a:blip r:embed="rId3"/>
          <a:stretch>
            <a:fillRect/>
          </a:stretch>
        </p:blipFill>
        <p:spPr>
          <a:xfrm>
            <a:off x="4669741" y="1735434"/>
            <a:ext cx="3960440" cy="3387132"/>
          </a:xfrm>
          <a:prstGeom prst="rect">
            <a:avLst/>
          </a:prstGeom>
        </p:spPr>
      </p:pic>
    </p:spTree>
    <p:extLst>
      <p:ext uri="{BB962C8B-B14F-4D97-AF65-F5344CB8AC3E}">
        <p14:creationId xmlns:p14="http://schemas.microsoft.com/office/powerpoint/2010/main" val="350817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D3ED36-CA1A-4CA4-88C9-B0904F439930}"/>
              </a:ext>
            </a:extLst>
          </p:cNvPr>
          <p:cNvSpPr>
            <a:spLocks noGrp="1"/>
          </p:cNvSpPr>
          <p:nvPr>
            <p:ph type="title"/>
          </p:nvPr>
        </p:nvSpPr>
        <p:spPr/>
        <p:txBody>
          <a:bodyPr/>
          <a:lstStyle/>
          <a:p>
            <a:r>
              <a:rPr lang="en-US" altLang="ko-KR" dirty="0"/>
              <a:t>Water Allocation Example (p.105~)</a:t>
            </a:r>
            <a:endParaRPr lang="ko-KR" altLang="en-US" dirty="0"/>
          </a:p>
        </p:txBody>
      </p:sp>
      <p:sp>
        <p:nvSpPr>
          <p:cNvPr id="4" name="슬라이드 번호 개체 틀 3">
            <a:extLst>
              <a:ext uri="{FF2B5EF4-FFF2-40B4-BE49-F238E27FC236}">
                <a16:creationId xmlns:a16="http://schemas.microsoft.com/office/drawing/2014/main" id="{3F7F6FF8-02F8-44BA-A577-EF2D9FCE97EC}"/>
              </a:ext>
            </a:extLst>
          </p:cNvPr>
          <p:cNvSpPr>
            <a:spLocks noGrp="1"/>
          </p:cNvSpPr>
          <p:nvPr>
            <p:ph type="sldNum" sz="quarter" idx="12"/>
          </p:nvPr>
        </p:nvSpPr>
        <p:spPr/>
        <p:txBody>
          <a:bodyPr/>
          <a:lstStyle/>
          <a:p>
            <a:fld id="{79822AFB-C284-4A8E-A6EE-41BAA9C576A0}" type="slidenum">
              <a:rPr lang="ko-KR" altLang="en-US" smtClean="0"/>
              <a:t>10</a:t>
            </a:fld>
            <a:endParaRPr lang="ko-KR" altLang="en-US"/>
          </a:p>
        </p:txBody>
      </p:sp>
      <p:pic>
        <p:nvPicPr>
          <p:cNvPr id="5" name="그림 4">
            <a:extLst>
              <a:ext uri="{FF2B5EF4-FFF2-40B4-BE49-F238E27FC236}">
                <a16:creationId xmlns:a16="http://schemas.microsoft.com/office/drawing/2014/main" id="{F061545D-68C2-4233-88D1-539782DADA6A}"/>
              </a:ext>
            </a:extLst>
          </p:cNvPr>
          <p:cNvPicPr>
            <a:picLocks noChangeAspect="1"/>
          </p:cNvPicPr>
          <p:nvPr/>
        </p:nvPicPr>
        <p:blipFill>
          <a:blip r:embed="rId2"/>
          <a:stretch>
            <a:fillRect/>
          </a:stretch>
        </p:blipFill>
        <p:spPr>
          <a:xfrm>
            <a:off x="1043608" y="1124745"/>
            <a:ext cx="3227754" cy="766184"/>
          </a:xfrm>
          <a:prstGeom prst="rect">
            <a:avLst/>
          </a:prstGeom>
        </p:spPr>
      </p:pic>
      <p:pic>
        <p:nvPicPr>
          <p:cNvPr id="6" name="그림 5">
            <a:extLst>
              <a:ext uri="{FF2B5EF4-FFF2-40B4-BE49-F238E27FC236}">
                <a16:creationId xmlns:a16="http://schemas.microsoft.com/office/drawing/2014/main" id="{644FC999-7500-43F4-9C39-0DCD764B2E61}"/>
              </a:ext>
            </a:extLst>
          </p:cNvPr>
          <p:cNvPicPr>
            <a:picLocks noChangeAspect="1"/>
          </p:cNvPicPr>
          <p:nvPr/>
        </p:nvPicPr>
        <p:blipFill>
          <a:blip r:embed="rId3"/>
          <a:stretch>
            <a:fillRect/>
          </a:stretch>
        </p:blipFill>
        <p:spPr>
          <a:xfrm>
            <a:off x="1027306" y="1962936"/>
            <a:ext cx="3260359" cy="4572654"/>
          </a:xfrm>
          <a:prstGeom prst="rect">
            <a:avLst/>
          </a:prstGeom>
        </p:spPr>
      </p:pic>
      <p:pic>
        <p:nvPicPr>
          <p:cNvPr id="7" name="그림 6">
            <a:extLst>
              <a:ext uri="{FF2B5EF4-FFF2-40B4-BE49-F238E27FC236}">
                <a16:creationId xmlns:a16="http://schemas.microsoft.com/office/drawing/2014/main" id="{03EEE30C-AE75-4959-91EC-6F6FCF029998}"/>
              </a:ext>
            </a:extLst>
          </p:cNvPr>
          <p:cNvPicPr>
            <a:picLocks noChangeAspect="1"/>
          </p:cNvPicPr>
          <p:nvPr/>
        </p:nvPicPr>
        <p:blipFill>
          <a:blip r:embed="rId4"/>
          <a:stretch>
            <a:fillRect/>
          </a:stretch>
        </p:blipFill>
        <p:spPr>
          <a:xfrm>
            <a:off x="4856337" y="2492896"/>
            <a:ext cx="3260360" cy="2845556"/>
          </a:xfrm>
          <a:prstGeom prst="rect">
            <a:avLst/>
          </a:prstGeom>
        </p:spPr>
      </p:pic>
      <p:sp>
        <p:nvSpPr>
          <p:cNvPr id="8" name="내용 개체 틀 2">
            <a:extLst>
              <a:ext uri="{FF2B5EF4-FFF2-40B4-BE49-F238E27FC236}">
                <a16:creationId xmlns:a16="http://schemas.microsoft.com/office/drawing/2014/main" id="{2D756BD3-6861-410C-979D-80E26DD1938E}"/>
              </a:ext>
            </a:extLst>
          </p:cNvPr>
          <p:cNvSpPr>
            <a:spLocks noGrp="1"/>
          </p:cNvSpPr>
          <p:nvPr>
            <p:ph idx="1"/>
          </p:nvPr>
        </p:nvSpPr>
        <p:spPr>
          <a:xfrm>
            <a:off x="4702622" y="1268760"/>
            <a:ext cx="3812727" cy="5328592"/>
          </a:xfrm>
        </p:spPr>
        <p:txBody>
          <a:bodyPr/>
          <a:lstStyle/>
          <a:p>
            <a:r>
              <a:rPr lang="en-US" altLang="ko-KR" dirty="0"/>
              <a:t> Problem</a:t>
            </a:r>
            <a:r>
              <a:rPr lang="ko-KR" altLang="en-US" dirty="0"/>
              <a:t> </a:t>
            </a:r>
            <a:r>
              <a:rPr lang="en-US" altLang="ko-KR" dirty="0"/>
              <a:t>Formulation</a:t>
            </a:r>
            <a:endParaRPr lang="ko-KR" altLang="en-US" dirty="0"/>
          </a:p>
        </p:txBody>
      </p:sp>
    </p:spTree>
    <p:extLst>
      <p:ext uri="{BB962C8B-B14F-4D97-AF65-F5344CB8AC3E}">
        <p14:creationId xmlns:p14="http://schemas.microsoft.com/office/powerpoint/2010/main" val="179255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DE22B0-2C16-40FB-83C1-36B3086653F2}"/>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9E2213E1-B900-4815-AB2D-9209A853F009}"/>
              </a:ext>
            </a:extLst>
          </p:cNvPr>
          <p:cNvSpPr>
            <a:spLocks noGrp="1"/>
          </p:cNvSpPr>
          <p:nvPr>
            <p:ph idx="1"/>
          </p:nvPr>
        </p:nvSpPr>
        <p:spPr/>
        <p:txBody>
          <a:bodyPr/>
          <a:lstStyle/>
          <a:p>
            <a:r>
              <a:rPr lang="en-US" altLang="ko-KR" dirty="0"/>
              <a:t> Problem Solving (Backward-moving = forward looking)</a:t>
            </a:r>
            <a:endParaRPr lang="ko-KR" altLang="en-US" dirty="0"/>
          </a:p>
        </p:txBody>
      </p:sp>
      <p:sp>
        <p:nvSpPr>
          <p:cNvPr id="4" name="슬라이드 번호 개체 틀 3">
            <a:extLst>
              <a:ext uri="{FF2B5EF4-FFF2-40B4-BE49-F238E27FC236}">
                <a16:creationId xmlns:a16="http://schemas.microsoft.com/office/drawing/2014/main" id="{70254CF9-95C2-4BB9-B465-7E1520DDFEB1}"/>
              </a:ext>
            </a:extLst>
          </p:cNvPr>
          <p:cNvSpPr>
            <a:spLocks noGrp="1"/>
          </p:cNvSpPr>
          <p:nvPr>
            <p:ph type="sldNum" sz="quarter" idx="12"/>
          </p:nvPr>
        </p:nvSpPr>
        <p:spPr/>
        <p:txBody>
          <a:bodyPr/>
          <a:lstStyle/>
          <a:p>
            <a:fld id="{79822AFB-C284-4A8E-A6EE-41BAA9C576A0}" type="slidenum">
              <a:rPr lang="ko-KR" altLang="en-US" smtClean="0"/>
              <a:t>11</a:t>
            </a:fld>
            <a:endParaRPr lang="ko-KR" altLang="en-US"/>
          </a:p>
        </p:txBody>
      </p:sp>
      <p:pic>
        <p:nvPicPr>
          <p:cNvPr id="35" name="그림 34">
            <a:extLst>
              <a:ext uri="{FF2B5EF4-FFF2-40B4-BE49-F238E27FC236}">
                <a16:creationId xmlns:a16="http://schemas.microsoft.com/office/drawing/2014/main" id="{BD8552FF-E524-4CA2-A7A2-9DC49B5A9D46}"/>
              </a:ext>
            </a:extLst>
          </p:cNvPr>
          <p:cNvPicPr>
            <a:picLocks noChangeAspect="1"/>
          </p:cNvPicPr>
          <p:nvPr/>
        </p:nvPicPr>
        <p:blipFill>
          <a:blip r:embed="rId2"/>
          <a:stretch>
            <a:fillRect/>
          </a:stretch>
        </p:blipFill>
        <p:spPr>
          <a:xfrm>
            <a:off x="2039916" y="1905508"/>
            <a:ext cx="5064168" cy="4392911"/>
          </a:xfrm>
          <a:prstGeom prst="rect">
            <a:avLst/>
          </a:prstGeom>
        </p:spPr>
      </p:pic>
      <p:sp>
        <p:nvSpPr>
          <p:cNvPr id="36" name="직사각형 35">
            <a:extLst>
              <a:ext uri="{FF2B5EF4-FFF2-40B4-BE49-F238E27FC236}">
                <a16:creationId xmlns:a16="http://schemas.microsoft.com/office/drawing/2014/main" id="{9C2D2869-B25F-4D32-AFFF-E71FE12D7A5E}"/>
              </a:ext>
            </a:extLst>
          </p:cNvPr>
          <p:cNvSpPr/>
          <p:nvPr/>
        </p:nvSpPr>
        <p:spPr>
          <a:xfrm>
            <a:off x="5398640" y="2009768"/>
            <a:ext cx="2135521"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①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grpSp>
        <p:nvGrpSpPr>
          <p:cNvPr id="37" name="그룹 36">
            <a:extLst>
              <a:ext uri="{FF2B5EF4-FFF2-40B4-BE49-F238E27FC236}">
                <a16:creationId xmlns:a16="http://schemas.microsoft.com/office/drawing/2014/main" id="{EC19A30E-34C6-4C2E-9051-07D72F66CDEF}"/>
              </a:ext>
            </a:extLst>
          </p:cNvPr>
          <p:cNvGrpSpPr/>
          <p:nvPr/>
        </p:nvGrpSpPr>
        <p:grpSpPr>
          <a:xfrm>
            <a:off x="5398640" y="2377581"/>
            <a:ext cx="428340" cy="3426749"/>
            <a:chOff x="4723931" y="2745373"/>
            <a:chExt cx="428340" cy="3426749"/>
          </a:xfrm>
        </p:grpSpPr>
        <p:sp>
          <p:nvSpPr>
            <p:cNvPr id="38" name="타원 37">
              <a:extLst>
                <a:ext uri="{FF2B5EF4-FFF2-40B4-BE49-F238E27FC236}">
                  <a16:creationId xmlns:a16="http://schemas.microsoft.com/office/drawing/2014/main" id="{8AD8AD74-70B1-43DD-AA53-A5A850F2440A}"/>
                </a:ext>
              </a:extLst>
            </p:cNvPr>
            <p:cNvSpPr/>
            <p:nvPr/>
          </p:nvSpPr>
          <p:spPr>
            <a:xfrm>
              <a:off x="4733925" y="2914650"/>
              <a:ext cx="390525" cy="8024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9" name="구부러진 연결선 7">
              <a:extLst>
                <a:ext uri="{FF2B5EF4-FFF2-40B4-BE49-F238E27FC236}">
                  <a16:creationId xmlns:a16="http://schemas.microsoft.com/office/drawing/2014/main" id="{2AE0F318-F776-4105-882B-A9244770C869}"/>
                </a:ext>
              </a:extLst>
            </p:cNvPr>
            <p:cNvCxnSpPr>
              <a:stCxn id="38" idx="7"/>
            </p:cNvCxnSpPr>
            <p:nvPr/>
          </p:nvCxnSpPr>
          <p:spPr>
            <a:xfrm rot="16200000" flipV="1">
              <a:off x="4775866" y="2740778"/>
              <a:ext cx="286798"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타원 39">
              <a:extLst>
                <a:ext uri="{FF2B5EF4-FFF2-40B4-BE49-F238E27FC236}">
                  <a16:creationId xmlns:a16="http://schemas.microsoft.com/office/drawing/2014/main" id="{7D446AFE-16F6-4000-9033-354BA107D98E}"/>
                </a:ext>
              </a:extLst>
            </p:cNvPr>
            <p:cNvSpPr/>
            <p:nvPr/>
          </p:nvSpPr>
          <p:spPr>
            <a:xfrm>
              <a:off x="4723931" y="3882448"/>
              <a:ext cx="390525" cy="8024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1" name="구부러진 연결선 9">
              <a:extLst>
                <a:ext uri="{FF2B5EF4-FFF2-40B4-BE49-F238E27FC236}">
                  <a16:creationId xmlns:a16="http://schemas.microsoft.com/office/drawing/2014/main" id="{C36CBEBC-D577-4493-8F38-67F776A52C47}"/>
                </a:ext>
              </a:extLst>
            </p:cNvPr>
            <p:cNvCxnSpPr>
              <a:stCxn id="40" idx="7"/>
            </p:cNvCxnSpPr>
            <p:nvPr/>
          </p:nvCxnSpPr>
          <p:spPr>
            <a:xfrm rot="16200000" flipV="1">
              <a:off x="4765872" y="3708576"/>
              <a:ext cx="286798"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타원 41">
              <a:extLst>
                <a:ext uri="{FF2B5EF4-FFF2-40B4-BE49-F238E27FC236}">
                  <a16:creationId xmlns:a16="http://schemas.microsoft.com/office/drawing/2014/main" id="{64082DD3-1BBE-41B9-B9D1-850036FAEB01}"/>
                </a:ext>
              </a:extLst>
            </p:cNvPr>
            <p:cNvSpPr/>
            <p:nvPr/>
          </p:nvSpPr>
          <p:spPr>
            <a:xfrm>
              <a:off x="4723931" y="4862730"/>
              <a:ext cx="390525" cy="57604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3" name="구부러진 연결선 11">
              <a:extLst>
                <a:ext uri="{FF2B5EF4-FFF2-40B4-BE49-F238E27FC236}">
                  <a16:creationId xmlns:a16="http://schemas.microsoft.com/office/drawing/2014/main" id="{26D84194-E07A-4A6A-B56D-1304F958555A}"/>
                </a:ext>
              </a:extLst>
            </p:cNvPr>
            <p:cNvCxnSpPr>
              <a:stCxn id="42" idx="7"/>
            </p:cNvCxnSpPr>
            <p:nvPr/>
          </p:nvCxnSpPr>
          <p:spPr>
            <a:xfrm rot="16200000" flipV="1">
              <a:off x="4802292" y="4692117"/>
              <a:ext cx="213959" cy="295988"/>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타원 43">
              <a:extLst>
                <a:ext uri="{FF2B5EF4-FFF2-40B4-BE49-F238E27FC236}">
                  <a16:creationId xmlns:a16="http://schemas.microsoft.com/office/drawing/2014/main" id="{B7399613-E749-4B1F-9805-A1393DCF82B4}"/>
                </a:ext>
              </a:extLst>
            </p:cNvPr>
            <p:cNvSpPr/>
            <p:nvPr/>
          </p:nvSpPr>
          <p:spPr>
            <a:xfrm>
              <a:off x="4761746" y="5791200"/>
              <a:ext cx="390525" cy="38092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구부러진 연결선 13">
              <a:extLst>
                <a:ext uri="{FF2B5EF4-FFF2-40B4-BE49-F238E27FC236}">
                  <a16:creationId xmlns:a16="http://schemas.microsoft.com/office/drawing/2014/main" id="{5DD9F0E6-501A-4E98-BA9B-B56983234F7B}"/>
                </a:ext>
              </a:extLst>
            </p:cNvPr>
            <p:cNvCxnSpPr>
              <a:stCxn id="44" idx="7"/>
            </p:cNvCxnSpPr>
            <p:nvPr/>
          </p:nvCxnSpPr>
          <p:spPr>
            <a:xfrm rot="16200000" flipV="1">
              <a:off x="4795569" y="5547474"/>
              <a:ext cx="237868" cy="361154"/>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6" name="직사각형 45">
            <a:extLst>
              <a:ext uri="{FF2B5EF4-FFF2-40B4-BE49-F238E27FC236}">
                <a16:creationId xmlns:a16="http://schemas.microsoft.com/office/drawing/2014/main" id="{5BE8F048-2A10-4597-A960-61F4254783EC}"/>
              </a:ext>
            </a:extLst>
          </p:cNvPr>
          <p:cNvSpPr/>
          <p:nvPr/>
        </p:nvSpPr>
        <p:spPr>
          <a:xfrm>
            <a:off x="2231382" y="2254006"/>
            <a:ext cx="2872902"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②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grpSp>
        <p:nvGrpSpPr>
          <p:cNvPr id="47" name="그룹 46">
            <a:extLst>
              <a:ext uri="{FF2B5EF4-FFF2-40B4-BE49-F238E27FC236}">
                <a16:creationId xmlns:a16="http://schemas.microsoft.com/office/drawing/2014/main" id="{4D6D3FCA-1039-4C6F-B510-02BD68082DE2}"/>
              </a:ext>
            </a:extLst>
          </p:cNvPr>
          <p:cNvGrpSpPr/>
          <p:nvPr/>
        </p:nvGrpSpPr>
        <p:grpSpPr>
          <a:xfrm>
            <a:off x="4135130" y="2743254"/>
            <a:ext cx="870779" cy="1048526"/>
            <a:chOff x="3460421" y="3111046"/>
            <a:chExt cx="870779" cy="1048526"/>
          </a:xfrm>
        </p:grpSpPr>
        <p:sp>
          <p:nvSpPr>
            <p:cNvPr id="48" name="TextBox 47">
              <a:extLst>
                <a:ext uri="{FF2B5EF4-FFF2-40B4-BE49-F238E27FC236}">
                  <a16:creationId xmlns:a16="http://schemas.microsoft.com/office/drawing/2014/main" id="{56EFFD40-4D17-4026-839E-6F2FF0787FBB}"/>
                </a:ext>
              </a:extLst>
            </p:cNvPr>
            <p:cNvSpPr txBox="1"/>
            <p:nvPr/>
          </p:nvSpPr>
          <p:spPr>
            <a:xfrm>
              <a:off x="3565235" y="3139843"/>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49" name="TextBox 48">
              <a:extLst>
                <a:ext uri="{FF2B5EF4-FFF2-40B4-BE49-F238E27FC236}">
                  <a16:creationId xmlns:a16="http://schemas.microsoft.com/office/drawing/2014/main" id="{2E832157-5042-4911-A1A7-920CB08FA95D}"/>
                </a:ext>
              </a:extLst>
            </p:cNvPr>
            <p:cNvSpPr txBox="1"/>
            <p:nvPr/>
          </p:nvSpPr>
          <p:spPr>
            <a:xfrm>
              <a:off x="3672895" y="3485853"/>
              <a:ext cx="638175" cy="261610"/>
            </a:xfrm>
            <a:prstGeom prst="rect">
              <a:avLst/>
            </a:prstGeom>
            <a:noFill/>
          </p:spPr>
          <p:txBody>
            <a:bodyPr wrap="square" rtlCol="0">
              <a:spAutoFit/>
            </a:bodyPr>
            <a:lstStyle/>
            <a:p>
              <a:r>
                <a:rPr lang="en-US" altLang="ko-KR" sz="1100" b="1" dirty="0"/>
                <a:t>52.3</a:t>
              </a:r>
              <a:endParaRPr lang="ko-KR" altLang="en-US" sz="1100" b="1" dirty="0"/>
            </a:p>
          </p:txBody>
        </p:sp>
        <p:sp>
          <p:nvSpPr>
            <p:cNvPr id="50" name="TextBox 49">
              <a:extLst>
                <a:ext uri="{FF2B5EF4-FFF2-40B4-BE49-F238E27FC236}">
                  <a16:creationId xmlns:a16="http://schemas.microsoft.com/office/drawing/2014/main" id="{FC8F005E-0FCD-4D45-8B2B-0474F12B25F5}"/>
                </a:ext>
              </a:extLst>
            </p:cNvPr>
            <p:cNvSpPr txBox="1"/>
            <p:nvPr/>
          </p:nvSpPr>
          <p:spPr>
            <a:xfrm>
              <a:off x="3693025" y="3869164"/>
              <a:ext cx="638175" cy="261610"/>
            </a:xfrm>
            <a:prstGeom prst="rect">
              <a:avLst/>
            </a:prstGeom>
            <a:noFill/>
          </p:spPr>
          <p:txBody>
            <a:bodyPr wrap="square" rtlCol="0">
              <a:spAutoFit/>
            </a:bodyPr>
            <a:lstStyle/>
            <a:p>
              <a:r>
                <a:rPr lang="en-US" altLang="ko-KR" sz="1100" b="1" dirty="0"/>
                <a:t>52.2</a:t>
              </a:r>
              <a:endParaRPr lang="ko-KR" altLang="en-US" sz="1100" b="1" dirty="0"/>
            </a:p>
          </p:txBody>
        </p:sp>
        <p:sp>
          <p:nvSpPr>
            <p:cNvPr id="51" name="타원 50">
              <a:extLst>
                <a:ext uri="{FF2B5EF4-FFF2-40B4-BE49-F238E27FC236}">
                  <a16:creationId xmlns:a16="http://schemas.microsoft.com/office/drawing/2014/main" id="{75554FCD-D10C-4D37-841A-10B4EB75BCFE}"/>
                </a:ext>
              </a:extLst>
            </p:cNvPr>
            <p:cNvSpPr/>
            <p:nvPr/>
          </p:nvSpPr>
          <p:spPr>
            <a:xfrm>
              <a:off x="3460421" y="3111046"/>
              <a:ext cx="715173" cy="10485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2" name="그룹 51">
            <a:extLst>
              <a:ext uri="{FF2B5EF4-FFF2-40B4-BE49-F238E27FC236}">
                <a16:creationId xmlns:a16="http://schemas.microsoft.com/office/drawing/2014/main" id="{6E77B156-D547-43DF-940F-8F7D903EBA2C}"/>
              </a:ext>
            </a:extLst>
          </p:cNvPr>
          <p:cNvGrpSpPr/>
          <p:nvPr/>
        </p:nvGrpSpPr>
        <p:grpSpPr>
          <a:xfrm>
            <a:off x="4309104" y="3762521"/>
            <a:ext cx="726515" cy="1048526"/>
            <a:chOff x="3634395" y="4130313"/>
            <a:chExt cx="726515" cy="1048526"/>
          </a:xfrm>
        </p:grpSpPr>
        <p:sp>
          <p:nvSpPr>
            <p:cNvPr id="53" name="TextBox 52">
              <a:extLst>
                <a:ext uri="{FF2B5EF4-FFF2-40B4-BE49-F238E27FC236}">
                  <a16:creationId xmlns:a16="http://schemas.microsoft.com/office/drawing/2014/main" id="{8FF1B599-CF8B-4058-B675-BBD9ABD3ADAC}"/>
                </a:ext>
              </a:extLst>
            </p:cNvPr>
            <p:cNvSpPr txBox="1"/>
            <p:nvPr/>
          </p:nvSpPr>
          <p:spPr>
            <a:xfrm>
              <a:off x="3722735" y="4188369"/>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54" name="TextBox 53">
              <a:extLst>
                <a:ext uri="{FF2B5EF4-FFF2-40B4-BE49-F238E27FC236}">
                  <a16:creationId xmlns:a16="http://schemas.microsoft.com/office/drawing/2014/main" id="{801B64F4-06C7-47E4-A451-9BB6A7676325}"/>
                </a:ext>
              </a:extLst>
            </p:cNvPr>
            <p:cNvSpPr txBox="1"/>
            <p:nvPr/>
          </p:nvSpPr>
          <p:spPr>
            <a:xfrm>
              <a:off x="3722735" y="4463293"/>
              <a:ext cx="638175" cy="261610"/>
            </a:xfrm>
            <a:prstGeom prst="rect">
              <a:avLst/>
            </a:prstGeom>
            <a:noFill/>
          </p:spPr>
          <p:txBody>
            <a:bodyPr wrap="square" rtlCol="0">
              <a:spAutoFit/>
            </a:bodyPr>
            <a:lstStyle/>
            <a:p>
              <a:r>
                <a:rPr lang="en-US" altLang="ko-KR" sz="1100" b="1" dirty="0"/>
                <a:t>49.7</a:t>
              </a:r>
              <a:endParaRPr lang="ko-KR" altLang="en-US" sz="1100" b="1" dirty="0"/>
            </a:p>
          </p:txBody>
        </p:sp>
        <p:sp>
          <p:nvSpPr>
            <p:cNvPr id="55" name="TextBox 54">
              <a:extLst>
                <a:ext uri="{FF2B5EF4-FFF2-40B4-BE49-F238E27FC236}">
                  <a16:creationId xmlns:a16="http://schemas.microsoft.com/office/drawing/2014/main" id="{D3D44C3C-923E-4C68-8A77-D2C7760AE925}"/>
                </a:ext>
              </a:extLst>
            </p:cNvPr>
            <p:cNvSpPr txBox="1"/>
            <p:nvPr/>
          </p:nvSpPr>
          <p:spPr>
            <a:xfrm>
              <a:off x="3642233" y="4836702"/>
              <a:ext cx="638175" cy="261610"/>
            </a:xfrm>
            <a:prstGeom prst="rect">
              <a:avLst/>
            </a:prstGeom>
            <a:noFill/>
          </p:spPr>
          <p:txBody>
            <a:bodyPr wrap="square" rtlCol="0">
              <a:spAutoFit/>
            </a:bodyPr>
            <a:lstStyle/>
            <a:p>
              <a:r>
                <a:rPr lang="en-US" altLang="ko-KR" sz="1100" b="1" dirty="0"/>
                <a:t>49.0</a:t>
              </a:r>
              <a:endParaRPr lang="ko-KR" altLang="en-US" sz="1100" b="1" dirty="0"/>
            </a:p>
          </p:txBody>
        </p:sp>
        <p:sp>
          <p:nvSpPr>
            <p:cNvPr id="56" name="타원 55">
              <a:extLst>
                <a:ext uri="{FF2B5EF4-FFF2-40B4-BE49-F238E27FC236}">
                  <a16:creationId xmlns:a16="http://schemas.microsoft.com/office/drawing/2014/main" id="{BD6D5344-AE22-47EE-822E-E27CF5C42D0B}"/>
                </a:ext>
              </a:extLst>
            </p:cNvPr>
            <p:cNvSpPr/>
            <p:nvPr/>
          </p:nvSpPr>
          <p:spPr>
            <a:xfrm>
              <a:off x="3634395" y="4130313"/>
              <a:ext cx="715173" cy="1048526"/>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7" name="그룹 56">
            <a:extLst>
              <a:ext uri="{FF2B5EF4-FFF2-40B4-BE49-F238E27FC236}">
                <a16:creationId xmlns:a16="http://schemas.microsoft.com/office/drawing/2014/main" id="{F1018CB6-80FC-4C63-B24F-996D0E2735B1}"/>
              </a:ext>
            </a:extLst>
          </p:cNvPr>
          <p:cNvGrpSpPr/>
          <p:nvPr/>
        </p:nvGrpSpPr>
        <p:grpSpPr>
          <a:xfrm>
            <a:off x="4078357" y="4689283"/>
            <a:ext cx="691726" cy="763402"/>
            <a:chOff x="3403648" y="5057075"/>
            <a:chExt cx="691726" cy="763402"/>
          </a:xfrm>
        </p:grpSpPr>
        <p:sp>
          <p:nvSpPr>
            <p:cNvPr id="58" name="TextBox 57">
              <a:extLst>
                <a:ext uri="{FF2B5EF4-FFF2-40B4-BE49-F238E27FC236}">
                  <a16:creationId xmlns:a16="http://schemas.microsoft.com/office/drawing/2014/main" id="{B2253F24-7A5D-4D43-8B3F-3E422F7CCAB5}"/>
                </a:ext>
              </a:extLst>
            </p:cNvPr>
            <p:cNvSpPr txBox="1"/>
            <p:nvPr/>
          </p:nvSpPr>
          <p:spPr>
            <a:xfrm>
              <a:off x="3403648" y="5099587"/>
              <a:ext cx="638175" cy="261610"/>
            </a:xfrm>
            <a:prstGeom prst="rect">
              <a:avLst/>
            </a:prstGeom>
            <a:noFill/>
          </p:spPr>
          <p:txBody>
            <a:bodyPr wrap="square" rtlCol="0">
              <a:spAutoFit/>
            </a:bodyPr>
            <a:lstStyle/>
            <a:p>
              <a:r>
                <a:rPr lang="en-US" altLang="ko-KR" sz="1100" b="1" dirty="0"/>
                <a:t>46.8</a:t>
              </a:r>
              <a:endParaRPr lang="ko-KR" altLang="en-US" sz="1100" b="1" dirty="0"/>
            </a:p>
          </p:txBody>
        </p:sp>
        <p:sp>
          <p:nvSpPr>
            <p:cNvPr id="59" name="TextBox 58">
              <a:extLst>
                <a:ext uri="{FF2B5EF4-FFF2-40B4-BE49-F238E27FC236}">
                  <a16:creationId xmlns:a16="http://schemas.microsoft.com/office/drawing/2014/main" id="{6D0ED704-C92D-4D86-88AA-1FE5E3B2E3A2}"/>
                </a:ext>
              </a:extLst>
            </p:cNvPr>
            <p:cNvSpPr txBox="1"/>
            <p:nvPr/>
          </p:nvSpPr>
          <p:spPr>
            <a:xfrm>
              <a:off x="3457199" y="5539218"/>
              <a:ext cx="638175" cy="261610"/>
            </a:xfrm>
            <a:prstGeom prst="rect">
              <a:avLst/>
            </a:prstGeom>
            <a:noFill/>
          </p:spPr>
          <p:txBody>
            <a:bodyPr wrap="square" rtlCol="0">
              <a:spAutoFit/>
            </a:bodyPr>
            <a:lstStyle/>
            <a:p>
              <a:r>
                <a:rPr lang="en-US" altLang="ko-KR" sz="1100" b="1" dirty="0"/>
                <a:t>46.5</a:t>
              </a:r>
              <a:endParaRPr lang="ko-KR" altLang="en-US" sz="1100" b="1" dirty="0"/>
            </a:p>
          </p:txBody>
        </p:sp>
        <p:sp>
          <p:nvSpPr>
            <p:cNvPr id="60" name="타원 59">
              <a:extLst>
                <a:ext uri="{FF2B5EF4-FFF2-40B4-BE49-F238E27FC236}">
                  <a16:creationId xmlns:a16="http://schemas.microsoft.com/office/drawing/2014/main" id="{0AE23DE9-6550-426A-A09E-31222FCB6D9F}"/>
                </a:ext>
              </a:extLst>
            </p:cNvPr>
            <p:cNvSpPr/>
            <p:nvPr/>
          </p:nvSpPr>
          <p:spPr>
            <a:xfrm>
              <a:off x="3425267" y="5057075"/>
              <a:ext cx="614839" cy="76340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1" name="직사각형 60">
            <a:extLst>
              <a:ext uri="{FF2B5EF4-FFF2-40B4-BE49-F238E27FC236}">
                <a16:creationId xmlns:a16="http://schemas.microsoft.com/office/drawing/2014/main" id="{25B4EC53-7348-4410-B91B-FC394C511B24}"/>
              </a:ext>
            </a:extLst>
          </p:cNvPr>
          <p:cNvSpPr/>
          <p:nvPr/>
        </p:nvSpPr>
        <p:spPr>
          <a:xfrm>
            <a:off x="1109954" y="2985846"/>
            <a:ext cx="2040943" cy="646331"/>
          </a:xfrm>
          <a:prstGeom prst="rect">
            <a:avLst/>
          </a:prstGeom>
        </p:spPr>
        <p:txBody>
          <a:bodyPr wrap="none">
            <a:spAutoFit/>
          </a:bodyPr>
          <a:lstStyle/>
          <a:p>
            <a:pPr algn="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③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p>
          <a:p>
            <a:pPr algn="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62" name="타원 61">
            <a:extLst>
              <a:ext uri="{FF2B5EF4-FFF2-40B4-BE49-F238E27FC236}">
                <a16:creationId xmlns:a16="http://schemas.microsoft.com/office/drawing/2014/main" id="{D935B962-0AE0-44C4-8499-007DD0D89917}"/>
              </a:ext>
            </a:extLst>
          </p:cNvPr>
          <p:cNvSpPr/>
          <p:nvPr/>
        </p:nvSpPr>
        <p:spPr>
          <a:xfrm>
            <a:off x="1710707" y="4431703"/>
            <a:ext cx="706581" cy="702516"/>
          </a:xfrm>
          <a:prstGeom prst="ellipse">
            <a:avLst/>
          </a:prstGeom>
          <a:solidFill>
            <a:srgbClr val="E1FFE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1훈검정고무신 Regular" panose="02020603020101020101" pitchFamily="18" charset="-127"/>
                <a:ea typeface="1훈검정고무신 Regular" panose="02020603020101020101" pitchFamily="18" charset="-127"/>
              </a:rPr>
              <a:t>Initial value=0</a:t>
            </a:r>
            <a:endParaRPr lang="ko-KR" altLang="en-US" sz="1050" dirty="0">
              <a:solidFill>
                <a:schemeClr val="tx1"/>
              </a:solidFill>
              <a:latin typeface="1훈검정고무신 Regular" panose="02020603020101020101" pitchFamily="18" charset="-127"/>
              <a:ea typeface="1훈검정고무신 Regular" panose="02020603020101020101" pitchFamily="18" charset="-127"/>
            </a:endParaRPr>
          </a:p>
        </p:txBody>
      </p:sp>
      <p:cxnSp>
        <p:nvCxnSpPr>
          <p:cNvPr id="63" name="직선 화살표 연결선 62">
            <a:extLst>
              <a:ext uri="{FF2B5EF4-FFF2-40B4-BE49-F238E27FC236}">
                <a16:creationId xmlns:a16="http://schemas.microsoft.com/office/drawing/2014/main" id="{90E77EE9-43BD-4C40-9B12-BDF7024B0189}"/>
              </a:ext>
            </a:extLst>
          </p:cNvPr>
          <p:cNvCxnSpPr>
            <a:stCxn id="62" idx="7"/>
          </p:cNvCxnSpPr>
          <p:nvPr/>
        </p:nvCxnSpPr>
        <p:spPr>
          <a:xfrm flipV="1">
            <a:off x="2313812" y="4286784"/>
            <a:ext cx="381225" cy="247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C21CE43F-E00B-431E-9B02-FE4CF9CACE57}"/>
              </a:ext>
            </a:extLst>
          </p:cNvPr>
          <p:cNvSpPr txBox="1"/>
          <p:nvPr/>
        </p:nvSpPr>
        <p:spPr>
          <a:xfrm>
            <a:off x="7340166" y="5127575"/>
            <a:ext cx="1228221" cy="923330"/>
          </a:xfrm>
          <a:prstGeom prst="rect">
            <a:avLst/>
          </a:prstGeom>
          <a:noFill/>
        </p:spPr>
        <p:txBody>
          <a:bodyPr wrap="none" rtlCol="0">
            <a:spAutoFit/>
          </a:bodyPr>
          <a:lstStyle/>
          <a:p>
            <a:r>
              <a:rPr lang="ko-KR" altLang="en-US" b="1" dirty="0">
                <a:solidFill>
                  <a:srgbClr val="FF0000"/>
                </a:solidFill>
              </a:rPr>
              <a:t>결과</a:t>
            </a:r>
            <a:r>
              <a:rPr lang="en-US" altLang="ko-KR" b="1" dirty="0">
                <a:solidFill>
                  <a:srgbClr val="FF0000"/>
                </a:solidFill>
              </a:rPr>
              <a:t>: </a:t>
            </a:r>
          </a:p>
          <a:p>
            <a:r>
              <a:rPr lang="en-US" altLang="ko-KR" b="1" dirty="0">
                <a:solidFill>
                  <a:srgbClr val="FF0000"/>
                </a:solidFill>
              </a:rPr>
              <a:t>10-9-5-0(S)</a:t>
            </a:r>
          </a:p>
          <a:p>
            <a:r>
              <a:rPr lang="en-US" altLang="ko-KR" b="1" dirty="0">
                <a:solidFill>
                  <a:srgbClr val="FF0000"/>
                </a:solidFill>
              </a:rPr>
              <a:t>1-4-5(x)</a:t>
            </a:r>
            <a:endParaRPr lang="ko-KR" altLang="en-US" b="1" dirty="0">
              <a:solidFill>
                <a:srgbClr val="FF0000"/>
              </a:solidFill>
            </a:endParaRPr>
          </a:p>
        </p:txBody>
      </p:sp>
    </p:spTree>
    <p:extLst>
      <p:ext uri="{BB962C8B-B14F-4D97-AF65-F5344CB8AC3E}">
        <p14:creationId xmlns:p14="http://schemas.microsoft.com/office/powerpoint/2010/main" val="135216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randombar(horizontal)">
                                      <p:cBhvr>
                                        <p:cTn id="11" dur="500"/>
                                        <p:tgtEl>
                                          <p:spTgt spid="3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6"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0994C-0987-4AF6-8584-70D46B227885}"/>
              </a:ext>
            </a:extLst>
          </p:cNvPr>
          <p:cNvSpPr>
            <a:spLocks noGrp="1"/>
          </p:cNvSpPr>
          <p:nvPr>
            <p:ph type="title"/>
          </p:nvPr>
        </p:nvSpPr>
        <p:spPr/>
        <p:txBody>
          <a:bodyPr/>
          <a:lstStyle/>
          <a:p>
            <a:r>
              <a:rPr lang="en-US" altLang="ko-KR" dirty="0"/>
              <a:t>Water Allocation Example (p.105~)</a:t>
            </a:r>
            <a:endParaRPr lang="ko-KR" altLang="en-US" dirty="0"/>
          </a:p>
        </p:txBody>
      </p:sp>
      <p:sp>
        <p:nvSpPr>
          <p:cNvPr id="3" name="내용 개체 틀 2">
            <a:extLst>
              <a:ext uri="{FF2B5EF4-FFF2-40B4-BE49-F238E27FC236}">
                <a16:creationId xmlns:a16="http://schemas.microsoft.com/office/drawing/2014/main" id="{32F63C77-3048-4DEB-9C74-488FD27660A7}"/>
              </a:ext>
            </a:extLst>
          </p:cNvPr>
          <p:cNvSpPr>
            <a:spLocks noGrp="1"/>
          </p:cNvSpPr>
          <p:nvPr>
            <p:ph idx="1"/>
          </p:nvPr>
        </p:nvSpPr>
        <p:spPr/>
        <p:txBody>
          <a:bodyPr/>
          <a:lstStyle/>
          <a:p>
            <a:r>
              <a:rPr lang="en-US" altLang="ko-KR" dirty="0"/>
              <a:t> Problem Solving (Forward-moving = backward looking)</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517A9253-967B-41CB-A970-592EFC819984}"/>
              </a:ext>
            </a:extLst>
          </p:cNvPr>
          <p:cNvSpPr>
            <a:spLocks noGrp="1"/>
          </p:cNvSpPr>
          <p:nvPr>
            <p:ph type="sldNum" sz="quarter" idx="12"/>
          </p:nvPr>
        </p:nvSpPr>
        <p:spPr/>
        <p:txBody>
          <a:bodyPr/>
          <a:lstStyle/>
          <a:p>
            <a:fld id="{79822AFB-C284-4A8E-A6EE-41BAA9C576A0}" type="slidenum">
              <a:rPr lang="ko-KR" altLang="en-US" smtClean="0"/>
              <a:t>12</a:t>
            </a:fld>
            <a:endParaRPr lang="ko-KR" altLang="en-US"/>
          </a:p>
        </p:txBody>
      </p:sp>
      <p:pic>
        <p:nvPicPr>
          <p:cNvPr id="5" name="그림 4">
            <a:extLst>
              <a:ext uri="{FF2B5EF4-FFF2-40B4-BE49-F238E27FC236}">
                <a16:creationId xmlns:a16="http://schemas.microsoft.com/office/drawing/2014/main" id="{18E7A31A-7277-412D-B004-85D311FB06A8}"/>
              </a:ext>
            </a:extLst>
          </p:cNvPr>
          <p:cNvPicPr>
            <a:picLocks noChangeAspect="1"/>
          </p:cNvPicPr>
          <p:nvPr/>
        </p:nvPicPr>
        <p:blipFill>
          <a:blip r:embed="rId2"/>
          <a:stretch>
            <a:fillRect/>
          </a:stretch>
        </p:blipFill>
        <p:spPr>
          <a:xfrm>
            <a:off x="1720158" y="1823678"/>
            <a:ext cx="5703683" cy="4531348"/>
          </a:xfrm>
          <a:prstGeom prst="rect">
            <a:avLst/>
          </a:prstGeom>
        </p:spPr>
      </p:pic>
      <p:sp>
        <p:nvSpPr>
          <p:cNvPr id="6" name="직사각형 5">
            <a:extLst>
              <a:ext uri="{FF2B5EF4-FFF2-40B4-BE49-F238E27FC236}">
                <a16:creationId xmlns:a16="http://schemas.microsoft.com/office/drawing/2014/main" id="{79E2A851-BDFD-459D-AAFF-460A674B1D91}"/>
              </a:ext>
            </a:extLst>
          </p:cNvPr>
          <p:cNvSpPr/>
          <p:nvPr/>
        </p:nvSpPr>
        <p:spPr>
          <a:xfrm>
            <a:off x="831318" y="3210835"/>
            <a:ext cx="2135521"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①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7" name="TextBox 6">
            <a:extLst>
              <a:ext uri="{FF2B5EF4-FFF2-40B4-BE49-F238E27FC236}">
                <a16:creationId xmlns:a16="http://schemas.microsoft.com/office/drawing/2014/main" id="{A15D7AD3-2930-43C1-8031-3A1CC8F8A19A}"/>
              </a:ext>
            </a:extLst>
          </p:cNvPr>
          <p:cNvSpPr txBox="1"/>
          <p:nvPr/>
        </p:nvSpPr>
        <p:spPr>
          <a:xfrm>
            <a:off x="3987087" y="3747696"/>
            <a:ext cx="638175" cy="261610"/>
          </a:xfrm>
          <a:prstGeom prst="rect">
            <a:avLst/>
          </a:prstGeom>
          <a:noFill/>
        </p:spPr>
        <p:txBody>
          <a:bodyPr wrap="square" rtlCol="0">
            <a:spAutoFit/>
          </a:bodyPr>
          <a:lstStyle/>
          <a:p>
            <a:r>
              <a:rPr lang="en-US" altLang="ko-KR" sz="1100" b="1" dirty="0"/>
              <a:t>19.4</a:t>
            </a:r>
            <a:endParaRPr lang="ko-KR" altLang="en-US" sz="1100" b="1" dirty="0"/>
          </a:p>
        </p:txBody>
      </p:sp>
      <p:sp>
        <p:nvSpPr>
          <p:cNvPr id="8" name="직사각형 7">
            <a:extLst>
              <a:ext uri="{FF2B5EF4-FFF2-40B4-BE49-F238E27FC236}">
                <a16:creationId xmlns:a16="http://schemas.microsoft.com/office/drawing/2014/main" id="{1F9AB5E7-08D2-4922-B09A-6D6210223C5B}"/>
              </a:ext>
            </a:extLst>
          </p:cNvPr>
          <p:cNvSpPr/>
          <p:nvPr/>
        </p:nvSpPr>
        <p:spPr>
          <a:xfrm>
            <a:off x="1919873" y="2126684"/>
            <a:ext cx="2872902" cy="369332"/>
          </a:xfrm>
          <a:prstGeom prst="rect">
            <a:avLst/>
          </a:prstGeom>
        </p:spPr>
        <p:txBody>
          <a:bodyPr wrap="none">
            <a:spAutoFit/>
          </a:bodyPr>
          <a:lstStyle/>
          <a:p>
            <a:pPr algn="ct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②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9" name="직사각형 8">
            <a:extLst>
              <a:ext uri="{FF2B5EF4-FFF2-40B4-BE49-F238E27FC236}">
                <a16:creationId xmlns:a16="http://schemas.microsoft.com/office/drawing/2014/main" id="{1B51B9B6-C6B6-4DC8-B25F-E65539F92378}"/>
              </a:ext>
            </a:extLst>
          </p:cNvPr>
          <p:cNvSpPr/>
          <p:nvPr/>
        </p:nvSpPr>
        <p:spPr>
          <a:xfrm>
            <a:off x="5263813" y="1829548"/>
            <a:ext cx="2040943" cy="646331"/>
          </a:xfrm>
          <a:prstGeom prst="rect">
            <a:avLst/>
          </a:prstGeom>
        </p:spPr>
        <p:txBody>
          <a:bodyPr wrap="none">
            <a:spAutoFit/>
          </a:bodyPr>
          <a:lstStyle/>
          <a:p>
            <a:pPr algn="r"/>
            <a:r>
              <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③ </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Maximum{NB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1</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p>
          <a:p>
            <a:pPr algn="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2</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)+NB</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(x</a:t>
            </a:r>
            <a:r>
              <a:rPr lang="en-US" altLang="ko-KR" sz="800"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3</a:t>
            </a:r>
            <a:r>
              <a:rPr lang="en-US" altLang="ko-KR"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rPr>
              <a:t>)}</a:t>
            </a:r>
            <a:endParaRPr lang="ko-KR" altLang="en-US" dirty="0">
              <a:ln>
                <a:solidFill>
                  <a:sysClr val="windowText" lastClr="000000"/>
                </a:solidFill>
              </a:ln>
              <a:solidFill>
                <a:srgbClr val="0066FF"/>
              </a:solidFill>
              <a:latin typeface="서울남산 장체M" panose="02020603020101020101" pitchFamily="18" charset="-127"/>
              <a:ea typeface="서울남산 장체M" panose="02020603020101020101" pitchFamily="18" charset="-127"/>
            </a:endParaRPr>
          </a:p>
        </p:txBody>
      </p:sp>
      <p:sp>
        <p:nvSpPr>
          <p:cNvPr id="10" name="TextBox 9">
            <a:extLst>
              <a:ext uri="{FF2B5EF4-FFF2-40B4-BE49-F238E27FC236}">
                <a16:creationId xmlns:a16="http://schemas.microsoft.com/office/drawing/2014/main" id="{E08865BB-A01A-4242-866C-36621E95E15A}"/>
              </a:ext>
            </a:extLst>
          </p:cNvPr>
          <p:cNvSpPr txBox="1"/>
          <p:nvPr/>
        </p:nvSpPr>
        <p:spPr>
          <a:xfrm>
            <a:off x="3985826" y="4056301"/>
            <a:ext cx="638175" cy="261610"/>
          </a:xfrm>
          <a:prstGeom prst="rect">
            <a:avLst/>
          </a:prstGeom>
          <a:noFill/>
        </p:spPr>
        <p:txBody>
          <a:bodyPr wrap="square" rtlCol="0">
            <a:spAutoFit/>
          </a:bodyPr>
          <a:lstStyle/>
          <a:p>
            <a:r>
              <a:rPr lang="en-US" altLang="ko-KR" sz="1100" b="1" dirty="0"/>
              <a:t>22.3</a:t>
            </a:r>
            <a:endParaRPr lang="ko-KR" altLang="en-US" sz="1100" b="1" dirty="0"/>
          </a:p>
        </p:txBody>
      </p:sp>
      <p:sp>
        <p:nvSpPr>
          <p:cNvPr id="11" name="TextBox 10">
            <a:extLst>
              <a:ext uri="{FF2B5EF4-FFF2-40B4-BE49-F238E27FC236}">
                <a16:creationId xmlns:a16="http://schemas.microsoft.com/office/drawing/2014/main" id="{0FB26FDE-402C-4CDD-9E71-516B089526C6}"/>
              </a:ext>
            </a:extLst>
          </p:cNvPr>
          <p:cNvSpPr txBox="1"/>
          <p:nvPr/>
        </p:nvSpPr>
        <p:spPr>
          <a:xfrm>
            <a:off x="4024666" y="4317911"/>
            <a:ext cx="638175" cy="261610"/>
          </a:xfrm>
          <a:prstGeom prst="rect">
            <a:avLst/>
          </a:prstGeom>
          <a:noFill/>
        </p:spPr>
        <p:txBody>
          <a:bodyPr wrap="square" rtlCol="0">
            <a:spAutoFit/>
          </a:bodyPr>
          <a:lstStyle/>
          <a:p>
            <a:r>
              <a:rPr lang="en-US" altLang="ko-KR" sz="1100" b="1" dirty="0"/>
              <a:t>24.8</a:t>
            </a:r>
            <a:endParaRPr lang="ko-KR" altLang="en-US" sz="1100" b="1" dirty="0"/>
          </a:p>
        </p:txBody>
      </p:sp>
      <p:sp>
        <p:nvSpPr>
          <p:cNvPr id="12" name="TextBox 11">
            <a:extLst>
              <a:ext uri="{FF2B5EF4-FFF2-40B4-BE49-F238E27FC236}">
                <a16:creationId xmlns:a16="http://schemas.microsoft.com/office/drawing/2014/main" id="{CD3D7CFF-083C-4F08-9659-391DD82BEE21}"/>
              </a:ext>
            </a:extLst>
          </p:cNvPr>
          <p:cNvSpPr txBox="1"/>
          <p:nvPr/>
        </p:nvSpPr>
        <p:spPr>
          <a:xfrm>
            <a:off x="3985826" y="4688221"/>
            <a:ext cx="638175" cy="261610"/>
          </a:xfrm>
          <a:prstGeom prst="rect">
            <a:avLst/>
          </a:prstGeom>
          <a:noFill/>
        </p:spPr>
        <p:txBody>
          <a:bodyPr wrap="square" rtlCol="0">
            <a:spAutoFit/>
          </a:bodyPr>
          <a:lstStyle/>
          <a:p>
            <a:r>
              <a:rPr lang="en-US" altLang="ko-KR" sz="1100" b="1" dirty="0"/>
              <a:t>22.0</a:t>
            </a:r>
            <a:endParaRPr lang="ko-KR" altLang="en-US" sz="1100" b="1" dirty="0"/>
          </a:p>
        </p:txBody>
      </p:sp>
      <p:sp>
        <p:nvSpPr>
          <p:cNvPr id="13" name="TextBox 12">
            <a:extLst>
              <a:ext uri="{FF2B5EF4-FFF2-40B4-BE49-F238E27FC236}">
                <a16:creationId xmlns:a16="http://schemas.microsoft.com/office/drawing/2014/main" id="{4DF1429A-4889-429E-BFF2-60538CD5552E}"/>
              </a:ext>
            </a:extLst>
          </p:cNvPr>
          <p:cNvSpPr txBox="1"/>
          <p:nvPr/>
        </p:nvSpPr>
        <p:spPr>
          <a:xfrm>
            <a:off x="3935352" y="5015435"/>
            <a:ext cx="638175" cy="261610"/>
          </a:xfrm>
          <a:prstGeom prst="rect">
            <a:avLst/>
          </a:prstGeom>
          <a:noFill/>
        </p:spPr>
        <p:txBody>
          <a:bodyPr wrap="square" rtlCol="0">
            <a:spAutoFit/>
          </a:bodyPr>
          <a:lstStyle/>
          <a:p>
            <a:r>
              <a:rPr lang="en-US" altLang="ko-KR" sz="1100" b="1" dirty="0"/>
              <a:t>24.9</a:t>
            </a:r>
            <a:endParaRPr lang="ko-KR" altLang="en-US" sz="1100" b="1" dirty="0"/>
          </a:p>
        </p:txBody>
      </p:sp>
      <p:sp>
        <p:nvSpPr>
          <p:cNvPr id="14" name="TextBox 13">
            <a:extLst>
              <a:ext uri="{FF2B5EF4-FFF2-40B4-BE49-F238E27FC236}">
                <a16:creationId xmlns:a16="http://schemas.microsoft.com/office/drawing/2014/main" id="{DB293741-ABF6-472D-A68A-61BB922F84DA}"/>
              </a:ext>
            </a:extLst>
          </p:cNvPr>
          <p:cNvSpPr txBox="1"/>
          <p:nvPr/>
        </p:nvSpPr>
        <p:spPr>
          <a:xfrm>
            <a:off x="5496480" y="2766764"/>
            <a:ext cx="638175" cy="261610"/>
          </a:xfrm>
          <a:prstGeom prst="rect">
            <a:avLst/>
          </a:prstGeom>
          <a:noFill/>
        </p:spPr>
        <p:txBody>
          <a:bodyPr wrap="square" rtlCol="0">
            <a:spAutoFit/>
          </a:bodyPr>
          <a:lstStyle/>
          <a:p>
            <a:r>
              <a:rPr lang="en-US" altLang="ko-KR" sz="1100" b="1" dirty="0"/>
              <a:t>46.8</a:t>
            </a:r>
            <a:endParaRPr lang="ko-KR" altLang="en-US" sz="1100" b="1" dirty="0"/>
          </a:p>
        </p:txBody>
      </p:sp>
      <p:sp>
        <p:nvSpPr>
          <p:cNvPr id="15" name="TextBox 14">
            <a:extLst>
              <a:ext uri="{FF2B5EF4-FFF2-40B4-BE49-F238E27FC236}">
                <a16:creationId xmlns:a16="http://schemas.microsoft.com/office/drawing/2014/main" id="{A5945879-EFF2-4732-B677-CFF6E85DC18B}"/>
              </a:ext>
            </a:extLst>
          </p:cNvPr>
          <p:cNvSpPr txBox="1"/>
          <p:nvPr/>
        </p:nvSpPr>
        <p:spPr>
          <a:xfrm>
            <a:off x="5287982" y="3435013"/>
            <a:ext cx="638175" cy="261610"/>
          </a:xfrm>
          <a:prstGeom prst="rect">
            <a:avLst/>
          </a:prstGeom>
          <a:noFill/>
        </p:spPr>
        <p:txBody>
          <a:bodyPr wrap="square" rtlCol="0">
            <a:spAutoFit/>
          </a:bodyPr>
          <a:lstStyle/>
          <a:p>
            <a:r>
              <a:rPr lang="en-US" altLang="ko-KR" sz="1100" b="1" dirty="0"/>
              <a:t>47.3</a:t>
            </a:r>
            <a:endParaRPr lang="ko-KR" altLang="en-US" sz="1100" b="1" dirty="0"/>
          </a:p>
        </p:txBody>
      </p:sp>
      <p:sp>
        <p:nvSpPr>
          <p:cNvPr id="16" name="TextBox 15">
            <a:extLst>
              <a:ext uri="{FF2B5EF4-FFF2-40B4-BE49-F238E27FC236}">
                <a16:creationId xmlns:a16="http://schemas.microsoft.com/office/drawing/2014/main" id="{A00BE1E5-D9D4-4FE5-859B-C202A8CD060C}"/>
              </a:ext>
            </a:extLst>
          </p:cNvPr>
          <p:cNvSpPr txBox="1"/>
          <p:nvPr/>
        </p:nvSpPr>
        <p:spPr>
          <a:xfrm>
            <a:off x="5386376" y="3720422"/>
            <a:ext cx="638175" cy="261610"/>
          </a:xfrm>
          <a:prstGeom prst="rect">
            <a:avLst/>
          </a:prstGeom>
          <a:noFill/>
        </p:spPr>
        <p:txBody>
          <a:bodyPr wrap="square" rtlCol="0">
            <a:spAutoFit/>
          </a:bodyPr>
          <a:lstStyle/>
          <a:p>
            <a:r>
              <a:rPr lang="en-US" altLang="ko-KR" sz="1100" b="1" dirty="0"/>
              <a:t>50.5</a:t>
            </a:r>
            <a:endParaRPr lang="ko-KR" altLang="en-US" sz="1100" b="1" dirty="0"/>
          </a:p>
        </p:txBody>
      </p:sp>
      <p:sp>
        <p:nvSpPr>
          <p:cNvPr id="17" name="TextBox 16">
            <a:extLst>
              <a:ext uri="{FF2B5EF4-FFF2-40B4-BE49-F238E27FC236}">
                <a16:creationId xmlns:a16="http://schemas.microsoft.com/office/drawing/2014/main" id="{7F7580EC-DC70-47C2-85C4-3E2A3D6BC611}"/>
              </a:ext>
            </a:extLst>
          </p:cNvPr>
          <p:cNvSpPr txBox="1"/>
          <p:nvPr/>
        </p:nvSpPr>
        <p:spPr>
          <a:xfrm>
            <a:off x="5509655" y="3235186"/>
            <a:ext cx="638175" cy="261610"/>
          </a:xfrm>
          <a:prstGeom prst="rect">
            <a:avLst/>
          </a:prstGeom>
          <a:noFill/>
        </p:spPr>
        <p:txBody>
          <a:bodyPr wrap="square" rtlCol="0">
            <a:spAutoFit/>
          </a:bodyPr>
          <a:lstStyle/>
          <a:p>
            <a:r>
              <a:rPr lang="en-US" altLang="ko-KR" sz="1100" b="1" dirty="0"/>
              <a:t>49.4</a:t>
            </a:r>
            <a:endParaRPr lang="ko-KR" altLang="en-US" sz="1100" b="1" dirty="0"/>
          </a:p>
        </p:txBody>
      </p:sp>
      <p:sp>
        <p:nvSpPr>
          <p:cNvPr id="18" name="TextBox 17">
            <a:extLst>
              <a:ext uri="{FF2B5EF4-FFF2-40B4-BE49-F238E27FC236}">
                <a16:creationId xmlns:a16="http://schemas.microsoft.com/office/drawing/2014/main" id="{49BC6864-163A-44C0-9BB9-A4B1C9434096}"/>
              </a:ext>
            </a:extLst>
          </p:cNvPr>
          <p:cNvSpPr txBox="1"/>
          <p:nvPr/>
        </p:nvSpPr>
        <p:spPr>
          <a:xfrm>
            <a:off x="5287982" y="4013982"/>
            <a:ext cx="638175" cy="261610"/>
          </a:xfrm>
          <a:prstGeom prst="rect">
            <a:avLst/>
          </a:prstGeom>
          <a:noFill/>
        </p:spPr>
        <p:txBody>
          <a:bodyPr wrap="square" rtlCol="0">
            <a:spAutoFit/>
          </a:bodyPr>
          <a:lstStyle/>
          <a:p>
            <a:r>
              <a:rPr lang="en-US" altLang="ko-KR" sz="1100" b="1" dirty="0"/>
              <a:t>53.1</a:t>
            </a:r>
            <a:endParaRPr lang="ko-KR" altLang="en-US" sz="1100" b="1" dirty="0"/>
          </a:p>
        </p:txBody>
      </p:sp>
      <p:sp>
        <p:nvSpPr>
          <p:cNvPr id="19" name="TextBox 18">
            <a:extLst>
              <a:ext uri="{FF2B5EF4-FFF2-40B4-BE49-F238E27FC236}">
                <a16:creationId xmlns:a16="http://schemas.microsoft.com/office/drawing/2014/main" id="{8A3F39CF-E5E1-4E30-B8F0-2B6C7545C04A}"/>
              </a:ext>
            </a:extLst>
          </p:cNvPr>
          <p:cNvSpPr txBox="1"/>
          <p:nvPr/>
        </p:nvSpPr>
        <p:spPr>
          <a:xfrm>
            <a:off x="5287982" y="4378891"/>
            <a:ext cx="638175" cy="261610"/>
          </a:xfrm>
          <a:prstGeom prst="rect">
            <a:avLst/>
          </a:prstGeom>
          <a:noFill/>
        </p:spPr>
        <p:txBody>
          <a:bodyPr wrap="square" rtlCol="0">
            <a:spAutoFit/>
          </a:bodyPr>
          <a:lstStyle/>
          <a:p>
            <a:r>
              <a:rPr lang="en-US" altLang="ko-KR" sz="1100" b="1" dirty="0"/>
              <a:t>50.2</a:t>
            </a:r>
            <a:endParaRPr lang="ko-KR" altLang="en-US" sz="1100" b="1" dirty="0"/>
          </a:p>
        </p:txBody>
      </p:sp>
      <p:sp>
        <p:nvSpPr>
          <p:cNvPr id="20" name="TextBox 19">
            <a:extLst>
              <a:ext uri="{FF2B5EF4-FFF2-40B4-BE49-F238E27FC236}">
                <a16:creationId xmlns:a16="http://schemas.microsoft.com/office/drawing/2014/main" id="{4E68EF61-0093-4AA7-9A93-62344DE28BC2}"/>
              </a:ext>
            </a:extLst>
          </p:cNvPr>
          <p:cNvSpPr txBox="1"/>
          <p:nvPr/>
        </p:nvSpPr>
        <p:spPr>
          <a:xfrm>
            <a:off x="5298045" y="4671344"/>
            <a:ext cx="638175" cy="261610"/>
          </a:xfrm>
          <a:prstGeom prst="rect">
            <a:avLst/>
          </a:prstGeom>
          <a:noFill/>
        </p:spPr>
        <p:txBody>
          <a:bodyPr wrap="square" rtlCol="0">
            <a:spAutoFit/>
          </a:bodyPr>
          <a:lstStyle/>
          <a:p>
            <a:r>
              <a:rPr lang="en-US" altLang="ko-KR" sz="1100" b="1" dirty="0"/>
              <a:t>53.4</a:t>
            </a:r>
            <a:endParaRPr lang="ko-KR" altLang="en-US" sz="1100" b="1" dirty="0"/>
          </a:p>
        </p:txBody>
      </p:sp>
      <p:sp>
        <p:nvSpPr>
          <p:cNvPr id="21" name="TextBox 20">
            <a:extLst>
              <a:ext uri="{FF2B5EF4-FFF2-40B4-BE49-F238E27FC236}">
                <a16:creationId xmlns:a16="http://schemas.microsoft.com/office/drawing/2014/main" id="{8CB0B8CA-C8ED-4FE0-87CE-00EC80551954}"/>
              </a:ext>
            </a:extLst>
          </p:cNvPr>
          <p:cNvSpPr txBox="1"/>
          <p:nvPr/>
        </p:nvSpPr>
        <p:spPr>
          <a:xfrm>
            <a:off x="5301104" y="5338025"/>
            <a:ext cx="638175" cy="261610"/>
          </a:xfrm>
          <a:prstGeom prst="rect">
            <a:avLst/>
          </a:prstGeom>
          <a:noFill/>
        </p:spPr>
        <p:txBody>
          <a:bodyPr wrap="square" rtlCol="0">
            <a:spAutoFit/>
          </a:bodyPr>
          <a:lstStyle/>
          <a:p>
            <a:r>
              <a:rPr lang="en-US" altLang="ko-KR" sz="1100" b="1" dirty="0"/>
              <a:t>52.8</a:t>
            </a:r>
            <a:endParaRPr lang="ko-KR" altLang="en-US" sz="1100" b="1" dirty="0"/>
          </a:p>
        </p:txBody>
      </p:sp>
      <p:sp>
        <p:nvSpPr>
          <p:cNvPr id="22" name="타원 21">
            <a:extLst>
              <a:ext uri="{FF2B5EF4-FFF2-40B4-BE49-F238E27FC236}">
                <a16:creationId xmlns:a16="http://schemas.microsoft.com/office/drawing/2014/main" id="{AE449BC1-E46F-4937-B01D-FD18865A08D6}"/>
              </a:ext>
            </a:extLst>
          </p:cNvPr>
          <p:cNvSpPr/>
          <p:nvPr/>
        </p:nvSpPr>
        <p:spPr>
          <a:xfrm>
            <a:off x="1447553" y="4369153"/>
            <a:ext cx="706581" cy="702516"/>
          </a:xfrm>
          <a:prstGeom prst="ellipse">
            <a:avLst/>
          </a:prstGeom>
          <a:solidFill>
            <a:srgbClr val="E1FFE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1훈검정고무신 Regular" panose="02020603020101020101" pitchFamily="18" charset="-127"/>
                <a:ea typeface="1훈검정고무신 Regular" panose="02020603020101020101" pitchFamily="18" charset="-127"/>
              </a:rPr>
              <a:t>Initial value=0</a:t>
            </a:r>
            <a:endParaRPr lang="ko-KR" altLang="en-US" sz="1050" dirty="0">
              <a:solidFill>
                <a:schemeClr val="tx1"/>
              </a:solidFill>
              <a:latin typeface="1훈검정고무신 Regular" panose="02020603020101020101" pitchFamily="18" charset="-127"/>
              <a:ea typeface="1훈검정고무신 Regular" panose="02020603020101020101" pitchFamily="18" charset="-127"/>
            </a:endParaRPr>
          </a:p>
        </p:txBody>
      </p:sp>
      <p:cxnSp>
        <p:nvCxnSpPr>
          <p:cNvPr id="23" name="직선 화살표 연결선 22">
            <a:extLst>
              <a:ext uri="{FF2B5EF4-FFF2-40B4-BE49-F238E27FC236}">
                <a16:creationId xmlns:a16="http://schemas.microsoft.com/office/drawing/2014/main" id="{F2A87A4C-514C-4E9C-8E9B-0F3F1CA069F0}"/>
              </a:ext>
            </a:extLst>
          </p:cNvPr>
          <p:cNvCxnSpPr>
            <a:stCxn id="22" idx="7"/>
          </p:cNvCxnSpPr>
          <p:nvPr/>
        </p:nvCxnSpPr>
        <p:spPr>
          <a:xfrm flipV="1">
            <a:off x="2050658" y="4120444"/>
            <a:ext cx="240275" cy="3515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DB077980-D825-49B9-AF90-D399B0E9030A}"/>
              </a:ext>
            </a:extLst>
          </p:cNvPr>
          <p:cNvGrpSpPr/>
          <p:nvPr/>
        </p:nvGrpSpPr>
        <p:grpSpPr>
          <a:xfrm>
            <a:off x="3591312" y="2634528"/>
            <a:ext cx="1689132" cy="2709563"/>
            <a:chOff x="3061424" y="3027284"/>
            <a:chExt cx="1689132" cy="2709563"/>
          </a:xfrm>
        </p:grpSpPr>
        <p:sp>
          <p:nvSpPr>
            <p:cNvPr id="25" name="직사각형 24">
              <a:extLst>
                <a:ext uri="{FF2B5EF4-FFF2-40B4-BE49-F238E27FC236}">
                  <a16:creationId xmlns:a16="http://schemas.microsoft.com/office/drawing/2014/main" id="{6D79C51C-04A4-4DEF-8CD1-0ED130C78632}"/>
                </a:ext>
              </a:extLst>
            </p:cNvPr>
            <p:cNvSpPr/>
            <p:nvPr/>
          </p:nvSpPr>
          <p:spPr>
            <a:xfrm rot="4395213">
              <a:off x="3859351" y="2400550"/>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0023D672-F4F0-40FE-8DB4-603C9873E20B}"/>
                </a:ext>
              </a:extLst>
            </p:cNvPr>
            <p:cNvSpPr/>
            <p:nvPr/>
          </p:nvSpPr>
          <p:spPr>
            <a:xfrm rot="4395213">
              <a:off x="3722651" y="3333260"/>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F87226A8-9744-46EE-BF52-C704ACDA5191}"/>
                </a:ext>
              </a:extLst>
            </p:cNvPr>
            <p:cNvSpPr/>
            <p:nvPr/>
          </p:nvSpPr>
          <p:spPr>
            <a:xfrm rot="6506958">
              <a:off x="3688158" y="3808536"/>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AFB4B179-E0C1-42D8-8589-A271B35930C9}"/>
                </a:ext>
              </a:extLst>
            </p:cNvPr>
            <p:cNvSpPr/>
            <p:nvPr/>
          </p:nvSpPr>
          <p:spPr>
            <a:xfrm rot="6506958">
              <a:off x="3772701" y="4845642"/>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9" name="직사각형 28">
            <a:extLst>
              <a:ext uri="{FF2B5EF4-FFF2-40B4-BE49-F238E27FC236}">
                <a16:creationId xmlns:a16="http://schemas.microsoft.com/office/drawing/2014/main" id="{45ECD43A-27D3-489B-83F3-E0956262EB9D}"/>
              </a:ext>
            </a:extLst>
          </p:cNvPr>
          <p:cNvSpPr/>
          <p:nvPr/>
        </p:nvSpPr>
        <p:spPr>
          <a:xfrm rot="7513365">
            <a:off x="5573227" y="4126037"/>
            <a:ext cx="264471" cy="1517939"/>
          </a:xfrm>
          <a:prstGeom prst="rect">
            <a:avLst/>
          </a:prstGeom>
          <a:solidFill>
            <a:srgbClr val="00FFFF">
              <a:alpha val="3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DB044918-5290-440D-B944-276EB3161C5C}"/>
              </a:ext>
            </a:extLst>
          </p:cNvPr>
          <p:cNvSpPr txBox="1"/>
          <p:nvPr/>
        </p:nvSpPr>
        <p:spPr>
          <a:xfrm>
            <a:off x="7568522" y="5146240"/>
            <a:ext cx="1228221" cy="923330"/>
          </a:xfrm>
          <a:prstGeom prst="rect">
            <a:avLst/>
          </a:prstGeom>
          <a:noFill/>
        </p:spPr>
        <p:txBody>
          <a:bodyPr wrap="none" rtlCol="0">
            <a:spAutoFit/>
          </a:bodyPr>
          <a:lstStyle/>
          <a:p>
            <a:r>
              <a:rPr lang="ko-KR" altLang="en-US" b="1" dirty="0">
                <a:solidFill>
                  <a:srgbClr val="FF0000"/>
                </a:solidFill>
              </a:rPr>
              <a:t>결과</a:t>
            </a:r>
            <a:r>
              <a:rPr lang="en-US" altLang="ko-KR" b="1" dirty="0">
                <a:solidFill>
                  <a:srgbClr val="FF0000"/>
                </a:solidFill>
              </a:rPr>
              <a:t>: </a:t>
            </a:r>
          </a:p>
          <a:p>
            <a:r>
              <a:rPr lang="en-US" altLang="ko-KR" b="1" dirty="0">
                <a:solidFill>
                  <a:srgbClr val="FF0000"/>
                </a:solidFill>
              </a:rPr>
              <a:t>10-9-5-0(S)</a:t>
            </a:r>
          </a:p>
          <a:p>
            <a:r>
              <a:rPr lang="en-US" altLang="ko-KR" b="1" dirty="0">
                <a:solidFill>
                  <a:srgbClr val="FF0000"/>
                </a:solidFill>
              </a:rPr>
              <a:t>1-4-5(x)</a:t>
            </a:r>
            <a:endParaRPr lang="ko-KR" altLang="en-US" b="1" dirty="0">
              <a:solidFill>
                <a:srgbClr val="FF0000"/>
              </a:solidFill>
            </a:endParaRPr>
          </a:p>
        </p:txBody>
      </p:sp>
    </p:spTree>
    <p:extLst>
      <p:ext uri="{BB962C8B-B14F-4D97-AF65-F5344CB8AC3E}">
        <p14:creationId xmlns:p14="http://schemas.microsoft.com/office/powerpoint/2010/main" val="292503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E81B59B3-65CB-49C1-8E9A-BBF57400AF2D}"/>
              </a:ext>
            </a:extLst>
          </p:cNvPr>
          <p:cNvPicPr>
            <a:picLocks noChangeAspect="1"/>
          </p:cNvPicPr>
          <p:nvPr/>
        </p:nvPicPr>
        <p:blipFill>
          <a:blip r:embed="rId2"/>
          <a:stretch>
            <a:fillRect/>
          </a:stretch>
        </p:blipFill>
        <p:spPr>
          <a:xfrm>
            <a:off x="5515659" y="2276872"/>
            <a:ext cx="3462227" cy="2570961"/>
          </a:xfrm>
          <a:prstGeom prst="rect">
            <a:avLst/>
          </a:prstGeom>
        </p:spPr>
      </p:pic>
      <p:sp>
        <p:nvSpPr>
          <p:cNvPr id="2" name="제목 1">
            <a:extLst>
              <a:ext uri="{FF2B5EF4-FFF2-40B4-BE49-F238E27FC236}">
                <a16:creationId xmlns:a16="http://schemas.microsoft.com/office/drawing/2014/main" id="{4E4BD394-D666-4048-A61A-6308650D0601}"/>
              </a:ext>
            </a:extLst>
          </p:cNvPr>
          <p:cNvSpPr>
            <a:spLocks noGrp="1"/>
          </p:cNvSpPr>
          <p:nvPr>
            <p:ph type="title"/>
          </p:nvPr>
        </p:nvSpPr>
        <p:spPr>
          <a:xfrm>
            <a:off x="628650" y="365127"/>
            <a:ext cx="8349236" cy="759618"/>
          </a:xfrm>
        </p:spPr>
        <p:txBody>
          <a:bodyPr>
            <a:normAutofit/>
          </a:bodyPr>
          <a:lstStyle/>
          <a:p>
            <a:r>
              <a:rPr lang="en-US" altLang="ko-KR" dirty="0"/>
              <a:t>Stochastic</a:t>
            </a:r>
            <a:r>
              <a:rPr lang="ko-KR" altLang="en-US" dirty="0"/>
              <a:t> </a:t>
            </a:r>
            <a:r>
              <a:rPr lang="en-US" altLang="ko-KR" dirty="0"/>
              <a:t>Dynamic Programming Models</a:t>
            </a:r>
            <a:endParaRPr lang="ko-KR" altLang="en-US" dirty="0"/>
          </a:p>
        </p:txBody>
      </p:sp>
      <p:sp>
        <p:nvSpPr>
          <p:cNvPr id="3" name="내용 개체 틀 2">
            <a:extLst>
              <a:ext uri="{FF2B5EF4-FFF2-40B4-BE49-F238E27FC236}">
                <a16:creationId xmlns:a16="http://schemas.microsoft.com/office/drawing/2014/main" id="{FCF67A9F-42C4-4B9F-B0EC-948F0A6FB079}"/>
              </a:ext>
            </a:extLst>
          </p:cNvPr>
          <p:cNvSpPr>
            <a:spLocks noGrp="1"/>
          </p:cNvSpPr>
          <p:nvPr>
            <p:ph idx="1"/>
          </p:nvPr>
        </p:nvSpPr>
        <p:spPr/>
        <p:txBody>
          <a:bodyPr/>
          <a:lstStyle/>
          <a:p>
            <a:r>
              <a:rPr lang="en-US" altLang="ko-KR" dirty="0"/>
              <a:t> DP </a:t>
            </a:r>
            <a:r>
              <a:rPr lang="ko-KR" altLang="en-US" dirty="0"/>
              <a:t>모델의 </a:t>
            </a:r>
            <a:r>
              <a:rPr lang="ko-KR" altLang="en-US" dirty="0" err="1"/>
              <a:t>확장판</a:t>
            </a:r>
            <a:r>
              <a:rPr lang="en-US" altLang="ko-KR" dirty="0"/>
              <a:t>-</a:t>
            </a:r>
            <a:r>
              <a:rPr lang="ko-KR" altLang="en-US" dirty="0"/>
              <a:t>만약 미래 유입량을 모르면 어떻게 할까</a:t>
            </a:r>
            <a:r>
              <a:rPr lang="en-US" altLang="ko-KR" dirty="0"/>
              <a:t>? </a:t>
            </a:r>
          </a:p>
          <a:p>
            <a:pPr lvl="1"/>
            <a:r>
              <a:rPr lang="en-US" altLang="ko-KR" dirty="0"/>
              <a:t> Stochastic Dynamic Programming (Tejada-</a:t>
            </a:r>
            <a:r>
              <a:rPr lang="en-US" altLang="ko-KR" dirty="0" err="1"/>
              <a:t>Guibert</a:t>
            </a:r>
            <a:r>
              <a:rPr lang="en-US" altLang="ko-KR" dirty="0"/>
              <a:t> et al. 1995)</a:t>
            </a:r>
          </a:p>
          <a:p>
            <a:pPr lvl="2"/>
            <a:r>
              <a:rPr lang="en-US" altLang="ko-KR" dirty="0"/>
              <a:t>General SDP Model</a:t>
            </a:r>
          </a:p>
          <a:p>
            <a:pPr lvl="2"/>
            <a:endParaRPr lang="en-US" altLang="ko-KR" dirty="0"/>
          </a:p>
          <a:p>
            <a:pPr lvl="2"/>
            <a:endParaRPr lang="en-US" altLang="ko-KR" dirty="0"/>
          </a:p>
          <a:p>
            <a:pPr lvl="2"/>
            <a:endParaRPr lang="en-US" altLang="ko-KR" dirty="0"/>
          </a:p>
          <a:p>
            <a:pPr lvl="2"/>
            <a:endParaRPr lang="en-US" altLang="ko-KR" dirty="0"/>
          </a:p>
          <a:p>
            <a:pPr lvl="2"/>
            <a:endParaRPr lang="en-US" altLang="ko-KR" dirty="0"/>
          </a:p>
          <a:p>
            <a:pPr lvl="2"/>
            <a:r>
              <a:rPr lang="en-US" altLang="ko-KR" dirty="0"/>
              <a:t>If release decision is made after</a:t>
            </a:r>
            <a:br>
              <a:rPr lang="en-US" altLang="ko-KR" dirty="0"/>
            </a:br>
            <a:r>
              <a:rPr lang="en-US" altLang="ko-KR" dirty="0"/>
              <a:t>the current period’s inflow Qt is known,</a:t>
            </a:r>
          </a:p>
          <a:p>
            <a:pPr lvl="2"/>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D3D47F15-B4D3-4F26-A5ED-E8C99FBFBEA8}"/>
              </a:ext>
            </a:extLst>
          </p:cNvPr>
          <p:cNvSpPr>
            <a:spLocks noGrp="1"/>
          </p:cNvSpPr>
          <p:nvPr>
            <p:ph type="sldNum" sz="quarter" idx="12"/>
          </p:nvPr>
        </p:nvSpPr>
        <p:spPr/>
        <p:txBody>
          <a:bodyPr/>
          <a:lstStyle/>
          <a:p>
            <a:fld id="{79822AFB-C284-4A8E-A6EE-41BAA9C576A0}" type="slidenum">
              <a:rPr lang="ko-KR" altLang="en-US" smtClean="0"/>
              <a:t>13</a:t>
            </a:fld>
            <a:endParaRPr lang="ko-KR" altLang="en-US"/>
          </a:p>
        </p:txBody>
      </p:sp>
      <p:pic>
        <p:nvPicPr>
          <p:cNvPr id="6" name="그림 5">
            <a:extLst>
              <a:ext uri="{FF2B5EF4-FFF2-40B4-BE49-F238E27FC236}">
                <a16:creationId xmlns:a16="http://schemas.microsoft.com/office/drawing/2014/main" id="{BBDFAFFE-BDD4-4B96-B1FE-602DA832F058}"/>
              </a:ext>
            </a:extLst>
          </p:cNvPr>
          <p:cNvPicPr>
            <a:picLocks noChangeAspect="1"/>
          </p:cNvPicPr>
          <p:nvPr/>
        </p:nvPicPr>
        <p:blipFill>
          <a:blip r:embed="rId3"/>
          <a:stretch>
            <a:fillRect/>
          </a:stretch>
        </p:blipFill>
        <p:spPr>
          <a:xfrm>
            <a:off x="1543050" y="2564904"/>
            <a:ext cx="4000500" cy="1276350"/>
          </a:xfrm>
          <a:prstGeom prst="rect">
            <a:avLst/>
          </a:prstGeom>
        </p:spPr>
      </p:pic>
      <p:pic>
        <p:nvPicPr>
          <p:cNvPr id="8" name="그림 7">
            <a:extLst>
              <a:ext uri="{FF2B5EF4-FFF2-40B4-BE49-F238E27FC236}">
                <a16:creationId xmlns:a16="http://schemas.microsoft.com/office/drawing/2014/main" id="{89103395-9A42-48FD-A621-91C7754E19E7}"/>
              </a:ext>
            </a:extLst>
          </p:cNvPr>
          <p:cNvPicPr>
            <a:picLocks noChangeAspect="1"/>
          </p:cNvPicPr>
          <p:nvPr/>
        </p:nvPicPr>
        <p:blipFill>
          <a:blip r:embed="rId4"/>
          <a:stretch>
            <a:fillRect/>
          </a:stretch>
        </p:blipFill>
        <p:spPr>
          <a:xfrm>
            <a:off x="1581150" y="4985832"/>
            <a:ext cx="4019550" cy="723900"/>
          </a:xfrm>
          <a:prstGeom prst="rect">
            <a:avLst/>
          </a:prstGeom>
        </p:spPr>
      </p:pic>
    </p:spTree>
    <p:extLst>
      <p:ext uri="{BB962C8B-B14F-4D97-AF65-F5344CB8AC3E}">
        <p14:creationId xmlns:p14="http://schemas.microsoft.com/office/powerpoint/2010/main" val="176714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5BD3536-F1FC-4960-B21F-84BC884DD7E0}"/>
              </a:ext>
            </a:extLst>
          </p:cNvPr>
          <p:cNvSpPr>
            <a:spLocks noGrp="1"/>
          </p:cNvSpPr>
          <p:nvPr>
            <p:ph type="title"/>
          </p:nvPr>
        </p:nvSpPr>
        <p:spPr>
          <a:xfrm>
            <a:off x="628650" y="365127"/>
            <a:ext cx="8407846" cy="759618"/>
          </a:xfrm>
        </p:spPr>
        <p:txBody>
          <a:bodyPr>
            <a:normAutofit/>
          </a:bodyPr>
          <a:lstStyle/>
          <a:p>
            <a:r>
              <a:rPr lang="en-US" altLang="ko-KR" dirty="0"/>
              <a:t>Stochastic</a:t>
            </a:r>
            <a:r>
              <a:rPr lang="ko-KR" altLang="en-US" dirty="0"/>
              <a:t> </a:t>
            </a:r>
            <a:r>
              <a:rPr lang="en-US" altLang="ko-KR" dirty="0"/>
              <a:t>Dynamic Programming Models</a:t>
            </a:r>
            <a:endParaRPr lang="ko-KR" altLang="en-US" dirty="0"/>
          </a:p>
        </p:txBody>
      </p:sp>
      <p:sp>
        <p:nvSpPr>
          <p:cNvPr id="3" name="내용 개체 틀 2">
            <a:extLst>
              <a:ext uri="{FF2B5EF4-FFF2-40B4-BE49-F238E27FC236}">
                <a16:creationId xmlns:a16="http://schemas.microsoft.com/office/drawing/2014/main" id="{D9A6D5DD-3964-413C-BCFE-F5BDBB0075B5}"/>
              </a:ext>
            </a:extLst>
          </p:cNvPr>
          <p:cNvSpPr>
            <a:spLocks noGrp="1"/>
          </p:cNvSpPr>
          <p:nvPr>
            <p:ph idx="1"/>
          </p:nvPr>
        </p:nvSpPr>
        <p:spPr>
          <a:xfrm>
            <a:off x="628650" y="1268760"/>
            <a:ext cx="7975798" cy="4908203"/>
          </a:xfrm>
        </p:spPr>
        <p:txBody>
          <a:bodyPr/>
          <a:lstStyle/>
          <a:p>
            <a:r>
              <a:rPr lang="en-US" altLang="ko-KR" dirty="0"/>
              <a:t> DP </a:t>
            </a:r>
            <a:r>
              <a:rPr lang="ko-KR" altLang="en-US" dirty="0"/>
              <a:t>모델의 </a:t>
            </a:r>
            <a:r>
              <a:rPr lang="ko-KR" altLang="en-US" dirty="0" err="1"/>
              <a:t>확장판</a:t>
            </a:r>
            <a:r>
              <a:rPr lang="en-US" altLang="ko-KR" dirty="0"/>
              <a:t>-</a:t>
            </a:r>
            <a:r>
              <a:rPr lang="ko-KR" altLang="en-US" dirty="0"/>
              <a:t>만약 미래 유입량을 모르면 어떻게 할까</a:t>
            </a:r>
            <a:r>
              <a:rPr lang="en-US" altLang="ko-KR" dirty="0"/>
              <a:t>? </a:t>
            </a:r>
          </a:p>
          <a:p>
            <a:pPr lvl="1"/>
            <a:r>
              <a:rPr lang="en-US" altLang="ko-KR" dirty="0"/>
              <a:t> Stochastic Dynamic Programming (Tejada-</a:t>
            </a:r>
            <a:r>
              <a:rPr lang="en-US" altLang="ko-KR" dirty="0" err="1"/>
              <a:t>Guibert</a:t>
            </a:r>
            <a:r>
              <a:rPr lang="en-US" altLang="ko-KR" dirty="0"/>
              <a:t> et al. 1995)</a:t>
            </a:r>
          </a:p>
          <a:p>
            <a:pPr lvl="2"/>
            <a:r>
              <a:rPr lang="en-US" altLang="ko-KR" dirty="0"/>
              <a:t>In case of NO hydrologic state variable </a:t>
            </a:r>
            <a:r>
              <a:rPr lang="en-US" altLang="ko-KR" dirty="0" err="1"/>
              <a:t>Ht</a:t>
            </a:r>
            <a:endParaRPr lang="en-US" altLang="ko-KR" dirty="0"/>
          </a:p>
          <a:p>
            <a:pPr lvl="2"/>
            <a:endParaRPr lang="en-US" altLang="ko-KR" dirty="0"/>
          </a:p>
          <a:p>
            <a:pPr lvl="2"/>
            <a:endParaRPr lang="en-US" altLang="ko-KR" dirty="0"/>
          </a:p>
          <a:p>
            <a:pPr lvl="2"/>
            <a:r>
              <a:rPr lang="en-US" altLang="ko-KR" dirty="0"/>
              <a:t>In case of current flow Qt is selected as the hydrologic state variable</a:t>
            </a:r>
          </a:p>
          <a:p>
            <a:pPr lvl="2"/>
            <a:endParaRPr lang="en-US" altLang="ko-KR" dirty="0"/>
          </a:p>
          <a:p>
            <a:pPr lvl="2"/>
            <a:endParaRPr lang="en-US" altLang="ko-KR" dirty="0"/>
          </a:p>
          <a:p>
            <a:pPr lvl="2"/>
            <a:r>
              <a:rPr lang="en-US" altLang="ko-KR" dirty="0"/>
              <a:t>In case of previous flow Qt-1 as the hydrologic state variable</a:t>
            </a:r>
            <a:endParaRPr lang="ko-KR" altLang="en-US" dirty="0"/>
          </a:p>
        </p:txBody>
      </p:sp>
      <p:sp>
        <p:nvSpPr>
          <p:cNvPr id="4" name="슬라이드 번호 개체 틀 3">
            <a:extLst>
              <a:ext uri="{FF2B5EF4-FFF2-40B4-BE49-F238E27FC236}">
                <a16:creationId xmlns:a16="http://schemas.microsoft.com/office/drawing/2014/main" id="{FBF2FFAD-7C7E-4B2C-A462-5D7BC9A9F520}"/>
              </a:ext>
            </a:extLst>
          </p:cNvPr>
          <p:cNvSpPr>
            <a:spLocks noGrp="1"/>
          </p:cNvSpPr>
          <p:nvPr>
            <p:ph type="sldNum" sz="quarter" idx="12"/>
          </p:nvPr>
        </p:nvSpPr>
        <p:spPr/>
        <p:txBody>
          <a:bodyPr/>
          <a:lstStyle/>
          <a:p>
            <a:fld id="{79822AFB-C284-4A8E-A6EE-41BAA9C576A0}" type="slidenum">
              <a:rPr lang="ko-KR" altLang="en-US" smtClean="0"/>
              <a:t>14</a:t>
            </a:fld>
            <a:endParaRPr lang="ko-KR" altLang="en-US"/>
          </a:p>
        </p:txBody>
      </p:sp>
      <p:pic>
        <p:nvPicPr>
          <p:cNvPr id="5" name="그림 4">
            <a:extLst>
              <a:ext uri="{FF2B5EF4-FFF2-40B4-BE49-F238E27FC236}">
                <a16:creationId xmlns:a16="http://schemas.microsoft.com/office/drawing/2014/main" id="{43AFBC34-DC74-4911-9608-FA236119B4A3}"/>
              </a:ext>
            </a:extLst>
          </p:cNvPr>
          <p:cNvPicPr>
            <a:picLocks noChangeAspect="1"/>
          </p:cNvPicPr>
          <p:nvPr/>
        </p:nvPicPr>
        <p:blipFill>
          <a:blip r:embed="rId2"/>
          <a:stretch>
            <a:fillRect/>
          </a:stretch>
        </p:blipFill>
        <p:spPr>
          <a:xfrm>
            <a:off x="2790825" y="2492896"/>
            <a:ext cx="3562350" cy="466725"/>
          </a:xfrm>
          <a:prstGeom prst="rect">
            <a:avLst/>
          </a:prstGeom>
        </p:spPr>
      </p:pic>
      <p:pic>
        <p:nvPicPr>
          <p:cNvPr id="6" name="그림 5">
            <a:extLst>
              <a:ext uri="{FF2B5EF4-FFF2-40B4-BE49-F238E27FC236}">
                <a16:creationId xmlns:a16="http://schemas.microsoft.com/office/drawing/2014/main" id="{F2D510E7-FEF3-4BA1-B0D9-FB3A722D8ECE}"/>
              </a:ext>
            </a:extLst>
          </p:cNvPr>
          <p:cNvPicPr>
            <a:picLocks noChangeAspect="1"/>
          </p:cNvPicPr>
          <p:nvPr/>
        </p:nvPicPr>
        <p:blipFill>
          <a:blip r:embed="rId3"/>
          <a:stretch>
            <a:fillRect/>
          </a:stretch>
        </p:blipFill>
        <p:spPr>
          <a:xfrm>
            <a:off x="2571750" y="4737363"/>
            <a:ext cx="4000500" cy="1800225"/>
          </a:xfrm>
          <a:prstGeom prst="rect">
            <a:avLst/>
          </a:prstGeom>
        </p:spPr>
      </p:pic>
      <p:pic>
        <p:nvPicPr>
          <p:cNvPr id="7" name="그림 6">
            <a:extLst>
              <a:ext uri="{FF2B5EF4-FFF2-40B4-BE49-F238E27FC236}">
                <a16:creationId xmlns:a16="http://schemas.microsoft.com/office/drawing/2014/main" id="{67BAAB7A-AEFC-42E9-A38A-0C5146AFA52D}"/>
              </a:ext>
            </a:extLst>
          </p:cNvPr>
          <p:cNvPicPr>
            <a:picLocks noChangeAspect="1"/>
          </p:cNvPicPr>
          <p:nvPr/>
        </p:nvPicPr>
        <p:blipFill>
          <a:blip r:embed="rId4"/>
          <a:stretch>
            <a:fillRect/>
          </a:stretch>
        </p:blipFill>
        <p:spPr>
          <a:xfrm>
            <a:off x="2630586" y="3569767"/>
            <a:ext cx="3971925" cy="657225"/>
          </a:xfrm>
          <a:prstGeom prst="rect">
            <a:avLst/>
          </a:prstGeom>
        </p:spPr>
      </p:pic>
    </p:spTree>
    <p:extLst>
      <p:ext uri="{BB962C8B-B14F-4D97-AF65-F5344CB8AC3E}">
        <p14:creationId xmlns:p14="http://schemas.microsoft.com/office/powerpoint/2010/main" val="129544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57CEAB-F6F7-418F-B13E-CA3E902B2EAE}"/>
              </a:ext>
            </a:extLst>
          </p:cNvPr>
          <p:cNvSpPr>
            <a:spLocks noGrp="1"/>
          </p:cNvSpPr>
          <p:nvPr>
            <p:ph type="title"/>
          </p:nvPr>
        </p:nvSpPr>
        <p:spPr/>
        <p:txBody>
          <a:bodyPr>
            <a:normAutofit/>
          </a:bodyPr>
          <a:lstStyle/>
          <a:p>
            <a:r>
              <a:rPr lang="en-US" altLang="ko-KR" dirty="0"/>
              <a:t>General Comments on DP</a:t>
            </a:r>
            <a:endParaRPr lang="ko-KR" altLang="en-US" dirty="0"/>
          </a:p>
        </p:txBody>
      </p:sp>
      <mc:AlternateContent xmlns:mc="http://schemas.openxmlformats.org/markup-compatibility/2006">
        <mc:Choice xmlns:a14="http://schemas.microsoft.com/office/drawing/2010/main" Requires="a14">
          <p:sp>
            <p:nvSpPr>
              <p:cNvPr id="3" name="내용 개체 틀 2">
                <a:extLst>
                  <a:ext uri="{FF2B5EF4-FFF2-40B4-BE49-F238E27FC236}">
                    <a16:creationId xmlns:a16="http://schemas.microsoft.com/office/drawing/2014/main" id="{FD1057DB-68D8-4B44-8C07-AADE06A70AC7}"/>
                  </a:ext>
                </a:extLst>
              </p:cNvPr>
              <p:cNvSpPr>
                <a:spLocks noGrp="1"/>
              </p:cNvSpPr>
              <p:nvPr>
                <p:ph idx="1"/>
              </p:nvPr>
            </p:nvSpPr>
            <p:spPr>
              <a:xfrm>
                <a:off x="628650" y="1268760"/>
                <a:ext cx="7886700" cy="5224113"/>
              </a:xfrm>
            </p:spPr>
            <p:txBody>
              <a:bodyPr/>
              <a:lstStyle/>
              <a:p>
                <a:r>
                  <a:rPr lang="en-US" altLang="ko-KR" dirty="0"/>
                  <a:t> DP/SDP</a:t>
                </a:r>
                <a:r>
                  <a:rPr lang="ko-KR" altLang="en-US" dirty="0"/>
                  <a:t> 모형들의 장</a:t>
                </a:r>
                <a:r>
                  <a:rPr lang="en-US" altLang="ko-KR" dirty="0"/>
                  <a:t>/</a:t>
                </a:r>
                <a:r>
                  <a:rPr lang="ko-KR" altLang="en-US" dirty="0"/>
                  <a:t>단점</a:t>
                </a:r>
                <a:r>
                  <a:rPr lang="en-US" altLang="ko-KR" dirty="0"/>
                  <a:t>?</a:t>
                </a:r>
              </a:p>
              <a:p>
                <a:pPr lvl="1"/>
                <a:r>
                  <a:rPr lang="en-US" altLang="ko-KR" dirty="0"/>
                  <a:t> </a:t>
                </a:r>
                <a:r>
                  <a:rPr lang="ko-KR" altLang="en-US" dirty="0"/>
                  <a:t>장점</a:t>
                </a:r>
                <a:endParaRPr lang="en-US" altLang="ko-KR" dirty="0"/>
              </a:p>
              <a:p>
                <a:pPr lvl="2"/>
                <a:r>
                  <a:rPr lang="ko-KR" altLang="en-US" dirty="0">
                    <a:solidFill>
                      <a:schemeClr val="bg1"/>
                    </a:solidFill>
                  </a:rPr>
                  <a:t>목적함수의 모양에 상관없이 다양한 문제에 대한 최적화를 진행할 수 있음</a:t>
                </a:r>
                <a:endParaRPr lang="en-US" altLang="ko-KR" dirty="0">
                  <a:solidFill>
                    <a:schemeClr val="bg1"/>
                  </a:solidFill>
                </a:endParaRPr>
              </a:p>
              <a:p>
                <a:pPr lvl="2"/>
                <a:r>
                  <a:rPr lang="en-US" altLang="ko-KR" dirty="0">
                    <a:solidFill>
                      <a:schemeClr val="bg1"/>
                    </a:solidFill>
                  </a:rPr>
                  <a:t>Design problem/Operation problem </a:t>
                </a:r>
                <a:r>
                  <a:rPr lang="ko-KR" altLang="en-US" dirty="0">
                    <a:solidFill>
                      <a:schemeClr val="bg1"/>
                    </a:solidFill>
                  </a:rPr>
                  <a:t>등 설계</a:t>
                </a:r>
                <a:r>
                  <a:rPr lang="en-US" altLang="ko-KR" dirty="0">
                    <a:solidFill>
                      <a:schemeClr val="bg1"/>
                    </a:solidFill>
                  </a:rPr>
                  <a:t>/</a:t>
                </a:r>
                <a:r>
                  <a:rPr lang="ko-KR" altLang="en-US" dirty="0">
                    <a:solidFill>
                      <a:schemeClr val="bg1"/>
                    </a:solidFill>
                  </a:rPr>
                  <a:t>운영 문제에서 </a:t>
                </a:r>
                <a:r>
                  <a:rPr lang="en-US" altLang="ko-KR" dirty="0">
                    <a:solidFill>
                      <a:schemeClr val="bg1"/>
                    </a:solidFill>
                  </a:rPr>
                  <a:t>(</a:t>
                </a:r>
                <a:r>
                  <a:rPr lang="ko-KR" altLang="en-US" dirty="0">
                    <a:solidFill>
                      <a:schemeClr val="bg1"/>
                    </a:solidFill>
                  </a:rPr>
                  <a:t>각기 다른 </a:t>
                </a:r>
                <a:r>
                  <a:rPr lang="en-US" altLang="ko-KR" dirty="0">
                    <a:solidFill>
                      <a:schemeClr val="bg1"/>
                    </a:solidFill>
                  </a:rPr>
                  <a:t>Optimization </a:t>
                </a:r>
                <a:r>
                  <a:rPr lang="ko-KR" altLang="en-US" dirty="0">
                    <a:solidFill>
                      <a:schemeClr val="bg1"/>
                    </a:solidFill>
                  </a:rPr>
                  <a:t>기간을 가지고 있는</a:t>
                </a:r>
                <a:r>
                  <a:rPr lang="en-US" altLang="ko-KR" dirty="0">
                    <a:solidFill>
                      <a:schemeClr val="bg1"/>
                    </a:solidFill>
                  </a:rPr>
                  <a:t>) </a:t>
                </a:r>
                <a:r>
                  <a:rPr lang="ko-KR" altLang="en-US" dirty="0">
                    <a:solidFill>
                      <a:schemeClr val="bg1"/>
                    </a:solidFill>
                  </a:rPr>
                  <a:t>모두 사용 가능 </a:t>
                </a:r>
                <a:endParaRPr lang="en-US" altLang="ko-KR" dirty="0">
                  <a:solidFill>
                    <a:schemeClr val="bg1"/>
                  </a:solidFill>
                </a:endParaRPr>
              </a:p>
              <a:p>
                <a:pPr lvl="2"/>
                <a:r>
                  <a:rPr lang="en-US" altLang="ko-KR" dirty="0">
                    <a:solidFill>
                      <a:schemeClr val="bg1"/>
                    </a:solidFill>
                  </a:rPr>
                  <a:t>SDP-</a:t>
                </a:r>
                <a:r>
                  <a:rPr lang="ko-KR" altLang="en-US" dirty="0">
                    <a:solidFill>
                      <a:schemeClr val="bg1"/>
                    </a:solidFill>
                  </a:rPr>
                  <a:t>미래 불확실한 정보를 문제 구성 시 모델 안에 포함하여 </a:t>
                </a:r>
                <a:r>
                  <a:rPr lang="en-US" altLang="ko-KR" dirty="0">
                    <a:solidFill>
                      <a:schemeClr val="bg1"/>
                    </a:solidFill>
                  </a:rPr>
                  <a:t>(</a:t>
                </a:r>
                <a:r>
                  <a:rPr lang="ko-KR" altLang="en-US" dirty="0">
                    <a:solidFill>
                      <a:schemeClr val="bg1"/>
                    </a:solidFill>
                  </a:rPr>
                  <a:t>분포를 포함한</a:t>
                </a:r>
                <a:r>
                  <a:rPr lang="en-US" altLang="ko-KR" dirty="0">
                    <a:solidFill>
                      <a:schemeClr val="bg1"/>
                    </a:solidFill>
                  </a:rPr>
                  <a:t>) </a:t>
                </a:r>
                <a:r>
                  <a:rPr lang="ko-KR" altLang="en-US" dirty="0">
                    <a:solidFill>
                      <a:schemeClr val="bg1"/>
                    </a:solidFill>
                  </a:rPr>
                  <a:t>최적화 진행 가능</a:t>
                </a:r>
                <a:endParaRPr lang="en-US" altLang="ko-KR" dirty="0">
                  <a:solidFill>
                    <a:schemeClr val="bg1"/>
                  </a:solidFill>
                </a:endParaRPr>
              </a:p>
              <a:p>
                <a:pPr lvl="2"/>
                <a:endParaRPr lang="en-US" altLang="ko-KR" sz="900" dirty="0"/>
              </a:p>
              <a:p>
                <a:pPr lvl="1"/>
                <a:r>
                  <a:rPr lang="en-US" altLang="ko-KR" dirty="0"/>
                  <a:t> </a:t>
                </a:r>
                <a:r>
                  <a:rPr lang="ko-KR" altLang="en-US" dirty="0"/>
                  <a:t>단점</a:t>
                </a:r>
                <a:endParaRPr lang="en-US" altLang="ko-KR" dirty="0"/>
              </a:p>
              <a:p>
                <a:pPr lvl="2"/>
                <a:r>
                  <a:rPr lang="en-US" altLang="ko-KR" dirty="0">
                    <a:solidFill>
                      <a:schemeClr val="bg1"/>
                    </a:solidFill>
                  </a:rPr>
                  <a:t>Curse of dimensionality: </a:t>
                </a:r>
                <a:r>
                  <a:rPr lang="ko-KR" altLang="en-US" dirty="0">
                    <a:solidFill>
                      <a:schemeClr val="bg1"/>
                    </a:solidFill>
                  </a:rPr>
                  <a:t>이산화 때문에 계산 횟수가 기하급수적으로 커짐</a:t>
                </a:r>
                <a:br>
                  <a:rPr lang="en-US" altLang="ko-KR" dirty="0">
                    <a:solidFill>
                      <a:schemeClr val="bg1"/>
                    </a:solidFill>
                  </a:rPr>
                </a:br>
                <a:r>
                  <a:rPr lang="en-US" altLang="ko-KR" dirty="0">
                    <a:solidFill>
                      <a:schemeClr val="bg1"/>
                    </a:solidFill>
                  </a:rPr>
                  <a:t>(n</a:t>
                </a:r>
                <a:r>
                  <a:rPr lang="ko-KR" altLang="en-US" dirty="0">
                    <a:solidFill>
                      <a:schemeClr val="bg1"/>
                    </a:solidFill>
                  </a:rPr>
                  <a:t>개의 </a:t>
                </a:r>
                <a:r>
                  <a:rPr lang="en-US" altLang="ko-KR" dirty="0">
                    <a:solidFill>
                      <a:schemeClr val="bg1"/>
                    </a:solidFill>
                  </a:rPr>
                  <a:t>state variable</a:t>
                </a:r>
                <a:r>
                  <a:rPr lang="ko-KR" altLang="en-US" dirty="0">
                    <a:solidFill>
                      <a:schemeClr val="bg1"/>
                    </a:solidFill>
                  </a:rPr>
                  <a:t>을 각각 </a:t>
                </a:r>
                <a:r>
                  <a:rPr lang="en-US" altLang="ko-KR" dirty="0">
                    <a:solidFill>
                      <a:schemeClr val="bg1"/>
                    </a:solidFill>
                  </a:rPr>
                  <a:t>m</a:t>
                </a:r>
                <a:r>
                  <a:rPr lang="ko-KR" altLang="en-US" dirty="0">
                    <a:solidFill>
                      <a:schemeClr val="bg1"/>
                    </a:solidFill>
                  </a:rPr>
                  <a:t>개로 이산화한다면 각 </a:t>
                </a:r>
                <a:r>
                  <a:rPr lang="en-US" altLang="ko-KR" dirty="0">
                    <a:solidFill>
                      <a:schemeClr val="bg1"/>
                    </a:solidFill>
                  </a:rPr>
                  <a:t>stage</a:t>
                </a:r>
                <a:r>
                  <a:rPr lang="ko-KR" altLang="en-US" dirty="0">
                    <a:solidFill>
                      <a:schemeClr val="bg1"/>
                    </a:solidFill>
                  </a:rPr>
                  <a:t>에서 총 </a:t>
                </a:r>
                <a14:m>
                  <m:oMath xmlns:m="http://schemas.openxmlformats.org/officeDocument/2006/math">
                    <m:sSup>
                      <m:sSupPr>
                        <m:ctrlPr>
                          <a:rPr lang="en-US" altLang="ko-KR" i="1" smtClean="0">
                            <a:solidFill>
                              <a:schemeClr val="bg1"/>
                            </a:solidFill>
                            <a:latin typeface="Cambria Math" panose="02040503050406030204" pitchFamily="18" charset="0"/>
                          </a:rPr>
                        </m:ctrlPr>
                      </m:sSupPr>
                      <m:e>
                        <m:r>
                          <a:rPr lang="en-US" altLang="ko-KR" b="0" i="1" smtClean="0">
                            <a:solidFill>
                              <a:schemeClr val="bg1"/>
                            </a:solidFill>
                            <a:latin typeface="Cambria Math" panose="02040503050406030204" pitchFamily="18" charset="0"/>
                          </a:rPr>
                          <m:t>𝑚</m:t>
                        </m:r>
                      </m:e>
                      <m:sup>
                        <m:r>
                          <a:rPr lang="en-US" altLang="ko-KR" b="0" i="1" smtClean="0">
                            <a:solidFill>
                              <a:schemeClr val="bg1"/>
                            </a:solidFill>
                            <a:latin typeface="Cambria Math" panose="02040503050406030204" pitchFamily="18" charset="0"/>
                          </a:rPr>
                          <m:t>𝑛</m:t>
                        </m:r>
                      </m:sup>
                    </m:sSup>
                  </m:oMath>
                </a14:m>
                <a:r>
                  <a:rPr lang="ko-KR" altLang="en-US" dirty="0">
                    <a:solidFill>
                      <a:schemeClr val="bg1"/>
                    </a:solidFill>
                  </a:rPr>
                  <a:t>번 계산 과정이 필요함</a:t>
                </a:r>
                <a:r>
                  <a:rPr lang="en-US" altLang="ko-KR" dirty="0">
                    <a:solidFill>
                      <a:schemeClr val="bg1"/>
                    </a:solidFill>
                  </a:rPr>
                  <a:t>)</a:t>
                </a:r>
              </a:p>
              <a:p>
                <a:pPr lvl="2"/>
                <a:r>
                  <a:rPr lang="en-US" altLang="ko-KR" dirty="0">
                    <a:solidFill>
                      <a:schemeClr val="bg1"/>
                    </a:solidFill>
                  </a:rPr>
                  <a:t>Curse of modeling: </a:t>
                </a:r>
                <a:r>
                  <a:rPr lang="ko-KR" altLang="en-US" dirty="0">
                    <a:solidFill>
                      <a:schemeClr val="bg1"/>
                    </a:solidFill>
                  </a:rPr>
                  <a:t>모든 정보는 모델 안에 </a:t>
                </a:r>
                <a:r>
                  <a:rPr lang="en-US" altLang="ko-KR" dirty="0">
                    <a:solidFill>
                      <a:schemeClr val="bg1"/>
                    </a:solidFill>
                  </a:rPr>
                  <a:t>state variable</a:t>
                </a:r>
                <a:r>
                  <a:rPr lang="ko-KR" altLang="en-US" dirty="0">
                    <a:solidFill>
                      <a:schemeClr val="bg1"/>
                    </a:solidFill>
                  </a:rPr>
                  <a:t>로 포함되어야 함</a:t>
                </a:r>
                <a:endParaRPr lang="en-US" altLang="ko-KR" dirty="0">
                  <a:solidFill>
                    <a:schemeClr val="bg1"/>
                  </a:solidFill>
                </a:endParaRPr>
              </a:p>
              <a:p>
                <a:pPr lvl="2"/>
                <a:r>
                  <a:rPr lang="en-US" altLang="ko-KR" dirty="0">
                    <a:solidFill>
                      <a:schemeClr val="bg1"/>
                    </a:solidFill>
                  </a:rPr>
                  <a:t>Curse of multiple objectives: Commensuration &amp; Weighting</a:t>
                </a:r>
                <a:endParaRPr lang="ko-KR" altLang="en-US" dirty="0">
                  <a:solidFill>
                    <a:schemeClr val="bg1"/>
                  </a:solidFill>
                </a:endParaRPr>
              </a:p>
              <a:p>
                <a:endParaRPr lang="ko-KR" altLang="en-US" dirty="0"/>
              </a:p>
            </p:txBody>
          </p:sp>
        </mc:Choice>
        <mc:Fallback>
          <p:sp>
            <p:nvSpPr>
              <p:cNvPr id="3" name="내용 개체 틀 2">
                <a:extLst>
                  <a:ext uri="{FF2B5EF4-FFF2-40B4-BE49-F238E27FC236}">
                    <a16:creationId xmlns:a16="http://schemas.microsoft.com/office/drawing/2014/main" id="{FD1057DB-68D8-4B44-8C07-AADE06A70AC7}"/>
                  </a:ext>
                </a:extLst>
              </p:cNvPr>
              <p:cNvSpPr>
                <a:spLocks noGrp="1" noRot="1" noChangeAspect="1" noMove="1" noResize="1" noEditPoints="1" noAdjustHandles="1" noChangeArrowheads="1" noChangeShapeType="1" noTextEdit="1"/>
              </p:cNvSpPr>
              <p:nvPr>
                <p:ph idx="1"/>
              </p:nvPr>
            </p:nvSpPr>
            <p:spPr>
              <a:xfrm>
                <a:off x="628650" y="1268760"/>
                <a:ext cx="7886700" cy="5224113"/>
              </a:xfrm>
              <a:blipFill>
                <a:blip r:embed="rId2"/>
                <a:stretch>
                  <a:fillRect l="-696" r="-464"/>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5A443299-8001-4463-A171-6ED48F130110}"/>
              </a:ext>
            </a:extLst>
          </p:cNvPr>
          <p:cNvSpPr>
            <a:spLocks noGrp="1"/>
          </p:cNvSpPr>
          <p:nvPr>
            <p:ph type="sldNum" sz="quarter" idx="12"/>
          </p:nvPr>
        </p:nvSpPr>
        <p:spPr/>
        <p:txBody>
          <a:bodyPr/>
          <a:lstStyle/>
          <a:p>
            <a:fld id="{79822AFB-C284-4A8E-A6EE-41BAA9C576A0}" type="slidenum">
              <a:rPr lang="ko-KR" altLang="en-US" smtClean="0"/>
              <a:t>15</a:t>
            </a:fld>
            <a:endParaRPr lang="ko-KR" altLang="en-US"/>
          </a:p>
        </p:txBody>
      </p:sp>
    </p:spTree>
    <p:extLst>
      <p:ext uri="{BB962C8B-B14F-4D97-AF65-F5344CB8AC3E}">
        <p14:creationId xmlns:p14="http://schemas.microsoft.com/office/powerpoint/2010/main" val="378871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5DAA57-BAD2-411A-BC29-1EAEEE637654}"/>
              </a:ext>
            </a:extLst>
          </p:cNvPr>
          <p:cNvSpPr>
            <a:spLocks noGrp="1"/>
          </p:cNvSpPr>
          <p:nvPr>
            <p:ph type="title"/>
          </p:nvPr>
        </p:nvSpPr>
        <p:spPr/>
        <p:txBody>
          <a:bodyPr>
            <a:normAutofit fontScale="90000"/>
          </a:bodyPr>
          <a:lstStyle/>
          <a:p>
            <a:r>
              <a:rPr lang="en-US" altLang="ko-KR" dirty="0"/>
              <a:t>Curses of Stochastic Dynamic Programming</a:t>
            </a:r>
            <a:endParaRPr lang="ko-KR" altLang="en-US" dirty="0"/>
          </a:p>
        </p:txBody>
      </p:sp>
      <p:sp>
        <p:nvSpPr>
          <p:cNvPr id="4" name="슬라이드 번호 개체 틀 3">
            <a:extLst>
              <a:ext uri="{FF2B5EF4-FFF2-40B4-BE49-F238E27FC236}">
                <a16:creationId xmlns:a16="http://schemas.microsoft.com/office/drawing/2014/main" id="{0239DDD3-3433-4D48-B7C0-4E8A252734BF}"/>
              </a:ext>
            </a:extLst>
          </p:cNvPr>
          <p:cNvSpPr>
            <a:spLocks noGrp="1"/>
          </p:cNvSpPr>
          <p:nvPr>
            <p:ph type="sldNum" sz="quarter" idx="12"/>
          </p:nvPr>
        </p:nvSpPr>
        <p:spPr/>
        <p:txBody>
          <a:bodyPr/>
          <a:lstStyle/>
          <a:p>
            <a:fld id="{79822AFB-C284-4A8E-A6EE-41BAA9C576A0}" type="slidenum">
              <a:rPr lang="ko-KR" altLang="en-US" smtClean="0"/>
              <a:t>16</a:t>
            </a:fld>
            <a:endParaRPr lang="ko-KR" altLang="en-US"/>
          </a:p>
        </p:txBody>
      </p:sp>
      <p:pic>
        <p:nvPicPr>
          <p:cNvPr id="6" name="내용 개체 틀 4">
            <a:extLst>
              <a:ext uri="{FF2B5EF4-FFF2-40B4-BE49-F238E27FC236}">
                <a16:creationId xmlns:a16="http://schemas.microsoft.com/office/drawing/2014/main" id="{8A2215A1-0B49-4BFC-8D2E-AA3F3B7155A3}"/>
              </a:ext>
            </a:extLst>
          </p:cNvPr>
          <p:cNvPicPr>
            <a:picLocks noGrp="1" noChangeAspect="1"/>
          </p:cNvPicPr>
          <p:nvPr>
            <p:ph idx="1"/>
          </p:nvPr>
        </p:nvPicPr>
        <p:blipFill>
          <a:blip r:embed="rId2"/>
          <a:stretch>
            <a:fillRect/>
          </a:stretch>
        </p:blipFill>
        <p:spPr>
          <a:xfrm>
            <a:off x="1640272" y="1268413"/>
            <a:ext cx="5863455" cy="4908550"/>
          </a:xfrm>
          <a:prstGeom prst="rect">
            <a:avLst/>
          </a:prstGeom>
        </p:spPr>
      </p:pic>
    </p:spTree>
    <p:extLst>
      <p:ext uri="{BB962C8B-B14F-4D97-AF65-F5344CB8AC3E}">
        <p14:creationId xmlns:p14="http://schemas.microsoft.com/office/powerpoint/2010/main" val="1335730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718B70-A4FF-469B-AA3F-D5912687AE82}"/>
              </a:ext>
            </a:extLst>
          </p:cNvPr>
          <p:cNvSpPr>
            <a:spLocks noGrp="1"/>
          </p:cNvSpPr>
          <p:nvPr>
            <p:ph type="title"/>
          </p:nvPr>
        </p:nvSpPr>
        <p:spPr/>
        <p:txBody>
          <a:bodyPr/>
          <a:lstStyle/>
          <a:p>
            <a:r>
              <a:rPr lang="en-US" altLang="ko-KR" dirty="0"/>
              <a:t>Linear Programming Models</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6E2E5CD6-E0EC-4963-879C-972FD88B1B06}"/>
                  </a:ext>
                </a:extLst>
              </p:cNvPr>
              <p:cNvSpPr>
                <a:spLocks noGrp="1"/>
              </p:cNvSpPr>
              <p:nvPr>
                <p:ph idx="1"/>
              </p:nvPr>
            </p:nvSpPr>
            <p:spPr/>
            <p:txBody>
              <a:bodyPr/>
              <a:lstStyle/>
              <a:p>
                <a:r>
                  <a:rPr lang="en-US" altLang="ko-KR" dirty="0"/>
                  <a:t> Applicable on problems with the objective function &amp; constraints are </a:t>
                </a:r>
                <a:r>
                  <a:rPr lang="en-US" altLang="ko-KR" b="1" u="sng" dirty="0"/>
                  <a:t>ALL LINEAR</a:t>
                </a:r>
              </a:p>
              <a:p>
                <a:endParaRPr lang="en-US" altLang="ko-KR" b="1" u="sng" dirty="0"/>
              </a:p>
              <a:p>
                <a:pPr lvl="1"/>
                <a:r>
                  <a:rPr lang="en-US" altLang="ko-KR" dirty="0"/>
                  <a:t> Maximize or minimize</a:t>
                </a:r>
                <a:br>
                  <a:rPr lang="en-US" altLang="ko-KR" dirty="0"/>
                </a:br>
                <a:br>
                  <a:rPr lang="en-US" altLang="ko-KR" dirty="0"/>
                </a:br>
                <a:r>
                  <a:rPr lang="en-US" altLang="ko-KR" dirty="0"/>
                  <a:t>subject to </a:t>
                </a:r>
                <a:br>
                  <a:rPr lang="en-US" altLang="ko-KR" dirty="0"/>
                </a:br>
                <a:br>
                  <a:rPr lang="en-US" altLang="ko-KR" dirty="0"/>
                </a:br>
                <a:r>
                  <a:rPr lang="en-US" altLang="ko-KR" dirty="0"/>
                  <a:t>                                         for </a:t>
                </a:r>
                <a14:m>
                  <m:oMath xmlns:m="http://schemas.openxmlformats.org/officeDocument/2006/math">
                    <m:r>
                      <a:rPr lang="en-US" altLang="ko-KR" b="0" i="1" smtClean="0">
                        <a:latin typeface="Cambria Math" panose="02040503050406030204" pitchFamily="18" charset="0"/>
                      </a:rPr>
                      <m:t>𝑖</m:t>
                    </m:r>
                    <m:r>
                      <a:rPr lang="en-US" altLang="ko-KR" b="0" i="1" smtClean="0">
                        <a:latin typeface="Cambria Math" panose="02040503050406030204" pitchFamily="18" charset="0"/>
                      </a:rPr>
                      <m:t>=1,2,…,</m:t>
                    </m:r>
                    <m:r>
                      <a:rPr lang="en-US" altLang="ko-KR" b="0" i="1" smtClean="0">
                        <a:latin typeface="Cambria Math" panose="02040503050406030204" pitchFamily="18" charset="0"/>
                      </a:rPr>
                      <m:t>𝑚</m:t>
                    </m:r>
                  </m:oMath>
                </a14:m>
                <a:br>
                  <a:rPr lang="en-US" altLang="ko-KR" dirty="0"/>
                </a:br>
                <a:br>
                  <a:rPr lang="en-US" altLang="ko-KR" dirty="0"/>
                </a:br>
                <a:r>
                  <a:rPr lang="en-US" altLang="ko-KR" dirty="0"/>
                  <a:t>                                         for </a:t>
                </a:r>
                <a14:m>
                  <m:oMath xmlns:m="http://schemas.openxmlformats.org/officeDocument/2006/math">
                    <m:r>
                      <a:rPr lang="en-US" altLang="ko-KR" b="0" i="1" smtClean="0">
                        <a:latin typeface="Cambria Math" panose="02040503050406030204" pitchFamily="18" charset="0"/>
                      </a:rPr>
                      <m:t>𝑗</m:t>
                    </m:r>
                    <m:r>
                      <a:rPr lang="en-US" altLang="ko-KR" i="1">
                        <a:latin typeface="Cambria Math" panose="02040503050406030204" pitchFamily="18" charset="0"/>
                      </a:rPr>
                      <m:t>=1,2,…,</m:t>
                    </m:r>
                    <m:r>
                      <a:rPr lang="en-US" altLang="ko-KR" b="0" i="1" smtClean="0">
                        <a:latin typeface="Cambria Math" panose="02040503050406030204" pitchFamily="18" charset="0"/>
                      </a:rPr>
                      <m:t>𝑛</m:t>
                    </m:r>
                  </m:oMath>
                </a14:m>
                <a:endParaRPr lang="en-US" altLang="ko-KR" dirty="0"/>
              </a:p>
              <a:p>
                <a:pPr lvl="1"/>
                <a:endParaRPr lang="en-US" altLang="ko-KR" dirty="0"/>
              </a:p>
              <a:p>
                <a:pPr lvl="1"/>
                <a:r>
                  <a:rPr lang="en-US" altLang="ko-KR" dirty="0"/>
                  <a:t> Many tools are available that can be utilized to solve LP problems-including Microsoft Excel (search for “LP solvers”)</a:t>
                </a:r>
              </a:p>
            </p:txBody>
          </p:sp>
        </mc:Choice>
        <mc:Fallback xmlns="">
          <p:sp>
            <p:nvSpPr>
              <p:cNvPr id="3" name="내용 개체 틀 2">
                <a:extLst>
                  <a:ext uri="{FF2B5EF4-FFF2-40B4-BE49-F238E27FC236}">
                    <a16:creationId xmlns:a16="http://schemas.microsoft.com/office/drawing/2014/main" id="{6E2E5CD6-E0EC-4963-879C-972FD88B1B06}"/>
                  </a:ext>
                </a:extLst>
              </p:cNvPr>
              <p:cNvSpPr>
                <a:spLocks noGrp="1" noRot="1" noChangeAspect="1" noMove="1" noResize="1" noEditPoints="1" noAdjustHandles="1" noChangeArrowheads="1" noChangeShapeType="1" noTextEdit="1"/>
              </p:cNvSpPr>
              <p:nvPr>
                <p:ph idx="1"/>
              </p:nvPr>
            </p:nvSpPr>
            <p:spPr>
              <a:blipFill>
                <a:blip r:embed="rId2"/>
                <a:stretch>
                  <a:fillRect l="-696" r="-464"/>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4498D0C4-25BE-4783-877C-B971242B328A}"/>
              </a:ext>
            </a:extLst>
          </p:cNvPr>
          <p:cNvSpPr>
            <a:spLocks noGrp="1"/>
          </p:cNvSpPr>
          <p:nvPr>
            <p:ph type="sldNum" sz="quarter" idx="12"/>
          </p:nvPr>
        </p:nvSpPr>
        <p:spPr/>
        <p:txBody>
          <a:bodyPr/>
          <a:lstStyle/>
          <a:p>
            <a:fld id="{79822AFB-C284-4A8E-A6EE-41BAA9C576A0}" type="slidenum">
              <a:rPr lang="ko-KR" altLang="en-US" smtClean="0"/>
              <a:t>17</a:t>
            </a:fld>
            <a:endParaRPr lang="ko-KR" altLang="en-US"/>
          </a:p>
        </p:txBody>
      </p:sp>
    </p:spTree>
    <p:extLst>
      <p:ext uri="{BB962C8B-B14F-4D97-AF65-F5344CB8AC3E}">
        <p14:creationId xmlns:p14="http://schemas.microsoft.com/office/powerpoint/2010/main" val="232994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51667-09ED-4798-BB10-0F2442A2F820}"/>
              </a:ext>
            </a:extLst>
          </p:cNvPr>
          <p:cNvSpPr>
            <a:spLocks noGrp="1"/>
          </p:cNvSpPr>
          <p:nvPr>
            <p:ph type="title"/>
          </p:nvPr>
        </p:nvSpPr>
        <p:spPr/>
        <p:txBody>
          <a:bodyPr/>
          <a:lstStyle/>
          <a:p>
            <a:r>
              <a:rPr lang="en-US" altLang="ko-KR" dirty="0"/>
              <a:t>Final Project A-due May 03</a:t>
            </a:r>
            <a:endParaRPr lang="ko-KR" altLang="en-US" dirty="0"/>
          </a:p>
        </p:txBody>
      </p:sp>
      <p:sp>
        <p:nvSpPr>
          <p:cNvPr id="3" name="내용 개체 틀 2">
            <a:extLst>
              <a:ext uri="{FF2B5EF4-FFF2-40B4-BE49-F238E27FC236}">
                <a16:creationId xmlns:a16="http://schemas.microsoft.com/office/drawing/2014/main" id="{EC0A998B-F470-45CF-B55A-2123338016A4}"/>
              </a:ext>
            </a:extLst>
          </p:cNvPr>
          <p:cNvSpPr>
            <a:spLocks noGrp="1"/>
          </p:cNvSpPr>
          <p:nvPr>
            <p:ph idx="1"/>
          </p:nvPr>
        </p:nvSpPr>
        <p:spPr/>
        <p:txBody>
          <a:bodyPr/>
          <a:lstStyle/>
          <a:p>
            <a:r>
              <a:rPr lang="en-US" altLang="ko-KR" dirty="0"/>
              <a:t>Create a reservoir operation DP optimization model given in textbook 4.4.7.2 (p.120~137). Your model should be built in one of the following computer languages (R, Python, or </a:t>
            </a:r>
            <a:r>
              <a:rPr lang="en-US" altLang="ko-KR" dirty="0" err="1"/>
              <a:t>Matlab</a:t>
            </a:r>
            <a:r>
              <a:rPr lang="en-US" altLang="ko-KR" dirty="0"/>
              <a:t> NOT EXCEL, although you may want to replicate first with Excel). You should write the codes by yourself (do not use already built DP model available online) and all the conditions can be found in the textbook. Your model should yield the results in Table 4.20 &amp; Fig. 4.18.</a:t>
            </a:r>
            <a:endParaRPr lang="ko-KR" altLang="ko-KR" dirty="0"/>
          </a:p>
          <a:p>
            <a:pPr marL="457200" lvl="1" indent="0" algn="ctr">
              <a:buNone/>
            </a:pPr>
            <a:r>
              <a:rPr lang="en-US" altLang="ko-KR" dirty="0"/>
              <a:t> </a:t>
            </a:r>
            <a:r>
              <a:rPr lang="en-US" altLang="ko-KR" b="1" dirty="0"/>
              <a:t>Team A </a:t>
            </a:r>
            <a:r>
              <a:rPr lang="ko-KR" altLang="en-US" b="1" dirty="0"/>
              <a:t>이재호 </a:t>
            </a:r>
            <a:r>
              <a:rPr lang="ko-KR" altLang="en-US" b="1" dirty="0" err="1"/>
              <a:t>이재황</a:t>
            </a:r>
            <a:r>
              <a:rPr lang="ko-KR" altLang="en-US" b="1" dirty="0"/>
              <a:t> 김연주 박성열</a:t>
            </a:r>
            <a:endParaRPr lang="en-US" altLang="ko-KR" b="1" dirty="0"/>
          </a:p>
          <a:p>
            <a:pPr marL="457200" lvl="1" indent="0" algn="ctr">
              <a:buNone/>
            </a:pPr>
            <a:r>
              <a:rPr lang="en-US" altLang="ko-KR" b="1" dirty="0"/>
              <a:t> Team B </a:t>
            </a:r>
            <a:r>
              <a:rPr lang="ko-KR" altLang="en-US" b="1" dirty="0"/>
              <a:t>김현주 </a:t>
            </a:r>
            <a:r>
              <a:rPr lang="ko-KR" altLang="en-US" b="1" dirty="0" err="1"/>
              <a:t>남현욱</a:t>
            </a:r>
            <a:r>
              <a:rPr lang="ko-KR" altLang="en-US" b="1" dirty="0"/>
              <a:t> 이주형</a:t>
            </a:r>
            <a:endParaRPr lang="en-US" altLang="ko-KR" b="1" dirty="0"/>
          </a:p>
          <a:p>
            <a:pPr lvl="1"/>
            <a:endParaRPr lang="en-US" altLang="ko-KR" dirty="0"/>
          </a:p>
          <a:p>
            <a:pPr lvl="1"/>
            <a:r>
              <a:rPr lang="en-US" altLang="ko-KR" dirty="0"/>
              <a:t> Due May-03, prepare for a 15 min team presentation (PPT)</a:t>
            </a:r>
            <a:endParaRPr lang="ko-KR" altLang="en-US" dirty="0"/>
          </a:p>
        </p:txBody>
      </p:sp>
      <p:sp>
        <p:nvSpPr>
          <p:cNvPr id="4" name="슬라이드 번호 개체 틀 3">
            <a:extLst>
              <a:ext uri="{FF2B5EF4-FFF2-40B4-BE49-F238E27FC236}">
                <a16:creationId xmlns:a16="http://schemas.microsoft.com/office/drawing/2014/main" id="{A273481D-1442-4E77-81C3-F816D278CDCA}"/>
              </a:ext>
            </a:extLst>
          </p:cNvPr>
          <p:cNvSpPr>
            <a:spLocks noGrp="1"/>
          </p:cNvSpPr>
          <p:nvPr>
            <p:ph type="sldNum" sz="quarter" idx="12"/>
          </p:nvPr>
        </p:nvSpPr>
        <p:spPr/>
        <p:txBody>
          <a:bodyPr/>
          <a:lstStyle/>
          <a:p>
            <a:fld id="{79822AFB-C284-4A8E-A6EE-41BAA9C576A0}" type="slidenum">
              <a:rPr lang="ko-KR" altLang="en-US" smtClean="0"/>
              <a:t>18</a:t>
            </a:fld>
            <a:endParaRPr lang="ko-KR" altLang="en-US"/>
          </a:p>
        </p:txBody>
      </p:sp>
    </p:spTree>
    <p:extLst>
      <p:ext uri="{BB962C8B-B14F-4D97-AF65-F5344CB8AC3E}">
        <p14:creationId xmlns:p14="http://schemas.microsoft.com/office/powerpoint/2010/main" val="3661840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C32D9C-5B9C-463C-A183-253D11ABB130}"/>
              </a:ext>
            </a:extLst>
          </p:cNvPr>
          <p:cNvSpPr>
            <a:spLocks noGrp="1"/>
          </p:cNvSpPr>
          <p:nvPr>
            <p:ph type="title"/>
          </p:nvPr>
        </p:nvSpPr>
        <p:spPr/>
        <p:txBody>
          <a:bodyPr/>
          <a:lstStyle/>
          <a:p>
            <a:r>
              <a:rPr lang="en-US" altLang="ko-KR" dirty="0"/>
              <a:t>Conclusion of Lecture 04</a:t>
            </a:r>
            <a:endParaRPr lang="ko-KR" altLang="en-US" dirty="0"/>
          </a:p>
        </p:txBody>
      </p:sp>
      <p:sp>
        <p:nvSpPr>
          <p:cNvPr id="3" name="내용 개체 틀 2">
            <a:extLst>
              <a:ext uri="{FF2B5EF4-FFF2-40B4-BE49-F238E27FC236}">
                <a16:creationId xmlns:a16="http://schemas.microsoft.com/office/drawing/2014/main" id="{BAB54ED7-E2F6-4D40-AFB0-9CF5058BC5E4}"/>
              </a:ext>
            </a:extLst>
          </p:cNvPr>
          <p:cNvSpPr>
            <a:spLocks noGrp="1"/>
          </p:cNvSpPr>
          <p:nvPr>
            <p:ph idx="1"/>
          </p:nvPr>
        </p:nvSpPr>
        <p:spPr/>
        <p:txBody>
          <a:bodyPr>
            <a:normAutofit/>
          </a:bodyPr>
          <a:lstStyle/>
          <a:p>
            <a:r>
              <a:rPr lang="en-US" altLang="ko-KR" dirty="0"/>
              <a:t> Engineering Economics: </a:t>
            </a:r>
            <a:br>
              <a:rPr lang="en-US" altLang="ko-KR" dirty="0"/>
            </a:br>
            <a:r>
              <a:rPr lang="en-US" altLang="ko-KR" dirty="0"/>
              <a:t>Time Streams of Economic Benefits &amp; Costs</a:t>
            </a:r>
          </a:p>
          <a:p>
            <a:r>
              <a:rPr lang="en-US" altLang="ko-KR" dirty="0"/>
              <a:t> Solving Nonlinear Optimization Models with Calculus</a:t>
            </a:r>
          </a:p>
          <a:p>
            <a:pPr lvl="1"/>
            <a:r>
              <a:rPr lang="en-US" altLang="ko-KR" dirty="0"/>
              <a:t>Solution Using Calculus</a:t>
            </a:r>
          </a:p>
          <a:p>
            <a:pPr lvl="1"/>
            <a:r>
              <a:rPr lang="en-US" altLang="ko-KR" dirty="0"/>
              <a:t>Solution Using Hill Climbing</a:t>
            </a:r>
          </a:p>
          <a:p>
            <a:pPr lvl="1"/>
            <a:r>
              <a:rPr lang="en-US" altLang="ko-KR" dirty="0"/>
              <a:t>Solution Using the Lagrange Multiplier</a:t>
            </a:r>
          </a:p>
          <a:p>
            <a:endParaRPr lang="en-US" altLang="ko-KR" sz="1000" dirty="0"/>
          </a:p>
          <a:p>
            <a:r>
              <a:rPr lang="en-US" altLang="ko-KR" dirty="0"/>
              <a:t> Concepts of Dynamic Programming Models (DP)</a:t>
            </a:r>
          </a:p>
          <a:p>
            <a:r>
              <a:rPr lang="en-US" altLang="ko-KR" dirty="0"/>
              <a:t> Examples of Problem Solving with DP Models</a:t>
            </a:r>
          </a:p>
          <a:p>
            <a:r>
              <a:rPr lang="en-US" altLang="ko-KR" dirty="0"/>
              <a:t> Concepts of Linear Programming Models (LP)</a:t>
            </a:r>
          </a:p>
          <a:p>
            <a:r>
              <a:rPr lang="en-US" altLang="ko-KR" dirty="0"/>
              <a:t> Real-world Applications of Traditional Optimization Models</a:t>
            </a:r>
          </a:p>
          <a:p>
            <a:endParaRPr lang="ko-KR" altLang="en-US" dirty="0"/>
          </a:p>
        </p:txBody>
      </p:sp>
      <p:sp>
        <p:nvSpPr>
          <p:cNvPr id="4" name="슬라이드 번호 개체 틀 3">
            <a:extLst>
              <a:ext uri="{FF2B5EF4-FFF2-40B4-BE49-F238E27FC236}">
                <a16:creationId xmlns:a16="http://schemas.microsoft.com/office/drawing/2014/main" id="{82950B24-59D4-4FEE-AEE7-6908BEC18C14}"/>
              </a:ext>
            </a:extLst>
          </p:cNvPr>
          <p:cNvSpPr>
            <a:spLocks noGrp="1"/>
          </p:cNvSpPr>
          <p:nvPr>
            <p:ph type="sldNum" sz="quarter" idx="12"/>
          </p:nvPr>
        </p:nvSpPr>
        <p:spPr/>
        <p:txBody>
          <a:bodyPr/>
          <a:lstStyle/>
          <a:p>
            <a:fld id="{79822AFB-C284-4A8E-A6EE-41BAA9C576A0}" type="slidenum">
              <a:rPr lang="ko-KR" altLang="en-US" smtClean="0"/>
              <a:t>19</a:t>
            </a:fld>
            <a:endParaRPr lang="ko-KR" altLang="en-US"/>
          </a:p>
        </p:txBody>
      </p:sp>
    </p:spTree>
    <p:extLst>
      <p:ext uri="{BB962C8B-B14F-4D97-AF65-F5344CB8AC3E}">
        <p14:creationId xmlns:p14="http://schemas.microsoft.com/office/powerpoint/2010/main" val="463412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A2972C2-44CC-4F6E-8544-2F20B844CB04}"/>
              </a:ext>
            </a:extLst>
          </p:cNvPr>
          <p:cNvSpPr>
            <a:spLocks noGrp="1"/>
          </p:cNvSpPr>
          <p:nvPr>
            <p:ph type="title"/>
          </p:nvPr>
        </p:nvSpPr>
        <p:spPr/>
        <p:txBody>
          <a:bodyPr/>
          <a:lstStyle/>
          <a:p>
            <a:r>
              <a:rPr lang="en-US" altLang="ko-KR" dirty="0"/>
              <a:t>Future Schedule</a:t>
            </a:r>
            <a:endParaRPr lang="ko-KR" altLang="en-US" dirty="0"/>
          </a:p>
        </p:txBody>
      </p:sp>
      <p:sp>
        <p:nvSpPr>
          <p:cNvPr id="3" name="내용 개체 틀 2">
            <a:extLst>
              <a:ext uri="{FF2B5EF4-FFF2-40B4-BE49-F238E27FC236}">
                <a16:creationId xmlns:a16="http://schemas.microsoft.com/office/drawing/2014/main" id="{5BD1E931-4E26-48E4-8B68-83D521B9BA60}"/>
              </a:ext>
            </a:extLst>
          </p:cNvPr>
          <p:cNvSpPr>
            <a:spLocks noGrp="1"/>
          </p:cNvSpPr>
          <p:nvPr>
            <p:ph idx="1"/>
          </p:nvPr>
        </p:nvSpPr>
        <p:spPr>
          <a:xfrm>
            <a:off x="628650" y="1268760"/>
            <a:ext cx="7886700" cy="4968551"/>
          </a:xfrm>
        </p:spPr>
        <p:txBody>
          <a:bodyPr>
            <a:normAutofit/>
          </a:bodyPr>
          <a:lstStyle/>
          <a:p>
            <a:r>
              <a:rPr lang="en-US" altLang="ko-KR" dirty="0"/>
              <a:t> </a:t>
            </a:r>
            <a:r>
              <a:rPr lang="ko-KR" altLang="en-US" dirty="0"/>
              <a:t>다음 주 강의 </a:t>
            </a:r>
            <a:r>
              <a:rPr lang="en-US" altLang="ko-KR" dirty="0"/>
              <a:t>(2022-04-05 </a:t>
            </a:r>
            <a:r>
              <a:rPr lang="ko-KR" altLang="en-US" dirty="0"/>
              <a:t>화요일 </a:t>
            </a:r>
            <a:r>
              <a:rPr lang="en-US" altLang="ko-KR" dirty="0"/>
              <a:t>17:00-19:50)</a:t>
            </a:r>
          </a:p>
          <a:p>
            <a:pPr lvl="1"/>
            <a:r>
              <a:rPr lang="en-US" altLang="ko-KR" dirty="0"/>
              <a:t> Training with Conventional Optimization Models (Laptops)</a:t>
            </a:r>
          </a:p>
          <a:p>
            <a:pPr lvl="2"/>
            <a:r>
              <a:rPr lang="en-US" altLang="ko-KR" b="1" u="sng" dirty="0"/>
              <a:t>INSTALL</a:t>
            </a:r>
            <a:r>
              <a:rPr lang="ko-KR" altLang="en-US" b="1" u="sng" dirty="0"/>
              <a:t> </a:t>
            </a:r>
            <a:r>
              <a:rPr lang="en-US" altLang="ko-KR" b="1" u="sng" dirty="0"/>
              <a:t>R</a:t>
            </a:r>
            <a:r>
              <a:rPr lang="ko-KR" altLang="en-US" b="1" u="sng" dirty="0"/>
              <a:t> </a:t>
            </a:r>
            <a:r>
              <a:rPr lang="en-US" altLang="ko-KR" b="1" u="sng" dirty="0"/>
              <a:t>&amp;</a:t>
            </a:r>
            <a:r>
              <a:rPr lang="ko-KR" altLang="en-US" b="1" u="sng" dirty="0"/>
              <a:t> </a:t>
            </a:r>
            <a:r>
              <a:rPr lang="en-US" altLang="ko-KR" b="1" u="sng" dirty="0"/>
              <a:t>RSTUDIO in your laptops</a:t>
            </a:r>
          </a:p>
          <a:p>
            <a:pPr lvl="1"/>
            <a:r>
              <a:rPr lang="en-US" altLang="ko-KR" dirty="0"/>
              <a:t> Final Project Introduction</a:t>
            </a:r>
          </a:p>
          <a:p>
            <a:pPr lvl="2"/>
            <a:r>
              <a:rPr lang="en-US" altLang="ko-KR" dirty="0"/>
              <a:t>Read Textbook 4.4.7.2 (p.120-137)</a:t>
            </a:r>
          </a:p>
          <a:p>
            <a:pPr lvl="2"/>
            <a:r>
              <a:rPr lang="en-US" altLang="ko-KR" dirty="0"/>
              <a:t>Further details will be announced next class with some time to discuss &amp; work on the project as teams</a:t>
            </a:r>
          </a:p>
          <a:p>
            <a:pPr lvl="1"/>
            <a:endParaRPr lang="en-US" altLang="ko-KR" dirty="0"/>
          </a:p>
          <a:p>
            <a:pPr lvl="1"/>
            <a:r>
              <a:rPr lang="en-US" altLang="ko-KR" dirty="0"/>
              <a:t> Assignment #2 Due Apr-12</a:t>
            </a:r>
          </a:p>
          <a:p>
            <a:pPr lvl="1"/>
            <a:r>
              <a:rPr lang="en-US" altLang="ko-KR" dirty="0"/>
              <a:t> </a:t>
            </a:r>
            <a:r>
              <a:rPr lang="en-US" altLang="ko-KR" dirty="0" err="1"/>
              <a:t>Datacamp</a:t>
            </a:r>
            <a:r>
              <a:rPr lang="en-US" altLang="ko-KR" dirty="0"/>
              <a:t> #2 Due Apr-19</a:t>
            </a:r>
          </a:p>
          <a:p>
            <a:pPr lvl="1"/>
            <a:r>
              <a:rPr lang="en-US" altLang="ko-KR" b="1" dirty="0"/>
              <a:t> </a:t>
            </a:r>
            <a:r>
              <a:rPr lang="ko-KR" altLang="en-US" b="1" dirty="0" err="1"/>
              <a:t>보령댐</a:t>
            </a:r>
            <a:r>
              <a:rPr lang="ko-KR" altLang="en-US" b="1" dirty="0"/>
              <a:t> 견학 </a:t>
            </a:r>
            <a:r>
              <a:rPr lang="en-US" altLang="ko-KR" b="1" dirty="0"/>
              <a:t>on Week 8: Apr-25 Mon 10AM-6PM</a:t>
            </a:r>
            <a:endParaRPr lang="ko-KR" altLang="en-US" b="1" dirty="0"/>
          </a:p>
        </p:txBody>
      </p:sp>
      <p:sp>
        <p:nvSpPr>
          <p:cNvPr id="4" name="슬라이드 번호 개체 틀 3">
            <a:extLst>
              <a:ext uri="{FF2B5EF4-FFF2-40B4-BE49-F238E27FC236}">
                <a16:creationId xmlns:a16="http://schemas.microsoft.com/office/drawing/2014/main" id="{DFEFE042-1EF0-46EE-8B82-B1DFE71C8B93}"/>
              </a:ext>
            </a:extLst>
          </p:cNvPr>
          <p:cNvSpPr>
            <a:spLocks noGrp="1"/>
          </p:cNvSpPr>
          <p:nvPr>
            <p:ph type="sldNum" sz="quarter" idx="12"/>
          </p:nvPr>
        </p:nvSpPr>
        <p:spPr/>
        <p:txBody>
          <a:bodyPr/>
          <a:lstStyle/>
          <a:p>
            <a:fld id="{79822AFB-C284-4A8E-A6EE-41BAA9C576A0}" type="slidenum">
              <a:rPr lang="ko-KR" altLang="en-US" smtClean="0"/>
              <a:t>20</a:t>
            </a:fld>
            <a:endParaRPr lang="ko-KR" altLang="en-US"/>
          </a:p>
        </p:txBody>
      </p:sp>
    </p:spTree>
    <p:extLst>
      <p:ext uri="{BB962C8B-B14F-4D97-AF65-F5344CB8AC3E}">
        <p14:creationId xmlns:p14="http://schemas.microsoft.com/office/powerpoint/2010/main" val="403422437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75702</TotalTime>
  <Words>1517</Words>
  <Application>Microsoft Office PowerPoint</Application>
  <PresentationFormat>화면 슬라이드 쇼(4:3)</PresentationFormat>
  <Paragraphs>242</Paragraphs>
  <Slides>20</Slides>
  <Notes>3</Notes>
  <HiddenSlides>0</HiddenSlides>
  <MMClips>0</MMClips>
  <ScaleCrop>false</ScaleCrop>
  <HeadingPairs>
    <vt:vector size="8" baseType="variant">
      <vt:variant>
        <vt:lpstr>사용한 글꼴</vt:lpstr>
      </vt:variant>
      <vt:variant>
        <vt:i4>10</vt:i4>
      </vt:variant>
      <vt:variant>
        <vt:lpstr>테마</vt:lpstr>
      </vt:variant>
      <vt:variant>
        <vt:i4>1</vt:i4>
      </vt:variant>
      <vt:variant>
        <vt:lpstr>포함된 OLE 서버</vt:lpstr>
      </vt:variant>
      <vt:variant>
        <vt:i4>1</vt:i4>
      </vt:variant>
      <vt:variant>
        <vt:lpstr>슬라이드 제목</vt:lpstr>
      </vt:variant>
      <vt:variant>
        <vt:i4>20</vt:i4>
      </vt:variant>
    </vt:vector>
  </HeadingPairs>
  <TitlesOfParts>
    <vt:vector size="32" baseType="lpstr">
      <vt:lpstr>1훈검정고무신 Regular</vt:lpstr>
      <vt:lpstr>나눔고딕 ExtraBold</vt:lpstr>
      <vt:lpstr>나눔고딕 Light</vt:lpstr>
      <vt:lpstr>맑은 고딕</vt:lpstr>
      <vt:lpstr>서울남산 장체M</vt:lpstr>
      <vt:lpstr>Arial</vt:lpstr>
      <vt:lpstr>Calibri</vt:lpstr>
      <vt:lpstr>Cambria Math</vt:lpstr>
      <vt:lpstr>Gill Sans MT</vt:lpstr>
      <vt:lpstr>Wingdings</vt:lpstr>
      <vt:lpstr>Office 테마</vt:lpstr>
      <vt:lpstr>Equation</vt:lpstr>
      <vt:lpstr>Lecture 04</vt:lpstr>
      <vt:lpstr>Review on Lecture 03</vt:lpstr>
      <vt:lpstr>Before Lecture 04</vt:lpstr>
      <vt:lpstr>Today’s Topic:  Intro to Traditional Optimization Models</vt:lpstr>
      <vt:lpstr>Dynamic Programming (DP) (동적계획법)</vt:lpstr>
      <vt:lpstr>PowerPoint 프레젠테이션</vt:lpstr>
      <vt:lpstr>Water Allocation Example (p.105~)</vt:lpstr>
      <vt:lpstr>Water Allocation Example (p.105~)</vt:lpstr>
      <vt:lpstr>Water Allocation Example (p.105~)</vt:lpstr>
      <vt:lpstr>Water Allocation Example (p.105~)</vt:lpstr>
      <vt:lpstr>Water Allocation Example (p.105~)</vt:lpstr>
      <vt:lpstr>Water Allocation Example (p.105~)</vt:lpstr>
      <vt:lpstr>Stochastic Dynamic Programming Models</vt:lpstr>
      <vt:lpstr>Stochastic Dynamic Programming Models</vt:lpstr>
      <vt:lpstr>General Comments on DP</vt:lpstr>
      <vt:lpstr>Curses of Stochastic Dynamic Programming</vt:lpstr>
      <vt:lpstr>Linear Programming Models</vt:lpstr>
      <vt:lpstr>Final Project A-due May 03</vt:lpstr>
      <vt:lpstr>Conclusion of Lecture 04</vt:lpstr>
      <vt:lpstr>Future 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 Gi Joo</dc:creator>
  <cp:lastModifiedBy>김기주</cp:lastModifiedBy>
  <cp:revision>2199</cp:revision>
  <cp:lastPrinted>2022-03-21T05:50:04Z</cp:lastPrinted>
  <dcterms:created xsi:type="dcterms:W3CDTF">2020-01-02T02:18:47Z</dcterms:created>
  <dcterms:modified xsi:type="dcterms:W3CDTF">2022-03-29T01:59:26Z</dcterms:modified>
</cp:coreProperties>
</file>