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2"/>
    <p:sldId id="257" r:id="rId3"/>
    <p:sldId id="259" r:id="rId4"/>
    <p:sldId id="260" r:id="rId5"/>
    <p:sldId id="262" r:id="rId6"/>
    <p:sldId id="263" r:id="rId7"/>
    <p:sldId id="266" r:id="rId8"/>
    <p:sldId id="264" r:id="rId9"/>
    <p:sldId id="265" r:id="rId10"/>
    <p:sldId id="268" r:id="rId11"/>
    <p:sldId id="269" r:id="rId12"/>
    <p:sldId id="270" r:id="rId13"/>
    <p:sldId id="267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5" r:id="rId27"/>
    <p:sldId id="286" r:id="rId28"/>
    <p:sldId id="283" r:id="rId29"/>
    <p:sldId id="284" r:id="rId30"/>
    <p:sldId id="287" r:id="rId31"/>
    <p:sldId id="288" r:id="rId32"/>
    <p:sldId id="290" r:id="rId33"/>
  </p:sldIdLst>
  <p:sldSz cx="12192000" cy="6858000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5FB"/>
    <a:srgbClr val="0066FF"/>
    <a:srgbClr val="FF0066"/>
    <a:srgbClr val="FF3300"/>
    <a:srgbClr val="F9B3CE"/>
    <a:srgbClr val="FF66FF"/>
    <a:srgbClr val="CC00CC"/>
    <a:srgbClr val="FFFF99"/>
    <a:srgbClr val="FFD0C5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49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96" y="774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54644;&#45208;%20&#48177;&#50629;\&#54644;&#45208;%20&#48177;&#50629;\&#9679;&#44592;&#51201;&#49688;\1.%20&#49688;&#50629;\&#9733;&#49688;&#51088;&#50896;&#49884;&#49828;&#53596;&#44277;&#54617;\&#54644;&#45208;_DP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rgbClr val="0066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66FF"/>
                </a:solidFill>
              </a:ln>
              <a:effectLst/>
            </c:spPr>
          </c:marker>
          <c:xVal>
            <c:numRef>
              <c:f>Sheet4!$AG$38:$AK$38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xVal>
          <c:yVal>
            <c:numRef>
              <c:f>Sheet4!$AG$39:$AK$39</c:f>
              <c:numCache>
                <c:formatCode>_-* #,##0.0_-;\-* #,##0.0_-;_-* "-"_-;_-@_-</c:formatCode>
                <c:ptCount val="5"/>
                <c:pt idx="0">
                  <c:v>7.875</c:v>
                </c:pt>
                <c:pt idx="1">
                  <c:v>20</c:v>
                </c:pt>
                <c:pt idx="2">
                  <c:v>17</c:v>
                </c:pt>
                <c:pt idx="3">
                  <c:v>6</c:v>
                </c:pt>
                <c:pt idx="4">
                  <c:v>7.875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246-451C-AFA6-5DB4D924C1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89080703"/>
        <c:axId val="389081119"/>
      </c:scatterChart>
      <c:valAx>
        <c:axId val="3890807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rgbClr val="0000FF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ko-KR" sz="1100" b="1">
                    <a:solidFill>
                      <a:srgbClr val="0000FF"/>
                    </a:solidFill>
                  </a:rPr>
                  <a:t>t</a:t>
                </a:r>
                <a:endParaRPr lang="ko-KR" altLang="en-US" sz="1100" b="1">
                  <a:solidFill>
                    <a:srgbClr val="0000FF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rgbClr val="0000FF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89081119"/>
        <c:crosses val="autoZero"/>
        <c:crossBetween val="midCat"/>
      </c:valAx>
      <c:valAx>
        <c:axId val="3890811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ko-KR" sz="1100" b="1">
                    <a:solidFill>
                      <a:srgbClr val="0000FF"/>
                    </a:solidFill>
                  </a:rPr>
                  <a:t>Average</a:t>
                </a:r>
                <a:r>
                  <a:rPr lang="en-US" altLang="ko-KR" sz="1100" b="1" baseline="0">
                    <a:solidFill>
                      <a:srgbClr val="0000FF"/>
                    </a:solidFill>
                  </a:rPr>
                  <a:t> Storage</a:t>
                </a:r>
                <a:endParaRPr lang="ko-KR" altLang="en-US" sz="1100" b="1">
                  <a:solidFill>
                    <a:srgbClr val="0000FF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_-* #,##0.0_-;\-* #,##0.0_-;_-* &quot;-&quot;_-;_-@_-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8908070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EFF5FB"/>
    </a:solidFill>
    <a:ln w="19050">
      <a:solidFill>
        <a:schemeClr val="tx1"/>
      </a:solidFill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B0BB6-13D9-4C38-9B4A-80AA0AE9162E}" type="datetimeFigureOut">
              <a:rPr lang="ko-KR" altLang="en-US" smtClean="0"/>
              <a:t>2017-04-05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4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1F1F24-CDEF-429E-BA36-F50533B2D5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3607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EC164B-6FBA-47DD-B635-EF9CEF28041A}" type="datetimeFigureOut">
              <a:rPr lang="ko-KR" altLang="en-US" smtClean="0"/>
              <a:t>2017-04-05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4D1BCE-EB4D-4923-B324-D931F58E00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716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26FEA-18F0-4EA8-AF30-7A8502C4A6BA}" type="datetime1">
              <a:rPr lang="ko-KR" altLang="en-US" smtClean="0"/>
              <a:t>2017-04-05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13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365125"/>
            <a:ext cx="12192000" cy="7127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4375"/>
          </a:xfrm>
        </p:spPr>
        <p:txBody>
          <a:bodyPr>
            <a:normAutofit/>
          </a:bodyPr>
          <a:lstStyle>
            <a:lvl1pPr>
              <a:defRPr sz="3600">
                <a:latin typeface="서울남산 장체EB" panose="02020603020101020101" pitchFamily="18" charset="-127"/>
                <a:ea typeface="서울남산 장체EB" panose="02020603020101020101" pitchFamily="18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257300"/>
            <a:ext cx="10515600" cy="4919663"/>
          </a:xfrm>
        </p:spPr>
        <p:txBody>
          <a:bodyPr>
            <a:normAutofit/>
          </a:bodyPr>
          <a:lstStyle>
            <a:lvl1pPr marL="228600" indent="-228600">
              <a:lnSpc>
                <a:spcPct val="114000"/>
              </a:lnSpc>
              <a:buFont typeface="Wingdings" panose="05000000000000000000" pitchFamily="2" charset="2"/>
              <a:buChar char="l"/>
              <a:defRPr sz="2400">
                <a:latin typeface="서울남산 장체B" panose="02020603020101020101" pitchFamily="18" charset="-127"/>
                <a:ea typeface="서울남산 장체B" panose="02020603020101020101" pitchFamily="18" charset="-127"/>
              </a:defRPr>
            </a:lvl1pPr>
            <a:lvl2pPr marL="685800" indent="-228600">
              <a:lnSpc>
                <a:spcPct val="114000"/>
              </a:lnSpc>
              <a:buFont typeface="Wingdings" panose="05000000000000000000" pitchFamily="2" charset="2"/>
              <a:buChar char="§"/>
              <a:defRPr sz="2000">
                <a:latin typeface="서울남산 장체M" panose="02020603020101020101" pitchFamily="18" charset="-127"/>
                <a:ea typeface="서울남산 장체M" panose="02020603020101020101" pitchFamily="18" charset="-127"/>
              </a:defRPr>
            </a:lvl2pPr>
            <a:lvl3pPr marL="1143000" indent="-228600">
              <a:lnSpc>
                <a:spcPct val="114000"/>
              </a:lnSpc>
              <a:buFont typeface="Wingdings" panose="05000000000000000000" pitchFamily="2" charset="2"/>
              <a:buChar char="Ø"/>
              <a:defRPr sz="1800">
                <a:latin typeface="서울남산 장체M" panose="02020603020101020101" pitchFamily="18" charset="-127"/>
                <a:ea typeface="서울남산 장체M" panose="02020603020101020101" pitchFamily="18" charset="-127"/>
              </a:defRPr>
            </a:lvl3pPr>
            <a:lvl4pPr marL="1600200" indent="-228600">
              <a:lnSpc>
                <a:spcPct val="114000"/>
              </a:lnSpc>
              <a:buFont typeface="Wingdings" panose="05000000000000000000" pitchFamily="2" charset="2"/>
              <a:buChar char="ü"/>
              <a:defRPr sz="1600">
                <a:latin typeface="서울남산 장체M" panose="02020603020101020101" pitchFamily="18" charset="-127"/>
                <a:ea typeface="서울남산 장체M" panose="02020603020101020101" pitchFamily="18" charset="-127"/>
              </a:defRPr>
            </a:lvl4pPr>
            <a:lvl5pPr>
              <a:lnSpc>
                <a:spcPct val="114000"/>
              </a:lnSpc>
              <a:defRPr sz="1600">
                <a:latin typeface="서울남산 장체M" panose="02020603020101020101" pitchFamily="18" charset="-127"/>
                <a:ea typeface="서울남산 장체M" panose="02020603020101020101" pitchFamily="18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BC574-BF53-48E5-8DCF-C65423DEFB49}" type="datetime1">
              <a:rPr lang="ko-KR" altLang="en-US" smtClean="0"/>
              <a:t>2017-04-05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fld id="{575BA681-C674-4C5B-BC35-EA6BE883674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53034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74989-7A17-47E1-902B-72F5D24DDE14}" type="datetime1">
              <a:rPr lang="ko-KR" altLang="en-US" smtClean="0"/>
              <a:t>2017-04-05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2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05D14-34B5-4C55-B500-9A1E08B4D421}" type="datetime1">
              <a:rPr lang="ko-KR" altLang="en-US" smtClean="0"/>
              <a:t>2017-04-05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038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0C47A-FE5C-4521-A316-A85412BCFDFA}" type="datetime1">
              <a:rPr lang="ko-KR" altLang="en-US" smtClean="0"/>
              <a:t>2017-04-05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371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7DC41-BC39-4BD6-9E2F-00E16A23378E}" type="datetime1">
              <a:rPr lang="ko-KR" altLang="en-US" smtClean="0"/>
              <a:t>2017-04-05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658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EC689-61D4-415B-BDBD-AD5A6B585B76}" type="datetime1">
              <a:rPr lang="ko-KR" altLang="en-US" smtClean="0"/>
              <a:t>2017-04-05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3361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C48DF-F3A9-47FC-B97E-5DF995776DB1}" type="datetime1">
              <a:rPr lang="ko-KR" altLang="en-US" smtClean="0"/>
              <a:t>2017-04-05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3622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1295-57C9-4584-B0EC-2F6A88F684AB}" type="datetime1">
              <a:rPr lang="ko-KR" altLang="en-US" smtClean="0"/>
              <a:t>2017-04-05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1036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44AE7-BF82-4B7B-A98B-A15496865EE0}" type="datetime1">
              <a:rPr lang="ko-KR" altLang="en-US" smtClean="0"/>
              <a:t>2017-04-05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3186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9D9AF-0CCB-470B-879E-609C28603399}" type="datetime1">
              <a:rPr lang="ko-KR" altLang="en-US" smtClean="0"/>
              <a:t>2017-04-05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2885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2B3F56-5C9E-4DF7-A76E-7502254F9FFD}" type="datetime1">
              <a:rPr lang="ko-KR" altLang="en-US" smtClean="0"/>
              <a:t>2017-04-05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5BA681-C674-4C5B-BC35-EA6BE88367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810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/>
          <p:cNvSpPr/>
          <p:nvPr/>
        </p:nvSpPr>
        <p:spPr>
          <a:xfrm rot="16200000">
            <a:off x="10464800" y="5143500"/>
            <a:ext cx="2019300" cy="1358900"/>
          </a:xfrm>
          <a:prstGeom prst="rtTriangl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/>
          <p:cNvSpPr/>
          <p:nvPr/>
        </p:nvSpPr>
        <p:spPr>
          <a:xfrm rot="5400000">
            <a:off x="-323850" y="374650"/>
            <a:ext cx="2019300" cy="1320800"/>
          </a:xfrm>
          <a:prstGeom prst="rtTriangl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058863"/>
            <a:ext cx="9969500" cy="2387600"/>
          </a:xfrm>
        </p:spPr>
        <p:txBody>
          <a:bodyPr>
            <a:normAutofit/>
          </a:bodyPr>
          <a:lstStyle/>
          <a:p>
            <a:r>
              <a:rPr lang="en-US" altLang="ko-KR" sz="6600" b="1" u="sng" dirty="0" smtClean="0">
                <a:solidFill>
                  <a:srgbClr val="0033CC"/>
                </a:solidFill>
                <a:latin typeface="1훈정글북 Regular" panose="02020603020101020101" pitchFamily="18" charset="-127"/>
                <a:ea typeface="1훈정글북 Regular" panose="02020603020101020101" pitchFamily="18" charset="-127"/>
              </a:rPr>
              <a:t>D</a:t>
            </a:r>
            <a:r>
              <a:rPr lang="en-US" altLang="ko-KR" sz="5400" b="1" u="sng" dirty="0" smtClean="0">
                <a:latin typeface="1훈정글북 Regular" panose="02020603020101020101" pitchFamily="18" charset="-127"/>
                <a:ea typeface="1훈정글북 Regular" panose="02020603020101020101" pitchFamily="18" charset="-127"/>
              </a:rPr>
              <a:t>ynamic</a:t>
            </a:r>
            <a:r>
              <a:rPr lang="en-US" altLang="ko-KR" sz="6600" b="1" u="sng" dirty="0" smtClean="0">
                <a:latin typeface="1훈정글북 Regular" panose="02020603020101020101" pitchFamily="18" charset="-127"/>
                <a:ea typeface="1훈정글북 Regular" panose="02020603020101020101" pitchFamily="18" charset="-127"/>
              </a:rPr>
              <a:t> </a:t>
            </a:r>
            <a:r>
              <a:rPr lang="en-US" altLang="ko-KR" sz="6600" b="1" u="sng" dirty="0" smtClean="0">
                <a:solidFill>
                  <a:srgbClr val="0033CC"/>
                </a:solidFill>
                <a:latin typeface="1훈정글북 Regular" panose="02020603020101020101" pitchFamily="18" charset="-127"/>
                <a:ea typeface="1훈정글북 Regular" panose="02020603020101020101" pitchFamily="18" charset="-127"/>
              </a:rPr>
              <a:t>P</a:t>
            </a:r>
            <a:r>
              <a:rPr lang="en-US" altLang="ko-KR" sz="5400" b="1" u="sng" dirty="0" smtClean="0">
                <a:latin typeface="1훈정글북 Regular" panose="02020603020101020101" pitchFamily="18" charset="-127"/>
                <a:ea typeface="1훈정글북 Regular" panose="02020603020101020101" pitchFamily="18" charset="-127"/>
              </a:rPr>
              <a:t>rogramming</a:t>
            </a:r>
            <a:endParaRPr lang="ko-KR" altLang="en-US" sz="5400" b="1" u="sng" dirty="0">
              <a:latin typeface="1훈정글북 Regular" panose="02020603020101020101" pitchFamily="18" charset="-127"/>
              <a:ea typeface="1훈정글북 Regular" panose="0202060302010102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4211638"/>
            <a:ext cx="9144000" cy="1655762"/>
          </a:xfrm>
        </p:spPr>
        <p:txBody>
          <a:bodyPr/>
          <a:lstStyle/>
          <a:p>
            <a:r>
              <a:rPr lang="en-US" altLang="ko-KR" dirty="0" smtClean="0">
                <a:ln>
                  <a:solidFill>
                    <a:schemeClr val="tx1"/>
                  </a:solidFill>
                </a:ln>
                <a:solidFill>
                  <a:srgbClr val="0033CC"/>
                </a:solidFill>
                <a:latin typeface="1훈정글북 Regular" panose="02020603020101020101" pitchFamily="18" charset="-127"/>
                <a:ea typeface="1훈정글북 Regular" panose="02020603020101020101" pitchFamily="18" charset="-127"/>
              </a:rPr>
              <a:t>2016-22447</a:t>
            </a:r>
          </a:p>
          <a:p>
            <a:r>
              <a:rPr lang="en-US" altLang="ko-KR" dirty="0" smtClean="0">
                <a:ln>
                  <a:solidFill>
                    <a:schemeClr val="tx1"/>
                  </a:solidFill>
                </a:ln>
                <a:solidFill>
                  <a:srgbClr val="0033CC"/>
                </a:solidFill>
                <a:latin typeface="1훈정글북 Regular" panose="02020603020101020101" pitchFamily="18" charset="-127"/>
                <a:ea typeface="1훈정글북 Regular" panose="02020603020101020101" pitchFamily="18" charset="-127"/>
              </a:rPr>
              <a:t>Water Resource System Engineering</a:t>
            </a:r>
          </a:p>
          <a:p>
            <a:r>
              <a:rPr lang="en-US" altLang="ko-KR" dirty="0" smtClean="0">
                <a:ln>
                  <a:solidFill>
                    <a:schemeClr val="tx1"/>
                  </a:solidFill>
                </a:ln>
                <a:solidFill>
                  <a:srgbClr val="0033CC"/>
                </a:solidFill>
                <a:latin typeface="1훈정글북 Regular" panose="02020603020101020101" pitchFamily="18" charset="-127"/>
                <a:ea typeface="1훈정글북 Regular" panose="02020603020101020101" pitchFamily="18" charset="-127"/>
              </a:rPr>
              <a:t>YOON, HAE NA</a:t>
            </a:r>
            <a:endParaRPr lang="ko-KR" altLang="en-US" dirty="0">
              <a:ln>
                <a:solidFill>
                  <a:schemeClr val="tx1"/>
                </a:solidFill>
              </a:ln>
              <a:solidFill>
                <a:srgbClr val="0033CC"/>
              </a:solidFill>
              <a:latin typeface="1훈정글북 Regular" panose="02020603020101020101" pitchFamily="18" charset="-127"/>
              <a:ea typeface="1훈정글북 Regular" panose="02020603020101020101" pitchFamily="18" charset="-127"/>
            </a:endParaRPr>
          </a:p>
        </p:txBody>
      </p:sp>
      <p:sp>
        <p:nvSpPr>
          <p:cNvPr id="9" name="직각 삼각형 8"/>
          <p:cNvSpPr/>
          <p:nvPr/>
        </p:nvSpPr>
        <p:spPr>
          <a:xfrm rot="5400000">
            <a:off x="-514350" y="565150"/>
            <a:ext cx="2019300" cy="939800"/>
          </a:xfrm>
          <a:prstGeom prst="rtTriangle">
            <a:avLst/>
          </a:prstGeom>
          <a:solidFill>
            <a:srgbClr val="003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각 삼각형 13"/>
          <p:cNvSpPr/>
          <p:nvPr/>
        </p:nvSpPr>
        <p:spPr>
          <a:xfrm rot="5400000" flipH="1" flipV="1">
            <a:off x="10674350" y="5353050"/>
            <a:ext cx="2019300" cy="939800"/>
          </a:xfrm>
          <a:prstGeom prst="rtTriangle">
            <a:avLst/>
          </a:prstGeom>
          <a:solidFill>
            <a:srgbClr val="003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499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/>
          <p:cNvSpPr/>
          <p:nvPr/>
        </p:nvSpPr>
        <p:spPr>
          <a:xfrm>
            <a:off x="1255222" y="2161309"/>
            <a:ext cx="9233184" cy="39387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8855048" y="3531928"/>
            <a:ext cx="1180409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m </a:t>
            </a:r>
          </a:p>
          <a:p>
            <a:pPr algn="ctr"/>
            <a:r>
              <a:rPr lang="en-US" altLang="ko-KR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:possible discrete states 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Definition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 </a:t>
            </a:r>
            <a:r>
              <a:rPr lang="en-US" altLang="ko-KR" dirty="0"/>
              <a:t>Dynamic programming is an approach that </a:t>
            </a:r>
            <a:r>
              <a:rPr lang="en-US" altLang="ko-KR" u="sng" dirty="0">
                <a:solidFill>
                  <a:srgbClr val="0033CC"/>
                </a:solidFill>
              </a:rPr>
              <a:t>divides </a:t>
            </a:r>
            <a:r>
              <a:rPr lang="en-US" altLang="ko-KR" u="sng" dirty="0" smtClean="0">
                <a:solidFill>
                  <a:srgbClr val="0033CC"/>
                </a:solidFill>
              </a:rPr>
              <a:t>the original </a:t>
            </a:r>
            <a:r>
              <a:rPr lang="en-US" altLang="ko-KR" u="sng" dirty="0">
                <a:solidFill>
                  <a:srgbClr val="0033CC"/>
                </a:solidFill>
              </a:rPr>
              <a:t>optimization problem</a:t>
            </a:r>
            <a:r>
              <a:rPr lang="en-US" altLang="ko-KR" dirty="0">
                <a:solidFill>
                  <a:srgbClr val="0033CC"/>
                </a:solidFill>
              </a:rPr>
              <a:t>, </a:t>
            </a:r>
            <a:r>
              <a:rPr lang="en-US" altLang="ko-KR" dirty="0"/>
              <a:t>with all of its </a:t>
            </a:r>
            <a:r>
              <a:rPr lang="en-US" altLang="ko-KR" dirty="0" smtClean="0"/>
              <a:t>variables</a:t>
            </a:r>
            <a:r>
              <a:rPr lang="en-US" altLang="ko-KR" dirty="0" smtClean="0">
                <a:solidFill>
                  <a:srgbClr val="0033CC"/>
                </a:solidFill>
              </a:rPr>
              <a:t>, </a:t>
            </a:r>
            <a:r>
              <a:rPr lang="en-US" altLang="ko-KR" u="sng" dirty="0" smtClean="0">
                <a:solidFill>
                  <a:srgbClr val="0033CC"/>
                </a:solidFill>
              </a:rPr>
              <a:t>into </a:t>
            </a:r>
            <a:r>
              <a:rPr lang="en-US" altLang="ko-KR" u="sng" dirty="0">
                <a:solidFill>
                  <a:srgbClr val="0033CC"/>
                </a:solidFill>
              </a:rPr>
              <a:t>a set of smaller optimization </a:t>
            </a:r>
            <a:r>
              <a:rPr lang="en-US" altLang="ko-KR" u="sng" dirty="0" smtClean="0">
                <a:solidFill>
                  <a:srgbClr val="0033CC"/>
                </a:solidFill>
              </a:rPr>
              <a:t>problems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grpSp>
        <p:nvGrpSpPr>
          <p:cNvPr id="18" name="그룹 17"/>
          <p:cNvGrpSpPr/>
          <p:nvPr/>
        </p:nvGrpSpPr>
        <p:grpSpPr>
          <a:xfrm>
            <a:off x="7618181" y="3395419"/>
            <a:ext cx="1323975" cy="1472247"/>
            <a:chOff x="6629400" y="3465513"/>
            <a:chExt cx="1323975" cy="1472247"/>
          </a:xfrm>
        </p:grpSpPr>
        <p:sp>
          <p:nvSpPr>
            <p:cNvPr id="5" name="타원 4"/>
            <p:cNvSpPr/>
            <p:nvPr/>
          </p:nvSpPr>
          <p:spPr>
            <a:xfrm>
              <a:off x="6629400" y="3952875"/>
              <a:ext cx="581025" cy="60007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" name="직선 연결선 6"/>
            <p:cNvCxnSpPr>
              <a:stCxn id="5" idx="7"/>
            </p:cNvCxnSpPr>
            <p:nvPr/>
          </p:nvCxnSpPr>
          <p:spPr>
            <a:xfrm flipV="1">
              <a:off x="7125336" y="3465513"/>
              <a:ext cx="828039" cy="575241"/>
            </a:xfrm>
            <a:prstGeom prst="line">
              <a:avLst/>
            </a:prstGeom>
            <a:ln w="28575"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/>
            <p:cNvCxnSpPr>
              <a:stCxn id="5" idx="6"/>
            </p:cNvCxnSpPr>
            <p:nvPr/>
          </p:nvCxnSpPr>
          <p:spPr>
            <a:xfrm flipV="1">
              <a:off x="7210425" y="4247555"/>
              <a:ext cx="742950" cy="5358"/>
            </a:xfrm>
            <a:prstGeom prst="line">
              <a:avLst/>
            </a:prstGeom>
            <a:ln w="28575"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/>
            <p:cNvCxnSpPr>
              <a:stCxn id="5" idx="5"/>
            </p:cNvCxnSpPr>
            <p:nvPr/>
          </p:nvCxnSpPr>
          <p:spPr>
            <a:xfrm>
              <a:off x="7125336" y="4465071"/>
              <a:ext cx="828039" cy="472689"/>
            </a:xfrm>
            <a:prstGeom prst="line">
              <a:avLst/>
            </a:prstGeom>
            <a:ln w="28575"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/>
        </p:nvGrpSpPr>
        <p:grpSpPr>
          <a:xfrm>
            <a:off x="2343395" y="3376343"/>
            <a:ext cx="1323975" cy="1472247"/>
            <a:chOff x="6629400" y="3465513"/>
            <a:chExt cx="1323975" cy="1472247"/>
          </a:xfrm>
        </p:grpSpPr>
        <p:sp>
          <p:nvSpPr>
            <p:cNvPr id="20" name="타원 19"/>
            <p:cNvSpPr/>
            <p:nvPr/>
          </p:nvSpPr>
          <p:spPr>
            <a:xfrm>
              <a:off x="6629400" y="3952875"/>
              <a:ext cx="581025" cy="60007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" name="직선 연결선 20"/>
            <p:cNvCxnSpPr>
              <a:stCxn id="20" idx="7"/>
            </p:cNvCxnSpPr>
            <p:nvPr/>
          </p:nvCxnSpPr>
          <p:spPr>
            <a:xfrm flipV="1">
              <a:off x="7125336" y="3465513"/>
              <a:ext cx="828039" cy="575241"/>
            </a:xfrm>
            <a:prstGeom prst="line">
              <a:avLst/>
            </a:prstGeom>
            <a:ln w="28575"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>
              <a:stCxn id="20" idx="6"/>
            </p:cNvCxnSpPr>
            <p:nvPr/>
          </p:nvCxnSpPr>
          <p:spPr>
            <a:xfrm flipV="1">
              <a:off x="7210425" y="4247555"/>
              <a:ext cx="742950" cy="5358"/>
            </a:xfrm>
            <a:prstGeom prst="line">
              <a:avLst/>
            </a:prstGeom>
            <a:ln w="28575"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/>
            <p:cNvCxnSpPr>
              <a:stCxn id="20" idx="5"/>
            </p:cNvCxnSpPr>
            <p:nvPr/>
          </p:nvCxnSpPr>
          <p:spPr>
            <a:xfrm>
              <a:off x="7125336" y="4465071"/>
              <a:ext cx="828039" cy="472689"/>
            </a:xfrm>
            <a:prstGeom prst="line">
              <a:avLst/>
            </a:prstGeom>
            <a:ln w="28575"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/>
          <p:cNvGrpSpPr/>
          <p:nvPr/>
        </p:nvGrpSpPr>
        <p:grpSpPr>
          <a:xfrm>
            <a:off x="4163306" y="3376343"/>
            <a:ext cx="1323975" cy="1472247"/>
            <a:chOff x="6629400" y="3465513"/>
            <a:chExt cx="1323975" cy="1472247"/>
          </a:xfrm>
        </p:grpSpPr>
        <p:sp>
          <p:nvSpPr>
            <p:cNvPr id="25" name="타원 24"/>
            <p:cNvSpPr/>
            <p:nvPr/>
          </p:nvSpPr>
          <p:spPr>
            <a:xfrm>
              <a:off x="6629400" y="3952875"/>
              <a:ext cx="581025" cy="60007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6" name="직선 연결선 25"/>
            <p:cNvCxnSpPr>
              <a:stCxn id="25" idx="7"/>
            </p:cNvCxnSpPr>
            <p:nvPr/>
          </p:nvCxnSpPr>
          <p:spPr>
            <a:xfrm flipV="1">
              <a:off x="7125336" y="3465513"/>
              <a:ext cx="828039" cy="575241"/>
            </a:xfrm>
            <a:prstGeom prst="line">
              <a:avLst/>
            </a:prstGeom>
            <a:ln w="28575"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/>
            <p:cNvCxnSpPr>
              <a:stCxn id="25" idx="6"/>
            </p:cNvCxnSpPr>
            <p:nvPr/>
          </p:nvCxnSpPr>
          <p:spPr>
            <a:xfrm flipV="1">
              <a:off x="7210425" y="4247555"/>
              <a:ext cx="742950" cy="5358"/>
            </a:xfrm>
            <a:prstGeom prst="line">
              <a:avLst/>
            </a:prstGeom>
            <a:ln w="28575"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/>
            <p:cNvCxnSpPr>
              <a:stCxn id="25" idx="5"/>
            </p:cNvCxnSpPr>
            <p:nvPr/>
          </p:nvCxnSpPr>
          <p:spPr>
            <a:xfrm>
              <a:off x="7125336" y="4465071"/>
              <a:ext cx="828039" cy="472689"/>
            </a:xfrm>
            <a:prstGeom prst="line">
              <a:avLst/>
            </a:prstGeom>
            <a:ln w="28575"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6578743" y="3683039"/>
            <a:ext cx="592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srgbClr val="0033CC"/>
                </a:solidFill>
              </a:rPr>
              <a:t>…</a:t>
            </a:r>
            <a:endParaRPr lang="ko-KR" altLang="en-US" sz="3200" b="1" dirty="0">
              <a:solidFill>
                <a:srgbClr val="0033CC"/>
              </a:solidFill>
            </a:endParaRPr>
          </a:p>
        </p:txBody>
      </p:sp>
      <p:sp>
        <p:nvSpPr>
          <p:cNvPr id="30" name="왼쪽 중괄호 29"/>
          <p:cNvSpPr/>
          <p:nvPr/>
        </p:nvSpPr>
        <p:spPr>
          <a:xfrm rot="5400000">
            <a:off x="5478057" y="-406682"/>
            <a:ext cx="589474" cy="6858797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왼쪽 중괄호 30"/>
          <p:cNvSpPr/>
          <p:nvPr/>
        </p:nvSpPr>
        <p:spPr>
          <a:xfrm rot="5400000" flipV="1">
            <a:off x="7865554" y="2240778"/>
            <a:ext cx="572157" cy="1959828"/>
          </a:xfrm>
          <a:prstGeom prst="leftBrace">
            <a:avLst>
              <a:gd name="adj1" fmla="val 9743"/>
              <a:gd name="adj2" fmla="val 49152"/>
            </a:avLst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4357182" y="2286033"/>
            <a:ext cx="28312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33CC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original optimization problem</a:t>
            </a:r>
            <a:endParaRPr lang="ko-KR" altLang="en-US" dirty="0">
              <a:latin typeface="1훈검정고무신 Regular" panose="02020603020101020101" pitchFamily="18" charset="-127"/>
              <a:ea typeface="1훈검정고무신 Regular" panose="02020603020101020101" pitchFamily="18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6789204" y="2574100"/>
            <a:ext cx="28200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rgbClr val="FF3300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smaller </a:t>
            </a:r>
            <a:r>
              <a:rPr lang="en-US" altLang="ko-KR" dirty="0">
                <a:solidFill>
                  <a:srgbClr val="FF3300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optimization problem</a:t>
            </a:r>
            <a:endParaRPr lang="ko-KR" altLang="en-US" dirty="0">
              <a:solidFill>
                <a:srgbClr val="FF3300"/>
              </a:solidFill>
              <a:latin typeface="1훈검정고무신 Regular" panose="02020603020101020101" pitchFamily="18" charset="-127"/>
              <a:ea typeface="1훈검정고무신 Regular" panose="02020603020101020101" pitchFamily="18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603561" y="4946732"/>
            <a:ext cx="7715005" cy="228031"/>
          </a:xfrm>
          <a:prstGeom prst="rect">
            <a:avLst/>
          </a:prstGeom>
          <a:solidFill>
            <a:srgbClr val="FFFF99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Stage(j)   :   1,                         2,                               ,…,                   n</a:t>
            </a:r>
            <a:endParaRPr lang="ko-KR" altLang="en-US" dirty="0">
              <a:solidFill>
                <a:schemeClr val="tx1"/>
              </a:solidFill>
              <a:latin typeface="1훈검정고무신 Regular" panose="02020603020101020101" pitchFamily="18" charset="-127"/>
              <a:ea typeface="1훈검정고무신 Regular" panose="02020603020101020101" pitchFamily="18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603562" y="5306858"/>
            <a:ext cx="7715004" cy="228031"/>
          </a:xfrm>
          <a:prstGeom prst="rect">
            <a:avLst/>
          </a:prstGeom>
          <a:solidFill>
            <a:srgbClr val="FFFF99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Decision(j):  x</a:t>
            </a:r>
            <a:r>
              <a:rPr lang="en-US" altLang="ko-KR" baseline="-25000" dirty="0" smtClean="0">
                <a:solidFill>
                  <a:schemeClr val="tx1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1</a:t>
            </a:r>
            <a:r>
              <a:rPr lang="en-US" altLang="ko-KR" dirty="0" smtClean="0">
                <a:solidFill>
                  <a:schemeClr val="tx1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,                        x</a:t>
            </a:r>
            <a:r>
              <a:rPr lang="en-US" altLang="ko-KR" baseline="-25000" dirty="0" smtClean="0">
                <a:solidFill>
                  <a:schemeClr val="tx1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2</a:t>
            </a:r>
            <a:r>
              <a:rPr lang="en-US" altLang="ko-KR" dirty="0" smtClean="0">
                <a:solidFill>
                  <a:schemeClr val="tx1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,                               ,…,                 </a:t>
            </a:r>
            <a:r>
              <a:rPr lang="en-US" altLang="ko-KR" dirty="0" err="1" smtClean="0">
                <a:solidFill>
                  <a:schemeClr val="tx1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x</a:t>
            </a:r>
            <a:r>
              <a:rPr lang="en-US" altLang="ko-KR" baseline="-25000" dirty="0" err="1" smtClean="0">
                <a:solidFill>
                  <a:schemeClr val="tx1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n</a:t>
            </a:r>
            <a:endParaRPr lang="ko-KR" altLang="en-US" baseline="-25000" dirty="0">
              <a:solidFill>
                <a:schemeClr val="tx1"/>
              </a:solidFill>
              <a:latin typeface="1훈검정고무신 Regular" panose="02020603020101020101" pitchFamily="18" charset="-127"/>
              <a:ea typeface="1훈검정고무신 Regular" panose="02020603020101020101" pitchFamily="18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1603562" y="5658512"/>
            <a:ext cx="7715004" cy="228031"/>
          </a:xfrm>
          <a:prstGeom prst="rect">
            <a:avLst/>
          </a:prstGeom>
          <a:solidFill>
            <a:srgbClr val="FFFF99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State(j)   :  S</a:t>
            </a:r>
            <a:r>
              <a:rPr lang="en-US" altLang="ko-KR" baseline="-25000" dirty="0" smtClean="0">
                <a:solidFill>
                  <a:schemeClr val="tx1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1</a:t>
            </a:r>
            <a:r>
              <a:rPr lang="en-US" altLang="ko-KR" dirty="0" smtClean="0">
                <a:solidFill>
                  <a:schemeClr val="tx1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,                        S</a:t>
            </a:r>
            <a:r>
              <a:rPr lang="en-US" altLang="ko-KR" baseline="-25000" dirty="0" smtClean="0">
                <a:solidFill>
                  <a:schemeClr val="tx1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2</a:t>
            </a:r>
            <a:r>
              <a:rPr lang="en-US" altLang="ko-KR" dirty="0" smtClean="0">
                <a:solidFill>
                  <a:schemeClr val="tx1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,                               ,…,                 S</a:t>
            </a:r>
            <a:r>
              <a:rPr lang="en-US" altLang="ko-KR" baseline="-25000" dirty="0" smtClean="0">
                <a:solidFill>
                  <a:schemeClr val="tx1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n</a:t>
            </a:r>
            <a:endParaRPr lang="ko-KR" altLang="en-US" baseline="-25000" dirty="0">
              <a:solidFill>
                <a:schemeClr val="tx1"/>
              </a:solidFill>
              <a:latin typeface="1훈검정고무신 Regular" panose="02020603020101020101" pitchFamily="18" charset="-127"/>
              <a:ea typeface="1훈검정고무신 Regular" panose="02020603020101020101" pitchFamily="18" charset="-127"/>
            </a:endParaRPr>
          </a:p>
        </p:txBody>
      </p:sp>
      <p:sp>
        <p:nvSpPr>
          <p:cNvPr id="51" name="오른쪽 화살표 50"/>
          <p:cNvSpPr/>
          <p:nvPr/>
        </p:nvSpPr>
        <p:spPr>
          <a:xfrm>
            <a:off x="3117717" y="6168742"/>
            <a:ext cx="727898" cy="448281"/>
          </a:xfrm>
          <a:prstGeom prst="rightArrow">
            <a:avLst/>
          </a:prstGeom>
          <a:solidFill>
            <a:srgbClr val="FFFF00"/>
          </a:solidFill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3888406" y="6100009"/>
            <a:ext cx="66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 smtClean="0"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m</a:t>
            </a:r>
            <a:r>
              <a:rPr lang="en-US" altLang="ko-KR" sz="2400" b="1" baseline="30000" dirty="0" err="1" smtClean="0"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n</a:t>
            </a:r>
            <a:r>
              <a:rPr lang="en-US" altLang="ko-KR" b="1" dirty="0" smtClean="0"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 calculation : ‘</a:t>
            </a:r>
            <a:r>
              <a:rPr lang="en-US" altLang="ko-KR" b="1" i="1" u="sng" dirty="0" smtClean="0"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curse of dimensionality</a:t>
            </a:r>
            <a:r>
              <a:rPr lang="en-US" altLang="ko-KR" b="1" dirty="0" smtClean="0"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’</a:t>
            </a:r>
            <a:endParaRPr lang="ko-KR" altLang="en-US" b="1" dirty="0">
              <a:latin typeface="서울남산 장체M" panose="02020603020101020101" pitchFamily="18" charset="-127"/>
              <a:ea typeface="서울남산 장체M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4723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18" y="2009775"/>
            <a:ext cx="6238082" cy="37973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081" y="1546225"/>
            <a:ext cx="4459719" cy="44894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404812"/>
            <a:ext cx="10515600" cy="714375"/>
          </a:xfrm>
        </p:spPr>
        <p:txBody>
          <a:bodyPr>
            <a:normAutofit/>
          </a:bodyPr>
          <a:lstStyle/>
          <a:p>
            <a:pPr algn="ctr"/>
            <a:r>
              <a:rPr lang="en-US" altLang="ko-KR" sz="4400" dirty="0" smtClean="0">
                <a:ln>
                  <a:solidFill>
                    <a:sysClr val="windowText" lastClr="000000"/>
                  </a:solidFill>
                </a:ln>
                <a:solidFill>
                  <a:srgbClr val="0033CC"/>
                </a:solidFill>
              </a:rPr>
              <a:t>“Water </a:t>
            </a:r>
            <a:r>
              <a:rPr lang="en-US" altLang="ko-KR" sz="4400" dirty="0">
                <a:ln>
                  <a:solidFill>
                    <a:sysClr val="windowText" lastClr="000000"/>
                  </a:solidFill>
                </a:ln>
                <a:solidFill>
                  <a:srgbClr val="0033CC"/>
                </a:solidFill>
              </a:rPr>
              <a:t>Allocation </a:t>
            </a:r>
            <a:r>
              <a:rPr lang="en-US" altLang="ko-KR" sz="4400" dirty="0" smtClean="0">
                <a:ln>
                  <a:solidFill>
                    <a:sysClr val="windowText" lastClr="000000"/>
                  </a:solidFill>
                </a:ln>
                <a:solidFill>
                  <a:srgbClr val="0033CC"/>
                </a:solidFill>
              </a:rPr>
              <a:t>Example”</a:t>
            </a:r>
            <a:endParaRPr lang="ko-KR" altLang="en-US" sz="4400" dirty="0">
              <a:ln>
                <a:solidFill>
                  <a:sysClr val="windowText" lastClr="000000"/>
                </a:solidFill>
              </a:ln>
              <a:solidFill>
                <a:srgbClr val="0033CC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45940" y="6035675"/>
            <a:ext cx="3556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latin typeface="서울남산 장체L" panose="02020603020101020101" pitchFamily="18" charset="-127"/>
                <a:ea typeface="서울남산 장체L" panose="02020603020101020101" pitchFamily="18" charset="-127"/>
              </a:rPr>
              <a:t>Equations from Ch. 4-3</a:t>
            </a:r>
            <a:endParaRPr lang="ko-KR" altLang="en-US" dirty="0">
              <a:latin typeface="서울남산 장체L" panose="02020603020101020101" pitchFamily="18" charset="-127"/>
              <a:ea typeface="서울남산 장체L" panose="02020603020101020101" pitchFamily="18" charset="-127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7747000" y="2235200"/>
            <a:ext cx="3048000" cy="2946400"/>
            <a:chOff x="7747000" y="2235200"/>
            <a:chExt cx="3048000" cy="2946400"/>
          </a:xfrm>
          <a:solidFill>
            <a:srgbClr val="FFFF99"/>
          </a:solidFill>
        </p:grpSpPr>
        <p:sp>
          <p:nvSpPr>
            <p:cNvPr id="7" name="도넛 6"/>
            <p:cNvSpPr/>
            <p:nvPr/>
          </p:nvSpPr>
          <p:spPr>
            <a:xfrm>
              <a:off x="7747000" y="2235200"/>
              <a:ext cx="3048000" cy="2946400"/>
            </a:xfrm>
            <a:prstGeom prst="donu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28000" y="2923570"/>
              <a:ext cx="2286000" cy="156966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 smtClean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Solve This Problem</a:t>
              </a:r>
            </a:p>
            <a:p>
              <a:pPr algn="ctr"/>
              <a:r>
                <a:rPr lang="en-US" altLang="ko-KR" sz="2400" b="1" dirty="0" smtClean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by Dynamic Programming</a:t>
              </a:r>
            </a:p>
          </p:txBody>
        </p:sp>
      </p:grp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1591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Water Allocation Example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 Variables</a:t>
            </a:r>
          </a:p>
          <a:p>
            <a:pPr lvl="1"/>
            <a:r>
              <a:rPr lang="en-US" altLang="ko-KR" dirty="0" err="1" smtClean="0"/>
              <a:t>x</a:t>
            </a:r>
            <a:r>
              <a:rPr lang="en-US" altLang="ko-KR" baseline="-25000" dirty="0" err="1" smtClean="0"/>
              <a:t>j</a:t>
            </a:r>
            <a:r>
              <a:rPr lang="en-US" altLang="ko-KR" dirty="0" smtClean="0"/>
              <a:t> (</a:t>
            </a:r>
            <a:r>
              <a:rPr lang="en-US" altLang="ko-KR" b="1" dirty="0" smtClean="0">
                <a:solidFill>
                  <a:srgbClr val="0033CC"/>
                </a:solidFill>
              </a:rPr>
              <a:t>decision variable</a:t>
            </a:r>
            <a:r>
              <a:rPr lang="en-US" altLang="ko-KR" dirty="0" smtClean="0"/>
              <a:t> (water </a:t>
            </a:r>
            <a:r>
              <a:rPr lang="en-US" altLang="ko-KR" dirty="0"/>
              <a:t>allocation at firm </a:t>
            </a:r>
            <a:r>
              <a:rPr lang="en-US" altLang="ko-KR" dirty="0" smtClean="0"/>
              <a:t>j))= 0~10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r>
              <a:rPr lang="en-US" altLang="ko-KR" dirty="0" err="1" smtClean="0"/>
              <a:t>S</a:t>
            </a:r>
            <a:r>
              <a:rPr lang="en-US" altLang="ko-KR" baseline="-25000" dirty="0" err="1" smtClean="0"/>
              <a:t>j</a:t>
            </a:r>
            <a:r>
              <a:rPr lang="en-US" altLang="ko-KR" dirty="0"/>
              <a:t> </a:t>
            </a:r>
            <a:r>
              <a:rPr lang="en-US" altLang="ko-KR" dirty="0" smtClean="0"/>
              <a:t>(</a:t>
            </a:r>
            <a:r>
              <a:rPr lang="en-US" altLang="ko-KR" b="1" u="sng" dirty="0" smtClean="0">
                <a:solidFill>
                  <a:srgbClr val="0033CC"/>
                </a:solidFill>
              </a:rPr>
              <a:t>discrete state </a:t>
            </a:r>
            <a:r>
              <a:rPr lang="en-US" altLang="ko-KR" dirty="0" smtClean="0"/>
              <a:t>j (water amount))= S</a:t>
            </a:r>
            <a:r>
              <a:rPr lang="en-US" altLang="ko-KR" baseline="-25000" dirty="0" smtClean="0"/>
              <a:t>j-1</a:t>
            </a:r>
            <a:r>
              <a:rPr lang="en-US" altLang="ko-KR" dirty="0" smtClean="0"/>
              <a:t>-x</a:t>
            </a:r>
            <a:r>
              <a:rPr lang="en-US" altLang="ko-KR" baseline="-25000" dirty="0" smtClean="0"/>
              <a:t>j-1</a:t>
            </a:r>
          </a:p>
          <a:p>
            <a:pPr marL="457200" lvl="1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where S</a:t>
            </a:r>
            <a:r>
              <a:rPr lang="en-US" altLang="ko-KR" baseline="-25000" dirty="0" smtClean="0"/>
              <a:t>1</a:t>
            </a:r>
            <a:r>
              <a:rPr lang="en-US" altLang="ko-KR" dirty="0" smtClean="0"/>
              <a:t>=10</a:t>
            </a:r>
          </a:p>
          <a:p>
            <a:pPr marL="457200" lvl="1" indent="0">
              <a:buNone/>
            </a:pP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024" y="1719790"/>
            <a:ext cx="4834202" cy="421277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466869" y="2265948"/>
            <a:ext cx="443102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 smtClean="0">
                <a:solidFill>
                  <a:srgbClr val="0033CC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→ 본 문제에서 문제의 단순화를 위해 다음과 같이 변형  </a:t>
            </a:r>
            <a:endParaRPr lang="ko-KR" altLang="en-US" sz="1600" dirty="0">
              <a:solidFill>
                <a:srgbClr val="0033CC"/>
              </a:solidFill>
              <a:latin typeface="서울남산 장체M" panose="02020603020101020101" pitchFamily="18" charset="-127"/>
              <a:ea typeface="서울남산 장체M" panose="02020603020101020101" pitchFamily="18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589220"/>
              </p:ext>
            </p:extLst>
          </p:nvPr>
        </p:nvGraphicFramePr>
        <p:xfrm>
          <a:off x="1829758" y="2703671"/>
          <a:ext cx="2219325" cy="1013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9775">
                  <a:extLst>
                    <a:ext uri="{9D8B030D-6E8A-4147-A177-3AD203B41FA5}">
                      <a16:colId xmlns:a16="http://schemas.microsoft.com/office/drawing/2014/main" val="425252575"/>
                    </a:ext>
                  </a:extLst>
                </a:gridCol>
                <a:gridCol w="739775">
                  <a:extLst>
                    <a:ext uri="{9D8B030D-6E8A-4147-A177-3AD203B41FA5}">
                      <a16:colId xmlns:a16="http://schemas.microsoft.com/office/drawing/2014/main" val="1335520359"/>
                    </a:ext>
                  </a:extLst>
                </a:gridCol>
                <a:gridCol w="739775">
                  <a:extLst>
                    <a:ext uri="{9D8B030D-6E8A-4147-A177-3AD203B41FA5}">
                      <a16:colId xmlns:a16="http://schemas.microsoft.com/office/drawing/2014/main" val="3835914516"/>
                    </a:ext>
                  </a:extLst>
                </a:gridCol>
              </a:tblGrid>
              <a:tr h="2250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x</a:t>
                      </a:r>
                      <a:r>
                        <a:rPr lang="en-US" sz="1600" u="none" strike="noStrike" baseline="-25000" dirty="0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1</a:t>
                      </a:r>
                      <a:endParaRPr lang="en-US" sz="16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x</a:t>
                      </a:r>
                      <a:r>
                        <a:rPr lang="en-US" sz="1600" u="none" strike="noStrike" baseline="-25000" dirty="0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2</a:t>
                      </a:r>
                      <a:endParaRPr lang="en-US" sz="16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x</a:t>
                      </a:r>
                      <a:r>
                        <a:rPr lang="en-US" sz="1600" u="none" strike="noStrike" baseline="-25000" dirty="0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3</a:t>
                      </a:r>
                      <a:endParaRPr lang="en-US" sz="16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161263"/>
                  </a:ext>
                </a:extLst>
              </a:tr>
              <a:tr h="2250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0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 dirty="0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3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 dirty="0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4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9376623"/>
                  </a:ext>
                </a:extLst>
              </a:tr>
              <a:tr h="2250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1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 dirty="0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4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 dirty="0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5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2892051"/>
                  </a:ext>
                </a:extLst>
              </a:tr>
              <a:tr h="2250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2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5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 dirty="0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6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3612432"/>
                  </a:ext>
                </a:extLst>
              </a:tr>
            </a:tbl>
          </a:graphicData>
        </a:graphic>
      </p:graphicFrame>
      <p:sp>
        <p:nvSpPr>
          <p:cNvPr id="8" name="오른쪽 화살표 7"/>
          <p:cNvSpPr/>
          <p:nvPr/>
        </p:nvSpPr>
        <p:spPr>
          <a:xfrm>
            <a:off x="4279896" y="3085797"/>
            <a:ext cx="419100" cy="249207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752202" y="3010516"/>
            <a:ext cx="133402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 smtClean="0">
                <a:solidFill>
                  <a:srgbClr val="0033CC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총 </a:t>
            </a:r>
            <a:r>
              <a:rPr lang="en-US" altLang="ko-KR" sz="1600" dirty="0" smtClean="0">
                <a:solidFill>
                  <a:srgbClr val="0033CC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3^3=27</a:t>
            </a:r>
            <a:r>
              <a:rPr lang="ko-KR" altLang="en-US" sz="1600" dirty="0" smtClean="0">
                <a:solidFill>
                  <a:srgbClr val="0033CC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가지</a:t>
            </a:r>
            <a:endParaRPr lang="en-US" altLang="ko-KR" sz="1600" dirty="0" smtClean="0">
              <a:solidFill>
                <a:srgbClr val="0033CC"/>
              </a:solidFill>
              <a:latin typeface="서울남산 장체M" panose="02020603020101020101" pitchFamily="18" charset="-127"/>
              <a:ea typeface="서울남산 장체M" panose="02020603020101020101" pitchFamily="18" charset="-127"/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5924423" y="2109582"/>
            <a:ext cx="2654312" cy="1255871"/>
            <a:chOff x="5762624" y="1954529"/>
            <a:chExt cx="1676400" cy="1255871"/>
          </a:xfrm>
        </p:grpSpPr>
        <p:sp>
          <p:nvSpPr>
            <p:cNvPr id="19" name="굽은 화살표 18"/>
            <p:cNvSpPr/>
            <p:nvPr/>
          </p:nvSpPr>
          <p:spPr>
            <a:xfrm flipH="1">
              <a:off x="5762624" y="1954529"/>
              <a:ext cx="1676400" cy="1255871"/>
            </a:xfrm>
            <a:prstGeom prst="bentArrow">
              <a:avLst>
                <a:gd name="adj1" fmla="val 17416"/>
                <a:gd name="adj2" fmla="val 20172"/>
                <a:gd name="adj3" fmla="val 23483"/>
                <a:gd name="adj4" fmla="val 4375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6719210" y="1987784"/>
              <a:ext cx="44161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400" b="1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Link</a:t>
              </a: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6259484" y="4031825"/>
            <a:ext cx="2942192" cy="818277"/>
            <a:chOff x="5419725" y="3868021"/>
            <a:chExt cx="2857498" cy="818277"/>
          </a:xfrm>
        </p:grpSpPr>
        <p:sp>
          <p:nvSpPr>
            <p:cNvPr id="23" name="굽은 화살표 22"/>
            <p:cNvSpPr/>
            <p:nvPr/>
          </p:nvSpPr>
          <p:spPr>
            <a:xfrm flipH="1" flipV="1">
              <a:off x="5419725" y="3868021"/>
              <a:ext cx="2857498" cy="818277"/>
            </a:xfrm>
            <a:prstGeom prst="bentArrow">
              <a:avLst>
                <a:gd name="adj1" fmla="val 26728"/>
                <a:gd name="adj2" fmla="val 27738"/>
                <a:gd name="adj3" fmla="val 23483"/>
                <a:gd name="adj4" fmla="val 4375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6492446" y="4277159"/>
              <a:ext cx="71205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000" b="1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Node</a:t>
              </a:r>
            </a:p>
          </p:txBody>
        </p:sp>
      </p:grpSp>
      <p:sp>
        <p:nvSpPr>
          <p:cNvPr id="28" name="오른쪽 화살표 27"/>
          <p:cNvSpPr/>
          <p:nvPr/>
        </p:nvSpPr>
        <p:spPr>
          <a:xfrm>
            <a:off x="1508140" y="5371797"/>
            <a:ext cx="419100" cy="249207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9" name="표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788314"/>
              </p:ext>
            </p:extLst>
          </p:nvPr>
        </p:nvGraphicFramePr>
        <p:xfrm>
          <a:off x="2021499" y="5221557"/>
          <a:ext cx="2743200" cy="1266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30979751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53268209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94780203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899050268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S</a:t>
                      </a:r>
                      <a:r>
                        <a:rPr lang="en-US" sz="1600" u="none" strike="noStrike" baseline="-25000" dirty="0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1</a:t>
                      </a:r>
                      <a:endParaRPr lang="en-US" sz="16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S</a:t>
                      </a:r>
                      <a:r>
                        <a:rPr lang="en-US" sz="1600" u="none" strike="noStrike" baseline="-25000" dirty="0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2</a:t>
                      </a:r>
                      <a:endParaRPr lang="en-US" sz="16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S</a:t>
                      </a:r>
                      <a:r>
                        <a:rPr lang="en-US" sz="1600" u="none" strike="noStrike" baseline="-25000" dirty="0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3</a:t>
                      </a:r>
                      <a:endParaRPr lang="en-US" sz="16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S</a:t>
                      </a:r>
                      <a:r>
                        <a:rPr lang="en-US" sz="1600" u="none" strike="noStrike" baseline="-25000" dirty="0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4</a:t>
                      </a:r>
                      <a:endParaRPr lang="en-US" sz="16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551160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10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 dirty="0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10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 dirty="0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7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3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6144239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endParaRPr lang="ko-KR" altLang="en-US" sz="1600" b="0" i="0" u="none" strike="noStrike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 dirty="0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9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 dirty="0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6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 dirty="0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2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918135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endParaRPr lang="ko-KR" altLang="en-US" sz="1600" b="0" i="0" u="none" strike="noStrike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8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 dirty="0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5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 dirty="0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1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1415570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endParaRPr lang="ko-KR" altLang="en-US" sz="1600" b="0" i="0" u="none" strike="noStrike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600" b="0" i="0" u="none" strike="noStrike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4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 dirty="0">
                          <a:effectLst/>
                          <a:latin typeface="서울남산 장체M" panose="02020603020101020101" pitchFamily="18" charset="-127"/>
                          <a:ea typeface="서울남산 장체M" panose="02020603020101020101" pitchFamily="18" charset="-127"/>
                        </a:rPr>
                        <a:t>0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서울남산 장체M" panose="02020603020101020101" pitchFamily="18" charset="-127"/>
                        <a:ea typeface="서울남산 장체M" panose="02020603020101020101" pitchFamily="18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4665990"/>
                  </a:ext>
                </a:extLst>
              </a:tr>
            </a:tbl>
          </a:graphicData>
        </a:graphic>
      </p:graphicFrame>
      <p:sp>
        <p:nvSpPr>
          <p:cNvPr id="31" name="폭발 1 30"/>
          <p:cNvSpPr/>
          <p:nvPr/>
        </p:nvSpPr>
        <p:spPr>
          <a:xfrm>
            <a:off x="4827187" y="5161521"/>
            <a:ext cx="2105798" cy="1116585"/>
          </a:xfrm>
          <a:prstGeom prst="irregularSeal1">
            <a:avLst/>
          </a:prstGeom>
          <a:solidFill>
            <a:srgbClr val="FFFF0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smtClean="0">
                <a:solidFill>
                  <a:schemeClr val="tx1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Discretized</a:t>
            </a:r>
            <a:endParaRPr lang="ko-KR" altLang="en-US" sz="1600" b="1" dirty="0">
              <a:solidFill>
                <a:schemeClr val="tx1"/>
              </a:solidFill>
              <a:latin typeface="1훈검정고무신 Regular" panose="02020603020101020101" pitchFamily="18" charset="-127"/>
              <a:ea typeface="1훈검정고무신 Regular" panose="0202060302010102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1459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Water Allocation Example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 Net Benefits (of each state j)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522025"/>
            <a:ext cx="6027538" cy="5154999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rcRect l="-1" t="20594" r="-1072" b="8521"/>
          <a:stretch/>
        </p:blipFill>
        <p:spPr>
          <a:xfrm>
            <a:off x="1306820" y="1899709"/>
            <a:ext cx="4320559" cy="17430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820" y="3937992"/>
            <a:ext cx="4320559" cy="27802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3666177" y="3658790"/>
            <a:ext cx="13620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(</a:t>
            </a:r>
            <a:r>
              <a:rPr lang="ko-KR" altLang="en-US" sz="1400" b="1" dirty="0" err="1" smtClean="0">
                <a:solidFill>
                  <a:srgbClr val="FF0000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단조증가</a:t>
            </a:r>
            <a:r>
              <a:rPr lang="en-US" altLang="ko-KR" sz="1400" b="1" dirty="0" smtClean="0">
                <a:solidFill>
                  <a:srgbClr val="FF0000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)</a:t>
            </a:r>
            <a:endParaRPr lang="ko-KR" altLang="en-US" sz="1400" b="1" dirty="0">
              <a:solidFill>
                <a:srgbClr val="FF0000"/>
              </a:solidFill>
              <a:latin typeface="서울남산 장체M" panose="02020603020101020101" pitchFamily="18" charset="-127"/>
              <a:ea typeface="서울남산 장체M" panose="02020603020101020101" pitchFamily="18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3467099" y="3937992"/>
            <a:ext cx="1228726" cy="273903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124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Water Allocation Example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257300"/>
            <a:ext cx="2695575" cy="485775"/>
          </a:xfrm>
        </p:spPr>
        <p:txBody>
          <a:bodyPr>
            <a:normAutofit lnSpcReduction="10000"/>
          </a:bodyPr>
          <a:lstStyle/>
          <a:p>
            <a:r>
              <a:rPr lang="en-US" altLang="ko-KR" dirty="0" smtClean="0"/>
              <a:t> Objective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t="1" r="57321" b="617"/>
          <a:stretch/>
        </p:blipFill>
        <p:spPr>
          <a:xfrm>
            <a:off x="2014536" y="1962151"/>
            <a:ext cx="2443163" cy="7667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3253" y="2973924"/>
            <a:ext cx="4138072" cy="3539050"/>
          </a:xfrm>
          <a:prstGeom prst="rect">
            <a:avLst/>
          </a:prstGeom>
        </p:spPr>
      </p:pic>
      <p:sp>
        <p:nvSpPr>
          <p:cNvPr id="19" name="직사각형 18"/>
          <p:cNvSpPr/>
          <p:nvPr/>
        </p:nvSpPr>
        <p:spPr>
          <a:xfrm>
            <a:off x="7316141" y="1951313"/>
            <a:ext cx="28200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3200" b="1" dirty="0" smtClean="0">
                <a:ln>
                  <a:solidFill>
                    <a:sysClr val="windowText" lastClr="000000"/>
                  </a:solidFill>
                </a:ln>
                <a:solidFill>
                  <a:srgbClr val="0033CC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How to Solve ??</a:t>
            </a:r>
            <a:endParaRPr lang="en-US" altLang="ko-KR" sz="4000" b="1" dirty="0" smtClean="0">
              <a:ln>
                <a:solidFill>
                  <a:sysClr val="windowText" lastClr="000000"/>
                </a:solidFill>
              </a:ln>
              <a:solidFill>
                <a:srgbClr val="0033CC"/>
              </a:solidFill>
              <a:latin typeface="서울남산 장체M" panose="02020603020101020101" pitchFamily="18" charset="-127"/>
              <a:ea typeface="서울남산 장체M" panose="02020603020101020101" pitchFamily="18" charset="-127"/>
            </a:endParaRPr>
          </a:p>
        </p:txBody>
      </p:sp>
      <p:sp>
        <p:nvSpPr>
          <p:cNvPr id="21" name="오른쪽 화살표 20"/>
          <p:cNvSpPr/>
          <p:nvPr/>
        </p:nvSpPr>
        <p:spPr>
          <a:xfrm>
            <a:off x="4802144" y="2012801"/>
            <a:ext cx="2513997" cy="476250"/>
          </a:xfrm>
          <a:prstGeom prst="rightArrow">
            <a:avLst/>
          </a:prstGeom>
          <a:solidFill>
            <a:srgbClr val="FFFF00"/>
          </a:solidFill>
          <a:ln w="19050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3" name="그룹 22"/>
          <p:cNvGrpSpPr/>
          <p:nvPr/>
        </p:nvGrpSpPr>
        <p:grpSpPr>
          <a:xfrm>
            <a:off x="7145421" y="3594460"/>
            <a:ext cx="2734659" cy="805327"/>
            <a:chOff x="7145421" y="3594460"/>
            <a:chExt cx="2734659" cy="805327"/>
          </a:xfrm>
        </p:grpSpPr>
        <p:sp>
          <p:nvSpPr>
            <p:cNvPr id="17" name="직사각형 16"/>
            <p:cNvSpPr/>
            <p:nvPr/>
          </p:nvSpPr>
          <p:spPr>
            <a:xfrm>
              <a:off x="7145421" y="3594460"/>
              <a:ext cx="273465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42900" indent="-342900" algn="ctr">
                <a:buFont typeface="Wingdings" panose="05000000000000000000" pitchFamily="2" charset="2"/>
                <a:buChar char="§"/>
              </a:pPr>
              <a:r>
                <a:rPr lang="en-US" altLang="ko-KR" sz="2400" b="1" dirty="0" smtClean="0">
                  <a:latin typeface="서울남산 장체M" panose="02020603020101020101" pitchFamily="18" charset="-127"/>
                  <a:ea typeface="서울남산 장체M" panose="02020603020101020101" pitchFamily="18" charset="-127"/>
                </a:rPr>
                <a:t>Backward-moving</a:t>
              </a:r>
              <a:endParaRPr lang="en-US" altLang="ko-KR" sz="3200" b="1" dirty="0" smtClean="0">
                <a:latin typeface="서울남산 장체M" panose="02020603020101020101" pitchFamily="18" charset="-127"/>
                <a:ea typeface="서울남산 장체M" panose="02020603020101020101" pitchFamily="18" charset="-127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7575827" y="4030455"/>
              <a:ext cx="21531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dirty="0" smtClean="0">
                  <a:latin typeface="Berkeley-Book"/>
                </a:rPr>
                <a:t>(Forward-looking)</a:t>
              </a:r>
              <a:endParaRPr lang="ko-KR" altLang="en-US" dirty="0"/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7243204" y="4743449"/>
            <a:ext cx="2636876" cy="835461"/>
            <a:chOff x="7243204" y="4743449"/>
            <a:chExt cx="2636876" cy="835461"/>
          </a:xfrm>
        </p:grpSpPr>
        <p:sp>
          <p:nvSpPr>
            <p:cNvPr id="18" name="직사각형 17"/>
            <p:cNvSpPr/>
            <p:nvPr/>
          </p:nvSpPr>
          <p:spPr>
            <a:xfrm>
              <a:off x="7243204" y="4743449"/>
              <a:ext cx="253909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42900" indent="-342900" algn="ctr">
                <a:buFont typeface="Wingdings" panose="05000000000000000000" pitchFamily="2" charset="2"/>
                <a:buChar char="§"/>
              </a:pPr>
              <a:r>
                <a:rPr lang="en-US" altLang="ko-KR" sz="2400" b="1" dirty="0" smtClean="0">
                  <a:latin typeface="서울남산 장체M" panose="02020603020101020101" pitchFamily="18" charset="-127"/>
                  <a:ea typeface="서울남산 장체M" panose="02020603020101020101" pitchFamily="18" charset="-127"/>
                </a:rPr>
                <a:t>Forward-moving</a:t>
              </a:r>
              <a:endParaRPr lang="en-US" altLang="ko-KR" sz="3200" b="1" dirty="0" smtClean="0">
                <a:latin typeface="서울남산 장체M" panose="02020603020101020101" pitchFamily="18" charset="-127"/>
                <a:ea typeface="서울남산 장체M" panose="02020603020101020101" pitchFamily="18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7565023" y="5209578"/>
              <a:ext cx="231505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dirty="0" smtClean="0">
                  <a:latin typeface="Berkeley-Book"/>
                </a:rPr>
                <a:t>(Backward-looking)</a:t>
              </a:r>
              <a:endParaRPr lang="ko-KR" altLang="en-US" dirty="0"/>
            </a:p>
          </p:txBody>
        </p:sp>
      </p:grpSp>
      <p:sp>
        <p:nvSpPr>
          <p:cNvPr id="9" name="오른쪽 화살표 8"/>
          <p:cNvSpPr/>
          <p:nvPr/>
        </p:nvSpPr>
        <p:spPr>
          <a:xfrm rot="9617838">
            <a:off x="3566974" y="3801046"/>
            <a:ext cx="2266950" cy="59061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오른쪽 화살표 21"/>
          <p:cNvSpPr/>
          <p:nvPr/>
        </p:nvSpPr>
        <p:spPr>
          <a:xfrm rot="1380537">
            <a:off x="3633623" y="5094475"/>
            <a:ext cx="2266950" cy="59061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5397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Water Allocation Example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 Solving Method</a:t>
            </a:r>
          </a:p>
          <a:p>
            <a:pPr lvl="1"/>
            <a:r>
              <a:rPr lang="en-US" altLang="ko-KR" b="1" dirty="0">
                <a:solidFill>
                  <a:srgbClr val="0033CC"/>
                </a:solidFill>
              </a:rPr>
              <a:t>Backward-moving</a:t>
            </a:r>
            <a:r>
              <a:rPr lang="en-US" altLang="ko-KR" b="1" dirty="0"/>
              <a:t> </a:t>
            </a:r>
            <a:r>
              <a:rPr lang="en-US" altLang="ko-KR" b="1" dirty="0" smtClean="0"/>
              <a:t>(Forward-looking)</a:t>
            </a:r>
          </a:p>
          <a:p>
            <a:pPr lvl="2"/>
            <a:r>
              <a:rPr lang="en-US" altLang="ko-KR" b="1" dirty="0" smtClean="0"/>
              <a:t>Equations</a:t>
            </a:r>
            <a:endParaRPr lang="en-US" altLang="ko-KR" b="1" dirty="0"/>
          </a:p>
          <a:p>
            <a:pPr lvl="1"/>
            <a:endParaRPr lang="en-US" altLang="ko-KR" sz="2800" b="1" dirty="0" smtClean="0"/>
          </a:p>
          <a:p>
            <a:pPr lvl="1"/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697163"/>
            <a:ext cx="4724400" cy="36576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465" y="4621983"/>
            <a:ext cx="4185458" cy="173278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2455" y="774267"/>
            <a:ext cx="5369729" cy="36699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250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Water Allocation Example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 Solving Method</a:t>
            </a:r>
          </a:p>
          <a:p>
            <a:pPr lvl="1"/>
            <a:r>
              <a:rPr lang="en-US" altLang="ko-KR" b="1" dirty="0">
                <a:solidFill>
                  <a:srgbClr val="0033CC"/>
                </a:solidFill>
              </a:rPr>
              <a:t>Backward-moving</a:t>
            </a:r>
            <a:r>
              <a:rPr lang="en-US" altLang="ko-KR" b="1" dirty="0"/>
              <a:t> </a:t>
            </a:r>
            <a:r>
              <a:rPr lang="en-US" altLang="ko-KR" b="1" dirty="0" smtClean="0"/>
              <a:t>(Forward-looking</a:t>
            </a:r>
            <a:r>
              <a:rPr lang="en-US" altLang="ko-KR" b="1" dirty="0"/>
              <a:t>)</a:t>
            </a:r>
          </a:p>
          <a:p>
            <a:pPr lvl="1"/>
            <a:endParaRPr lang="en-US" altLang="ko-KR" sz="2800" b="1" dirty="0" smtClean="0"/>
          </a:p>
          <a:p>
            <a:pPr lvl="1"/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207" y="2273300"/>
            <a:ext cx="5064168" cy="4392911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4723931" y="2377560"/>
            <a:ext cx="21355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① </a:t>
            </a:r>
            <a:r>
              <a:rPr lang="en-US" altLang="ko-KR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Maximum{NB</a:t>
            </a:r>
            <a:r>
              <a:rPr lang="en-US" altLang="ko-KR" sz="800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3</a:t>
            </a:r>
            <a:r>
              <a:rPr lang="en-US" altLang="ko-KR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(x</a:t>
            </a:r>
            <a:r>
              <a:rPr lang="en-US" altLang="ko-KR" sz="800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3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)}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rgbClr val="0066FF"/>
              </a:solidFill>
              <a:latin typeface="서울남산 장체M" panose="02020603020101020101" pitchFamily="18" charset="-127"/>
              <a:ea typeface="서울남산 장체M" panose="02020603020101020101" pitchFamily="18" charset="-127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4723931" y="2745373"/>
            <a:ext cx="428340" cy="3426749"/>
            <a:chOff x="4723931" y="2745373"/>
            <a:chExt cx="428340" cy="3426749"/>
          </a:xfrm>
        </p:grpSpPr>
        <p:sp>
          <p:nvSpPr>
            <p:cNvPr id="5" name="타원 4"/>
            <p:cNvSpPr/>
            <p:nvPr/>
          </p:nvSpPr>
          <p:spPr>
            <a:xfrm>
              <a:off x="4733925" y="2914650"/>
              <a:ext cx="390525" cy="80248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" name="구부러진 연결선 7"/>
            <p:cNvCxnSpPr>
              <a:stCxn id="5" idx="7"/>
            </p:cNvCxnSpPr>
            <p:nvPr/>
          </p:nvCxnSpPr>
          <p:spPr>
            <a:xfrm rot="16200000" flipV="1">
              <a:off x="4775866" y="2740778"/>
              <a:ext cx="286798" cy="295988"/>
            </a:xfrm>
            <a:prstGeom prst="curvedConnector2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타원 8"/>
            <p:cNvSpPr/>
            <p:nvPr/>
          </p:nvSpPr>
          <p:spPr>
            <a:xfrm>
              <a:off x="4723931" y="3882448"/>
              <a:ext cx="390525" cy="80248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" name="구부러진 연결선 9"/>
            <p:cNvCxnSpPr>
              <a:stCxn id="9" idx="7"/>
            </p:cNvCxnSpPr>
            <p:nvPr/>
          </p:nvCxnSpPr>
          <p:spPr>
            <a:xfrm rot="16200000" flipV="1">
              <a:off x="4765872" y="3708576"/>
              <a:ext cx="286798" cy="295988"/>
            </a:xfrm>
            <a:prstGeom prst="curvedConnector2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타원 10"/>
            <p:cNvSpPr/>
            <p:nvPr/>
          </p:nvSpPr>
          <p:spPr>
            <a:xfrm>
              <a:off x="4723931" y="4862730"/>
              <a:ext cx="390525" cy="57604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" name="구부러진 연결선 11"/>
            <p:cNvCxnSpPr>
              <a:stCxn id="11" idx="7"/>
            </p:cNvCxnSpPr>
            <p:nvPr/>
          </p:nvCxnSpPr>
          <p:spPr>
            <a:xfrm rot="16200000" flipV="1">
              <a:off x="4802292" y="4692117"/>
              <a:ext cx="213959" cy="295988"/>
            </a:xfrm>
            <a:prstGeom prst="curvedConnector2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타원 12"/>
            <p:cNvSpPr/>
            <p:nvPr/>
          </p:nvSpPr>
          <p:spPr>
            <a:xfrm>
              <a:off x="4761746" y="5791200"/>
              <a:ext cx="390525" cy="38092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" name="구부러진 연결선 13"/>
            <p:cNvCxnSpPr>
              <a:stCxn id="13" idx="7"/>
            </p:cNvCxnSpPr>
            <p:nvPr/>
          </p:nvCxnSpPr>
          <p:spPr>
            <a:xfrm rot="16200000" flipV="1">
              <a:off x="4795569" y="5547474"/>
              <a:ext cx="237868" cy="361154"/>
            </a:xfrm>
            <a:prstGeom prst="curvedConnector2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직사각형 16"/>
          <p:cNvSpPr/>
          <p:nvPr/>
        </p:nvSpPr>
        <p:spPr>
          <a:xfrm>
            <a:off x="1556673" y="2621798"/>
            <a:ext cx="28729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② </a:t>
            </a:r>
            <a:r>
              <a:rPr lang="en-US" altLang="ko-KR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Maximum{NB</a:t>
            </a:r>
            <a:r>
              <a:rPr lang="en-US" altLang="ko-KR" sz="800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2</a:t>
            </a:r>
            <a:r>
              <a:rPr lang="en-US" altLang="ko-KR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(x</a:t>
            </a:r>
            <a:r>
              <a:rPr lang="en-US" altLang="ko-KR" sz="800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2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)+NB</a:t>
            </a:r>
            <a:r>
              <a:rPr lang="en-US" altLang="ko-KR" sz="800" dirty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3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(x</a:t>
            </a:r>
            <a:r>
              <a:rPr lang="en-US" altLang="ko-KR" sz="800" dirty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3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)}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rgbClr val="0066FF"/>
              </a:solidFill>
              <a:latin typeface="서울남산 장체M" panose="02020603020101020101" pitchFamily="18" charset="-127"/>
              <a:ea typeface="서울남산 장체M" panose="02020603020101020101" pitchFamily="18" charset="-127"/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460421" y="3111046"/>
            <a:ext cx="870779" cy="1048526"/>
            <a:chOff x="3460421" y="3111046"/>
            <a:chExt cx="870779" cy="1048526"/>
          </a:xfrm>
        </p:grpSpPr>
        <p:sp>
          <p:nvSpPr>
            <p:cNvPr id="18" name="TextBox 17"/>
            <p:cNvSpPr txBox="1"/>
            <p:nvPr/>
          </p:nvSpPr>
          <p:spPr>
            <a:xfrm>
              <a:off x="3565235" y="3139843"/>
              <a:ext cx="6381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 smtClean="0"/>
                <a:t>49.4</a:t>
              </a:r>
              <a:endParaRPr lang="ko-KR" altLang="en-US" sz="1100" b="1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672895" y="3485853"/>
              <a:ext cx="6381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 smtClean="0"/>
                <a:t>52.3</a:t>
              </a:r>
              <a:endParaRPr lang="ko-KR" altLang="en-US" sz="1100" b="1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693025" y="3869164"/>
              <a:ext cx="6381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 smtClean="0"/>
                <a:t>52.2</a:t>
              </a:r>
              <a:endParaRPr lang="ko-KR" altLang="en-US" sz="1100" b="1" dirty="0"/>
            </a:p>
          </p:txBody>
        </p:sp>
        <p:sp>
          <p:nvSpPr>
            <p:cNvPr id="26" name="타원 25"/>
            <p:cNvSpPr/>
            <p:nvPr/>
          </p:nvSpPr>
          <p:spPr>
            <a:xfrm>
              <a:off x="3460421" y="3111046"/>
              <a:ext cx="715173" cy="1048526"/>
            </a:xfrm>
            <a:prstGeom prst="ellipse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3634395" y="4130313"/>
            <a:ext cx="726515" cy="1048526"/>
            <a:chOff x="3634395" y="4130313"/>
            <a:chExt cx="726515" cy="1048526"/>
          </a:xfrm>
        </p:grpSpPr>
        <p:sp>
          <p:nvSpPr>
            <p:cNvPr id="21" name="TextBox 20"/>
            <p:cNvSpPr txBox="1"/>
            <p:nvPr/>
          </p:nvSpPr>
          <p:spPr>
            <a:xfrm>
              <a:off x="3722735" y="4188369"/>
              <a:ext cx="6381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 smtClean="0"/>
                <a:t>49.4</a:t>
              </a:r>
              <a:endParaRPr lang="ko-KR" altLang="en-US" sz="1100" b="1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722735" y="4463293"/>
              <a:ext cx="6381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 smtClean="0"/>
                <a:t>49.7</a:t>
              </a:r>
              <a:endParaRPr lang="ko-KR" altLang="en-US" sz="1100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642233" y="4836702"/>
              <a:ext cx="6381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 smtClean="0"/>
                <a:t>49.0</a:t>
              </a:r>
              <a:endParaRPr lang="ko-KR" altLang="en-US" sz="1100" b="1" dirty="0"/>
            </a:p>
          </p:txBody>
        </p:sp>
        <p:sp>
          <p:nvSpPr>
            <p:cNvPr id="28" name="타원 27"/>
            <p:cNvSpPr/>
            <p:nvPr/>
          </p:nvSpPr>
          <p:spPr>
            <a:xfrm>
              <a:off x="3634395" y="4130313"/>
              <a:ext cx="715173" cy="1048526"/>
            </a:xfrm>
            <a:prstGeom prst="ellipse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1" name="그룹 30"/>
          <p:cNvGrpSpPr/>
          <p:nvPr/>
        </p:nvGrpSpPr>
        <p:grpSpPr>
          <a:xfrm>
            <a:off x="3403648" y="5057075"/>
            <a:ext cx="691726" cy="763402"/>
            <a:chOff x="3403648" y="5057075"/>
            <a:chExt cx="691726" cy="763402"/>
          </a:xfrm>
        </p:grpSpPr>
        <p:sp>
          <p:nvSpPr>
            <p:cNvPr id="24" name="TextBox 23"/>
            <p:cNvSpPr txBox="1"/>
            <p:nvPr/>
          </p:nvSpPr>
          <p:spPr>
            <a:xfrm>
              <a:off x="3403648" y="5099587"/>
              <a:ext cx="6381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 smtClean="0"/>
                <a:t>46.8</a:t>
              </a:r>
              <a:endParaRPr lang="ko-KR" altLang="en-US" sz="1100" b="1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457199" y="5539218"/>
              <a:ext cx="6381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 smtClean="0"/>
                <a:t>46.5</a:t>
              </a:r>
              <a:endParaRPr lang="ko-KR" altLang="en-US" sz="1100" b="1" dirty="0"/>
            </a:p>
          </p:txBody>
        </p:sp>
        <p:sp>
          <p:nvSpPr>
            <p:cNvPr id="29" name="타원 28"/>
            <p:cNvSpPr/>
            <p:nvPr/>
          </p:nvSpPr>
          <p:spPr>
            <a:xfrm>
              <a:off x="3425267" y="5057075"/>
              <a:ext cx="614839" cy="763402"/>
            </a:xfrm>
            <a:prstGeom prst="ellipse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직사각형 31"/>
          <p:cNvSpPr/>
          <p:nvPr/>
        </p:nvSpPr>
        <p:spPr>
          <a:xfrm>
            <a:off x="435245" y="3353638"/>
            <a:ext cx="20409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③ </a:t>
            </a:r>
            <a:r>
              <a:rPr lang="en-US" altLang="ko-KR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Maximum{NB</a:t>
            </a:r>
            <a:r>
              <a:rPr lang="en-US" altLang="ko-KR" sz="800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1</a:t>
            </a:r>
            <a:r>
              <a:rPr lang="en-US" altLang="ko-KR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(x</a:t>
            </a:r>
            <a:r>
              <a:rPr lang="en-US" altLang="ko-KR" sz="800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1</a:t>
            </a:r>
            <a:r>
              <a:rPr lang="en-US" altLang="ko-KR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)</a:t>
            </a:r>
          </a:p>
          <a:p>
            <a:pPr algn="r"/>
            <a:r>
              <a:rPr lang="en-US" altLang="ko-KR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+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NB</a:t>
            </a:r>
            <a:r>
              <a:rPr lang="en-US" altLang="ko-KR" sz="800" dirty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2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(x</a:t>
            </a:r>
            <a:r>
              <a:rPr lang="en-US" altLang="ko-KR" sz="800" dirty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2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)+NB</a:t>
            </a:r>
            <a:r>
              <a:rPr lang="en-US" altLang="ko-KR" sz="800" dirty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3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(x</a:t>
            </a:r>
            <a:r>
              <a:rPr lang="en-US" altLang="ko-KR" sz="800" dirty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3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)}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rgbClr val="0066FF"/>
              </a:solidFill>
              <a:latin typeface="서울남산 장체M" panose="02020603020101020101" pitchFamily="18" charset="-127"/>
              <a:ea typeface="서울남산 장체M" panose="02020603020101020101" pitchFamily="18" charset="-127"/>
            </a:endParaRPr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438" y="2164824"/>
            <a:ext cx="4511718" cy="417423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4"/>
          <a:srcRect t="3813"/>
          <a:stretch/>
        </p:blipFill>
        <p:spPr>
          <a:xfrm>
            <a:off x="7268316" y="2562226"/>
            <a:ext cx="4459847" cy="3913037"/>
          </a:xfrm>
          <a:prstGeom prst="rect">
            <a:avLst/>
          </a:prstGeom>
        </p:spPr>
      </p:pic>
      <p:sp>
        <p:nvSpPr>
          <p:cNvPr id="7" name="타원 6"/>
          <p:cNvSpPr/>
          <p:nvPr/>
        </p:nvSpPr>
        <p:spPr>
          <a:xfrm>
            <a:off x="1035998" y="4799495"/>
            <a:ext cx="706581" cy="702516"/>
          </a:xfrm>
          <a:prstGeom prst="ellipse">
            <a:avLst/>
          </a:prstGeom>
          <a:solidFill>
            <a:srgbClr val="E1FFE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solidFill>
                  <a:schemeClr val="tx1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Initial value=0</a:t>
            </a:r>
            <a:endParaRPr lang="ko-KR" altLang="en-US" sz="1050" dirty="0">
              <a:solidFill>
                <a:schemeClr val="tx1"/>
              </a:solidFill>
              <a:latin typeface="1훈검정고무신 Regular" panose="02020603020101020101" pitchFamily="18" charset="-127"/>
              <a:ea typeface="1훈검정고무신 Regular" panose="02020603020101020101" pitchFamily="18" charset="-127"/>
            </a:endParaRPr>
          </a:p>
        </p:txBody>
      </p:sp>
      <p:cxnSp>
        <p:nvCxnSpPr>
          <p:cNvPr id="35" name="직선 화살표 연결선 34"/>
          <p:cNvCxnSpPr>
            <a:stCxn id="7" idx="7"/>
          </p:cNvCxnSpPr>
          <p:nvPr/>
        </p:nvCxnSpPr>
        <p:spPr>
          <a:xfrm flipV="1">
            <a:off x="1639103" y="4654576"/>
            <a:ext cx="381225" cy="247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슬라이드 번호 개체 틀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7321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/>
      <p:bldP spid="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Water Allocation Example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 Solving Method</a:t>
            </a:r>
          </a:p>
          <a:p>
            <a:pPr lvl="1"/>
            <a:r>
              <a:rPr lang="en-US" altLang="ko-KR" b="1" dirty="0">
                <a:solidFill>
                  <a:srgbClr val="0033CC"/>
                </a:solidFill>
              </a:rPr>
              <a:t>Backward-moving</a:t>
            </a:r>
            <a:r>
              <a:rPr lang="en-US" altLang="ko-KR" b="1" dirty="0"/>
              <a:t> </a:t>
            </a:r>
            <a:r>
              <a:rPr lang="en-US" altLang="ko-KR" b="1" dirty="0" smtClean="0"/>
              <a:t>(Forward-looking)</a:t>
            </a:r>
          </a:p>
          <a:p>
            <a:pPr lvl="2"/>
            <a:r>
              <a:rPr lang="en-US" altLang="ko-KR" b="1" dirty="0" smtClean="0"/>
              <a:t>By excel calculation</a:t>
            </a:r>
            <a:endParaRPr lang="en-US" altLang="ko-KR" b="1" dirty="0"/>
          </a:p>
          <a:p>
            <a:pPr lvl="1"/>
            <a:endParaRPr lang="en-US" altLang="ko-KR" sz="2800" b="1" dirty="0" smtClean="0"/>
          </a:p>
          <a:p>
            <a:pPr lvl="1"/>
            <a:endParaRPr lang="ko-KR" altLang="en-US" dirty="0"/>
          </a:p>
        </p:txBody>
      </p:sp>
      <p:sp>
        <p:nvSpPr>
          <p:cNvPr id="35" name="오른쪽 화살표 34"/>
          <p:cNvSpPr/>
          <p:nvPr/>
        </p:nvSpPr>
        <p:spPr>
          <a:xfrm rot="10800000">
            <a:off x="2197737" y="5764151"/>
            <a:ext cx="7796526" cy="59061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203449"/>
            <a:ext cx="12173597" cy="3311525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2904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Water Allocation Example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 Solving Method</a:t>
            </a:r>
          </a:p>
          <a:p>
            <a:pPr lvl="1"/>
            <a:r>
              <a:rPr lang="en-US" altLang="ko-KR" b="1" dirty="0" smtClean="0">
                <a:solidFill>
                  <a:srgbClr val="0033CC"/>
                </a:solidFill>
              </a:rPr>
              <a:t>Forward-moving</a:t>
            </a:r>
            <a:r>
              <a:rPr lang="en-US" altLang="ko-KR" b="1" dirty="0" smtClean="0"/>
              <a:t> (Backward-looking)</a:t>
            </a:r>
          </a:p>
          <a:p>
            <a:pPr lvl="2"/>
            <a:r>
              <a:rPr lang="en-US" altLang="ko-KR" b="1" dirty="0"/>
              <a:t>Equations</a:t>
            </a:r>
          </a:p>
          <a:p>
            <a:pPr lvl="1"/>
            <a:endParaRPr lang="en-US" altLang="ko-KR" sz="2800" b="1" dirty="0" smtClean="0"/>
          </a:p>
          <a:p>
            <a:pPr lvl="1"/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697163"/>
            <a:ext cx="4724400" cy="36576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862" y="2717167"/>
            <a:ext cx="4943475" cy="6667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1762" y="3557878"/>
            <a:ext cx="4981575" cy="10096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2712" y="4703763"/>
            <a:ext cx="5000625" cy="1352550"/>
          </a:xfrm>
          <a:prstGeom prst="rect">
            <a:avLst/>
          </a:prstGeom>
        </p:spPr>
      </p:pic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2465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270" y="2216434"/>
            <a:ext cx="5703683" cy="453134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Water Allocation Example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 Solving Method</a:t>
            </a:r>
          </a:p>
          <a:p>
            <a:pPr lvl="1"/>
            <a:r>
              <a:rPr lang="en-US" altLang="ko-KR" b="1" dirty="0">
                <a:solidFill>
                  <a:srgbClr val="0033CC"/>
                </a:solidFill>
              </a:rPr>
              <a:t>Forward-moving</a:t>
            </a:r>
            <a:r>
              <a:rPr lang="en-US" altLang="ko-KR" b="1" dirty="0"/>
              <a:t> (Backward-looking)</a:t>
            </a:r>
          </a:p>
          <a:p>
            <a:pPr lvl="1"/>
            <a:endParaRPr lang="en-US" altLang="ko-KR" sz="2800" b="1" dirty="0" smtClean="0"/>
          </a:p>
          <a:p>
            <a:pPr lvl="1"/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301430" y="3603591"/>
            <a:ext cx="21355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① </a:t>
            </a:r>
            <a:r>
              <a:rPr lang="en-US" altLang="ko-KR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Maximum{NB</a:t>
            </a:r>
            <a:r>
              <a:rPr lang="en-US" altLang="ko-KR" sz="800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1</a:t>
            </a:r>
            <a:r>
              <a:rPr lang="en-US" altLang="ko-KR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(x</a:t>
            </a:r>
            <a:r>
              <a:rPr lang="en-US" altLang="ko-KR" sz="800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1</a:t>
            </a:r>
            <a:r>
              <a:rPr lang="en-US" altLang="ko-KR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)}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rgbClr val="0066FF"/>
              </a:solidFill>
              <a:latin typeface="서울남산 장체M" panose="02020603020101020101" pitchFamily="18" charset="-127"/>
              <a:ea typeface="서울남산 장체M" panose="02020603020101020101" pitchFamily="18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57199" y="4140452"/>
            <a:ext cx="638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19.4</a:t>
            </a:r>
            <a:endParaRPr lang="ko-KR" altLang="en-US" sz="1100" b="1" dirty="0"/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9733" y="2662839"/>
            <a:ext cx="4943475" cy="666750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1633" y="3503550"/>
            <a:ext cx="4981575" cy="1009650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2583" y="4649435"/>
            <a:ext cx="5000625" cy="1352550"/>
          </a:xfrm>
          <a:prstGeom prst="rect">
            <a:avLst/>
          </a:prstGeom>
        </p:spPr>
      </p:pic>
      <p:sp>
        <p:nvSpPr>
          <p:cNvPr id="38" name="직사각형 37"/>
          <p:cNvSpPr/>
          <p:nvPr/>
        </p:nvSpPr>
        <p:spPr>
          <a:xfrm>
            <a:off x="1389985" y="2519440"/>
            <a:ext cx="28729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② </a:t>
            </a:r>
            <a:r>
              <a:rPr lang="en-US" altLang="ko-KR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Maximum{NB</a:t>
            </a:r>
            <a:r>
              <a:rPr lang="en-US" altLang="ko-KR" sz="800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2</a:t>
            </a:r>
            <a:r>
              <a:rPr lang="en-US" altLang="ko-KR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(x</a:t>
            </a:r>
            <a:r>
              <a:rPr lang="en-US" altLang="ko-KR" sz="800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2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)+NB</a:t>
            </a:r>
            <a:r>
              <a:rPr lang="en-US" altLang="ko-KR" sz="800" dirty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3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(x</a:t>
            </a:r>
            <a:r>
              <a:rPr lang="en-US" altLang="ko-KR" sz="800" dirty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3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)}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rgbClr val="0066FF"/>
              </a:solidFill>
              <a:latin typeface="서울남산 장체M" panose="02020603020101020101" pitchFamily="18" charset="-127"/>
              <a:ea typeface="서울남산 장체M" panose="02020603020101020101" pitchFamily="18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4733925" y="2222304"/>
            <a:ext cx="20409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③ </a:t>
            </a:r>
            <a:r>
              <a:rPr lang="en-US" altLang="ko-KR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Maximum{NB</a:t>
            </a:r>
            <a:r>
              <a:rPr lang="en-US" altLang="ko-KR" sz="800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1</a:t>
            </a:r>
            <a:r>
              <a:rPr lang="en-US" altLang="ko-KR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(x</a:t>
            </a:r>
            <a:r>
              <a:rPr lang="en-US" altLang="ko-KR" sz="800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1</a:t>
            </a:r>
            <a:r>
              <a:rPr lang="en-US" altLang="ko-KR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)</a:t>
            </a:r>
          </a:p>
          <a:p>
            <a:pPr algn="r"/>
            <a:r>
              <a:rPr lang="en-US" altLang="ko-KR" dirty="0" smtClean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+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NB</a:t>
            </a:r>
            <a:r>
              <a:rPr lang="en-US" altLang="ko-KR" sz="800" dirty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2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(x</a:t>
            </a:r>
            <a:r>
              <a:rPr lang="en-US" altLang="ko-KR" sz="800" dirty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2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)+NB</a:t>
            </a:r>
            <a:r>
              <a:rPr lang="en-US" altLang="ko-KR" sz="800" dirty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3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(x</a:t>
            </a:r>
            <a:r>
              <a:rPr lang="en-US" altLang="ko-KR" sz="800" dirty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3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rgbClr val="0066FF"/>
                </a:solidFill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)}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rgbClr val="0066FF"/>
              </a:solidFill>
              <a:latin typeface="서울남산 장체M" panose="02020603020101020101" pitchFamily="18" charset="-127"/>
              <a:ea typeface="서울남산 장체M" panose="02020603020101020101" pitchFamily="18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455938" y="4449057"/>
            <a:ext cx="638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22.3</a:t>
            </a:r>
            <a:endParaRPr lang="ko-KR" altLang="en-US" sz="11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3494778" y="4710667"/>
            <a:ext cx="638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24.8</a:t>
            </a:r>
            <a:endParaRPr lang="ko-KR" altLang="en-US" sz="11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3455938" y="5080977"/>
            <a:ext cx="638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22.0</a:t>
            </a:r>
            <a:endParaRPr lang="ko-KR" altLang="en-US" sz="1100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3405464" y="5408191"/>
            <a:ext cx="638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24.9</a:t>
            </a:r>
            <a:endParaRPr lang="ko-KR" altLang="en-US" sz="11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4966592" y="3159520"/>
            <a:ext cx="638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46.8</a:t>
            </a:r>
            <a:endParaRPr lang="ko-KR" altLang="en-US" sz="1100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4758094" y="3827769"/>
            <a:ext cx="638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47.3</a:t>
            </a:r>
            <a:endParaRPr lang="ko-KR" altLang="en-US" sz="1100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4856488" y="4113178"/>
            <a:ext cx="638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50.5</a:t>
            </a:r>
            <a:endParaRPr lang="ko-KR" altLang="en-US" sz="1100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4979767" y="3627942"/>
            <a:ext cx="638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49.4</a:t>
            </a:r>
            <a:endParaRPr lang="ko-KR" altLang="en-US" sz="1100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4758094" y="4406738"/>
            <a:ext cx="638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53.1</a:t>
            </a:r>
            <a:endParaRPr lang="ko-KR" altLang="en-US" sz="1100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4758094" y="4771647"/>
            <a:ext cx="638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50.2</a:t>
            </a:r>
            <a:endParaRPr lang="ko-KR" altLang="en-US" sz="1100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4768157" y="5064100"/>
            <a:ext cx="638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53.4</a:t>
            </a:r>
            <a:endParaRPr lang="ko-KR" altLang="en-US" sz="1100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4771216" y="5730781"/>
            <a:ext cx="638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52.8</a:t>
            </a:r>
            <a:endParaRPr lang="ko-KR" altLang="en-US" sz="1100" b="1" dirty="0"/>
          </a:p>
        </p:txBody>
      </p:sp>
      <p:sp>
        <p:nvSpPr>
          <p:cNvPr id="52" name="타원 51"/>
          <p:cNvSpPr/>
          <p:nvPr/>
        </p:nvSpPr>
        <p:spPr>
          <a:xfrm>
            <a:off x="917665" y="4761909"/>
            <a:ext cx="706581" cy="702516"/>
          </a:xfrm>
          <a:prstGeom prst="ellipse">
            <a:avLst/>
          </a:prstGeom>
          <a:solidFill>
            <a:srgbClr val="E1FFE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solidFill>
                  <a:schemeClr val="tx1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Initial value=0</a:t>
            </a:r>
            <a:endParaRPr lang="ko-KR" altLang="en-US" sz="1050" dirty="0">
              <a:solidFill>
                <a:schemeClr val="tx1"/>
              </a:solidFill>
              <a:latin typeface="1훈검정고무신 Regular" panose="02020603020101020101" pitchFamily="18" charset="-127"/>
              <a:ea typeface="1훈검정고무신 Regular" panose="02020603020101020101" pitchFamily="18" charset="-127"/>
            </a:endParaRPr>
          </a:p>
        </p:txBody>
      </p:sp>
      <p:cxnSp>
        <p:nvCxnSpPr>
          <p:cNvPr id="53" name="직선 화살표 연결선 52"/>
          <p:cNvCxnSpPr>
            <a:stCxn id="52" idx="7"/>
          </p:cNvCxnSpPr>
          <p:nvPr/>
        </p:nvCxnSpPr>
        <p:spPr>
          <a:xfrm flipV="1">
            <a:off x="1520770" y="4513200"/>
            <a:ext cx="240275" cy="3515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그룹 62"/>
          <p:cNvGrpSpPr/>
          <p:nvPr/>
        </p:nvGrpSpPr>
        <p:grpSpPr>
          <a:xfrm>
            <a:off x="3061424" y="3027284"/>
            <a:ext cx="1689132" cy="2709563"/>
            <a:chOff x="3061424" y="3027284"/>
            <a:chExt cx="1689132" cy="2709563"/>
          </a:xfrm>
        </p:grpSpPr>
        <p:sp>
          <p:nvSpPr>
            <p:cNvPr id="58" name="직사각형 57"/>
            <p:cNvSpPr/>
            <p:nvPr/>
          </p:nvSpPr>
          <p:spPr>
            <a:xfrm rot="4395213">
              <a:off x="3859351" y="2400550"/>
              <a:ext cx="264471" cy="1517939"/>
            </a:xfrm>
            <a:prstGeom prst="rect">
              <a:avLst/>
            </a:prstGeom>
            <a:solidFill>
              <a:srgbClr val="00FFFF">
                <a:alpha val="30196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/>
            <p:cNvSpPr/>
            <p:nvPr/>
          </p:nvSpPr>
          <p:spPr>
            <a:xfrm rot="4395213">
              <a:off x="3722651" y="3333260"/>
              <a:ext cx="264471" cy="1517939"/>
            </a:xfrm>
            <a:prstGeom prst="rect">
              <a:avLst/>
            </a:prstGeom>
            <a:solidFill>
              <a:srgbClr val="00FFFF">
                <a:alpha val="30196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59"/>
            <p:cNvSpPr/>
            <p:nvPr/>
          </p:nvSpPr>
          <p:spPr>
            <a:xfrm rot="6506958">
              <a:off x="3688158" y="3808536"/>
              <a:ext cx="264471" cy="1517939"/>
            </a:xfrm>
            <a:prstGeom prst="rect">
              <a:avLst/>
            </a:prstGeom>
            <a:solidFill>
              <a:srgbClr val="00FFFF">
                <a:alpha val="30196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/>
            <p:cNvSpPr/>
            <p:nvPr/>
          </p:nvSpPr>
          <p:spPr>
            <a:xfrm rot="6506958">
              <a:off x="3772701" y="4845642"/>
              <a:ext cx="264471" cy="1517939"/>
            </a:xfrm>
            <a:prstGeom prst="rect">
              <a:avLst/>
            </a:prstGeom>
            <a:solidFill>
              <a:srgbClr val="00FFFF">
                <a:alpha val="30196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2" name="직사각형 61"/>
          <p:cNvSpPr/>
          <p:nvPr/>
        </p:nvSpPr>
        <p:spPr>
          <a:xfrm rot="7513365">
            <a:off x="5043339" y="4518793"/>
            <a:ext cx="264471" cy="1517939"/>
          </a:xfrm>
          <a:prstGeom prst="rect">
            <a:avLst/>
          </a:prstGeom>
          <a:solidFill>
            <a:srgbClr val="00FFFF">
              <a:alpha val="30196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4377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8" grpId="0"/>
      <p:bldP spid="39" grpId="0"/>
      <p:bldP spid="6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Water Allocation Example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 Solving Method</a:t>
            </a:r>
          </a:p>
          <a:p>
            <a:pPr lvl="1"/>
            <a:r>
              <a:rPr lang="en-US" altLang="ko-KR" b="1" dirty="0">
                <a:solidFill>
                  <a:srgbClr val="0033CC"/>
                </a:solidFill>
              </a:rPr>
              <a:t>Forward-moving</a:t>
            </a:r>
            <a:r>
              <a:rPr lang="en-US" altLang="ko-KR" b="1" dirty="0"/>
              <a:t> (Backward-looking)</a:t>
            </a:r>
          </a:p>
          <a:p>
            <a:pPr lvl="2"/>
            <a:r>
              <a:rPr lang="en-US" altLang="ko-KR" b="1" dirty="0" smtClean="0"/>
              <a:t>By excel calculation</a:t>
            </a:r>
            <a:endParaRPr lang="en-US" altLang="ko-KR" b="1" dirty="0"/>
          </a:p>
          <a:p>
            <a:pPr lvl="1"/>
            <a:endParaRPr lang="en-US" altLang="ko-KR" sz="2800" b="1" dirty="0" smtClean="0"/>
          </a:p>
          <a:p>
            <a:pPr lvl="1"/>
            <a:endParaRPr lang="ko-KR" altLang="en-US" dirty="0"/>
          </a:p>
        </p:txBody>
      </p:sp>
      <p:sp>
        <p:nvSpPr>
          <p:cNvPr id="35" name="오른쪽 화살표 34"/>
          <p:cNvSpPr/>
          <p:nvPr/>
        </p:nvSpPr>
        <p:spPr>
          <a:xfrm>
            <a:off x="1962616" y="5378433"/>
            <a:ext cx="8037595" cy="59061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2683"/>
            <a:ext cx="12131841" cy="2825750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532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 smtClean="0">
                <a:ln>
                  <a:solidFill>
                    <a:sysClr val="windowText" lastClr="000000"/>
                  </a:solidFill>
                </a:ln>
                <a:solidFill>
                  <a:srgbClr val="0033CC"/>
                </a:solidFill>
              </a:rPr>
              <a:t>“Capacity Expansion”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80011" y="1265613"/>
            <a:ext cx="10515600" cy="4919663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ko-KR" b="1" dirty="0" smtClean="0">
                <a:solidFill>
                  <a:srgbClr val="0070C0"/>
                </a:solidFill>
              </a:rPr>
              <a:t>How </a:t>
            </a:r>
            <a:r>
              <a:rPr lang="en-US" altLang="ko-KR" b="1" dirty="0">
                <a:solidFill>
                  <a:srgbClr val="0070C0"/>
                </a:solidFill>
              </a:rPr>
              <a:t>much infrastructure should be built, when and why</a:t>
            </a:r>
            <a:r>
              <a:rPr lang="en-US" altLang="ko-KR" b="1" dirty="0" smtClean="0">
                <a:solidFill>
                  <a:srgbClr val="0070C0"/>
                </a:solidFill>
              </a:rPr>
              <a:t>?</a:t>
            </a:r>
          </a:p>
          <a:p>
            <a:r>
              <a:rPr lang="en-US" altLang="ko-KR" dirty="0" smtClean="0"/>
              <a:t> </a:t>
            </a:r>
            <a:r>
              <a:rPr lang="en-US" altLang="ko-KR" sz="2000" dirty="0" smtClean="0"/>
              <a:t>Variables</a:t>
            </a:r>
          </a:p>
          <a:p>
            <a:pPr lvl="1"/>
            <a:r>
              <a:rPr lang="en-US" altLang="ko-KR" sz="1800" dirty="0" smtClean="0"/>
              <a:t>D</a:t>
            </a:r>
            <a:r>
              <a:rPr lang="en-US" altLang="ko-KR" sz="1800" baseline="-25000" dirty="0" smtClean="0"/>
              <a:t>t</a:t>
            </a:r>
            <a:r>
              <a:rPr lang="en-US" altLang="ko-KR" sz="1800" dirty="0" smtClean="0"/>
              <a:t> : </a:t>
            </a:r>
            <a:r>
              <a:rPr lang="en-US" altLang="ko-KR" sz="1800" dirty="0"/>
              <a:t>The capacity needed </a:t>
            </a:r>
            <a:r>
              <a:rPr lang="en-US" altLang="ko-KR" sz="1800" u="sng" dirty="0"/>
              <a:t>at the end of </a:t>
            </a:r>
            <a:r>
              <a:rPr lang="en-US" altLang="ko-KR" sz="1800" dirty="0"/>
              <a:t>each </a:t>
            </a:r>
            <a:r>
              <a:rPr lang="en-US" altLang="ko-KR" sz="1800" dirty="0" smtClean="0"/>
              <a:t>future period t</a:t>
            </a:r>
          </a:p>
          <a:p>
            <a:pPr lvl="1"/>
            <a:r>
              <a:rPr lang="en-US" altLang="ko-KR" sz="1800" dirty="0" smtClean="0"/>
              <a:t>C</a:t>
            </a:r>
            <a:r>
              <a:rPr lang="en-US" altLang="ko-KR" sz="1800" baseline="-25000" dirty="0" smtClean="0"/>
              <a:t>t</a:t>
            </a:r>
            <a:r>
              <a:rPr lang="en-US" altLang="ko-KR" sz="1800" dirty="0" smtClean="0"/>
              <a:t>(</a:t>
            </a:r>
            <a:r>
              <a:rPr lang="en-US" altLang="ko-KR" sz="1800" dirty="0" err="1" smtClean="0"/>
              <a:t>s</a:t>
            </a:r>
            <a:r>
              <a:rPr lang="en-US" altLang="ko-KR" sz="1800" baseline="-25000" dirty="0" err="1" smtClean="0"/>
              <a:t>t</a:t>
            </a:r>
            <a:r>
              <a:rPr lang="en-US" altLang="ko-KR" sz="1800" dirty="0" smtClean="0"/>
              <a:t>, </a:t>
            </a:r>
            <a:r>
              <a:rPr lang="en-US" altLang="ko-KR" sz="1800" dirty="0" err="1" smtClean="0"/>
              <a:t>x</a:t>
            </a:r>
            <a:r>
              <a:rPr lang="en-US" altLang="ko-KR" sz="1800" baseline="-25000" dirty="0" err="1" smtClean="0"/>
              <a:t>t</a:t>
            </a:r>
            <a:r>
              <a:rPr lang="en-US" altLang="ko-KR" sz="1800" dirty="0" smtClean="0"/>
              <a:t>) : The </a:t>
            </a:r>
            <a:r>
              <a:rPr lang="en-US" altLang="ko-KR" sz="1800" dirty="0"/>
              <a:t>cost </a:t>
            </a:r>
            <a:r>
              <a:rPr lang="en-US" altLang="ko-KR" sz="1800" dirty="0" smtClean="0"/>
              <a:t>of adding </a:t>
            </a:r>
            <a:r>
              <a:rPr lang="en-US" altLang="ko-KR" sz="1800" dirty="0"/>
              <a:t>capacity </a:t>
            </a:r>
            <a:r>
              <a:rPr lang="en-US" altLang="ko-KR" sz="1800" dirty="0" err="1"/>
              <a:t>x</a:t>
            </a:r>
            <a:r>
              <a:rPr lang="en-US" altLang="ko-KR" sz="1800" baseline="-25000" dirty="0" err="1"/>
              <a:t>t</a:t>
            </a:r>
            <a:r>
              <a:rPr lang="en-US" altLang="ko-KR" sz="1800" dirty="0"/>
              <a:t> in each period </a:t>
            </a:r>
            <a:r>
              <a:rPr lang="en-US" altLang="ko-KR" sz="1800" dirty="0" smtClean="0"/>
              <a:t>t</a:t>
            </a:r>
          </a:p>
          <a:p>
            <a:pPr lvl="1"/>
            <a:r>
              <a:rPr lang="en-US" altLang="ko-KR" sz="1800" dirty="0" err="1" smtClean="0"/>
              <a:t>x</a:t>
            </a:r>
            <a:r>
              <a:rPr lang="en-US" altLang="ko-KR" sz="1800" baseline="-25000" dirty="0" err="1" smtClean="0"/>
              <a:t>t</a:t>
            </a:r>
            <a:r>
              <a:rPr lang="en-US" altLang="ko-KR" sz="1800" dirty="0" smtClean="0"/>
              <a:t>: adding capacity</a:t>
            </a:r>
          </a:p>
          <a:p>
            <a:pPr lvl="1"/>
            <a:r>
              <a:rPr lang="en-US" altLang="ko-KR" sz="1800" dirty="0" err="1" smtClean="0"/>
              <a:t>s</a:t>
            </a:r>
            <a:r>
              <a:rPr lang="en-US" altLang="ko-KR" sz="1800" baseline="-25000" dirty="0" err="1" smtClean="0"/>
              <a:t>t</a:t>
            </a:r>
            <a:r>
              <a:rPr lang="en-US" altLang="ko-KR" sz="1800" dirty="0"/>
              <a:t>: existing capacity </a:t>
            </a:r>
            <a:r>
              <a:rPr lang="en-US" altLang="ko-KR" sz="1800" u="sng" dirty="0" smtClean="0"/>
              <a:t>at the beginning </a:t>
            </a:r>
            <a:r>
              <a:rPr lang="en-US" altLang="ko-KR" sz="1800" dirty="0"/>
              <a:t>of the </a:t>
            </a:r>
            <a:r>
              <a:rPr lang="en-US" altLang="ko-KR" sz="1800" dirty="0" smtClean="0"/>
              <a:t>period</a:t>
            </a:r>
          </a:p>
          <a:p>
            <a:r>
              <a:rPr lang="en-US" altLang="ko-KR" sz="2200" dirty="0" smtClean="0"/>
              <a:t>Objective </a:t>
            </a:r>
          </a:p>
          <a:p>
            <a:endParaRPr lang="en-US" altLang="ko-KR" sz="22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t="1" r="15147" b="1229"/>
          <a:stretch/>
        </p:blipFill>
        <p:spPr>
          <a:xfrm>
            <a:off x="1350126" y="4391459"/>
            <a:ext cx="4202776" cy="479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직사각형 10"/>
          <p:cNvSpPr/>
          <p:nvPr/>
        </p:nvSpPr>
        <p:spPr>
          <a:xfrm>
            <a:off x="6766332" y="4166089"/>
            <a:ext cx="175721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2200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Constraints</a:t>
            </a:r>
            <a:endParaRPr lang="ko-KR" altLang="en-US" sz="2200" dirty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</p:txBody>
      </p:sp>
      <p:grpSp>
        <p:nvGrpSpPr>
          <p:cNvPr id="17" name="그룹 16"/>
          <p:cNvGrpSpPr/>
          <p:nvPr/>
        </p:nvGrpSpPr>
        <p:grpSpPr>
          <a:xfrm>
            <a:off x="7195586" y="4631359"/>
            <a:ext cx="4053147" cy="1729609"/>
            <a:chOff x="7242464" y="4294517"/>
            <a:chExt cx="4053147" cy="1729609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 rotWithShape="1">
            <a:blip r:embed="rId3"/>
            <a:srcRect r="31572" b="6871"/>
            <a:stretch/>
          </p:blipFill>
          <p:spPr>
            <a:xfrm>
              <a:off x="7423500" y="4363283"/>
              <a:ext cx="3363190" cy="523356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4"/>
            <a:srcRect t="17603" r="19430"/>
            <a:stretch/>
          </p:blipFill>
          <p:spPr>
            <a:xfrm>
              <a:off x="7400406" y="4905433"/>
              <a:ext cx="3895205" cy="359416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5"/>
            <a:srcRect r="43014" b="7596"/>
            <a:stretch/>
          </p:blipFill>
          <p:spPr>
            <a:xfrm>
              <a:off x="7400406" y="5242988"/>
              <a:ext cx="2806238" cy="413667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00406" y="5633601"/>
              <a:ext cx="904875" cy="390525"/>
            </a:xfrm>
            <a:prstGeom prst="rect">
              <a:avLst/>
            </a:prstGeom>
          </p:spPr>
        </p:pic>
        <p:sp>
          <p:nvSpPr>
            <p:cNvPr id="12" name="직사각형 11"/>
            <p:cNvSpPr/>
            <p:nvPr/>
          </p:nvSpPr>
          <p:spPr>
            <a:xfrm>
              <a:off x="7242464" y="4294517"/>
              <a:ext cx="3906289" cy="172960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450706" y="4631359"/>
            <a:ext cx="5870171" cy="1900270"/>
            <a:chOff x="450706" y="4631359"/>
            <a:chExt cx="5870171" cy="1900270"/>
          </a:xfrm>
        </p:grpSpPr>
        <p:sp>
          <p:nvSpPr>
            <p:cNvPr id="13" name="구름 12"/>
            <p:cNvSpPr/>
            <p:nvPr/>
          </p:nvSpPr>
          <p:spPr>
            <a:xfrm>
              <a:off x="450706" y="5126096"/>
              <a:ext cx="5870171" cy="1405533"/>
            </a:xfrm>
            <a:prstGeom prst="cloud">
              <a:avLst/>
            </a:prstGeom>
            <a:solidFill>
              <a:srgbClr val="FFFF99"/>
            </a:soli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Capacity expansion planners </a:t>
              </a:r>
              <a:r>
                <a:rPr lang="en-US" altLang="ko-KR" dirty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need to consider </a:t>
              </a:r>
              <a:r>
                <a:rPr lang="en-US" altLang="ko-KR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the future</a:t>
              </a:r>
            </a:p>
            <a:p>
              <a:pPr algn="ctr"/>
              <a:r>
                <a:rPr lang="en-US" altLang="ko-KR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 </a:t>
              </a:r>
              <a:r>
                <a:rPr lang="en-US" altLang="ko-KR" dirty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if </a:t>
              </a:r>
              <a:r>
                <a:rPr lang="en-US" altLang="ko-KR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their plans </a:t>
              </a:r>
              <a:r>
                <a:rPr lang="en-US" altLang="ko-KR" dirty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are to be cost-effective.</a:t>
              </a:r>
              <a:endParaRPr lang="ko-KR" altLang="en-US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cxnSp>
          <p:nvCxnSpPr>
            <p:cNvPr id="15" name="구부러진 연결선 14"/>
            <p:cNvCxnSpPr>
              <a:stCxn id="13" idx="0"/>
              <a:endCxn id="5" idx="3"/>
            </p:cNvCxnSpPr>
            <p:nvPr/>
          </p:nvCxnSpPr>
          <p:spPr>
            <a:xfrm flipH="1" flipV="1">
              <a:off x="5552902" y="4631359"/>
              <a:ext cx="763083" cy="1197504"/>
            </a:xfrm>
            <a:prstGeom prst="curvedConnector3">
              <a:avLst>
                <a:gd name="adj1" fmla="val -30599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/>
          <p:cNvGrpSpPr/>
          <p:nvPr/>
        </p:nvGrpSpPr>
        <p:grpSpPr>
          <a:xfrm>
            <a:off x="7195586" y="2082520"/>
            <a:ext cx="4857869" cy="3413643"/>
            <a:chOff x="7195586" y="2082520"/>
            <a:chExt cx="4857869" cy="3413643"/>
          </a:xfrm>
        </p:grpSpPr>
        <p:cxnSp>
          <p:nvCxnSpPr>
            <p:cNvPr id="19" name="구부러진 연결선 18"/>
            <p:cNvCxnSpPr>
              <a:endCxn id="12" idx="3"/>
            </p:cNvCxnSpPr>
            <p:nvPr/>
          </p:nvCxnSpPr>
          <p:spPr>
            <a:xfrm rot="5400000">
              <a:off x="10334995" y="4424483"/>
              <a:ext cx="1838561" cy="304800"/>
            </a:xfrm>
            <a:prstGeom prst="curved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구름 15"/>
            <p:cNvSpPr/>
            <p:nvPr/>
          </p:nvSpPr>
          <p:spPr>
            <a:xfrm>
              <a:off x="7195586" y="2082520"/>
              <a:ext cx="4857869" cy="2248853"/>
            </a:xfrm>
            <a:prstGeom prst="cloud">
              <a:avLst/>
            </a:prstGeom>
            <a:solidFill>
              <a:srgbClr val="FFFF99"/>
            </a:soli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i="1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Capacity </a:t>
              </a:r>
              <a:r>
                <a:rPr lang="en-US" altLang="ko-KR" i="1" dirty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not </a:t>
              </a:r>
              <a:r>
                <a:rPr lang="en-US" altLang="ko-KR" i="1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needed immediately</a:t>
              </a:r>
            </a:p>
            <a:p>
              <a:pPr algn="ctr"/>
              <a:r>
                <a:rPr lang="en-US" altLang="ko-KR" i="1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but </a:t>
              </a:r>
              <a:r>
                <a:rPr lang="en-US" altLang="ko-KR" i="1" dirty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expected to be needed eventually </a:t>
              </a:r>
              <a:r>
                <a:rPr lang="en-US" altLang="ko-KR" i="1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to meet </a:t>
              </a:r>
              <a:r>
                <a:rPr lang="en-US" altLang="ko-KR" i="1" dirty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an increased demand for additional capacity in </a:t>
              </a:r>
              <a:r>
                <a:rPr lang="en-US" altLang="ko-KR" i="1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the future</a:t>
              </a:r>
              <a:endParaRPr lang="ko-KR" altLang="en-US" i="1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74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Capacity Expansion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142" y="1539038"/>
            <a:ext cx="4972050" cy="43434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025" y="1539038"/>
            <a:ext cx="4914886" cy="4766512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8305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Capacity Expansion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 </a:t>
            </a:r>
            <a:r>
              <a:rPr lang="en-US" altLang="ko-KR" dirty="0"/>
              <a:t>Solving Method</a:t>
            </a:r>
          </a:p>
          <a:p>
            <a:pPr lvl="1"/>
            <a:r>
              <a:rPr lang="en-US" altLang="ko-KR" b="1" dirty="0">
                <a:solidFill>
                  <a:srgbClr val="0033CC"/>
                </a:solidFill>
              </a:rPr>
              <a:t>Forward-moving</a:t>
            </a:r>
            <a:r>
              <a:rPr lang="en-US" altLang="ko-KR" b="1" dirty="0"/>
              <a:t> (Backward-looking)</a:t>
            </a:r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669" y="2435628"/>
            <a:ext cx="5453285" cy="431776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326" y="1534530"/>
            <a:ext cx="4325559" cy="57176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889" y="2198992"/>
            <a:ext cx="4385996" cy="917223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3326" y="3567647"/>
            <a:ext cx="4303915" cy="118275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3327" y="5014186"/>
            <a:ext cx="4262876" cy="1377981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 rot="5400000">
            <a:off x="9229539" y="3096695"/>
            <a:ext cx="4331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…</a:t>
            </a:r>
            <a:endParaRPr lang="ko-KR" altLang="en-US" sz="2000" b="1" dirty="0"/>
          </a:p>
        </p:txBody>
      </p:sp>
      <p:sp>
        <p:nvSpPr>
          <p:cNvPr id="12" name="직사각형 11"/>
          <p:cNvSpPr/>
          <p:nvPr/>
        </p:nvSpPr>
        <p:spPr>
          <a:xfrm rot="5400000">
            <a:off x="9218717" y="4548452"/>
            <a:ext cx="4331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…</a:t>
            </a:r>
            <a:endParaRPr lang="ko-KR" altLang="en-US" sz="20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1363669" y="2276078"/>
            <a:ext cx="1255223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D</a:t>
            </a:r>
            <a:r>
              <a:rPr lang="en-US" altLang="ko-KR" baseline="-25000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t-1</a:t>
            </a:r>
            <a:r>
              <a:rPr lang="en-US" altLang="ko-KR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≤ </a:t>
            </a:r>
            <a:r>
              <a:rPr lang="en-US" altLang="ko-KR" dirty="0" err="1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</a:t>
            </a:r>
            <a:r>
              <a:rPr lang="en-US" altLang="ko-KR" baseline="-25000" dirty="0" err="1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</a:t>
            </a:r>
            <a:r>
              <a:rPr lang="en-US" altLang="ko-KR" dirty="0" err="1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≤D</a:t>
            </a:r>
            <a:r>
              <a:rPr lang="en-US" altLang="ko-KR" baseline="-25000" dirty="0" err="1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</a:t>
            </a:r>
            <a:endParaRPr lang="ko-KR" altLang="en-US" baseline="-25000" dirty="0">
              <a:latin typeface="1훈검정고무신 Regular" panose="02020603020101020101" pitchFamily="18" charset="-127"/>
              <a:ea typeface="1훈검정고무신 Regular" panose="02020603020101020101" pitchFamily="18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08584" y="5911181"/>
            <a:ext cx="63526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</a:t>
            </a:r>
            <a:r>
              <a:rPr lang="en-US" altLang="ko-KR" baseline="-25000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1</a:t>
            </a:r>
            <a:r>
              <a:rPr lang="en-US" altLang="ko-KR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=0</a:t>
            </a:r>
            <a:endParaRPr lang="ko-KR" altLang="en-US" baseline="-25000" dirty="0">
              <a:latin typeface="1훈검정고무신 Regular" panose="02020603020101020101" pitchFamily="18" charset="-127"/>
              <a:ea typeface="1훈검정고무신 Regular" panose="02020603020101020101" pitchFamily="18" charset="-127"/>
            </a:endParaRPr>
          </a:p>
        </p:txBody>
      </p:sp>
      <p:sp>
        <p:nvSpPr>
          <p:cNvPr id="16" name="직사각형 15"/>
          <p:cNvSpPr/>
          <p:nvPr/>
        </p:nvSpPr>
        <p:spPr>
          <a:xfrm rot="2115221">
            <a:off x="3080495" y="2556237"/>
            <a:ext cx="245290" cy="1949450"/>
          </a:xfrm>
          <a:prstGeom prst="rect">
            <a:avLst/>
          </a:prstGeom>
          <a:solidFill>
            <a:srgbClr val="00FFFF">
              <a:alpha val="30196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 rot="2115221">
            <a:off x="3078737" y="3129128"/>
            <a:ext cx="264471" cy="1949450"/>
          </a:xfrm>
          <a:prstGeom prst="rect">
            <a:avLst/>
          </a:prstGeom>
          <a:solidFill>
            <a:srgbClr val="00FFFF">
              <a:alpha val="30196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 rot="5400000">
            <a:off x="3148421" y="3518609"/>
            <a:ext cx="264471" cy="1170490"/>
          </a:xfrm>
          <a:prstGeom prst="rect">
            <a:avLst/>
          </a:prstGeom>
          <a:solidFill>
            <a:srgbClr val="00FFFF">
              <a:alpha val="30196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 rot="5400000">
            <a:off x="3148420" y="4119018"/>
            <a:ext cx="264471" cy="1170490"/>
          </a:xfrm>
          <a:prstGeom prst="rect">
            <a:avLst/>
          </a:prstGeom>
          <a:solidFill>
            <a:srgbClr val="00FFFF">
              <a:alpha val="30196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 rot="1616072">
            <a:off x="3913290" y="2647258"/>
            <a:ext cx="285500" cy="2315351"/>
          </a:xfrm>
          <a:prstGeom prst="rect">
            <a:avLst/>
          </a:prstGeom>
          <a:solidFill>
            <a:srgbClr val="00FFFF">
              <a:alpha val="30196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 rot="2011511">
            <a:off x="3939155" y="3219753"/>
            <a:ext cx="285500" cy="1857143"/>
          </a:xfrm>
          <a:prstGeom prst="rect">
            <a:avLst/>
          </a:prstGeom>
          <a:solidFill>
            <a:srgbClr val="00FFFF">
              <a:alpha val="30196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 rot="5400000">
            <a:off x="5177162" y="1818126"/>
            <a:ext cx="285500" cy="2110974"/>
          </a:xfrm>
          <a:prstGeom prst="rect">
            <a:avLst/>
          </a:prstGeom>
          <a:solidFill>
            <a:srgbClr val="00FFFF">
              <a:alpha val="30196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" name="그룹 25"/>
          <p:cNvGrpSpPr/>
          <p:nvPr/>
        </p:nvGrpSpPr>
        <p:grpSpPr>
          <a:xfrm>
            <a:off x="4451350" y="2171187"/>
            <a:ext cx="1806390" cy="493019"/>
            <a:chOff x="4451350" y="2171187"/>
            <a:chExt cx="1806390" cy="493019"/>
          </a:xfrm>
        </p:grpSpPr>
        <p:sp>
          <p:nvSpPr>
            <p:cNvPr id="24" name="굽은 화살표 23"/>
            <p:cNvSpPr/>
            <p:nvPr/>
          </p:nvSpPr>
          <p:spPr>
            <a:xfrm>
              <a:off x="4451350" y="2276078"/>
              <a:ext cx="431800" cy="388128"/>
            </a:xfrm>
            <a:prstGeom prst="bentArrow">
              <a:avLst/>
            </a:prstGeom>
            <a:solidFill>
              <a:srgbClr val="FFD0C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832350" y="2171187"/>
              <a:ext cx="14253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>
                  <a:solidFill>
                    <a:srgbClr val="FF3300"/>
                  </a:solidFill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D</a:t>
              </a:r>
              <a:r>
                <a:rPr lang="en-US" altLang="ko-KR" baseline="-25000" dirty="0" smtClean="0">
                  <a:solidFill>
                    <a:srgbClr val="FF3300"/>
                  </a:solidFill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T</a:t>
              </a:r>
              <a:r>
                <a:rPr lang="ko-KR" altLang="en-US" dirty="0" smtClean="0">
                  <a:solidFill>
                    <a:srgbClr val="FF3300"/>
                  </a:solidFill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에 이르렀음 </a:t>
              </a:r>
              <a:r>
                <a:rPr lang="en-US" altLang="ko-KR" dirty="0" smtClean="0">
                  <a:solidFill>
                    <a:srgbClr val="FF3300"/>
                  </a:solidFill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!</a:t>
              </a:r>
              <a:endParaRPr lang="ko-KR" altLang="en-US" dirty="0">
                <a:solidFill>
                  <a:srgbClr val="FF3300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</p:grp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1013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Capacity Expansion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Solving Method</a:t>
            </a:r>
          </a:p>
          <a:p>
            <a:pPr lvl="1"/>
            <a:r>
              <a:rPr lang="en-US" altLang="ko-KR" b="1" dirty="0">
                <a:solidFill>
                  <a:srgbClr val="0033CC"/>
                </a:solidFill>
              </a:rPr>
              <a:t>Forward-moving</a:t>
            </a:r>
            <a:r>
              <a:rPr lang="en-US" altLang="ko-KR" b="1" dirty="0"/>
              <a:t> (Backward-looking)</a:t>
            </a:r>
          </a:p>
          <a:p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824" y="2131592"/>
            <a:ext cx="9467851" cy="13688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824" y="3608388"/>
            <a:ext cx="3486150" cy="3067050"/>
          </a:xfrm>
          <a:prstGeom prst="rect">
            <a:avLst/>
          </a:prstGeom>
          <a:ln w="38100" cmpd="sng"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100" y="3603625"/>
            <a:ext cx="3638550" cy="3076575"/>
          </a:xfrm>
          <a:prstGeom prst="rect">
            <a:avLst/>
          </a:prstGeom>
          <a:ln w="38100" cmpd="sng">
            <a:solidFill>
              <a:schemeClr val="accent1">
                <a:lumMod val="60000"/>
                <a:lumOff val="40000"/>
              </a:schemeClr>
            </a:solidFill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3276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Capacity Expansion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Solving Method</a:t>
            </a:r>
          </a:p>
          <a:p>
            <a:pPr lvl="1"/>
            <a:r>
              <a:rPr lang="en-US" altLang="ko-KR" b="1" dirty="0">
                <a:solidFill>
                  <a:srgbClr val="0033CC"/>
                </a:solidFill>
              </a:rPr>
              <a:t>Forward-moving</a:t>
            </a:r>
            <a:r>
              <a:rPr lang="en-US" altLang="ko-KR" b="1" dirty="0"/>
              <a:t> (Backward-looking)</a:t>
            </a:r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525" y="2286000"/>
            <a:ext cx="4486276" cy="69614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174" y="4071651"/>
            <a:ext cx="3057525" cy="1419225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447801" y="2188396"/>
            <a:ext cx="4562475" cy="34599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4"/>
          <a:srcRect b="14388"/>
          <a:stretch/>
        </p:blipFill>
        <p:spPr>
          <a:xfrm>
            <a:off x="6229357" y="1929562"/>
            <a:ext cx="5477018" cy="454743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79562" y="3872789"/>
            <a:ext cx="519115" cy="43279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11</a:t>
            </a:r>
            <a:endParaRPr lang="ko-KR" altLang="en-US" sz="1400" dirty="0">
              <a:latin typeface="1훈검정고무신 Regular" panose="02020603020101020101" pitchFamily="18" charset="-127"/>
              <a:ea typeface="1훈검정고무신 Regular" panose="02020603020101020101" pitchFamily="18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79563" y="4362775"/>
            <a:ext cx="519115" cy="43279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9</a:t>
            </a:r>
            <a:endParaRPr lang="ko-KR" altLang="en-US" sz="1400" dirty="0">
              <a:latin typeface="1훈검정고무신 Regular" panose="02020603020101020101" pitchFamily="18" charset="-127"/>
              <a:ea typeface="1훈검정고무신 Regular" panose="02020603020101020101" pitchFamily="18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979561" y="3389617"/>
            <a:ext cx="519115" cy="43279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15</a:t>
            </a:r>
            <a:endParaRPr lang="ko-KR" altLang="en-US" sz="1400" dirty="0">
              <a:latin typeface="1훈검정고무신 Regular" panose="02020603020101020101" pitchFamily="18" charset="-127"/>
              <a:ea typeface="1훈검정고무신 Regular" panose="02020603020101020101" pitchFamily="18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55740" y="2463353"/>
            <a:ext cx="519115" cy="43279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27</a:t>
            </a:r>
            <a:endParaRPr lang="ko-KR" altLang="en-US" sz="1400" dirty="0">
              <a:latin typeface="1훈검정고무신 Regular" panose="02020603020101020101" pitchFamily="18" charset="-127"/>
              <a:ea typeface="1훈검정고무신 Regular" panose="02020603020101020101" pitchFamily="18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955740" y="2917526"/>
            <a:ext cx="519115" cy="43279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21</a:t>
            </a:r>
            <a:endParaRPr lang="ko-KR" altLang="en-US" sz="1400" dirty="0">
              <a:latin typeface="1훈검정고무신 Regular" panose="02020603020101020101" pitchFamily="18" charset="-127"/>
              <a:ea typeface="1훈검정고무신 Regular" panose="02020603020101020101" pitchFamily="18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8662984" y="2408315"/>
            <a:ext cx="2567001" cy="1903560"/>
            <a:chOff x="8662984" y="2408315"/>
            <a:chExt cx="2567001" cy="1903560"/>
          </a:xfrm>
        </p:grpSpPr>
        <p:sp>
          <p:nvSpPr>
            <p:cNvPr id="15" name="TextBox 14"/>
            <p:cNvSpPr txBox="1"/>
            <p:nvPr/>
          </p:nvSpPr>
          <p:spPr>
            <a:xfrm>
              <a:off x="8662985" y="3389617"/>
              <a:ext cx="519115" cy="432792"/>
            </a:xfrm>
            <a:prstGeom prst="ellipse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15</a:t>
              </a:r>
              <a:endParaRPr lang="ko-KR" altLang="en-US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672510" y="3879083"/>
              <a:ext cx="519115" cy="432792"/>
            </a:xfrm>
            <a:prstGeom prst="ellipse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11</a:t>
              </a:r>
              <a:endParaRPr lang="ko-KR" altLang="en-US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662984" y="2896145"/>
              <a:ext cx="519115" cy="432792"/>
            </a:xfrm>
            <a:prstGeom prst="ellipse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21</a:t>
              </a:r>
              <a:endParaRPr lang="ko-KR" altLang="en-US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662984" y="2430738"/>
              <a:ext cx="519115" cy="432792"/>
            </a:xfrm>
            <a:prstGeom prst="ellipse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24</a:t>
              </a:r>
              <a:endParaRPr lang="ko-KR" altLang="en-US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301148" y="2917526"/>
              <a:ext cx="519115" cy="432792"/>
            </a:xfrm>
            <a:prstGeom prst="ellipse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20</a:t>
              </a:r>
              <a:endParaRPr lang="ko-KR" altLang="en-US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301148" y="2417677"/>
              <a:ext cx="519115" cy="432792"/>
            </a:xfrm>
            <a:prstGeom prst="ellipse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23</a:t>
              </a:r>
              <a:endParaRPr lang="ko-KR" altLang="en-US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0008392" y="2908164"/>
              <a:ext cx="519115" cy="432792"/>
            </a:xfrm>
            <a:prstGeom prst="ellipse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20</a:t>
              </a:r>
              <a:endParaRPr lang="ko-KR" altLang="en-US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0008392" y="2408315"/>
              <a:ext cx="519115" cy="432792"/>
            </a:xfrm>
            <a:prstGeom prst="ellipse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23</a:t>
              </a:r>
              <a:endParaRPr lang="ko-KR" altLang="en-US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710870" y="2417677"/>
              <a:ext cx="519115" cy="432792"/>
            </a:xfrm>
            <a:prstGeom prst="ellipse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23</a:t>
              </a:r>
              <a:endParaRPr lang="ko-KR" altLang="en-US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</p:grpSp>
      <p:sp>
        <p:nvSpPr>
          <p:cNvPr id="30" name="직사각형 29"/>
          <p:cNvSpPr/>
          <p:nvPr/>
        </p:nvSpPr>
        <p:spPr>
          <a:xfrm>
            <a:off x="4171950" y="2188396"/>
            <a:ext cx="1771650" cy="793750"/>
          </a:xfrm>
          <a:prstGeom prst="rect">
            <a:avLst/>
          </a:prstGeom>
          <a:solidFill>
            <a:srgbClr val="FFFF99">
              <a:alpha val="3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2356468" y="4502630"/>
            <a:ext cx="2245505" cy="988245"/>
          </a:xfrm>
          <a:prstGeom prst="rect">
            <a:avLst/>
          </a:prstGeom>
          <a:solidFill>
            <a:srgbClr val="FFFF99">
              <a:alpha val="3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2" name="그룹 51"/>
          <p:cNvGrpSpPr/>
          <p:nvPr/>
        </p:nvGrpSpPr>
        <p:grpSpPr>
          <a:xfrm>
            <a:off x="8481998" y="2643761"/>
            <a:ext cx="2228872" cy="1451718"/>
            <a:chOff x="8481998" y="2643761"/>
            <a:chExt cx="2228872" cy="1451718"/>
          </a:xfrm>
        </p:grpSpPr>
        <p:cxnSp>
          <p:nvCxnSpPr>
            <p:cNvPr id="33" name="직선 화살표 연결선 32"/>
            <p:cNvCxnSpPr/>
            <p:nvPr/>
          </p:nvCxnSpPr>
          <p:spPr>
            <a:xfrm>
              <a:off x="10527507" y="2643761"/>
              <a:ext cx="183363" cy="9362"/>
            </a:xfrm>
            <a:prstGeom prst="straightConnector1">
              <a:avLst/>
            </a:prstGeom>
            <a:ln w="38100">
              <a:solidFill>
                <a:srgbClr val="0066FF"/>
              </a:solidFill>
              <a:tailEnd type="triangle"/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/>
            <p:cNvCxnSpPr/>
            <p:nvPr/>
          </p:nvCxnSpPr>
          <p:spPr>
            <a:xfrm>
              <a:off x="9820263" y="2662860"/>
              <a:ext cx="183363" cy="9362"/>
            </a:xfrm>
            <a:prstGeom prst="straightConnector1">
              <a:avLst/>
            </a:prstGeom>
            <a:ln w="38100">
              <a:solidFill>
                <a:srgbClr val="0066FF"/>
              </a:solidFill>
              <a:tailEnd type="triangle"/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화살표 연결선 36"/>
            <p:cNvCxnSpPr>
              <a:endCxn id="27" idx="2"/>
            </p:cNvCxnSpPr>
            <p:nvPr/>
          </p:nvCxnSpPr>
          <p:spPr>
            <a:xfrm>
              <a:off x="9807164" y="3119879"/>
              <a:ext cx="201228" cy="4681"/>
            </a:xfrm>
            <a:prstGeom prst="straightConnector1">
              <a:avLst/>
            </a:prstGeom>
            <a:ln w="38100">
              <a:solidFill>
                <a:srgbClr val="0066FF"/>
              </a:solidFill>
              <a:tailEnd type="triangle"/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/>
            <p:cNvCxnSpPr>
              <a:stCxn id="17" idx="0"/>
            </p:cNvCxnSpPr>
            <p:nvPr/>
          </p:nvCxnSpPr>
          <p:spPr>
            <a:xfrm flipV="1">
              <a:off x="8932068" y="2662649"/>
              <a:ext cx="417901" cy="1216434"/>
            </a:xfrm>
            <a:prstGeom prst="straightConnector1">
              <a:avLst/>
            </a:prstGeom>
            <a:ln w="38100">
              <a:solidFill>
                <a:srgbClr val="0066FF"/>
              </a:solidFill>
              <a:tailEnd type="triangle"/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/>
            <p:cNvCxnSpPr>
              <a:stCxn id="17" idx="7"/>
              <a:endCxn id="25" idx="2"/>
            </p:cNvCxnSpPr>
            <p:nvPr/>
          </p:nvCxnSpPr>
          <p:spPr>
            <a:xfrm flipV="1">
              <a:off x="9115602" y="3133922"/>
              <a:ext cx="185546" cy="808542"/>
            </a:xfrm>
            <a:prstGeom prst="straightConnector1">
              <a:avLst/>
            </a:prstGeom>
            <a:ln w="38100">
              <a:solidFill>
                <a:srgbClr val="0066FF"/>
              </a:solidFill>
              <a:tailEnd type="triangle"/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/>
            <p:cNvCxnSpPr/>
            <p:nvPr/>
          </p:nvCxnSpPr>
          <p:spPr>
            <a:xfrm flipV="1">
              <a:off x="8481998" y="2669066"/>
              <a:ext cx="185734" cy="963666"/>
            </a:xfrm>
            <a:prstGeom prst="straightConnector1">
              <a:avLst/>
            </a:prstGeom>
            <a:ln w="38100">
              <a:solidFill>
                <a:srgbClr val="0066FF"/>
              </a:solidFill>
              <a:tailEnd type="triangle"/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화살표 연결선 48"/>
            <p:cNvCxnSpPr/>
            <p:nvPr/>
          </p:nvCxnSpPr>
          <p:spPr>
            <a:xfrm flipV="1">
              <a:off x="8507790" y="3121201"/>
              <a:ext cx="185734" cy="963666"/>
            </a:xfrm>
            <a:prstGeom prst="straightConnector1">
              <a:avLst/>
            </a:prstGeom>
            <a:ln w="38100">
              <a:solidFill>
                <a:srgbClr val="0066FF"/>
              </a:solidFill>
              <a:tailEnd type="triangle"/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/>
            <p:cNvCxnSpPr>
              <a:stCxn id="20" idx="6"/>
              <a:endCxn id="17" idx="2"/>
            </p:cNvCxnSpPr>
            <p:nvPr/>
          </p:nvCxnSpPr>
          <p:spPr>
            <a:xfrm>
              <a:off x="8498677" y="4089185"/>
              <a:ext cx="173833" cy="6294"/>
            </a:xfrm>
            <a:prstGeom prst="straightConnector1">
              <a:avLst/>
            </a:prstGeom>
            <a:ln w="38100">
              <a:solidFill>
                <a:srgbClr val="0066FF"/>
              </a:solidFill>
              <a:tailEnd type="triangle"/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/>
            <p:cNvCxnSpPr/>
            <p:nvPr/>
          </p:nvCxnSpPr>
          <p:spPr>
            <a:xfrm>
              <a:off x="8482009" y="3605493"/>
              <a:ext cx="173833" cy="6294"/>
            </a:xfrm>
            <a:prstGeom prst="straightConnector1">
              <a:avLst/>
            </a:prstGeom>
            <a:ln w="38100">
              <a:solidFill>
                <a:srgbClr val="0066FF"/>
              </a:solidFill>
              <a:tailEnd type="triangle"/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그룹 67"/>
          <p:cNvGrpSpPr/>
          <p:nvPr/>
        </p:nvGrpSpPr>
        <p:grpSpPr>
          <a:xfrm>
            <a:off x="7643789" y="2512523"/>
            <a:ext cx="3169475" cy="2810944"/>
            <a:chOff x="7643789" y="2512523"/>
            <a:chExt cx="3169475" cy="2810944"/>
          </a:xfrm>
        </p:grpSpPr>
        <p:sp>
          <p:nvSpPr>
            <p:cNvPr id="63" name="아래쪽 화살표 62"/>
            <p:cNvSpPr/>
            <p:nvPr/>
          </p:nvSpPr>
          <p:spPr>
            <a:xfrm rot="12526059">
              <a:off x="7643789" y="4074872"/>
              <a:ext cx="247650" cy="1248595"/>
            </a:xfrm>
            <a:prstGeom prst="downArrow">
              <a:avLst/>
            </a:prstGeom>
            <a:solidFill>
              <a:srgbClr val="F9B3C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아래쪽 화살표 63"/>
            <p:cNvSpPr/>
            <p:nvPr/>
          </p:nvSpPr>
          <p:spPr>
            <a:xfrm rot="16200000">
              <a:off x="8425551" y="3943365"/>
              <a:ext cx="247650" cy="288301"/>
            </a:xfrm>
            <a:prstGeom prst="downArrow">
              <a:avLst/>
            </a:prstGeom>
            <a:solidFill>
              <a:srgbClr val="F9B3C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아래쪽 화살표 64"/>
            <p:cNvSpPr/>
            <p:nvPr/>
          </p:nvSpPr>
          <p:spPr>
            <a:xfrm rot="11999279">
              <a:off x="9058273" y="2617516"/>
              <a:ext cx="247650" cy="1344336"/>
            </a:xfrm>
            <a:prstGeom prst="downArrow">
              <a:avLst/>
            </a:prstGeom>
            <a:solidFill>
              <a:srgbClr val="F9B3C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아래쪽 화살표 65"/>
            <p:cNvSpPr/>
            <p:nvPr/>
          </p:nvSpPr>
          <p:spPr>
            <a:xfrm rot="16200000">
              <a:off x="9802844" y="2447463"/>
              <a:ext cx="247650" cy="377769"/>
            </a:xfrm>
            <a:prstGeom prst="downArrow">
              <a:avLst/>
            </a:prstGeom>
            <a:solidFill>
              <a:srgbClr val="F9B3C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아래쪽 화살표 66"/>
            <p:cNvSpPr/>
            <p:nvPr/>
          </p:nvSpPr>
          <p:spPr>
            <a:xfrm rot="16200000">
              <a:off x="10500555" y="2447463"/>
              <a:ext cx="247650" cy="377769"/>
            </a:xfrm>
            <a:prstGeom prst="downArrow">
              <a:avLst/>
            </a:prstGeom>
            <a:solidFill>
              <a:srgbClr val="F9B3C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5" name="그룹 74"/>
          <p:cNvGrpSpPr/>
          <p:nvPr/>
        </p:nvGrpSpPr>
        <p:grpSpPr>
          <a:xfrm>
            <a:off x="7481053" y="1477512"/>
            <a:ext cx="3748932" cy="719620"/>
            <a:chOff x="7481053" y="1477512"/>
            <a:chExt cx="3748932" cy="719620"/>
          </a:xfrm>
        </p:grpSpPr>
        <p:sp>
          <p:nvSpPr>
            <p:cNvPr id="69" name="오른쪽 화살표 68"/>
            <p:cNvSpPr/>
            <p:nvPr/>
          </p:nvSpPr>
          <p:spPr>
            <a:xfrm rot="16200000">
              <a:off x="7572823" y="1877617"/>
              <a:ext cx="345265" cy="293765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오른쪽 화살표 69"/>
            <p:cNvSpPr/>
            <p:nvPr/>
          </p:nvSpPr>
          <p:spPr>
            <a:xfrm rot="16200000">
              <a:off x="8412960" y="1858550"/>
              <a:ext cx="345265" cy="293765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오른쪽 화살표 70"/>
            <p:cNvSpPr/>
            <p:nvPr/>
          </p:nvSpPr>
          <p:spPr>
            <a:xfrm rot="16200000">
              <a:off x="9087902" y="1868881"/>
              <a:ext cx="345265" cy="293765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오른쪽 화살표 71"/>
            <p:cNvSpPr/>
            <p:nvPr/>
          </p:nvSpPr>
          <p:spPr>
            <a:xfrm rot="16200000">
              <a:off x="9712034" y="1858550"/>
              <a:ext cx="345265" cy="293765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오른쪽 화살표 72"/>
            <p:cNvSpPr/>
            <p:nvPr/>
          </p:nvSpPr>
          <p:spPr>
            <a:xfrm rot="16200000">
              <a:off x="10456098" y="1850548"/>
              <a:ext cx="345265" cy="293765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481053" y="1477512"/>
              <a:ext cx="3748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X1=10,     x2=0,   x3=10,   x4=0,   x5=0</a:t>
              </a:r>
              <a:endParaRPr lang="ko-KR" altLang="en-US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</p:grpSp>
      <p:sp>
        <p:nvSpPr>
          <p:cNvPr id="76" name="직사각형 75"/>
          <p:cNvSpPr/>
          <p:nvPr/>
        </p:nvSpPr>
        <p:spPr>
          <a:xfrm>
            <a:off x="1504950" y="3586949"/>
            <a:ext cx="15600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s_to_minimize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9302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213" y="2310497"/>
            <a:ext cx="5170363" cy="406717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Capacity Expansion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 </a:t>
            </a:r>
            <a:r>
              <a:rPr lang="en-US" altLang="ko-KR" dirty="0"/>
              <a:t>Solving Method</a:t>
            </a:r>
          </a:p>
          <a:p>
            <a:pPr lvl="1"/>
            <a:r>
              <a:rPr lang="en-US" altLang="ko-KR" b="1" dirty="0">
                <a:solidFill>
                  <a:srgbClr val="0033CC"/>
                </a:solidFill>
              </a:rPr>
              <a:t>Backward-moving</a:t>
            </a:r>
            <a:r>
              <a:rPr lang="en-US" altLang="ko-KR" b="1" dirty="0"/>
              <a:t> (Forward-looking)</a:t>
            </a:r>
          </a:p>
          <a:p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325569" y="2141874"/>
            <a:ext cx="1255223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D</a:t>
            </a:r>
            <a:r>
              <a:rPr lang="en-US" altLang="ko-KR" baseline="-25000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t-1</a:t>
            </a:r>
            <a:r>
              <a:rPr lang="en-US" altLang="ko-KR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≤ </a:t>
            </a:r>
            <a:r>
              <a:rPr lang="en-US" altLang="ko-KR" dirty="0" err="1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</a:t>
            </a:r>
            <a:r>
              <a:rPr lang="en-US" altLang="ko-KR" baseline="-25000" dirty="0" err="1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</a:t>
            </a:r>
            <a:r>
              <a:rPr lang="en-US" altLang="ko-KR" dirty="0" err="1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≤D</a:t>
            </a:r>
            <a:r>
              <a:rPr lang="en-US" altLang="ko-KR" baseline="-25000" dirty="0" err="1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</a:t>
            </a:r>
            <a:endParaRPr lang="ko-KR" altLang="en-US" baseline="-25000" dirty="0">
              <a:latin typeface="1훈검정고무신 Regular" panose="02020603020101020101" pitchFamily="18" charset="-127"/>
              <a:ea typeface="1훈검정고무신 Regular" panose="02020603020101020101" pitchFamily="18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08583" y="6092652"/>
            <a:ext cx="63526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</a:t>
            </a:r>
            <a:r>
              <a:rPr lang="en-US" altLang="ko-KR" baseline="-25000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1</a:t>
            </a:r>
            <a:r>
              <a:rPr lang="en-US" altLang="ko-KR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=0</a:t>
            </a:r>
            <a:endParaRPr lang="ko-KR" altLang="en-US" baseline="-25000" dirty="0">
              <a:latin typeface="1훈검정고무신 Regular" panose="02020603020101020101" pitchFamily="18" charset="-127"/>
              <a:ea typeface="1훈검정고무신 Regular" panose="02020603020101020101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623" y="3184721"/>
            <a:ext cx="5029200" cy="15335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40525" y="2231632"/>
            <a:ext cx="107562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F</a:t>
            </a:r>
            <a:r>
              <a:rPr lang="en-US" altLang="ko-KR" baseline="-25000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T+1</a:t>
            </a:r>
            <a:r>
              <a:rPr lang="en-US" altLang="ko-KR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(D</a:t>
            </a:r>
            <a:r>
              <a:rPr lang="en-US" altLang="ko-KR" baseline="-25000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</a:t>
            </a:r>
            <a:r>
              <a:rPr lang="en-US" altLang="ko-KR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)=0</a:t>
            </a:r>
            <a:endParaRPr lang="ko-KR" altLang="en-US" baseline="-25000" dirty="0">
              <a:latin typeface="1훈검정고무신 Regular" panose="02020603020101020101" pitchFamily="18" charset="-127"/>
              <a:ea typeface="1훈검정고무신 Regular" panose="02020603020101020101" pitchFamily="18" charset="-127"/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3400425" y="2600964"/>
            <a:ext cx="361950" cy="2068669"/>
            <a:chOff x="3400425" y="2600964"/>
            <a:chExt cx="361950" cy="2068669"/>
          </a:xfrm>
        </p:grpSpPr>
        <p:sp>
          <p:nvSpPr>
            <p:cNvPr id="15" name="타원 14"/>
            <p:cNvSpPr/>
            <p:nvPr/>
          </p:nvSpPr>
          <p:spPr>
            <a:xfrm>
              <a:off x="3400425" y="2600964"/>
              <a:ext cx="361950" cy="399411"/>
            </a:xfrm>
            <a:prstGeom prst="ellipse">
              <a:avLst/>
            </a:prstGeom>
            <a:noFill/>
            <a:ln w="2857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타원 30"/>
            <p:cNvSpPr/>
            <p:nvPr/>
          </p:nvSpPr>
          <p:spPr>
            <a:xfrm>
              <a:off x="3400425" y="3114928"/>
              <a:ext cx="361950" cy="399411"/>
            </a:xfrm>
            <a:prstGeom prst="ellipse">
              <a:avLst/>
            </a:prstGeom>
            <a:noFill/>
            <a:ln w="2857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/>
            <p:cNvSpPr/>
            <p:nvPr/>
          </p:nvSpPr>
          <p:spPr>
            <a:xfrm>
              <a:off x="3400425" y="3682962"/>
              <a:ext cx="361950" cy="399411"/>
            </a:xfrm>
            <a:prstGeom prst="ellipse">
              <a:avLst/>
            </a:prstGeom>
            <a:noFill/>
            <a:ln w="2857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>
              <a:off x="3400425" y="4270222"/>
              <a:ext cx="361950" cy="399411"/>
            </a:xfrm>
            <a:prstGeom prst="ellipse">
              <a:avLst/>
            </a:prstGeom>
            <a:noFill/>
            <a:ln w="2857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2561500" y="2649577"/>
            <a:ext cx="381242" cy="2637247"/>
            <a:chOff x="2561500" y="2649577"/>
            <a:chExt cx="381242" cy="2637247"/>
          </a:xfrm>
        </p:grpSpPr>
        <p:sp>
          <p:nvSpPr>
            <p:cNvPr id="34" name="타원 33"/>
            <p:cNvSpPr/>
            <p:nvPr/>
          </p:nvSpPr>
          <p:spPr>
            <a:xfrm>
              <a:off x="2580792" y="2649577"/>
              <a:ext cx="361950" cy="399411"/>
            </a:xfrm>
            <a:prstGeom prst="ellipse">
              <a:avLst/>
            </a:prstGeom>
            <a:noFill/>
            <a:ln w="2857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2580792" y="3163541"/>
              <a:ext cx="361950" cy="399411"/>
            </a:xfrm>
            <a:prstGeom prst="ellipse">
              <a:avLst/>
            </a:prstGeom>
            <a:noFill/>
            <a:ln w="2857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타원 35"/>
            <p:cNvSpPr/>
            <p:nvPr/>
          </p:nvSpPr>
          <p:spPr>
            <a:xfrm>
              <a:off x="2580792" y="3731575"/>
              <a:ext cx="361950" cy="399411"/>
            </a:xfrm>
            <a:prstGeom prst="ellipse">
              <a:avLst/>
            </a:prstGeom>
            <a:noFill/>
            <a:ln w="2857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타원 36"/>
            <p:cNvSpPr/>
            <p:nvPr/>
          </p:nvSpPr>
          <p:spPr>
            <a:xfrm>
              <a:off x="2580792" y="4318835"/>
              <a:ext cx="361950" cy="399411"/>
            </a:xfrm>
            <a:prstGeom prst="ellipse">
              <a:avLst/>
            </a:prstGeom>
            <a:noFill/>
            <a:ln w="2857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37"/>
            <p:cNvSpPr/>
            <p:nvPr/>
          </p:nvSpPr>
          <p:spPr>
            <a:xfrm>
              <a:off x="2561500" y="4887413"/>
              <a:ext cx="361950" cy="399411"/>
            </a:xfrm>
            <a:prstGeom prst="ellipse">
              <a:avLst/>
            </a:prstGeom>
            <a:noFill/>
            <a:ln w="2857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9" name="타원 38"/>
          <p:cNvSpPr/>
          <p:nvPr/>
        </p:nvSpPr>
        <p:spPr>
          <a:xfrm>
            <a:off x="1743844" y="5604341"/>
            <a:ext cx="361950" cy="399411"/>
          </a:xfrm>
          <a:prstGeom prst="ellipse">
            <a:avLst/>
          </a:prstGeom>
          <a:noFill/>
          <a:ln w="28575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2080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Capacity Expansion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Solving Method</a:t>
            </a:r>
          </a:p>
          <a:p>
            <a:pPr lvl="1"/>
            <a:r>
              <a:rPr lang="en-US" altLang="ko-KR" b="1" dirty="0">
                <a:solidFill>
                  <a:srgbClr val="0033CC"/>
                </a:solidFill>
              </a:rPr>
              <a:t>Backward-moving</a:t>
            </a:r>
            <a:r>
              <a:rPr lang="en-US" altLang="ko-KR" b="1" dirty="0"/>
              <a:t> (Forward-looking)</a:t>
            </a:r>
          </a:p>
          <a:p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825" y="2131592"/>
            <a:ext cx="6772276" cy="9791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직사각형 8"/>
          <p:cNvSpPr/>
          <p:nvPr/>
        </p:nvSpPr>
        <p:spPr>
          <a:xfrm>
            <a:off x="1647825" y="3310741"/>
            <a:ext cx="5048250" cy="34163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# 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backward</a:t>
            </a:r>
            <a:endParaRPr lang="ko-KR" altLang="en-US" sz="1200" dirty="0">
              <a:latin typeface="1훈검정고무신 Regular" panose="02020603020101020101" pitchFamily="18" charset="-127"/>
              <a:ea typeface="1훈검정고무신 Regular" panose="02020603020101020101" pitchFamily="18" charset="-127"/>
            </a:endParaRPr>
          </a:p>
          <a:p>
            <a:endParaRPr lang="ko-KR" altLang="en-US" sz="1200" dirty="0">
              <a:latin typeface="1훈검정고무신 Regular" panose="02020603020101020101" pitchFamily="18" charset="-127"/>
              <a:ea typeface="1훈검정고무신 Regular" panose="02020603020101020101" pitchFamily="18" charset="-127"/>
            </a:endParaRPr>
          </a:p>
          <a:p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min_sumcost_back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=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matrix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(1000,nrow=6,ncol=6)</a:t>
            </a:r>
          </a:p>
          <a:p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#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initial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condition</a:t>
            </a:r>
            <a:endParaRPr lang="ko-KR" altLang="en-US" sz="1200" dirty="0">
              <a:latin typeface="1훈검정고무신 Regular" panose="02020603020101020101" pitchFamily="18" charset="-127"/>
              <a:ea typeface="1훈검정고무신 Regular" panose="02020603020101020101" pitchFamily="18" charset="-127"/>
            </a:endParaRPr>
          </a:p>
          <a:p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min_sumcost_back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[6,6]=0</a:t>
            </a:r>
          </a:p>
          <a:p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for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(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in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(5:2)){</a:t>
            </a:r>
          </a:p>
          <a:p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for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(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in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((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D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[t-1]/5+1):6)){</a:t>
            </a:r>
          </a:p>
          <a:p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for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(k 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in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(i:6)){</a:t>
            </a:r>
          </a:p>
          <a:p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  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[t+1]=5*(k-1)</a:t>
            </a:r>
          </a:p>
          <a:p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  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]=5*(i-1)</a:t>
            </a:r>
          </a:p>
          <a:p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  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x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]=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[t+1]-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</a:t>
            </a:r>
          </a:p>
          <a:p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  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sumcost_back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i,k,t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]=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min_sumcost_back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[k,t+1]+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cost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x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]/5+1,s[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]/5,t]</a:t>
            </a:r>
          </a:p>
          <a:p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  </a:t>
            </a:r>
          </a:p>
          <a:p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  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if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(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min_sumcost_back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i,t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]&gt;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sumcost_back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i,k,t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]){</a:t>
            </a:r>
          </a:p>
          <a:p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    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min_sumcost_back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i,t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]=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sumcost_back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i,k,t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</a:t>
            </a:r>
          </a:p>
          <a:p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    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s_to_minimize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i,t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]=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</a:t>
            </a:r>
            <a:r>
              <a:rPr lang="ko-KR" altLang="en-US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</a:t>
            </a:r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</a:t>
            </a:r>
          </a:p>
          <a:p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}</a:t>
            </a:r>
          </a:p>
          <a:p>
            <a:r>
              <a:rPr lang="ko-KR" altLang="en-US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}}}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6867525" y="3310741"/>
            <a:ext cx="4486275" cy="230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t=1</a:t>
            </a:r>
          </a:p>
          <a:p>
            <a:r>
              <a:rPr lang="en-US" altLang="ko-KR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for (k in (2:6)){</a:t>
            </a:r>
          </a:p>
          <a:p>
            <a:r>
              <a:rPr lang="en-US" altLang="ko-KR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s[t+1]=5*(k-1)</a:t>
            </a:r>
          </a:p>
          <a:p>
            <a:r>
              <a:rPr lang="en-US" altLang="ko-KR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s[t]=0</a:t>
            </a:r>
          </a:p>
          <a:p>
            <a:r>
              <a:rPr lang="en-US" altLang="ko-KR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x[t]=s[t+1]-s[t]</a:t>
            </a:r>
          </a:p>
          <a:p>
            <a:r>
              <a:rPr lang="en-US" altLang="ko-KR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</a:t>
            </a:r>
            <a:r>
              <a:rPr lang="en-US" altLang="ko-KR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sumcost_back</a:t>
            </a:r>
            <a:r>
              <a:rPr lang="en-US" altLang="ko-KR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[1,k,t]=</a:t>
            </a:r>
            <a:r>
              <a:rPr lang="en-US" altLang="ko-KR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min_sumcost_back</a:t>
            </a:r>
            <a:r>
              <a:rPr lang="en-US" altLang="ko-KR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[k,t+1]+cost[x[t]/5+1,1,t]</a:t>
            </a:r>
          </a:p>
          <a:p>
            <a:r>
              <a:rPr lang="en-US" altLang="ko-KR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</a:t>
            </a:r>
          </a:p>
          <a:p>
            <a:r>
              <a:rPr lang="en-US" altLang="ko-KR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if(</a:t>
            </a:r>
            <a:r>
              <a:rPr lang="en-US" altLang="ko-KR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min_sumcost_back</a:t>
            </a:r>
            <a:r>
              <a:rPr lang="en-US" altLang="ko-KR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[1,t]&gt;</a:t>
            </a:r>
            <a:r>
              <a:rPr lang="en-US" altLang="ko-KR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sumcost_back</a:t>
            </a:r>
            <a:r>
              <a:rPr lang="en-US" altLang="ko-KR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[1,k,t]){</a:t>
            </a:r>
          </a:p>
          <a:p>
            <a:r>
              <a:rPr lang="en-US" altLang="ko-KR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</a:t>
            </a:r>
            <a:r>
              <a:rPr lang="en-US" altLang="ko-KR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min_sumcost_back</a:t>
            </a:r>
            <a:r>
              <a:rPr lang="en-US" altLang="ko-KR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[1,t]=</a:t>
            </a:r>
            <a:r>
              <a:rPr lang="en-US" altLang="ko-KR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sumcost_back</a:t>
            </a:r>
            <a:r>
              <a:rPr lang="en-US" altLang="ko-KR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[1,k,t]</a:t>
            </a:r>
          </a:p>
          <a:p>
            <a:r>
              <a:rPr lang="en-US" altLang="ko-KR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</a:t>
            </a:r>
            <a:r>
              <a:rPr lang="en-US" altLang="ko-KR" sz="12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s_to_minimize</a:t>
            </a:r>
            <a:r>
              <a:rPr lang="en-US" altLang="ko-KR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[1,t]=s[t]</a:t>
            </a:r>
          </a:p>
          <a:p>
            <a:r>
              <a:rPr lang="en-US" altLang="ko-KR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}</a:t>
            </a:r>
          </a:p>
          <a:p>
            <a:r>
              <a:rPr lang="en-US" altLang="ko-KR" sz="12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}</a:t>
            </a:r>
            <a:endParaRPr lang="ko-KR" altLang="en-US" sz="1200" dirty="0">
              <a:latin typeface="1훈검정고무신 Regular" panose="02020603020101020101" pitchFamily="18" charset="-127"/>
              <a:ea typeface="1훈검정고무신 Regular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6616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그림 1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226" y="2109900"/>
            <a:ext cx="4609804" cy="363476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Capacity Expansion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Solving Method</a:t>
            </a:r>
          </a:p>
          <a:p>
            <a:pPr lvl="1"/>
            <a:r>
              <a:rPr lang="en-US" altLang="ko-KR" b="1" dirty="0">
                <a:solidFill>
                  <a:srgbClr val="0033CC"/>
                </a:solidFill>
              </a:rPr>
              <a:t>Backward-moving</a:t>
            </a:r>
            <a:r>
              <a:rPr lang="en-US" altLang="ko-KR" b="1" dirty="0"/>
              <a:t> (Forward-looking)</a:t>
            </a:r>
          </a:p>
          <a:p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1447801" y="2188395"/>
            <a:ext cx="4562475" cy="416636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5" name="그룹 74"/>
          <p:cNvGrpSpPr/>
          <p:nvPr/>
        </p:nvGrpSpPr>
        <p:grpSpPr>
          <a:xfrm>
            <a:off x="7481053" y="1477512"/>
            <a:ext cx="3748932" cy="719620"/>
            <a:chOff x="7481053" y="1477512"/>
            <a:chExt cx="3748932" cy="719620"/>
          </a:xfrm>
        </p:grpSpPr>
        <p:sp>
          <p:nvSpPr>
            <p:cNvPr id="69" name="오른쪽 화살표 68"/>
            <p:cNvSpPr/>
            <p:nvPr/>
          </p:nvSpPr>
          <p:spPr>
            <a:xfrm rot="16200000">
              <a:off x="7572823" y="1877617"/>
              <a:ext cx="345265" cy="293765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오른쪽 화살표 69"/>
            <p:cNvSpPr/>
            <p:nvPr/>
          </p:nvSpPr>
          <p:spPr>
            <a:xfrm rot="16200000">
              <a:off x="8412960" y="1858550"/>
              <a:ext cx="345265" cy="293765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오른쪽 화살표 70"/>
            <p:cNvSpPr/>
            <p:nvPr/>
          </p:nvSpPr>
          <p:spPr>
            <a:xfrm rot="16200000">
              <a:off x="9087902" y="1868881"/>
              <a:ext cx="345265" cy="293765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오른쪽 화살표 71"/>
            <p:cNvSpPr/>
            <p:nvPr/>
          </p:nvSpPr>
          <p:spPr>
            <a:xfrm rot="16200000">
              <a:off x="9712034" y="1858550"/>
              <a:ext cx="345265" cy="293765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오른쪽 화살표 72"/>
            <p:cNvSpPr/>
            <p:nvPr/>
          </p:nvSpPr>
          <p:spPr>
            <a:xfrm rot="16200000">
              <a:off x="10456098" y="1850548"/>
              <a:ext cx="345265" cy="293765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481053" y="1477512"/>
              <a:ext cx="3748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X1=10,     x2=0,   x3=10,   x4=0,   x5=0</a:t>
              </a:r>
              <a:endParaRPr lang="ko-KR" altLang="en-US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</p:grp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8887" y="4600004"/>
            <a:ext cx="3333750" cy="1600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직사각형 7"/>
          <p:cNvSpPr/>
          <p:nvPr/>
        </p:nvSpPr>
        <p:spPr>
          <a:xfrm>
            <a:off x="1473059" y="4115302"/>
            <a:ext cx="15600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s_to_minimize</a:t>
            </a:r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0562" y="2624711"/>
            <a:ext cx="3063491" cy="14625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직사각형 11"/>
          <p:cNvSpPr/>
          <p:nvPr/>
        </p:nvSpPr>
        <p:spPr>
          <a:xfrm>
            <a:off x="1447801" y="2246346"/>
            <a:ext cx="1963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min_sumcost_back</a:t>
            </a:r>
            <a:endParaRPr lang="ko-KR" altLang="en-US" dirty="0"/>
          </a:p>
        </p:txBody>
      </p:sp>
      <p:grpSp>
        <p:nvGrpSpPr>
          <p:cNvPr id="13" name="그룹 12"/>
          <p:cNvGrpSpPr/>
          <p:nvPr/>
        </p:nvGrpSpPr>
        <p:grpSpPr>
          <a:xfrm>
            <a:off x="7221495" y="2339472"/>
            <a:ext cx="4165411" cy="3060632"/>
            <a:chOff x="7221495" y="2339472"/>
            <a:chExt cx="4165411" cy="3060632"/>
          </a:xfrm>
        </p:grpSpPr>
        <p:sp>
          <p:nvSpPr>
            <p:cNvPr id="53" name="TextBox 52"/>
            <p:cNvSpPr txBox="1"/>
            <p:nvPr/>
          </p:nvSpPr>
          <p:spPr>
            <a:xfrm>
              <a:off x="8031943" y="4383608"/>
              <a:ext cx="519115" cy="432792"/>
            </a:xfrm>
            <a:prstGeom prst="ellipse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ko-KR" altLang="en-US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221495" y="4967312"/>
              <a:ext cx="519115" cy="432792"/>
            </a:xfrm>
            <a:prstGeom prst="ellipse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ko-KR" altLang="en-US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031944" y="3870829"/>
              <a:ext cx="519115" cy="432792"/>
            </a:xfrm>
            <a:prstGeom prst="ellipse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ko-KR" altLang="en-US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026576" y="3344412"/>
              <a:ext cx="519115" cy="432792"/>
            </a:xfrm>
            <a:prstGeom prst="ellipse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ko-KR" altLang="en-US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026575" y="2836878"/>
              <a:ext cx="519115" cy="432792"/>
            </a:xfrm>
            <a:prstGeom prst="ellipse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ko-KR" altLang="en-US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016610" y="2339472"/>
              <a:ext cx="519115" cy="432792"/>
            </a:xfrm>
            <a:prstGeom prst="ellipse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ko-KR" altLang="en-US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708308" y="3849642"/>
              <a:ext cx="519115" cy="432792"/>
            </a:xfrm>
            <a:prstGeom prst="ellipse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ko-KR" altLang="en-US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708307" y="3355968"/>
              <a:ext cx="519115" cy="432792"/>
            </a:xfrm>
            <a:prstGeom prst="ellipse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ko-KR" altLang="en-US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708307" y="2839259"/>
              <a:ext cx="519115" cy="432792"/>
            </a:xfrm>
            <a:prstGeom prst="ellipse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ko-KR" altLang="en-US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8708306" y="2345585"/>
              <a:ext cx="519115" cy="432792"/>
            </a:xfrm>
            <a:prstGeom prst="ellipse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ko-KR" altLang="en-US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9365551" y="2369831"/>
              <a:ext cx="519115" cy="432792"/>
            </a:xfrm>
            <a:prstGeom prst="ellipse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ko-KR" altLang="en-US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9365551" y="2884826"/>
              <a:ext cx="519115" cy="432792"/>
            </a:xfrm>
            <a:prstGeom prst="ellipse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ko-KR" altLang="en-US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0022796" y="2369831"/>
              <a:ext cx="519115" cy="432792"/>
            </a:xfrm>
            <a:prstGeom prst="ellipse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ko-KR" altLang="en-US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0867791" y="2346904"/>
              <a:ext cx="519115" cy="432792"/>
            </a:xfrm>
            <a:prstGeom prst="ellipse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ko-KR" altLang="en-US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0047283" y="2893901"/>
              <a:ext cx="519115" cy="432792"/>
            </a:xfrm>
            <a:prstGeom prst="ellipse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ko-KR" altLang="en-US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</p:grpSp>
      <p:sp>
        <p:nvSpPr>
          <p:cNvPr id="81" name="직사각형 80"/>
          <p:cNvSpPr/>
          <p:nvPr/>
        </p:nvSpPr>
        <p:spPr>
          <a:xfrm>
            <a:off x="3251818" y="4834542"/>
            <a:ext cx="2532235" cy="1342421"/>
          </a:xfrm>
          <a:prstGeom prst="rect">
            <a:avLst/>
          </a:prstGeom>
          <a:solidFill>
            <a:srgbClr val="FFFF99">
              <a:alpha val="3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/>
          <p:cNvSpPr/>
          <p:nvPr/>
        </p:nvSpPr>
        <p:spPr>
          <a:xfrm>
            <a:off x="3039744" y="2819898"/>
            <a:ext cx="2744309" cy="1342421"/>
          </a:xfrm>
          <a:prstGeom prst="rect">
            <a:avLst/>
          </a:prstGeom>
          <a:solidFill>
            <a:srgbClr val="FFFF99">
              <a:alpha val="3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그룹 15"/>
          <p:cNvGrpSpPr/>
          <p:nvPr/>
        </p:nvGrpSpPr>
        <p:grpSpPr>
          <a:xfrm>
            <a:off x="7284558" y="2346904"/>
            <a:ext cx="3860002" cy="3024588"/>
            <a:chOff x="7284558" y="2346904"/>
            <a:chExt cx="3860002" cy="3024588"/>
          </a:xfrm>
        </p:grpSpPr>
        <p:sp>
          <p:nvSpPr>
            <p:cNvPr id="14" name="TextBox 13"/>
            <p:cNvSpPr txBox="1"/>
            <p:nvPr/>
          </p:nvSpPr>
          <p:spPr>
            <a:xfrm>
              <a:off x="11007856" y="2346904"/>
              <a:ext cx="1367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0</a:t>
              </a:r>
              <a:endParaRPr lang="ko-KR" altLang="en-US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10145125" y="2377315"/>
              <a:ext cx="323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0</a:t>
              </a:r>
              <a:endParaRPr lang="ko-KR" altLang="en-US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9506145" y="2380064"/>
              <a:ext cx="323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0</a:t>
              </a:r>
              <a:endParaRPr lang="ko-KR" altLang="en-US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8845345" y="2370304"/>
              <a:ext cx="323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0</a:t>
              </a:r>
              <a:endParaRPr lang="ko-KR" altLang="en-US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8146082" y="2360364"/>
              <a:ext cx="323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0</a:t>
              </a:r>
              <a:endParaRPr lang="ko-KR" altLang="en-US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10145125" y="2916556"/>
              <a:ext cx="323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4</a:t>
              </a:r>
              <a:endParaRPr lang="ko-KR" altLang="en-US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9484105" y="2925631"/>
              <a:ext cx="323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4</a:t>
              </a:r>
              <a:endParaRPr lang="ko-KR" altLang="en-US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8818845" y="2886562"/>
              <a:ext cx="323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4</a:t>
              </a:r>
              <a:endParaRPr lang="ko-KR" altLang="en-US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8141854" y="2859167"/>
              <a:ext cx="323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4</a:t>
              </a:r>
              <a:endParaRPr lang="ko-KR" altLang="en-US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8806148" y="3400295"/>
              <a:ext cx="323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9</a:t>
              </a:r>
              <a:endParaRPr lang="ko-KR" altLang="en-US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8130143" y="3410885"/>
              <a:ext cx="323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9</a:t>
              </a:r>
              <a:endParaRPr lang="ko-KR" altLang="en-US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8152704" y="3895740"/>
              <a:ext cx="3929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12</a:t>
              </a:r>
              <a:endParaRPr lang="ko-KR" altLang="en-US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8806147" y="3878454"/>
              <a:ext cx="4212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12</a:t>
              </a:r>
              <a:endParaRPr lang="ko-KR" altLang="en-US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8130143" y="4412420"/>
              <a:ext cx="3929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17</a:t>
              </a:r>
              <a:endParaRPr lang="ko-KR" altLang="en-US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7284558" y="5002160"/>
              <a:ext cx="4560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latin typeface="1훈검정고무신 Regular" panose="02020603020101020101" pitchFamily="18" charset="-127"/>
                  <a:ea typeface="1훈검정고무신 Regular" panose="02020603020101020101" pitchFamily="18" charset="-127"/>
                </a:rPr>
                <a:t>23</a:t>
              </a:r>
              <a:endParaRPr lang="ko-KR" altLang="en-US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endParaRPr>
            </a:p>
          </p:txBody>
        </p:sp>
      </p:grpSp>
      <p:grpSp>
        <p:nvGrpSpPr>
          <p:cNvPr id="135" name="그룹 134"/>
          <p:cNvGrpSpPr/>
          <p:nvPr/>
        </p:nvGrpSpPr>
        <p:grpSpPr>
          <a:xfrm>
            <a:off x="7675043" y="2532455"/>
            <a:ext cx="3299707" cy="2512609"/>
            <a:chOff x="7611818" y="2558702"/>
            <a:chExt cx="3299707" cy="2512609"/>
          </a:xfrm>
        </p:grpSpPr>
        <p:grpSp>
          <p:nvGrpSpPr>
            <p:cNvPr id="130" name="그룹 129"/>
            <p:cNvGrpSpPr/>
            <p:nvPr/>
          </p:nvGrpSpPr>
          <p:grpSpPr>
            <a:xfrm>
              <a:off x="7611818" y="2558702"/>
              <a:ext cx="3299707" cy="2512609"/>
              <a:chOff x="7611818" y="2558702"/>
              <a:chExt cx="3299707" cy="2512609"/>
            </a:xfrm>
          </p:grpSpPr>
          <p:cxnSp>
            <p:nvCxnSpPr>
              <p:cNvPr id="101" name="직선 화살표 연결선 100"/>
              <p:cNvCxnSpPr/>
              <p:nvPr/>
            </p:nvCxnSpPr>
            <p:spPr>
              <a:xfrm flipH="1" flipV="1">
                <a:off x="10416735" y="2586227"/>
                <a:ext cx="494790" cy="9365"/>
              </a:xfrm>
              <a:prstGeom prst="straightConnector1">
                <a:avLst/>
              </a:prstGeom>
              <a:ln w="38100">
                <a:solidFill>
                  <a:srgbClr val="0066FF"/>
                </a:solidFill>
                <a:tailEnd type="triangle"/>
              </a:ln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직선 화살표 연결선 101"/>
              <p:cNvCxnSpPr/>
              <p:nvPr/>
            </p:nvCxnSpPr>
            <p:spPr>
              <a:xfrm flipH="1" flipV="1">
                <a:off x="9723046" y="2587704"/>
                <a:ext cx="374638" cy="7888"/>
              </a:xfrm>
              <a:prstGeom prst="straightConnector1">
                <a:avLst/>
              </a:prstGeom>
              <a:ln w="38100">
                <a:solidFill>
                  <a:srgbClr val="0066FF"/>
                </a:solidFill>
                <a:tailEnd type="triangle"/>
              </a:ln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직선 화살표 연결선 102"/>
              <p:cNvCxnSpPr>
                <a:stCxn id="78" idx="3"/>
              </p:cNvCxnSpPr>
              <p:nvPr/>
            </p:nvCxnSpPr>
            <p:spPr>
              <a:xfrm flipH="1">
                <a:off x="9732439" y="2739242"/>
                <a:ext cx="366380" cy="359577"/>
              </a:xfrm>
              <a:prstGeom prst="straightConnector1">
                <a:avLst/>
              </a:prstGeom>
              <a:ln w="38100">
                <a:solidFill>
                  <a:srgbClr val="0066FF"/>
                </a:solidFill>
                <a:tailEnd type="triangle"/>
              </a:ln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화살표 연결선 117"/>
              <p:cNvCxnSpPr>
                <a:endCxn id="60" idx="7"/>
              </p:cNvCxnSpPr>
              <p:nvPr/>
            </p:nvCxnSpPr>
            <p:spPr>
              <a:xfrm flipH="1">
                <a:off x="9151399" y="2682798"/>
                <a:ext cx="418423" cy="736551"/>
              </a:xfrm>
              <a:prstGeom prst="straightConnector1">
                <a:avLst/>
              </a:prstGeom>
              <a:ln w="38100">
                <a:solidFill>
                  <a:srgbClr val="0066FF"/>
                </a:solidFill>
                <a:tailEnd type="triangle"/>
              </a:ln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화살표 연결선 118"/>
              <p:cNvCxnSpPr/>
              <p:nvPr/>
            </p:nvCxnSpPr>
            <p:spPr>
              <a:xfrm flipH="1" flipV="1">
                <a:off x="9091516" y="2578339"/>
                <a:ext cx="374638" cy="7888"/>
              </a:xfrm>
              <a:prstGeom prst="straightConnector1">
                <a:avLst/>
              </a:prstGeom>
              <a:ln w="38100">
                <a:solidFill>
                  <a:srgbClr val="0066FF"/>
                </a:solidFill>
                <a:tailEnd type="triangle"/>
              </a:ln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화살표 연결선 119"/>
              <p:cNvCxnSpPr/>
              <p:nvPr/>
            </p:nvCxnSpPr>
            <p:spPr>
              <a:xfrm flipH="1" flipV="1">
                <a:off x="8387615" y="2558702"/>
                <a:ext cx="374638" cy="7888"/>
              </a:xfrm>
              <a:prstGeom prst="straightConnector1">
                <a:avLst/>
              </a:prstGeom>
              <a:ln w="38100">
                <a:solidFill>
                  <a:srgbClr val="0066FF"/>
                </a:solidFill>
                <a:tailEnd type="triangle"/>
              </a:ln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화살표 연결선 120"/>
              <p:cNvCxnSpPr/>
              <p:nvPr/>
            </p:nvCxnSpPr>
            <p:spPr>
              <a:xfrm flipH="1" flipV="1">
                <a:off x="9091516" y="3072839"/>
                <a:ext cx="374638" cy="7888"/>
              </a:xfrm>
              <a:prstGeom prst="straightConnector1">
                <a:avLst/>
              </a:prstGeom>
              <a:ln w="38100">
                <a:solidFill>
                  <a:srgbClr val="0066FF"/>
                </a:solidFill>
                <a:tailEnd type="triangle"/>
              </a:ln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화살표 연결선 121"/>
              <p:cNvCxnSpPr/>
              <p:nvPr/>
            </p:nvCxnSpPr>
            <p:spPr>
              <a:xfrm flipH="1" flipV="1">
                <a:off x="8387615" y="3052848"/>
                <a:ext cx="374638" cy="7888"/>
              </a:xfrm>
              <a:prstGeom prst="straightConnector1">
                <a:avLst/>
              </a:prstGeom>
              <a:ln w="38100">
                <a:solidFill>
                  <a:srgbClr val="0066FF"/>
                </a:solidFill>
                <a:tailEnd type="triangle"/>
              </a:ln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화살표 연결선 123"/>
              <p:cNvCxnSpPr/>
              <p:nvPr/>
            </p:nvCxnSpPr>
            <p:spPr>
              <a:xfrm flipH="1">
                <a:off x="8455335" y="3131691"/>
                <a:ext cx="410105" cy="1349730"/>
              </a:xfrm>
              <a:prstGeom prst="straightConnector1">
                <a:avLst/>
              </a:prstGeom>
              <a:ln w="38100">
                <a:solidFill>
                  <a:srgbClr val="0066FF"/>
                </a:solidFill>
                <a:tailEnd type="triangle"/>
              </a:ln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화살표 연결선 125"/>
              <p:cNvCxnSpPr/>
              <p:nvPr/>
            </p:nvCxnSpPr>
            <p:spPr>
              <a:xfrm flipH="1" flipV="1">
                <a:off x="8377381" y="3595409"/>
                <a:ext cx="374638" cy="7888"/>
              </a:xfrm>
              <a:prstGeom prst="straightConnector1">
                <a:avLst/>
              </a:prstGeom>
              <a:ln w="38100">
                <a:solidFill>
                  <a:srgbClr val="0066FF"/>
                </a:solidFill>
                <a:tailEnd type="triangle"/>
              </a:ln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직선 화살표 연결선 126"/>
              <p:cNvCxnSpPr/>
              <p:nvPr/>
            </p:nvCxnSpPr>
            <p:spPr>
              <a:xfrm flipH="1" flipV="1">
                <a:off x="8441901" y="4108145"/>
                <a:ext cx="374638" cy="7888"/>
              </a:xfrm>
              <a:prstGeom prst="straightConnector1">
                <a:avLst/>
              </a:prstGeom>
              <a:ln w="38100">
                <a:solidFill>
                  <a:srgbClr val="0066FF"/>
                </a:solidFill>
                <a:tailEnd type="triangle"/>
              </a:ln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화살표 연결선 127"/>
              <p:cNvCxnSpPr/>
              <p:nvPr/>
            </p:nvCxnSpPr>
            <p:spPr>
              <a:xfrm flipH="1">
                <a:off x="7611818" y="4064662"/>
                <a:ext cx="482484" cy="1006649"/>
              </a:xfrm>
              <a:prstGeom prst="straightConnector1">
                <a:avLst/>
              </a:prstGeom>
              <a:ln w="38100">
                <a:solidFill>
                  <a:srgbClr val="0066FF"/>
                </a:solidFill>
                <a:tailEnd type="triangle"/>
              </a:ln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4" name="직선 화살표 연결선 133"/>
            <p:cNvCxnSpPr/>
            <p:nvPr/>
          </p:nvCxnSpPr>
          <p:spPr>
            <a:xfrm flipH="1">
              <a:off x="9075270" y="2642753"/>
              <a:ext cx="410105" cy="1349730"/>
            </a:xfrm>
            <a:prstGeom prst="straightConnector1">
              <a:avLst/>
            </a:prstGeom>
            <a:ln w="38100">
              <a:solidFill>
                <a:srgbClr val="0066FF"/>
              </a:solidFill>
              <a:tailEnd type="triangle"/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0" name="그룹 139"/>
          <p:cNvGrpSpPr/>
          <p:nvPr/>
        </p:nvGrpSpPr>
        <p:grpSpPr>
          <a:xfrm>
            <a:off x="7730040" y="2451551"/>
            <a:ext cx="3200551" cy="2810009"/>
            <a:chOff x="7730040" y="2451551"/>
            <a:chExt cx="3200551" cy="2810009"/>
          </a:xfrm>
        </p:grpSpPr>
        <p:sp>
          <p:nvSpPr>
            <p:cNvPr id="133" name="아래쪽 화살표 132"/>
            <p:cNvSpPr/>
            <p:nvPr/>
          </p:nvSpPr>
          <p:spPr>
            <a:xfrm rot="5400000">
              <a:off x="10566365" y="2334975"/>
              <a:ext cx="247650" cy="480802"/>
            </a:xfrm>
            <a:prstGeom prst="downArrow">
              <a:avLst/>
            </a:prstGeom>
            <a:solidFill>
              <a:srgbClr val="F9B3C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아래쪽 화살표 135"/>
            <p:cNvSpPr/>
            <p:nvPr/>
          </p:nvSpPr>
          <p:spPr>
            <a:xfrm rot="5400000">
              <a:off x="9813492" y="2334975"/>
              <a:ext cx="247650" cy="480802"/>
            </a:xfrm>
            <a:prstGeom prst="downArrow">
              <a:avLst/>
            </a:prstGeom>
            <a:solidFill>
              <a:srgbClr val="F9B3C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" name="아래쪽 화살표 136"/>
            <p:cNvSpPr/>
            <p:nvPr/>
          </p:nvSpPr>
          <p:spPr>
            <a:xfrm rot="1182973">
              <a:off x="9175419" y="2527123"/>
              <a:ext cx="247650" cy="1513893"/>
            </a:xfrm>
            <a:prstGeom prst="downArrow">
              <a:avLst/>
            </a:prstGeom>
            <a:solidFill>
              <a:srgbClr val="F9B3C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아래쪽 화살표 137"/>
            <p:cNvSpPr/>
            <p:nvPr/>
          </p:nvSpPr>
          <p:spPr>
            <a:xfrm rot="1529522">
              <a:off x="7730040" y="3996706"/>
              <a:ext cx="247650" cy="1264854"/>
            </a:xfrm>
            <a:prstGeom prst="downArrow">
              <a:avLst/>
            </a:prstGeom>
            <a:solidFill>
              <a:srgbClr val="F9B3C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아래쪽 화살표 138"/>
            <p:cNvSpPr/>
            <p:nvPr/>
          </p:nvSpPr>
          <p:spPr>
            <a:xfrm rot="5400000">
              <a:off x="8537346" y="3839308"/>
              <a:ext cx="247650" cy="480802"/>
            </a:xfrm>
            <a:prstGeom prst="downArrow">
              <a:avLst/>
            </a:prstGeom>
            <a:solidFill>
              <a:srgbClr val="F9B3C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3678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8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 smtClean="0">
                <a:ln>
                  <a:solidFill>
                    <a:sysClr val="windowText" lastClr="000000"/>
                  </a:solidFill>
                </a:ln>
                <a:solidFill>
                  <a:srgbClr val="0033CC"/>
                </a:solidFill>
              </a:rPr>
              <a:t>“Reservoir Operation”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About Reservoir Operation</a:t>
            </a:r>
          </a:p>
          <a:p>
            <a:pPr lvl="1"/>
            <a:r>
              <a:rPr lang="en-US" altLang="ko-KR" dirty="0" smtClean="0"/>
              <a:t>Reservoirs </a:t>
            </a:r>
            <a:r>
              <a:rPr lang="en-US" altLang="ko-KR" dirty="0"/>
              <a:t>designed to meet </a:t>
            </a:r>
            <a:r>
              <a:rPr lang="en-US" altLang="ko-KR" u="sng" dirty="0">
                <a:solidFill>
                  <a:srgbClr val="0066FF"/>
                </a:solidFill>
              </a:rPr>
              <a:t>demands for water supplies</a:t>
            </a:r>
            <a:r>
              <a:rPr lang="en-US" altLang="ko-KR" dirty="0"/>
              <a:t>, </a:t>
            </a:r>
            <a:r>
              <a:rPr lang="en-US" altLang="ko-KR" u="sng" dirty="0">
                <a:solidFill>
                  <a:srgbClr val="0066FF"/>
                </a:solidFill>
              </a:rPr>
              <a:t>recreation</a:t>
            </a:r>
            <a:r>
              <a:rPr lang="en-US" altLang="ko-KR" dirty="0"/>
              <a:t>, </a:t>
            </a:r>
            <a:r>
              <a:rPr lang="en-US" altLang="ko-KR" u="sng" dirty="0">
                <a:solidFill>
                  <a:srgbClr val="0066FF"/>
                </a:solidFill>
              </a:rPr>
              <a:t>hydropower</a:t>
            </a:r>
            <a:r>
              <a:rPr lang="en-US" altLang="ko-KR" dirty="0"/>
              <a:t>, the </a:t>
            </a:r>
            <a:r>
              <a:rPr lang="en-US" altLang="ko-KR" u="sng" dirty="0">
                <a:solidFill>
                  <a:srgbClr val="0066FF"/>
                </a:solidFill>
              </a:rPr>
              <a:t>environment</a:t>
            </a:r>
            <a:r>
              <a:rPr lang="en-US" altLang="ko-KR" dirty="0" smtClean="0"/>
              <a:t> and/or </a:t>
            </a:r>
            <a:r>
              <a:rPr lang="en-US" altLang="ko-KR" u="sng" dirty="0">
                <a:solidFill>
                  <a:srgbClr val="0066FF"/>
                </a:solidFill>
              </a:rPr>
              <a:t>flood control </a:t>
            </a:r>
            <a:r>
              <a:rPr lang="en-US" altLang="ko-KR" dirty="0"/>
              <a:t>need to be operated in ways that </a:t>
            </a:r>
            <a:r>
              <a:rPr lang="en-US" altLang="ko-KR" dirty="0" smtClean="0"/>
              <a:t>meet those </a:t>
            </a:r>
            <a:r>
              <a:rPr lang="en-US" altLang="ko-KR" dirty="0"/>
              <a:t>demands in the most reliable and effective manner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/>
              <a:t>Release rules may also specify the </a:t>
            </a:r>
            <a:r>
              <a:rPr lang="en-US" altLang="ko-KR" u="sng" dirty="0">
                <a:solidFill>
                  <a:srgbClr val="0066FF"/>
                </a:solidFill>
              </a:rPr>
              <a:t>desired storage </a:t>
            </a:r>
            <a:r>
              <a:rPr lang="en-US" altLang="ko-KR" u="sng" dirty="0" smtClean="0">
                <a:solidFill>
                  <a:srgbClr val="0066FF"/>
                </a:solidFill>
              </a:rPr>
              <a:t>level for </a:t>
            </a:r>
            <a:r>
              <a:rPr lang="en-US" altLang="ko-KR" u="sng" dirty="0">
                <a:solidFill>
                  <a:srgbClr val="0066FF"/>
                </a:solidFill>
              </a:rPr>
              <a:t>the time of year</a:t>
            </a:r>
            <a:r>
              <a:rPr lang="en-US" altLang="ko-KR" dirty="0"/>
              <a:t>. The operator is to release water </a:t>
            </a:r>
            <a:r>
              <a:rPr lang="en-US" altLang="ko-KR" dirty="0" smtClean="0"/>
              <a:t>as necessary </a:t>
            </a:r>
            <a:r>
              <a:rPr lang="en-US" altLang="ko-KR" dirty="0"/>
              <a:t>to achieve these target storage levels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 smtClean="0">
                <a:solidFill>
                  <a:srgbClr val="0066FF"/>
                </a:solidFill>
              </a:rPr>
              <a:t>Does </a:t>
            </a:r>
            <a:r>
              <a:rPr lang="en-US" altLang="ko-KR" dirty="0">
                <a:solidFill>
                  <a:srgbClr val="0066FF"/>
                </a:solidFill>
              </a:rPr>
              <a:t>not </a:t>
            </a:r>
            <a:r>
              <a:rPr lang="en-US" altLang="ko-KR" dirty="0" smtClean="0">
                <a:solidFill>
                  <a:srgbClr val="0066FF"/>
                </a:solidFill>
              </a:rPr>
              <a:t>vary from </a:t>
            </a:r>
            <a:r>
              <a:rPr lang="en-US" altLang="ko-KR" dirty="0">
                <a:solidFill>
                  <a:srgbClr val="0066FF"/>
                </a:solidFill>
              </a:rPr>
              <a:t>one year to the next</a:t>
            </a:r>
            <a:r>
              <a:rPr lang="en-US" altLang="ko-KR" dirty="0"/>
              <a:t>. The actual releases will </a:t>
            </a:r>
            <a:r>
              <a:rPr lang="en-US" altLang="ko-KR" dirty="0" smtClean="0"/>
              <a:t>vary, however</a:t>
            </a:r>
            <a:r>
              <a:rPr lang="en-US" altLang="ko-KR" dirty="0"/>
              <a:t>, </a:t>
            </a:r>
            <a:r>
              <a:rPr lang="en-US" altLang="ko-KR" u="sng" dirty="0">
                <a:solidFill>
                  <a:srgbClr val="0066FF"/>
                </a:solidFill>
              </a:rPr>
              <a:t>depending on the inflows and storage </a:t>
            </a:r>
            <a:r>
              <a:rPr lang="en-US" altLang="ko-KR" u="sng" dirty="0" smtClean="0">
                <a:solidFill>
                  <a:srgbClr val="0066FF"/>
                </a:solidFill>
              </a:rPr>
              <a:t>volumes that </a:t>
            </a:r>
            <a:r>
              <a:rPr lang="en-US" altLang="ko-KR" u="sng" dirty="0">
                <a:solidFill>
                  <a:srgbClr val="0066FF"/>
                </a:solidFill>
              </a:rPr>
              <a:t>actually occur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 smtClean="0"/>
              <a:t>Policy objectives could be the </a:t>
            </a:r>
            <a:r>
              <a:rPr lang="en-US" altLang="ko-KR" u="sng" dirty="0" smtClean="0">
                <a:solidFill>
                  <a:srgbClr val="FF0000"/>
                </a:solidFill>
              </a:rPr>
              <a:t>maximization of expected annual net benefits</a:t>
            </a:r>
            <a:r>
              <a:rPr lang="en-US" altLang="ko-KR" dirty="0" smtClean="0"/>
              <a:t> </a:t>
            </a:r>
            <a:r>
              <a:rPr lang="en-US" altLang="ko-KR" dirty="0"/>
              <a:t>or the </a:t>
            </a:r>
            <a:r>
              <a:rPr lang="en-US" altLang="ko-KR" u="sng" dirty="0">
                <a:solidFill>
                  <a:srgbClr val="FF0000"/>
                </a:solidFill>
              </a:rPr>
              <a:t>minimization </a:t>
            </a:r>
            <a:r>
              <a:rPr lang="en-US" altLang="ko-KR" u="sng" dirty="0" smtClean="0">
                <a:solidFill>
                  <a:srgbClr val="FF0000"/>
                </a:solidFill>
              </a:rPr>
              <a:t>of deviations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3682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 smtClean="0">
                <a:ln>
                  <a:solidFill>
                    <a:sysClr val="windowText" lastClr="000000"/>
                  </a:solidFill>
                </a:ln>
                <a:solidFill>
                  <a:srgbClr val="0033CC"/>
                </a:solidFill>
              </a:rPr>
              <a:t>“Reservoir Operation”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Reservoir Operation Rule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25348"/>
          <a:stretch/>
        </p:blipFill>
        <p:spPr>
          <a:xfrm>
            <a:off x="1076325" y="2295963"/>
            <a:ext cx="4432237" cy="36043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113" y="1539894"/>
            <a:ext cx="5724213" cy="490853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3219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모서리가 둥근 직사각형 13"/>
          <p:cNvSpPr/>
          <p:nvPr/>
        </p:nvSpPr>
        <p:spPr>
          <a:xfrm>
            <a:off x="3786187" y="2438400"/>
            <a:ext cx="7205663" cy="21717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Reservoir Operation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Variables</a:t>
            </a:r>
          </a:p>
          <a:p>
            <a:pPr lvl="1"/>
            <a:r>
              <a:rPr lang="en-US" altLang="ko-KR" sz="1800" dirty="0" err="1" smtClean="0"/>
              <a:t>Q</a:t>
            </a:r>
            <a:r>
              <a:rPr lang="en-US" altLang="ko-KR" sz="1800" baseline="-25000" dirty="0" err="1" smtClean="0"/>
              <a:t>t</a:t>
            </a:r>
            <a:r>
              <a:rPr lang="en-US" altLang="ko-KR" sz="1800" dirty="0" smtClean="0"/>
              <a:t> </a:t>
            </a:r>
            <a:r>
              <a:rPr lang="en-US" altLang="ko-KR" sz="1800" dirty="0"/>
              <a:t>: </a:t>
            </a:r>
            <a:r>
              <a:rPr lang="en-US" altLang="ko-KR" sz="1800" dirty="0" smtClean="0"/>
              <a:t>Mean Inflow</a:t>
            </a:r>
            <a:endParaRPr lang="en-US" altLang="ko-KR" sz="1800" dirty="0"/>
          </a:p>
          <a:p>
            <a:pPr lvl="1"/>
            <a:r>
              <a:rPr lang="en-US" altLang="ko-KR" sz="1800" dirty="0" smtClean="0"/>
              <a:t>L</a:t>
            </a:r>
            <a:r>
              <a:rPr lang="en-US" altLang="ko-KR" sz="1800" baseline="-25000" dirty="0" smtClean="0"/>
              <a:t>t</a:t>
            </a:r>
            <a:r>
              <a:rPr lang="en-US" altLang="ko-KR" sz="1800" dirty="0" smtClean="0"/>
              <a:t>(S</a:t>
            </a:r>
            <a:r>
              <a:rPr lang="en-US" altLang="ko-KR" sz="1800" baseline="-25000" dirty="0" smtClean="0"/>
              <a:t>t</a:t>
            </a:r>
            <a:r>
              <a:rPr lang="en-US" altLang="ko-KR" sz="1800" dirty="0" smtClean="0"/>
              <a:t>, S</a:t>
            </a:r>
            <a:r>
              <a:rPr lang="en-US" altLang="ko-KR" sz="1800" baseline="-25000" dirty="0" smtClean="0"/>
              <a:t>t+1</a:t>
            </a:r>
            <a:r>
              <a:rPr lang="en-US" altLang="ko-KR" sz="1800" dirty="0" smtClean="0"/>
              <a:t>) </a:t>
            </a:r>
            <a:r>
              <a:rPr lang="en-US" altLang="ko-KR" sz="1800" dirty="0"/>
              <a:t>: </a:t>
            </a:r>
            <a:r>
              <a:rPr lang="en-US" altLang="ko-KR" sz="1800" dirty="0" smtClean="0"/>
              <a:t>The </a:t>
            </a:r>
            <a:r>
              <a:rPr lang="en-US" altLang="ko-KR" sz="1800" dirty="0"/>
              <a:t>evaporation and seepage losses that depend on </a:t>
            </a:r>
            <a:r>
              <a:rPr lang="en-US" altLang="ko-KR" sz="1800" dirty="0" smtClean="0"/>
              <a:t>the storage </a:t>
            </a:r>
            <a:r>
              <a:rPr lang="en-US" altLang="ko-KR" sz="1800" dirty="0"/>
              <a:t>volume in the </a:t>
            </a:r>
            <a:r>
              <a:rPr lang="en-US" altLang="ko-KR" sz="1800" dirty="0" smtClean="0"/>
              <a:t>reservoir</a:t>
            </a:r>
          </a:p>
          <a:p>
            <a:pPr lvl="1"/>
            <a:r>
              <a:rPr lang="en-US" altLang="ko-KR" sz="1800" dirty="0" smtClean="0"/>
              <a:t>S</a:t>
            </a:r>
            <a:r>
              <a:rPr lang="en-US" altLang="ko-KR" sz="1800" baseline="-25000" dirty="0" smtClean="0"/>
              <a:t>t</a:t>
            </a:r>
            <a:r>
              <a:rPr lang="en-US" altLang="ko-KR" sz="1800" dirty="0"/>
              <a:t>: Storage </a:t>
            </a:r>
            <a:r>
              <a:rPr lang="en-US" altLang="ko-KR" sz="1800" dirty="0" smtClean="0"/>
              <a:t>volume</a:t>
            </a:r>
          </a:p>
          <a:p>
            <a:pPr lvl="1"/>
            <a:r>
              <a:rPr lang="en-US" altLang="ko-KR" sz="1800" dirty="0" err="1" smtClean="0"/>
              <a:t>R</a:t>
            </a:r>
            <a:r>
              <a:rPr lang="en-US" altLang="ko-KR" sz="1800" baseline="-25000" dirty="0" err="1" smtClean="0"/>
              <a:t>t</a:t>
            </a:r>
            <a:r>
              <a:rPr lang="en-US" altLang="ko-KR" sz="1800" dirty="0"/>
              <a:t>: </a:t>
            </a:r>
            <a:r>
              <a:rPr lang="en-US" altLang="ko-KR" sz="1800" dirty="0" smtClean="0"/>
              <a:t>Release</a:t>
            </a:r>
            <a:endParaRPr lang="en-US" altLang="ko-KR" sz="1800" dirty="0"/>
          </a:p>
          <a:p>
            <a:r>
              <a:rPr lang="en-US" altLang="ko-KR" sz="2200" dirty="0"/>
              <a:t>Objective 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Constraints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4810125"/>
            <a:ext cx="4619625" cy="342900"/>
          </a:xfrm>
          <a:prstGeom prst="rect">
            <a:avLst/>
          </a:prstGeom>
          <a:ln>
            <a:noFill/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5" y="3717131"/>
            <a:ext cx="1638300" cy="4667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6375" y="5289949"/>
            <a:ext cx="4010025" cy="723900"/>
          </a:xfrm>
          <a:prstGeom prst="rect">
            <a:avLst/>
          </a:prstGeom>
          <a:ln>
            <a:noFill/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4" y="5136356"/>
            <a:ext cx="1428750" cy="39052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787" y="4781550"/>
            <a:ext cx="1571625" cy="40005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" y="6146011"/>
            <a:ext cx="3257550" cy="323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43849" y="4698928"/>
            <a:ext cx="39338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>
                <a:solidFill>
                  <a:srgbClr val="002060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↔ </a:t>
            </a:r>
            <a:r>
              <a:rPr lang="en-US" altLang="ko-KR" dirty="0" err="1" smtClean="0">
                <a:solidFill>
                  <a:srgbClr val="002060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DR</a:t>
            </a:r>
            <a:r>
              <a:rPr lang="en-US" altLang="ko-KR" baseline="-25000" dirty="0" err="1" smtClean="0">
                <a:solidFill>
                  <a:srgbClr val="002060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</a:t>
            </a:r>
            <a:r>
              <a:rPr lang="en-US" altLang="ko-KR" dirty="0" smtClean="0">
                <a:solidFill>
                  <a:srgbClr val="002060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=max(TR</a:t>
            </a:r>
            <a:r>
              <a:rPr lang="en-US" altLang="ko-KR" baseline="-25000" dirty="0" smtClean="0">
                <a:solidFill>
                  <a:srgbClr val="002060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</a:t>
            </a:r>
            <a:r>
              <a:rPr lang="en-US" altLang="ko-KR" dirty="0" smtClean="0">
                <a:solidFill>
                  <a:srgbClr val="002060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-R</a:t>
            </a:r>
            <a:r>
              <a:rPr lang="en-US" altLang="ko-KR" baseline="-25000" dirty="0" smtClean="0">
                <a:solidFill>
                  <a:srgbClr val="002060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</a:t>
            </a:r>
            <a:r>
              <a:rPr lang="en-US" altLang="ko-KR" dirty="0" smtClean="0">
                <a:solidFill>
                  <a:srgbClr val="002060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,0)=Deficit Release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002060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↔ </a:t>
            </a:r>
            <a:r>
              <a:rPr lang="en-US" altLang="ko-KR" dirty="0" err="1" smtClean="0">
                <a:solidFill>
                  <a:srgbClr val="002060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ES</a:t>
            </a:r>
            <a:r>
              <a:rPr lang="en-US" altLang="ko-KR" baseline="-25000" dirty="0" err="1" smtClean="0">
                <a:solidFill>
                  <a:srgbClr val="002060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</a:t>
            </a:r>
            <a:r>
              <a:rPr lang="en-US" altLang="ko-KR" dirty="0" smtClean="0">
                <a:solidFill>
                  <a:srgbClr val="002060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=max(S</a:t>
            </a:r>
            <a:r>
              <a:rPr lang="en-US" altLang="ko-KR" baseline="-25000" dirty="0" smtClean="0">
                <a:solidFill>
                  <a:srgbClr val="002060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</a:t>
            </a:r>
            <a:r>
              <a:rPr lang="en-US" altLang="ko-KR" dirty="0" smtClean="0">
                <a:solidFill>
                  <a:srgbClr val="002060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-TS</a:t>
            </a:r>
            <a:r>
              <a:rPr lang="en-US" altLang="ko-KR" baseline="-25000" dirty="0" smtClean="0">
                <a:solidFill>
                  <a:srgbClr val="002060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</a:t>
            </a:r>
            <a:r>
              <a:rPr lang="en-US" altLang="ko-KR" dirty="0" smtClean="0">
                <a:solidFill>
                  <a:srgbClr val="002060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,0)=Excess Storage</a:t>
            </a:r>
            <a:endParaRPr lang="ko-KR" altLang="en-US" dirty="0">
              <a:solidFill>
                <a:srgbClr val="002060"/>
              </a:solidFill>
              <a:latin typeface="1훈검정고무신 Regular" panose="02020603020101020101" pitchFamily="18" charset="-127"/>
              <a:ea typeface="1훈검정고무신 Regular" panose="02020603020101020101" pitchFamily="18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362075" y="4810125"/>
            <a:ext cx="10401300" cy="16597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8"/>
          <a:srcRect l="5683" t="10265" r="5996" b="8757"/>
          <a:stretch/>
        </p:blipFill>
        <p:spPr>
          <a:xfrm>
            <a:off x="4038599" y="2659008"/>
            <a:ext cx="3362325" cy="1826448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796713"/>
              </p:ext>
            </p:extLst>
          </p:nvPr>
        </p:nvGraphicFramePr>
        <p:xfrm>
          <a:off x="7800974" y="2738435"/>
          <a:ext cx="2914652" cy="16675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8663">
                  <a:extLst>
                    <a:ext uri="{9D8B030D-6E8A-4147-A177-3AD203B41FA5}">
                      <a16:colId xmlns:a16="http://schemas.microsoft.com/office/drawing/2014/main" val="1021264974"/>
                    </a:ext>
                  </a:extLst>
                </a:gridCol>
                <a:gridCol w="728663">
                  <a:extLst>
                    <a:ext uri="{9D8B030D-6E8A-4147-A177-3AD203B41FA5}">
                      <a16:colId xmlns:a16="http://schemas.microsoft.com/office/drawing/2014/main" val="4227374134"/>
                    </a:ext>
                  </a:extLst>
                </a:gridCol>
                <a:gridCol w="728663">
                  <a:extLst>
                    <a:ext uri="{9D8B030D-6E8A-4147-A177-3AD203B41FA5}">
                      <a16:colId xmlns:a16="http://schemas.microsoft.com/office/drawing/2014/main" val="652732393"/>
                    </a:ext>
                  </a:extLst>
                </a:gridCol>
                <a:gridCol w="728663">
                  <a:extLst>
                    <a:ext uri="{9D8B030D-6E8A-4147-A177-3AD203B41FA5}">
                      <a16:colId xmlns:a16="http://schemas.microsoft.com/office/drawing/2014/main" val="1741267649"/>
                    </a:ext>
                  </a:extLst>
                </a:gridCol>
              </a:tblGrid>
              <a:tr h="3335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 err="1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ws</a:t>
                      </a:r>
                      <a:r>
                        <a:rPr lang="en-US" sz="1600" u="none" strike="noStrike" baseline="-25000" dirty="0" err="1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t</a:t>
                      </a:r>
                      <a:endParaRPr lang="en-US" sz="16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 err="1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wf</a:t>
                      </a:r>
                      <a:r>
                        <a:rPr lang="en-US" sz="1600" u="none" strike="noStrike" baseline="-25000" dirty="0" err="1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t</a:t>
                      </a:r>
                      <a:endParaRPr lang="en-US" sz="16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 err="1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wr</a:t>
                      </a:r>
                      <a:r>
                        <a:rPr lang="en-US" sz="1600" u="none" strike="noStrike" baseline="-25000" dirty="0" err="1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t</a:t>
                      </a:r>
                      <a:endParaRPr lang="en-US" sz="16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328455"/>
                  </a:ext>
                </a:extLst>
              </a:tr>
              <a:tr h="3335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1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 dirty="0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0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1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1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192432"/>
                  </a:ext>
                </a:extLst>
              </a:tr>
              <a:tr h="3335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2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1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 dirty="0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0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1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304144"/>
                  </a:ext>
                </a:extLst>
              </a:tr>
              <a:tr h="3335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3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1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 dirty="0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0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 dirty="0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1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7191891"/>
                  </a:ext>
                </a:extLst>
              </a:tr>
              <a:tr h="3335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4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0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0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 dirty="0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1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5411939"/>
                  </a:ext>
                </a:extLst>
              </a:tr>
            </a:tbl>
          </a:graphicData>
        </a:graphic>
      </p:graphicFrame>
      <p:sp>
        <p:nvSpPr>
          <p:cNvPr id="15" name="아래쪽 화살표 14"/>
          <p:cNvSpPr/>
          <p:nvPr/>
        </p:nvSpPr>
        <p:spPr>
          <a:xfrm>
            <a:off x="7496175" y="4485456"/>
            <a:ext cx="376237" cy="324669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9"/>
          <a:srcRect r="19250" b="4055"/>
          <a:stretch/>
        </p:blipFill>
        <p:spPr>
          <a:xfrm>
            <a:off x="6372224" y="5572126"/>
            <a:ext cx="3076576" cy="67627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72599" y="5431433"/>
            <a:ext cx="39338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>
                <a:solidFill>
                  <a:srgbClr val="002060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↔ </a:t>
            </a:r>
            <a:r>
              <a:rPr lang="en-US" altLang="ko-KR" dirty="0" smtClean="0">
                <a:solidFill>
                  <a:srgbClr val="002060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</a:t>
            </a:r>
            <a:r>
              <a:rPr lang="en-US" altLang="ko-KR" baseline="-25000" dirty="0" smtClean="0">
                <a:solidFill>
                  <a:srgbClr val="002060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t+1</a:t>
            </a:r>
            <a:r>
              <a:rPr lang="en-US" altLang="ko-KR" dirty="0" smtClean="0">
                <a:solidFill>
                  <a:srgbClr val="002060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≥0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002060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↔ </a:t>
            </a:r>
            <a:r>
              <a:rPr lang="en-US" altLang="ko-KR" dirty="0" smtClean="0">
                <a:solidFill>
                  <a:srgbClr val="002060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</a:t>
            </a:r>
            <a:r>
              <a:rPr lang="en-US" altLang="ko-KR" baseline="-25000" dirty="0" smtClean="0">
                <a:solidFill>
                  <a:srgbClr val="002060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t+1</a:t>
            </a:r>
            <a:r>
              <a:rPr lang="en-US" altLang="ko-KR" dirty="0" smtClean="0">
                <a:solidFill>
                  <a:srgbClr val="002060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≤0</a:t>
            </a:r>
            <a:endParaRPr lang="ko-KR" altLang="en-US" dirty="0">
              <a:solidFill>
                <a:srgbClr val="002060"/>
              </a:solidFill>
              <a:latin typeface="1훈검정고무신 Regular" panose="02020603020101020101" pitchFamily="18" charset="-127"/>
              <a:ea typeface="1훈검정고무신 Regular" panose="02020603020101020101" pitchFamily="18" charset="-127"/>
            </a:endParaRPr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6632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모서리가 둥근 직사각형 23"/>
          <p:cNvSpPr/>
          <p:nvPr/>
        </p:nvSpPr>
        <p:spPr>
          <a:xfrm>
            <a:off x="7258051" y="2957736"/>
            <a:ext cx="4829174" cy="365312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모서리가 둥근 직사각형 22"/>
          <p:cNvSpPr/>
          <p:nvPr/>
        </p:nvSpPr>
        <p:spPr>
          <a:xfrm>
            <a:off x="1143001" y="3371849"/>
            <a:ext cx="6010274" cy="34004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Reservoir Operation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 smtClean="0"/>
              <a:t>Steady-state policy</a:t>
            </a:r>
            <a:endParaRPr lang="en-US" altLang="ko-KR" sz="2000" dirty="0"/>
          </a:p>
          <a:p>
            <a:pPr lvl="1"/>
            <a:r>
              <a:rPr lang="ko-KR" altLang="en-US" sz="1800" dirty="0" smtClean="0"/>
              <a:t>매년 동일한 운영방법으로 운영될때까지 </a:t>
            </a:r>
            <a:r>
              <a:rPr lang="en-US" altLang="ko-KR" sz="1800" dirty="0" smtClean="0"/>
              <a:t>DP</a:t>
            </a:r>
            <a:r>
              <a:rPr lang="ko-KR" altLang="en-US" sz="1800" dirty="0"/>
              <a:t>를</a:t>
            </a:r>
            <a:r>
              <a:rPr lang="ko-KR" altLang="en-US" sz="1800" dirty="0" smtClean="0"/>
              <a:t> 반복했을 때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얻어지는 운영방법</a:t>
            </a:r>
            <a:endParaRPr lang="en-US" altLang="ko-KR" sz="1800" dirty="0" smtClean="0"/>
          </a:p>
          <a:p>
            <a:pPr lvl="1"/>
            <a:r>
              <a:rPr lang="en-US" altLang="ko-KR" sz="1800" dirty="0" err="1" smtClean="0"/>
              <a:t>TSD</a:t>
            </a:r>
            <a:r>
              <a:rPr lang="en-US" altLang="ko-KR" sz="1800" baseline="-25000" dirty="0" err="1" smtClean="0"/>
              <a:t>t</a:t>
            </a:r>
            <a:r>
              <a:rPr lang="ko-KR" altLang="en-US" sz="1800" dirty="0" smtClean="0"/>
              <a:t>가 연간 일정 </a:t>
            </a:r>
            <a:r>
              <a:rPr lang="en-US" altLang="ko-KR" sz="1400" i="1" dirty="0" smtClean="0">
                <a:solidFill>
                  <a:srgbClr val="002060"/>
                </a:solidFill>
              </a:rPr>
              <a:t>(</a:t>
            </a:r>
            <a:r>
              <a:rPr lang="ko-KR" altLang="en-US" sz="1400" i="1" dirty="0" smtClean="0">
                <a:solidFill>
                  <a:srgbClr val="002060"/>
                </a:solidFill>
              </a:rPr>
              <a:t>매년 유입량이 일정할 때</a:t>
            </a:r>
            <a:r>
              <a:rPr lang="en-US" altLang="ko-KR" sz="1400" i="1" dirty="0" smtClean="0">
                <a:solidFill>
                  <a:srgbClr val="002060"/>
                </a:solidFill>
              </a:rPr>
              <a:t>)</a:t>
            </a:r>
            <a:endParaRPr lang="en-US" altLang="ko-KR" sz="1400" i="1" dirty="0">
              <a:solidFill>
                <a:srgbClr val="002060"/>
              </a:solidFill>
            </a:endParaRPr>
          </a:p>
          <a:p>
            <a:r>
              <a:rPr lang="en-US" altLang="ko-KR" sz="2200" dirty="0" smtClean="0"/>
              <a:t>Data</a:t>
            </a:r>
          </a:p>
          <a:p>
            <a:pPr lvl="1"/>
            <a:r>
              <a:rPr lang="en-US" altLang="ko-KR" dirty="0" smtClean="0"/>
              <a:t> Inflow</a:t>
            </a:r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013906"/>
              </p:ext>
            </p:extLst>
          </p:nvPr>
        </p:nvGraphicFramePr>
        <p:xfrm>
          <a:off x="1714500" y="3507581"/>
          <a:ext cx="3429000" cy="5676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9039032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64893655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672738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5702725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80795743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 dirty="0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1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 dirty="0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2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3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4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214144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Q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24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12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 dirty="0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6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u="none" strike="noStrike" dirty="0">
                          <a:effectLst/>
                          <a:latin typeface="1훈검정고무신 Regular" panose="02020603020101020101" pitchFamily="18" charset="-127"/>
                          <a:ea typeface="1훈검정고무신 Regular" panose="02020603020101020101" pitchFamily="18" charset="-127"/>
                        </a:rPr>
                        <a:t>18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1훈검정고무신 Regular" panose="02020603020101020101" pitchFamily="18" charset="-127"/>
                        <a:ea typeface="1훈검정고무신 Regular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4396174"/>
                  </a:ext>
                </a:extLst>
              </a:tr>
            </a:tbl>
          </a:graphicData>
        </a:graphic>
      </p:graphicFrame>
      <p:sp>
        <p:nvSpPr>
          <p:cNvPr id="17" name="직사각형 16"/>
          <p:cNvSpPr/>
          <p:nvPr/>
        </p:nvSpPr>
        <p:spPr>
          <a:xfrm>
            <a:off x="7750750" y="2483919"/>
            <a:ext cx="12170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dirty="0" smtClean="0">
                <a:latin typeface="서울남산 장체M" panose="02020603020101020101" pitchFamily="18" charset="-127"/>
                <a:ea typeface="서울남산 장체M" panose="02020603020101020101" pitchFamily="18" charset="-127"/>
              </a:rPr>
              <a:t>Losses </a:t>
            </a:r>
            <a:endParaRPr lang="en-US" altLang="ko-KR" sz="2000" dirty="0">
              <a:latin typeface="서울남산 장체M" panose="02020603020101020101" pitchFamily="18" charset="-127"/>
              <a:ea typeface="서울남산 장체M" panose="02020603020101020101" pitchFamily="18" charset="-127"/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325" y="4181168"/>
            <a:ext cx="2605087" cy="2470457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412" y="4281051"/>
            <a:ext cx="2843212" cy="2370574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800" y="3210431"/>
            <a:ext cx="2346045" cy="2333119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7904" y="4381753"/>
            <a:ext cx="2166060" cy="1901319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1724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Reservoir Operation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Solving Method</a:t>
            </a:r>
          </a:p>
          <a:p>
            <a:pPr lvl="1"/>
            <a:r>
              <a:rPr lang="en-US" altLang="ko-KR" b="1" dirty="0">
                <a:solidFill>
                  <a:srgbClr val="0033CC"/>
                </a:solidFill>
              </a:rPr>
              <a:t>Backward-moving</a:t>
            </a:r>
            <a:r>
              <a:rPr lang="en-US" altLang="ko-KR" b="1" dirty="0"/>
              <a:t> (Forward-looking)</a:t>
            </a:r>
          </a:p>
          <a:p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123950" y="2298978"/>
            <a:ext cx="6096000" cy="38779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6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L</a:t>
            </a:r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=</a:t>
            </a:r>
            <a:r>
              <a:rPr lang="ko-KR" altLang="en-US" sz="16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read.csv</a:t>
            </a:r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("D:/lose.csv")</a:t>
            </a:r>
          </a:p>
          <a:p>
            <a:r>
              <a:rPr lang="ko-KR" altLang="en-US" sz="16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Q</a:t>
            </a:r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=c(24,12,6,18)</a:t>
            </a:r>
          </a:p>
          <a:p>
            <a:r>
              <a:rPr lang="ko-KR" altLang="en-US" sz="16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</a:t>
            </a:r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=</a:t>
            </a:r>
            <a:r>
              <a:rPr lang="ko-KR" altLang="en-US" sz="16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rep</a:t>
            </a:r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(NA,5)</a:t>
            </a:r>
          </a:p>
          <a:p>
            <a:r>
              <a:rPr lang="ko-KR" altLang="en-US" sz="16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R</a:t>
            </a:r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=</a:t>
            </a:r>
            <a:r>
              <a:rPr lang="ko-KR" altLang="en-US" sz="16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array</a:t>
            </a:r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(</a:t>
            </a:r>
            <a:r>
              <a:rPr lang="ko-KR" altLang="en-US" sz="16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rep</a:t>
            </a:r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(NA,100),</a:t>
            </a:r>
            <a:r>
              <a:rPr lang="ko-KR" altLang="en-US" sz="16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dim</a:t>
            </a:r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=c(5,5,4))</a:t>
            </a:r>
          </a:p>
          <a:p>
            <a:endParaRPr lang="ko-KR" altLang="en-US" sz="1600" dirty="0">
              <a:latin typeface="1훈검정고무신 Regular" panose="02020603020101020101" pitchFamily="18" charset="-127"/>
              <a:ea typeface="1훈검정고무신 Regular" panose="02020603020101020101" pitchFamily="18" charset="-127"/>
            </a:endParaRPr>
          </a:p>
          <a:p>
            <a:r>
              <a:rPr lang="ko-KR" altLang="en-US" sz="16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for</a:t>
            </a:r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(</a:t>
            </a:r>
            <a:r>
              <a:rPr lang="ko-KR" altLang="en-US" sz="16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</a:t>
            </a:r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</a:t>
            </a:r>
            <a:r>
              <a:rPr lang="ko-KR" altLang="en-US" sz="16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in</a:t>
            </a:r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(4:1)){</a:t>
            </a:r>
          </a:p>
          <a:p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</a:t>
            </a:r>
            <a:r>
              <a:rPr lang="ko-KR" altLang="en-US" sz="16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for</a:t>
            </a:r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(</a:t>
            </a:r>
            <a:r>
              <a:rPr lang="ko-KR" altLang="en-US" sz="16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j</a:t>
            </a:r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</a:t>
            </a:r>
            <a:r>
              <a:rPr lang="ko-KR" altLang="en-US" sz="16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in</a:t>
            </a:r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(1:5)){</a:t>
            </a:r>
          </a:p>
          <a:p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</a:t>
            </a:r>
            <a:r>
              <a:rPr lang="ko-KR" altLang="en-US" sz="16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for</a:t>
            </a:r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(</a:t>
            </a:r>
            <a:r>
              <a:rPr lang="ko-KR" altLang="en-US" sz="16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</a:t>
            </a:r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</a:t>
            </a:r>
            <a:r>
              <a:rPr lang="ko-KR" altLang="en-US" sz="16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in</a:t>
            </a:r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(1:5)){</a:t>
            </a:r>
          </a:p>
          <a:p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</a:t>
            </a:r>
            <a:r>
              <a:rPr lang="ko-KR" altLang="en-US" sz="16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</a:t>
            </a:r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[t+1]=5*(j-1)</a:t>
            </a:r>
          </a:p>
          <a:p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</a:t>
            </a:r>
            <a:r>
              <a:rPr lang="ko-KR" altLang="en-US" sz="16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</a:t>
            </a:r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</a:t>
            </a:r>
            <a:r>
              <a:rPr lang="ko-KR" altLang="en-US" sz="16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</a:t>
            </a:r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]=5*(i-1)</a:t>
            </a:r>
          </a:p>
          <a:p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</a:t>
            </a:r>
            <a:r>
              <a:rPr lang="ko-KR" altLang="en-US" sz="16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a</a:t>
            </a:r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=</a:t>
            </a:r>
            <a:r>
              <a:rPr lang="ko-KR" altLang="en-US" sz="16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</a:t>
            </a:r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</a:t>
            </a:r>
            <a:r>
              <a:rPr lang="ko-KR" altLang="en-US" sz="16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</a:t>
            </a:r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]+</a:t>
            </a:r>
            <a:r>
              <a:rPr lang="ko-KR" altLang="en-US" sz="16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Q</a:t>
            </a:r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</a:t>
            </a:r>
            <a:r>
              <a:rPr lang="ko-KR" altLang="en-US" sz="16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</a:t>
            </a:r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]-</a:t>
            </a:r>
            <a:r>
              <a:rPr lang="ko-KR" altLang="en-US" sz="16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L</a:t>
            </a:r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</a:t>
            </a:r>
            <a:r>
              <a:rPr lang="ko-KR" altLang="en-US" sz="16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</a:t>
            </a:r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,(t-1)*5+j]</a:t>
            </a:r>
          </a:p>
          <a:p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</a:t>
            </a:r>
            <a:r>
              <a:rPr lang="ko-KR" altLang="en-US" sz="1600" u="sng" dirty="0" err="1">
                <a:solidFill>
                  <a:srgbClr val="0066FF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R</a:t>
            </a:r>
            <a:r>
              <a:rPr lang="ko-KR" altLang="en-US" sz="1600" u="sng" dirty="0">
                <a:solidFill>
                  <a:srgbClr val="0066FF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</a:t>
            </a:r>
            <a:r>
              <a:rPr lang="ko-KR" altLang="en-US" sz="1600" u="sng" dirty="0" err="1">
                <a:solidFill>
                  <a:srgbClr val="0066FF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i,j,t</a:t>
            </a:r>
            <a:r>
              <a:rPr lang="ko-KR" altLang="en-US" sz="1600" u="sng" dirty="0">
                <a:solidFill>
                  <a:srgbClr val="0066FF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]=</a:t>
            </a:r>
            <a:r>
              <a:rPr lang="ko-KR" altLang="en-US" sz="1600" u="sng" dirty="0" err="1">
                <a:solidFill>
                  <a:srgbClr val="0066FF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max</a:t>
            </a:r>
            <a:r>
              <a:rPr lang="ko-KR" altLang="en-US" sz="1600" u="sng" dirty="0">
                <a:solidFill>
                  <a:srgbClr val="0066FF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(</a:t>
            </a:r>
            <a:r>
              <a:rPr lang="ko-KR" altLang="en-US" sz="1600" u="sng" dirty="0" err="1">
                <a:solidFill>
                  <a:srgbClr val="0066FF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min</a:t>
            </a:r>
            <a:r>
              <a:rPr lang="ko-KR" altLang="en-US" sz="1600" u="sng" dirty="0">
                <a:solidFill>
                  <a:srgbClr val="0066FF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(</a:t>
            </a:r>
            <a:r>
              <a:rPr lang="ko-KR" altLang="en-US" sz="1600" u="sng" dirty="0" err="1">
                <a:solidFill>
                  <a:srgbClr val="0066FF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</a:t>
            </a:r>
            <a:r>
              <a:rPr lang="ko-KR" altLang="en-US" sz="1600" u="sng" dirty="0">
                <a:solidFill>
                  <a:srgbClr val="0066FF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</a:t>
            </a:r>
            <a:r>
              <a:rPr lang="ko-KR" altLang="en-US" sz="1600" u="sng" dirty="0" err="1">
                <a:solidFill>
                  <a:srgbClr val="0066FF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</a:t>
            </a:r>
            <a:r>
              <a:rPr lang="ko-KR" altLang="en-US" sz="1600" u="sng" dirty="0">
                <a:solidFill>
                  <a:srgbClr val="0066FF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]-</a:t>
            </a:r>
            <a:r>
              <a:rPr lang="ko-KR" altLang="en-US" sz="1600" u="sng" dirty="0" err="1">
                <a:solidFill>
                  <a:srgbClr val="0066FF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</a:t>
            </a:r>
            <a:r>
              <a:rPr lang="ko-KR" altLang="en-US" sz="1600" u="sng" dirty="0">
                <a:solidFill>
                  <a:srgbClr val="0066FF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[t+1]+</a:t>
            </a:r>
            <a:r>
              <a:rPr lang="ko-KR" altLang="en-US" sz="1600" u="sng" dirty="0" err="1">
                <a:solidFill>
                  <a:srgbClr val="0066FF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Q</a:t>
            </a:r>
            <a:r>
              <a:rPr lang="ko-KR" altLang="en-US" sz="1600" u="sng" dirty="0">
                <a:solidFill>
                  <a:srgbClr val="0066FF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</a:t>
            </a:r>
            <a:r>
              <a:rPr lang="ko-KR" altLang="en-US" sz="1600" u="sng" dirty="0" err="1">
                <a:solidFill>
                  <a:srgbClr val="0066FF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</a:t>
            </a:r>
            <a:r>
              <a:rPr lang="ko-KR" altLang="en-US" sz="1600" u="sng" dirty="0">
                <a:solidFill>
                  <a:srgbClr val="0066FF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]-</a:t>
            </a:r>
            <a:r>
              <a:rPr lang="ko-KR" altLang="en-US" sz="1600" u="sng" dirty="0" err="1">
                <a:solidFill>
                  <a:srgbClr val="0066FF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L</a:t>
            </a:r>
            <a:r>
              <a:rPr lang="ko-KR" altLang="en-US" sz="1600" u="sng" dirty="0">
                <a:solidFill>
                  <a:srgbClr val="0066FF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</a:t>
            </a:r>
            <a:r>
              <a:rPr lang="ko-KR" altLang="en-US" sz="1600" u="sng" dirty="0" err="1">
                <a:solidFill>
                  <a:srgbClr val="0066FF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</a:t>
            </a:r>
            <a:r>
              <a:rPr lang="ko-KR" altLang="en-US" sz="1600" u="sng" dirty="0">
                <a:solidFill>
                  <a:srgbClr val="0066FF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,(t-1)*5+j],</a:t>
            </a:r>
            <a:r>
              <a:rPr lang="ko-KR" altLang="en-US" sz="1600" u="sng" dirty="0" err="1">
                <a:solidFill>
                  <a:srgbClr val="0066FF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a</a:t>
            </a:r>
            <a:r>
              <a:rPr lang="ko-KR" altLang="en-US" sz="1600" u="sng" dirty="0">
                <a:solidFill>
                  <a:srgbClr val="0066FF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),a-20)</a:t>
            </a:r>
          </a:p>
          <a:p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}</a:t>
            </a:r>
          </a:p>
          <a:p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}</a:t>
            </a:r>
          </a:p>
          <a:p>
            <a:r>
              <a:rPr lang="ko-KR" altLang="en-US" sz="16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}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079500"/>
            <a:ext cx="5619750" cy="57340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950" y="238125"/>
            <a:ext cx="3629025" cy="6619875"/>
          </a:xfrm>
          <a:prstGeom prst="rect">
            <a:avLst/>
          </a:prstGeom>
          <a:ln w="28575">
            <a:solidFill>
              <a:srgbClr val="FF0066"/>
            </a:solidFill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028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Reservoir Operation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196148"/>
            <a:ext cx="10515600" cy="4919663"/>
          </a:xfrm>
        </p:spPr>
        <p:txBody>
          <a:bodyPr/>
          <a:lstStyle/>
          <a:p>
            <a:r>
              <a:rPr lang="en-US" altLang="ko-KR" dirty="0"/>
              <a:t>Solving Method</a:t>
            </a:r>
          </a:p>
          <a:p>
            <a:pPr lvl="1"/>
            <a:r>
              <a:rPr lang="en-US" altLang="ko-KR" b="1" dirty="0">
                <a:solidFill>
                  <a:srgbClr val="0033CC"/>
                </a:solidFill>
              </a:rPr>
              <a:t>Backward-moving</a:t>
            </a:r>
            <a:r>
              <a:rPr lang="en-US" altLang="ko-KR" b="1" dirty="0"/>
              <a:t> (Forward-looking)</a:t>
            </a:r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2" y="2063640"/>
            <a:ext cx="4576981" cy="260382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2102183"/>
            <a:ext cx="3386137" cy="238771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1037" y="1828800"/>
            <a:ext cx="3890963" cy="25072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38939" y="5220600"/>
            <a:ext cx="7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/>
              <a:t>…</a:t>
            </a:r>
            <a:endParaRPr lang="ko-KR" altLang="en-US" sz="3200" b="1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5"/>
          <a:srcRect t="5660"/>
          <a:stretch/>
        </p:blipFill>
        <p:spPr>
          <a:xfrm>
            <a:off x="2857500" y="4552228"/>
            <a:ext cx="4212432" cy="22647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69522" y="5220600"/>
            <a:ext cx="7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/>
              <a:t>…</a:t>
            </a:r>
            <a:endParaRPr lang="ko-KR" altLang="en-US" sz="3200" b="1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3363" y="4510881"/>
            <a:ext cx="4167187" cy="2287423"/>
          </a:xfrm>
          <a:prstGeom prst="rect">
            <a:avLst/>
          </a:prstGeom>
        </p:spPr>
      </p:pic>
      <p:sp>
        <p:nvSpPr>
          <p:cNvPr id="12" name="아래쪽 화살표 11"/>
          <p:cNvSpPr/>
          <p:nvPr/>
        </p:nvSpPr>
        <p:spPr>
          <a:xfrm rot="16200000">
            <a:off x="4663230" y="3145600"/>
            <a:ext cx="376237" cy="324669"/>
          </a:xfrm>
          <a:prstGeom prst="downArrow">
            <a:avLst/>
          </a:prstGeom>
          <a:solidFill>
            <a:srgbClr val="F9B3CE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아래쪽 화살표 12"/>
          <p:cNvSpPr/>
          <p:nvPr/>
        </p:nvSpPr>
        <p:spPr>
          <a:xfrm rot="16200000">
            <a:off x="8040662" y="3100390"/>
            <a:ext cx="376237" cy="324669"/>
          </a:xfrm>
          <a:prstGeom prst="downArrow">
            <a:avLst/>
          </a:prstGeom>
          <a:solidFill>
            <a:srgbClr val="F9B3CE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아래쪽 화살표 13"/>
          <p:cNvSpPr/>
          <p:nvPr/>
        </p:nvSpPr>
        <p:spPr>
          <a:xfrm rot="16200000">
            <a:off x="2714216" y="5472488"/>
            <a:ext cx="376237" cy="324669"/>
          </a:xfrm>
          <a:prstGeom prst="downArrow">
            <a:avLst/>
          </a:prstGeom>
          <a:solidFill>
            <a:srgbClr val="F9B3CE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아래쪽 화살표 14"/>
          <p:cNvSpPr/>
          <p:nvPr/>
        </p:nvSpPr>
        <p:spPr>
          <a:xfrm rot="16200000">
            <a:off x="7684294" y="5501557"/>
            <a:ext cx="376237" cy="324669"/>
          </a:xfrm>
          <a:prstGeom prst="downArrow">
            <a:avLst/>
          </a:prstGeom>
          <a:solidFill>
            <a:srgbClr val="F9B3CE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3295650" y="2867025"/>
            <a:ext cx="1171575" cy="1643856"/>
          </a:xfrm>
          <a:prstGeom prst="rect">
            <a:avLst/>
          </a:prstGeom>
          <a:noFill/>
          <a:ln w="28575">
            <a:solidFill>
              <a:srgbClr val="FF0066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8828484" y="2474114"/>
            <a:ext cx="2216944" cy="1643856"/>
          </a:xfrm>
          <a:prstGeom prst="rect">
            <a:avLst/>
          </a:prstGeom>
          <a:noFill/>
          <a:ln w="28575">
            <a:solidFill>
              <a:srgbClr val="FF0066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6132314" y="5085301"/>
            <a:ext cx="382786" cy="1643856"/>
          </a:xfrm>
          <a:prstGeom prst="rect">
            <a:avLst/>
          </a:prstGeom>
          <a:noFill/>
          <a:ln w="28575">
            <a:solidFill>
              <a:srgbClr val="FF0066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11122726" y="5085301"/>
            <a:ext cx="382786" cy="1643856"/>
          </a:xfrm>
          <a:prstGeom prst="rect">
            <a:avLst/>
          </a:prstGeom>
          <a:noFill/>
          <a:ln w="28575">
            <a:solidFill>
              <a:srgbClr val="FF0066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3616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Reservoir Operation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196148"/>
            <a:ext cx="10515600" cy="4919663"/>
          </a:xfrm>
        </p:spPr>
        <p:txBody>
          <a:bodyPr/>
          <a:lstStyle/>
          <a:p>
            <a:r>
              <a:rPr lang="en-US" altLang="ko-KR" dirty="0"/>
              <a:t>Solving Method</a:t>
            </a:r>
          </a:p>
          <a:p>
            <a:pPr lvl="1"/>
            <a:r>
              <a:rPr lang="en-US" altLang="ko-KR" b="1" dirty="0">
                <a:solidFill>
                  <a:srgbClr val="0033CC"/>
                </a:solidFill>
              </a:rPr>
              <a:t>Backward-moving</a:t>
            </a:r>
            <a:r>
              <a:rPr lang="en-US" altLang="ko-KR" b="1" dirty="0"/>
              <a:t> (Forward-looking)</a:t>
            </a:r>
          </a:p>
          <a:p>
            <a:endParaRPr lang="ko-KR" altLang="en-US"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487" y="430179"/>
            <a:ext cx="5724525" cy="6162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29" y="2119313"/>
            <a:ext cx="5125746" cy="23383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856" y="5235576"/>
            <a:ext cx="5343525" cy="5238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5804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Reservoir Operation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Solving Method</a:t>
            </a:r>
          </a:p>
          <a:p>
            <a:pPr lvl="1"/>
            <a:r>
              <a:rPr lang="en-US" altLang="ko-KR" b="1" dirty="0">
                <a:solidFill>
                  <a:srgbClr val="0033CC"/>
                </a:solidFill>
              </a:rPr>
              <a:t>Backward-moving</a:t>
            </a:r>
            <a:r>
              <a:rPr lang="en-US" altLang="ko-KR" b="1" dirty="0"/>
              <a:t> (Forward-looking)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5141076" y="654754"/>
            <a:ext cx="6848475" cy="61247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for(r in (1:4)){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for(t in (4:1)){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k=k+1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l=l+1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for(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in (1:5)){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for(j in (1:5)){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S[i,j,t+1]=5*(j-1)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S[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i,j,t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]=5*(i-1)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a=S[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i,j,t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]+Q[t]-L[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,(t-1)*5+j]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R[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i,j,t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]=max(max(min(S[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i,j,t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]-S[i,j,t+1]+Q[t]-L[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,(t-1)*5+j],a),a-20),0)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ES[t]=max(0,S[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i,j,t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]-TSF[t])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ES[t+1]=max(0,S[i,j,t+1]-TSF[t+1])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DR[t]=max(0,TR[t]-R[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i,j,t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])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if(max(min(S[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i,j,t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]-S[i,j,t+1]+Q[t]-L[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,(t-1)*5+j],a),a-20)&lt;0){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  TSD[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i,j,t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]=</a:t>
            </a:r>
            <a:r>
              <a:rPr lang="en-US" altLang="ko-KR" sz="1400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99999    }    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else{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TSD[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i,j,t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]=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ws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[t]*((TSR[t]-S[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i,j,t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])^2+(TSR[t]-S[i,j,t+1])^2)+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wf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[t]*(ES[t]^2)+</a:t>
            </a:r>
            <a:r>
              <a:rPr lang="en-US" altLang="ko-KR" sz="1600" b="1" dirty="0" err="1">
                <a:solidFill>
                  <a:srgbClr val="0066FF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wf</a:t>
            </a:r>
            <a:r>
              <a:rPr lang="en-US" altLang="ko-KR" sz="1600" b="1" dirty="0">
                <a:solidFill>
                  <a:srgbClr val="0066FF"/>
                </a:solidFill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[t+1]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*(ES[t+1]^2)+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wr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[t]*DR[t]^2+F_[j,k-1</a:t>
            </a:r>
            <a:r>
              <a:rPr lang="en-US" altLang="ko-KR" sz="1400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    }    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}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F_[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i,k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]=min(TSD[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,,t])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for(j in (1:5)){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if(F_[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i,k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]==TSD[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i,j,t</a:t>
            </a:r>
            <a:r>
              <a:rPr lang="en-US" altLang="ko-KR" sz="1400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]){      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RR_mn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i,j,t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]=R[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i,j,t</a:t>
            </a:r>
            <a:r>
              <a:rPr lang="en-US" altLang="ko-KR" sz="1400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    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}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else</a:t>
            </a:r>
            <a:r>
              <a:rPr lang="en-US" altLang="ko-KR" sz="1400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{      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RR_mn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i,j,t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]=</a:t>
            </a:r>
            <a:r>
              <a:rPr lang="en-US" altLang="ko-KR" sz="1400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1000    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}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R_mn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i,l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]=min(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RR_mn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,,t])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}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for(j in (1:5)){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  if(F_[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i,k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]==TSD[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i,j,t</a:t>
            </a:r>
            <a:r>
              <a:rPr lang="en-US" altLang="ko-KR" sz="1400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]){        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RR_mx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i,j,t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]=R[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i,j,t</a:t>
            </a:r>
            <a:r>
              <a:rPr lang="en-US" altLang="ko-KR" sz="1400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      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}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  else</a:t>
            </a:r>
            <a:r>
              <a:rPr lang="en-US" altLang="ko-KR" sz="1400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{        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RR_mx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i,j,t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]=</a:t>
            </a:r>
            <a:r>
              <a:rPr lang="en-US" altLang="ko-KR" sz="1400" dirty="0" smtClean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0      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}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  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R_mx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i,l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]=max(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RR_mx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[</a:t>
            </a:r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i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,,t])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    }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81990" y="1199373"/>
            <a:ext cx="4302876" cy="5478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L=read.csv("D:/lose.csv")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Q=c(24,12,6,18)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S=array(rep(NA,100),dim=c(5,5,5))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R=array(rep(NA,100),dim=c(5,5,4))</a:t>
            </a:r>
          </a:p>
          <a:p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ws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=c(0,1,1,0,0)</a:t>
            </a:r>
          </a:p>
          <a:p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wf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=c(1,0,0,0,1)</a:t>
            </a:r>
          </a:p>
          <a:p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wr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=c(1,1,1,1,1)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TSR=c(0,20,20,0,0)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TSF=c(15,0,0,0,15)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TR=c(10,15,20,15,10)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F_=matrix(0,nrow=5,ncol=20)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k=1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ES=c(0,0,0,0,0)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DR=c(0,0,0,0)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TSD=array(rep(NA,100),dim=c(5,5,4))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l=0</a:t>
            </a:r>
          </a:p>
          <a:p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F_[,1]=c(0,0,0,0,0)</a:t>
            </a:r>
          </a:p>
          <a:p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R_mn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=matrix(0,nrow=5,ncol=20)</a:t>
            </a:r>
          </a:p>
          <a:p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R_mx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=matrix(0,nrow=5,ncol=20)</a:t>
            </a:r>
          </a:p>
          <a:p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RR_mn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=array(rep(NA,100),dim=c(5,5,4))</a:t>
            </a:r>
          </a:p>
          <a:p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RR_mx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=array(rep(NA,100),dim=c(5,5,4))</a:t>
            </a:r>
          </a:p>
          <a:p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S_mn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=matrix(0,nrow=5,ncol=20)</a:t>
            </a:r>
          </a:p>
          <a:p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S_mx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=matrix(0,nrow=5,ncol=20)</a:t>
            </a:r>
          </a:p>
          <a:p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SS_mn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=array(rep(NA,100),dim=c(5,5,4))</a:t>
            </a:r>
          </a:p>
          <a:p>
            <a:r>
              <a:rPr lang="en-US" altLang="ko-KR" sz="1400" dirty="0" err="1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SS_mx</a:t>
            </a:r>
            <a:r>
              <a:rPr lang="en-US" altLang="ko-KR" sz="1400" dirty="0">
                <a:latin typeface="1훈검정고무신 Regular" panose="02020603020101020101" pitchFamily="18" charset="-127"/>
                <a:ea typeface="1훈검정고무신 Regular" panose="02020603020101020101" pitchFamily="18" charset="-127"/>
              </a:rPr>
              <a:t>=array(rep(NA,100),dim=c(5,5,4))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250" y="1437710"/>
            <a:ext cx="4924425" cy="7239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타원 8"/>
          <p:cNvSpPr/>
          <p:nvPr/>
        </p:nvSpPr>
        <p:spPr>
          <a:xfrm>
            <a:off x="7680960" y="1770154"/>
            <a:ext cx="1953491" cy="461402"/>
          </a:xfrm>
          <a:prstGeom prst="ellipse">
            <a:avLst/>
          </a:prstGeom>
          <a:noFill/>
          <a:ln>
            <a:solidFill>
              <a:srgbClr val="0066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>
            <a:stCxn id="9" idx="4"/>
          </p:cNvCxnSpPr>
          <p:nvPr/>
        </p:nvCxnSpPr>
        <p:spPr>
          <a:xfrm flipH="1">
            <a:off x="7905404" y="2231556"/>
            <a:ext cx="752302" cy="1933120"/>
          </a:xfrm>
          <a:prstGeom prst="straightConnector1">
            <a:avLst/>
          </a:prstGeom>
          <a:ln w="28575">
            <a:solidFill>
              <a:srgbClr val="0066FF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9585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Reservoir Operation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 smtClean="0"/>
              <a:t>R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5" y="2163128"/>
            <a:ext cx="11687175" cy="28575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5099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Reservoir Operation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 smtClean="0"/>
              <a:t>F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05" y="2293408"/>
            <a:ext cx="11875790" cy="26942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27188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Reservoir Operation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-350520" y="1079500"/>
            <a:ext cx="10515600" cy="4919663"/>
          </a:xfrm>
        </p:spPr>
        <p:txBody>
          <a:bodyPr/>
          <a:lstStyle/>
          <a:p>
            <a:pPr lvl="1"/>
            <a:r>
              <a:rPr lang="en-US" altLang="ko-KR" dirty="0" smtClean="0"/>
              <a:t>S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133" y="1213369"/>
            <a:ext cx="10048875" cy="2287069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5" name="차트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1887262"/>
              </p:ext>
            </p:extLst>
          </p:nvPr>
        </p:nvGraphicFramePr>
        <p:xfrm>
          <a:off x="3687155" y="369357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0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/>
          <p:cNvSpPr/>
          <p:nvPr/>
        </p:nvSpPr>
        <p:spPr>
          <a:xfrm rot="16200000">
            <a:off x="10464800" y="5143500"/>
            <a:ext cx="2019300" cy="1358900"/>
          </a:xfrm>
          <a:prstGeom prst="rtTriangl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/>
          <p:cNvSpPr/>
          <p:nvPr/>
        </p:nvSpPr>
        <p:spPr>
          <a:xfrm rot="5400000">
            <a:off x="-323850" y="374650"/>
            <a:ext cx="2019300" cy="1320800"/>
          </a:xfrm>
          <a:prstGeom prst="rtTriangl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65201" y="1641878"/>
            <a:ext cx="9969500" cy="2387600"/>
          </a:xfrm>
        </p:spPr>
        <p:txBody>
          <a:bodyPr>
            <a:normAutofit/>
          </a:bodyPr>
          <a:lstStyle/>
          <a:p>
            <a:r>
              <a:rPr lang="en-US" altLang="ko-KR" sz="6600" b="1" u="sng" dirty="0" smtClean="0">
                <a:solidFill>
                  <a:srgbClr val="0033CC"/>
                </a:solidFill>
                <a:latin typeface="1훈정글북 Regular" panose="02020603020101020101" pitchFamily="18" charset="-127"/>
                <a:ea typeface="1훈정글북 Regular" panose="02020603020101020101" pitchFamily="18" charset="-127"/>
              </a:rPr>
              <a:t>Thank You! </a:t>
            </a:r>
            <a:endParaRPr lang="ko-KR" altLang="en-US" sz="5400" b="1" u="sng" dirty="0">
              <a:latin typeface="1훈정글북 Regular" panose="02020603020101020101" pitchFamily="18" charset="-127"/>
              <a:ea typeface="1훈정글북 Regular" panose="02020603020101020101" pitchFamily="18" charset="-127"/>
            </a:endParaRPr>
          </a:p>
        </p:txBody>
      </p:sp>
      <p:sp>
        <p:nvSpPr>
          <p:cNvPr id="9" name="직각 삼각형 8"/>
          <p:cNvSpPr/>
          <p:nvPr/>
        </p:nvSpPr>
        <p:spPr>
          <a:xfrm rot="5400000">
            <a:off x="-514350" y="565150"/>
            <a:ext cx="2019300" cy="939800"/>
          </a:xfrm>
          <a:prstGeom prst="rtTriangle">
            <a:avLst/>
          </a:prstGeom>
          <a:solidFill>
            <a:srgbClr val="003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각 삼각형 13"/>
          <p:cNvSpPr/>
          <p:nvPr/>
        </p:nvSpPr>
        <p:spPr>
          <a:xfrm rot="5400000" flipH="1" flipV="1">
            <a:off x="10674350" y="5353050"/>
            <a:ext cx="2019300" cy="939800"/>
          </a:xfrm>
          <a:prstGeom prst="rtTriangle">
            <a:avLst/>
          </a:prstGeom>
          <a:solidFill>
            <a:srgbClr val="003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72093" y="1652151"/>
            <a:ext cx="1094462" cy="1221972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BA681-C674-4C5B-BC35-EA6BE8836747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398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1003</TotalTime>
  <Words>1402</Words>
  <Application>Microsoft Office PowerPoint</Application>
  <PresentationFormat>와이드스크린</PresentationFormat>
  <Paragraphs>409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3" baseType="lpstr">
      <vt:lpstr>1훈검정고무신 Regular</vt:lpstr>
      <vt:lpstr>1훈정글북 Regular</vt:lpstr>
      <vt:lpstr>Berkeley-Book</vt:lpstr>
      <vt:lpstr>서울남산 장체B</vt:lpstr>
      <vt:lpstr>서울남산 장체EB</vt:lpstr>
      <vt:lpstr>서울남산 장체L</vt:lpstr>
      <vt:lpstr>서울남산 장체M</vt:lpstr>
      <vt:lpstr>Arial</vt:lpstr>
      <vt:lpstr>Wingdings</vt:lpstr>
      <vt:lpstr>맑은 고딕</vt:lpstr>
      <vt:lpstr>Office 테마</vt:lpstr>
      <vt:lpstr>Dynamic Programming</vt:lpstr>
      <vt:lpstr>Definition</vt:lpstr>
      <vt:lpstr>“Water Allocation Example”</vt:lpstr>
      <vt:lpstr>Water Allocation Example</vt:lpstr>
      <vt:lpstr>Water Allocation Example</vt:lpstr>
      <vt:lpstr>Water Allocation Example</vt:lpstr>
      <vt:lpstr>Water Allocation Example</vt:lpstr>
      <vt:lpstr>Water Allocation Example</vt:lpstr>
      <vt:lpstr>Water Allocation Example</vt:lpstr>
      <vt:lpstr>Water Allocation Example</vt:lpstr>
      <vt:lpstr>Water Allocation Example</vt:lpstr>
      <vt:lpstr>Water Allocation Example</vt:lpstr>
      <vt:lpstr>“Capacity Expansion”</vt:lpstr>
      <vt:lpstr>Capacity Expansion</vt:lpstr>
      <vt:lpstr>Capacity Expansion</vt:lpstr>
      <vt:lpstr>Capacity Expansion</vt:lpstr>
      <vt:lpstr>Capacity Expansion</vt:lpstr>
      <vt:lpstr>Capacity Expansion</vt:lpstr>
      <vt:lpstr>Capacity Expansion</vt:lpstr>
      <vt:lpstr>Capacity Expansion</vt:lpstr>
      <vt:lpstr>“Reservoir Operation”</vt:lpstr>
      <vt:lpstr>“Reservoir Operation”</vt:lpstr>
      <vt:lpstr>Reservoir Operation</vt:lpstr>
      <vt:lpstr>Reservoir Operation</vt:lpstr>
      <vt:lpstr>Reservoir Operation</vt:lpstr>
      <vt:lpstr>Reservoir Operation</vt:lpstr>
      <vt:lpstr>Reservoir Operation</vt:lpstr>
      <vt:lpstr>Reservoir Operation</vt:lpstr>
      <vt:lpstr>Reservoir Operation</vt:lpstr>
      <vt:lpstr>Reservoir Operation</vt:lpstr>
      <vt:lpstr>Reservoir Operation</vt:lpstr>
      <vt:lpstr>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Dynammic Programming</dc:title>
  <dc:creator>윤해나</dc:creator>
  <cp:lastModifiedBy>윤해나</cp:lastModifiedBy>
  <cp:revision>103</cp:revision>
  <cp:lastPrinted>2017-04-05T04:09:18Z</cp:lastPrinted>
  <dcterms:created xsi:type="dcterms:W3CDTF">2017-03-29T11:26:08Z</dcterms:created>
  <dcterms:modified xsi:type="dcterms:W3CDTF">2017-04-05T04:20:47Z</dcterms:modified>
</cp:coreProperties>
</file>