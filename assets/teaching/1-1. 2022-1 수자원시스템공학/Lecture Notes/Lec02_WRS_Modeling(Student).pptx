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694" r:id="rId3"/>
    <p:sldId id="714" r:id="rId4"/>
    <p:sldId id="712" r:id="rId5"/>
    <p:sldId id="701" r:id="rId6"/>
    <p:sldId id="717" r:id="rId7"/>
    <p:sldId id="718" r:id="rId8"/>
    <p:sldId id="707" r:id="rId9"/>
    <p:sldId id="708" r:id="rId10"/>
    <p:sldId id="709" r:id="rId11"/>
    <p:sldId id="703" r:id="rId12"/>
    <p:sldId id="705" r:id="rId13"/>
    <p:sldId id="704" r:id="rId14"/>
    <p:sldId id="720" r:id="rId15"/>
    <p:sldId id="719" r:id="rId16"/>
    <p:sldId id="721" r:id="rId17"/>
    <p:sldId id="702" r:id="rId18"/>
    <p:sldId id="713" r:id="rId19"/>
    <p:sldId id="715" r:id="rId20"/>
    <p:sldId id="722" r:id="rId21"/>
    <p:sldId id="716" r:id="rId22"/>
    <p:sldId id="723" r:id="rId23"/>
    <p:sldId id="724" r:id="rId24"/>
    <p:sldId id="725" r:id="rId25"/>
    <p:sldId id="726" r:id="rId26"/>
    <p:sldId id="728" r:id="rId27"/>
    <p:sldId id="711" r:id="rId28"/>
    <p:sldId id="700" r:id="rId29"/>
    <p:sldId id="698" r:id="rId30"/>
    <p:sldId id="706" r:id="rId31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23" autoAdjust="0"/>
    <p:restoredTop sz="95710" autoAdjust="0"/>
  </p:normalViewPr>
  <p:slideViewPr>
    <p:cSldViewPr>
      <p:cViewPr varScale="1">
        <p:scale>
          <a:sx n="111" d="100"/>
          <a:sy n="111" d="100"/>
        </p:scale>
        <p:origin x="13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0763" tIns="45382" rIns="90763" bIns="4538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2022-03-15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ec.usace.army.mil/software/default.aspx" TargetMode="Externa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02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4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Water Resources Systems</a:t>
            </a:r>
          </a:p>
          <a:p>
            <a:r>
              <a:rPr lang="en-US" altLang="ko-KR" sz="3600" dirty="0"/>
              <a:t>Modeling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Overview of WRSA</a:t>
            </a:r>
          </a:p>
          <a:p>
            <a:pPr lvl="1"/>
            <a:r>
              <a:rPr lang="en-US" altLang="ko-KR" dirty="0"/>
              <a:t> A water resources system is the whole made from connected </a:t>
            </a:r>
            <a:r>
              <a:rPr lang="en-US" altLang="ko-KR" b="1" i="1" dirty="0"/>
              <a:t>hydrologic, infrastructure, ecologic, and human processes that involve water</a:t>
            </a:r>
            <a:r>
              <a:rPr lang="en-US" altLang="ko-KR" dirty="0"/>
              <a:t>. (Brown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al.</a:t>
            </a:r>
            <a:r>
              <a:rPr lang="ko-KR" altLang="en-US" dirty="0"/>
              <a:t> </a:t>
            </a:r>
            <a:r>
              <a:rPr lang="en-US" altLang="ko-KR" dirty="0"/>
              <a:t>2015)</a:t>
            </a:r>
          </a:p>
          <a:p>
            <a:r>
              <a:rPr lang="en-US" altLang="ko-KR" dirty="0"/>
              <a:t> WRSA-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en-US" altLang="ko-KR" b="1" i="1" dirty="0">
                <a:solidFill>
                  <a:schemeClr val="bg1"/>
                </a:solidFill>
              </a:rPr>
              <a:t>“Wicked”</a:t>
            </a:r>
            <a:r>
              <a:rPr lang="en-US" altLang="ko-KR" dirty="0">
                <a:solidFill>
                  <a:schemeClr val="bg1"/>
                </a:solidFill>
              </a:rPr>
              <a:t> Problems?</a:t>
            </a:r>
            <a:r>
              <a:rPr lang="en-US" altLang="ko-KR" dirty="0"/>
              <a:t>  </a:t>
            </a:r>
          </a:p>
          <a:p>
            <a:pPr lvl="1"/>
            <a:r>
              <a:rPr lang="en-US" altLang="ko-KR" dirty="0"/>
              <a:t> “</a:t>
            </a:r>
            <a:r>
              <a:rPr lang="en-US" altLang="ko-KR" b="1" dirty="0"/>
              <a:t>Defining</a:t>
            </a:r>
            <a:r>
              <a:rPr lang="en-US" altLang="ko-KR" dirty="0"/>
              <a:t> the problem is the problem itself”</a:t>
            </a:r>
          </a:p>
          <a:p>
            <a:r>
              <a:rPr lang="en-US" altLang="ko-KR" dirty="0"/>
              <a:t> 23 Unsolved Problems in Hydrology (UPH)</a:t>
            </a:r>
          </a:p>
          <a:p>
            <a:pPr lvl="1"/>
            <a:r>
              <a:rPr lang="en-US" altLang="ko-KR" dirty="0"/>
              <a:t> “Why” “What” &amp; “How” questions</a:t>
            </a:r>
          </a:p>
          <a:p>
            <a:pPr lvl="1"/>
            <a:r>
              <a:rPr lang="en-US" altLang="ko-KR" dirty="0"/>
              <a:t> Real-world Example of WRSE problem: </a:t>
            </a:r>
            <a:r>
              <a:rPr lang="ko-KR" altLang="en-US" dirty="0"/>
              <a:t>보령 다목적댐</a:t>
            </a:r>
            <a:endParaRPr lang="en-US" altLang="ko-KR" dirty="0"/>
          </a:p>
          <a:p>
            <a:pPr lvl="1"/>
            <a:endParaRPr lang="en-US" altLang="ko-KR" sz="1100" dirty="0"/>
          </a:p>
          <a:p>
            <a:r>
              <a:rPr lang="en-US" altLang="ko-KR" b="1" dirty="0">
                <a:solidFill>
                  <a:srgbClr val="FF0000"/>
                </a:solidFill>
              </a:rPr>
              <a:t> Future of WRSA? (Reed &amp; </a:t>
            </a:r>
            <a:r>
              <a:rPr lang="en-US" altLang="ko-KR" b="1" dirty="0" err="1">
                <a:solidFill>
                  <a:srgbClr val="FF0000"/>
                </a:solidFill>
              </a:rPr>
              <a:t>Kasprzyk</a:t>
            </a:r>
            <a:r>
              <a:rPr lang="en-US" altLang="ko-KR" b="1" dirty="0">
                <a:solidFill>
                  <a:srgbClr val="FF0000"/>
                </a:solidFill>
              </a:rPr>
              <a:t> 2009)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>
                <a:solidFill>
                  <a:schemeClr val="bg1"/>
                </a:solidFill>
              </a:rPr>
              <a:t>Constructive Modeling …</a:t>
            </a:r>
            <a:r>
              <a:rPr lang="en-US" altLang="ko-KR" b="1" i="1" dirty="0">
                <a:solidFill>
                  <a:schemeClr val="bg1"/>
                </a:solidFill>
              </a:rPr>
              <a:t> Interfaces with society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02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DSS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chemeClr val="bg1"/>
                </a:solidFill>
              </a:rPr>
              <a:t>Decision Support Systems (</a:t>
            </a:r>
            <a:r>
              <a:rPr lang="ko-KR" altLang="en-US" dirty="0">
                <a:solidFill>
                  <a:schemeClr val="bg1"/>
                </a:solidFill>
              </a:rPr>
              <a:t>의사결정 지원 시스템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br>
              <a:rPr lang="en-US" altLang="ko-KR" dirty="0"/>
            </a:br>
            <a:r>
              <a:rPr lang="en-US" altLang="ko-KR" dirty="0"/>
              <a:t>= computerized program used to support determinations, judgments, and courses of action in an organization or a business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SVP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Shared Vision Planning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SVPM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Shared Vision Planning </a:t>
            </a:r>
            <a:br>
              <a:rPr lang="en-US" altLang="ko-KR" dirty="0"/>
            </a:br>
            <a:r>
              <a:rPr lang="en-US" altLang="ko-KR" dirty="0"/>
              <a:t>Model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B35CBF-C355-4E6C-BA74-E98E96DEC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67" y="2920575"/>
            <a:ext cx="4057480" cy="36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Today’s Topic: WRS Modeling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FD65A9-2377-4E4C-93FD-F4204BEB8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Modeling</a:t>
            </a:r>
            <a:r>
              <a:rPr lang="ko-KR" altLang="en-US" dirty="0"/>
              <a:t> </a:t>
            </a:r>
            <a:r>
              <a:rPr lang="en-US" altLang="ko-KR" dirty="0"/>
              <a:t>Water</a:t>
            </a:r>
            <a:r>
              <a:rPr lang="ko-KR" altLang="en-US" dirty="0"/>
              <a:t> </a:t>
            </a:r>
            <a:r>
              <a:rPr lang="en-US" altLang="ko-KR" dirty="0"/>
              <a:t>Resources</a:t>
            </a:r>
            <a:r>
              <a:rPr lang="ko-KR" altLang="en-US" dirty="0"/>
              <a:t> </a:t>
            </a:r>
            <a:r>
              <a:rPr lang="en-US" altLang="ko-KR" dirty="0"/>
              <a:t>Systems</a:t>
            </a:r>
          </a:p>
          <a:p>
            <a:r>
              <a:rPr lang="en-US" altLang="ko-KR" dirty="0"/>
              <a:t> Types of Water Resources Systems Models</a:t>
            </a:r>
          </a:p>
          <a:p>
            <a:r>
              <a:rPr lang="en-US" altLang="ko-KR" dirty="0"/>
              <a:t> Examples of Water Resources Systems Models</a:t>
            </a:r>
          </a:p>
          <a:p>
            <a:endParaRPr lang="en-US" altLang="ko-KR" dirty="0"/>
          </a:p>
          <a:p>
            <a:r>
              <a:rPr lang="en-US" altLang="ko-KR" dirty="0"/>
              <a:t> Training with Systems Modeling (LAPTOP)</a:t>
            </a:r>
          </a:p>
          <a:p>
            <a:pPr lvl="1"/>
            <a:r>
              <a:rPr lang="en-US" altLang="ko-KR" dirty="0"/>
              <a:t> Assignment</a:t>
            </a:r>
            <a:r>
              <a:rPr lang="ko-KR" altLang="en-US" dirty="0"/>
              <a:t> </a:t>
            </a:r>
            <a:r>
              <a:rPr lang="en-US" altLang="ko-KR" dirty="0"/>
              <a:t>#1</a:t>
            </a:r>
            <a:r>
              <a:rPr lang="ko-KR" altLang="en-US" dirty="0"/>
              <a:t>의 </a:t>
            </a:r>
            <a:r>
              <a:rPr lang="en-US" altLang="ko-KR" dirty="0"/>
              <a:t>#4-C</a:t>
            </a:r>
            <a:r>
              <a:rPr lang="ko-KR" altLang="en-US" dirty="0"/>
              <a:t>에서부터 실제 </a:t>
            </a:r>
            <a:r>
              <a:rPr lang="ko-KR" altLang="en-US" dirty="0" err="1"/>
              <a:t>보령댐</a:t>
            </a:r>
            <a:r>
              <a:rPr lang="ko-KR" altLang="en-US" dirty="0"/>
              <a:t> 저수지 운영 모델을 </a:t>
            </a:r>
            <a:r>
              <a:rPr lang="en-US" altLang="ko-KR" dirty="0"/>
              <a:t>Microsoft Excel</a:t>
            </a:r>
            <a:r>
              <a:rPr lang="ko-KR" altLang="en-US" dirty="0"/>
              <a:t>을 통해서 만들어 볼 예정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33CB0-ADD4-4202-B6DA-1F6C7FF1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A11E3-456F-4DAC-A35B-302006657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Models </a:t>
            </a:r>
            <a:br>
              <a:rPr lang="en-US" altLang="ko-KR" dirty="0"/>
            </a:br>
            <a:r>
              <a:rPr lang="en-US" altLang="ko-KR" dirty="0"/>
              <a:t>=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“Simplified Representations”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of the real-world systems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실제 시스템의 단순화된 표현방법</a:t>
            </a:r>
            <a:r>
              <a:rPr lang="en-US" altLang="ko-KR" dirty="0"/>
              <a:t>, </a:t>
            </a:r>
            <a:r>
              <a:rPr lang="ko-KR" altLang="en-US" dirty="0"/>
              <a:t>모델링을 하는 목적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모델을 사용하는 이유 </a:t>
            </a:r>
            <a:r>
              <a:rPr lang="en-US" altLang="ko-KR" dirty="0"/>
              <a:t>(</a:t>
            </a:r>
            <a:r>
              <a:rPr lang="ko-KR" altLang="en-US" dirty="0"/>
              <a:t>목적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예측</a:t>
            </a:r>
            <a:r>
              <a:rPr lang="en-US" altLang="ko-KR" dirty="0"/>
              <a:t>: “</a:t>
            </a:r>
            <a:r>
              <a:rPr lang="ko-KR" altLang="en-US" dirty="0"/>
              <a:t>내가 지금 내리는 결정이 실제로 어떤 결과를 가져올까</a:t>
            </a:r>
            <a:r>
              <a:rPr lang="en-US" altLang="ko-KR" dirty="0"/>
              <a:t>?”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5923B-121C-424A-8AED-3FB7B58B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2DF1C7-EF26-4F26-99B9-F3BB7EA4A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92" y="3908538"/>
            <a:ext cx="3023483" cy="26448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C11FAB0-C636-4791-883F-D24DD8A27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3908538"/>
            <a:ext cx="3413983" cy="2403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4402A8-039C-4B07-A164-58FA95293404}"/>
              </a:ext>
            </a:extLst>
          </p:cNvPr>
          <p:cNvSpPr txBox="1"/>
          <p:nvPr/>
        </p:nvSpPr>
        <p:spPr>
          <a:xfrm>
            <a:off x="1547664" y="3226421"/>
            <a:ext cx="2421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Qualitative information 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&amp; beliefs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0CB82-60AC-423F-AFB4-B9DBD297B2D5}"/>
              </a:ext>
            </a:extLst>
          </p:cNvPr>
          <p:cNvSpPr txBox="1"/>
          <p:nvPr/>
        </p:nvSpPr>
        <p:spPr>
          <a:xfrm>
            <a:off x="5103089" y="3226421"/>
            <a:ext cx="3432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Quantitative mathematical models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(Mathematical simulation or 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optimization models)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2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C36EC-615C-4D75-85C4-34CE4CCC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F4C894-633B-4AB9-84DB-152D3E1CD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328592"/>
          </a:xfrm>
        </p:spPr>
        <p:txBody>
          <a:bodyPr>
            <a:normAutofit/>
          </a:bodyPr>
          <a:lstStyle/>
          <a:p>
            <a:r>
              <a:rPr lang="en-US" altLang="ko-KR" dirty="0"/>
              <a:t> Limitations with Modeling Approach</a:t>
            </a:r>
          </a:p>
          <a:p>
            <a:pPr lvl="1"/>
            <a:r>
              <a:rPr lang="en-US" altLang="ko-KR" dirty="0"/>
              <a:t> Complexity &lt;</a:t>
            </a:r>
            <a:r>
              <a:rPr lang="ko-KR" altLang="en-US" dirty="0"/>
              <a:t>복잡성</a:t>
            </a:r>
            <a:r>
              <a:rPr lang="en-US" altLang="ko-KR" dirty="0"/>
              <a:t>&gt; … Why?</a:t>
            </a:r>
          </a:p>
          <a:p>
            <a:pPr lvl="2"/>
            <a:r>
              <a:rPr lang="en-US" altLang="ko-KR" dirty="0"/>
              <a:t>Computational Limitations?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Hard to understand the </a:t>
            </a:r>
            <a:r>
              <a:rPr lang="en-US" altLang="ko-KR" b="1" u="sng" dirty="0">
                <a:solidFill>
                  <a:schemeClr val="bg1"/>
                </a:solidFill>
              </a:rPr>
              <a:t>multiple interdependent physical, biochemical, ecological, social, legal, and political (human) processes </a:t>
            </a:r>
            <a:r>
              <a:rPr lang="en-US" altLang="ko-KR" dirty="0"/>
              <a:t>that govern the behavior of such water resource systems</a:t>
            </a:r>
          </a:p>
          <a:p>
            <a:pPr lvl="1"/>
            <a:r>
              <a:rPr lang="en-US" altLang="ko-KR" dirty="0"/>
              <a:t> Requires numerous </a:t>
            </a:r>
            <a:r>
              <a:rPr lang="en-US" altLang="ko-KR" u="sng" dirty="0">
                <a:solidFill>
                  <a:schemeClr val="bg1"/>
                </a:solidFill>
              </a:rPr>
              <a:t>approximations</a:t>
            </a:r>
            <a:r>
              <a:rPr lang="en-US" altLang="ko-KR" dirty="0"/>
              <a:t> and </a:t>
            </a:r>
            <a:r>
              <a:rPr lang="en-US" altLang="ko-KR" u="sng" dirty="0">
                <a:solidFill>
                  <a:schemeClr val="bg1"/>
                </a:solidFill>
              </a:rPr>
              <a:t>assumptions</a:t>
            </a:r>
          </a:p>
          <a:p>
            <a:pPr lvl="1"/>
            <a:endParaRPr lang="ko-KR" altLang="en-US" dirty="0"/>
          </a:p>
          <a:p>
            <a:pPr marL="457200" lvl="1" indent="0" algn="ctr">
              <a:buNone/>
            </a:pPr>
            <a:r>
              <a:rPr lang="en-US" altLang="ko-KR" b="1" dirty="0"/>
              <a:t> =&gt; </a:t>
            </a:r>
            <a:r>
              <a:rPr lang="ko-KR" altLang="en-US" b="1" dirty="0"/>
              <a:t>해결하고자 하는 문제의 범위나 문제를 해결</a:t>
            </a:r>
            <a:r>
              <a:rPr lang="en-US" altLang="ko-KR" b="1" dirty="0"/>
              <a:t>/</a:t>
            </a:r>
            <a:r>
              <a:rPr lang="ko-KR" altLang="en-US" b="1" dirty="0"/>
              <a:t>모델링하기 위한</a:t>
            </a:r>
            <a:br>
              <a:rPr lang="en-US" altLang="ko-KR" b="1" dirty="0"/>
            </a:br>
            <a:r>
              <a:rPr lang="ko-KR" altLang="en-US" b="1" dirty="0"/>
              <a:t> 가정들을 명확하게 설정하는 것이 매우 중요함</a:t>
            </a:r>
            <a:r>
              <a:rPr lang="en-US" altLang="ko-KR" b="1" dirty="0"/>
              <a:t>! </a:t>
            </a:r>
            <a:br>
              <a:rPr lang="en-US" altLang="ko-KR" b="1" dirty="0"/>
            </a:br>
            <a:r>
              <a:rPr lang="en-US" altLang="ko-KR" b="1" dirty="0"/>
              <a:t>(related to space variability &amp; scaling in 23 UPHs)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7A9F7A-921B-4275-A9DC-B16F5BD1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3074" name="Picture 2" descr="Surface Water Quality Modeling | gecosistema_com">
            <a:extLst>
              <a:ext uri="{FF2B5EF4-FFF2-40B4-BE49-F238E27FC236}">
                <a16:creationId xmlns:a16="http://schemas.microsoft.com/office/drawing/2014/main" id="{462E943C-63F4-4F40-A2A6-441CD2AB0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812" y="1772816"/>
            <a:ext cx="1800200" cy="127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oupled hydrodynamic - water quality - ecological modelling - Coastal Wiki">
            <a:extLst>
              <a:ext uri="{FF2B5EF4-FFF2-40B4-BE49-F238E27FC236}">
                <a16:creationId xmlns:a16="http://schemas.microsoft.com/office/drawing/2014/main" id="{88588A7F-9A60-4ABC-9C5B-2FAC8F352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665" y="1772816"/>
            <a:ext cx="1882569" cy="132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8751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EDDCF-64A9-43B5-96A8-EDA8900D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Water Resources Systems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48C6B-502E-45F0-A62B-7290C5EE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/>
              <a:t> Challenges in Modeling</a:t>
            </a:r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>
                <a:solidFill>
                  <a:schemeClr val="bg1"/>
                </a:solidFill>
              </a:rPr>
              <a:t>Planners and Managers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의사결정자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실제로 물 문제를 해결하는 사람 </a:t>
            </a:r>
            <a:r>
              <a:rPr lang="en-US" altLang="ko-KR" dirty="0"/>
              <a:t>(</a:t>
            </a:r>
            <a:r>
              <a:rPr lang="ko-KR" altLang="en-US" dirty="0"/>
              <a:t>정책을 만들고 정책을 시행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수자원공사</a:t>
            </a:r>
            <a:r>
              <a:rPr lang="en-US" altLang="ko-KR" dirty="0"/>
              <a:t>, </a:t>
            </a:r>
            <a:r>
              <a:rPr lang="ko-KR" altLang="en-US" dirty="0"/>
              <a:t>한국수력원자력</a:t>
            </a:r>
            <a:r>
              <a:rPr lang="en-US" altLang="ko-KR" dirty="0"/>
              <a:t>, </a:t>
            </a:r>
            <a:r>
              <a:rPr lang="ko-KR" altLang="en-US" dirty="0"/>
              <a:t>등등의 기관 소속 </a:t>
            </a:r>
            <a:endParaRPr lang="en-US" altLang="ko-KR" dirty="0"/>
          </a:p>
          <a:p>
            <a:pPr marL="914400" lvl="2" indent="0">
              <a:buNone/>
            </a:pPr>
            <a:endParaRPr lang="en-US" altLang="ko-KR" sz="1100" dirty="0"/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>
                <a:solidFill>
                  <a:schemeClr val="bg1"/>
                </a:solidFill>
              </a:rPr>
              <a:t>Modelers</a:t>
            </a:r>
          </a:p>
          <a:p>
            <a:pPr lvl="2"/>
            <a:r>
              <a:rPr lang="ko-KR" altLang="en-US" dirty="0"/>
              <a:t>모델을 만들고 모델을 사용하여 수치적인 분석을 진행하는 사람</a:t>
            </a:r>
            <a:endParaRPr lang="en-US" altLang="ko-KR" dirty="0"/>
          </a:p>
          <a:p>
            <a:pPr lvl="2"/>
            <a:r>
              <a:rPr lang="ko-KR" altLang="en-US" dirty="0"/>
              <a:t>의사결정자나 실제 사용자들의 의견을 받아 이를 모델로 구현하는 역할</a:t>
            </a:r>
            <a:endParaRPr lang="en-US" altLang="ko-KR" dirty="0"/>
          </a:p>
          <a:p>
            <a:pPr lvl="2"/>
            <a:r>
              <a:rPr lang="ko-KR" altLang="en-US" dirty="0"/>
              <a:t>주로</a:t>
            </a:r>
            <a:r>
              <a:rPr lang="en-US" altLang="ko-KR" dirty="0"/>
              <a:t>, </a:t>
            </a:r>
            <a:r>
              <a:rPr lang="ko-KR" altLang="en-US" dirty="0"/>
              <a:t>학계나 연구직에 종사하는 전문가가 많음</a:t>
            </a:r>
            <a:endParaRPr lang="en-US" altLang="ko-KR" dirty="0"/>
          </a:p>
          <a:p>
            <a:pPr lvl="2"/>
            <a:endParaRPr lang="en-US" altLang="ko-KR" sz="1100" dirty="0"/>
          </a:p>
          <a:p>
            <a:pPr lvl="1"/>
            <a:r>
              <a:rPr lang="en-US" altLang="ko-KR" dirty="0"/>
              <a:t> Challenges of </a:t>
            </a:r>
            <a:r>
              <a:rPr lang="en-US" altLang="ko-KR" u="sng" dirty="0">
                <a:solidFill>
                  <a:schemeClr val="bg1"/>
                </a:solidFill>
              </a:rPr>
              <a:t>Applying Models in Practice</a:t>
            </a:r>
          </a:p>
          <a:p>
            <a:pPr lvl="2"/>
            <a:r>
              <a:rPr lang="ko-KR" altLang="en-US" dirty="0"/>
              <a:t>실제로 물 문제를 경험한 사람</a:t>
            </a:r>
            <a:endParaRPr lang="en-US" altLang="ko-KR" dirty="0"/>
          </a:p>
          <a:p>
            <a:pPr lvl="2"/>
            <a:r>
              <a:rPr lang="ko-KR" altLang="en-US" dirty="0"/>
              <a:t>의사결정자나 모델을 개발한 사람들보다 상대적으로 전문 지식이 부족할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7DAF2-5D17-400C-9A4D-744E4C03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934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A2278-9E93-49A8-8027-75990556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***What constitutes WRS Models?***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1D135-82BE-4A8C-A90B-5D63C0E97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u="sng" dirty="0"/>
              <a:t> *** Components consisting a Model ***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Parameters (</a:t>
            </a:r>
            <a:r>
              <a:rPr lang="ko-KR" altLang="en-US" dirty="0">
                <a:solidFill>
                  <a:schemeClr val="bg1"/>
                </a:solidFill>
              </a:rPr>
              <a:t>매개변수</a:t>
            </a:r>
            <a:r>
              <a:rPr lang="en-US" altLang="ko-KR" dirty="0">
                <a:solidFill>
                  <a:schemeClr val="bg1"/>
                </a:solidFill>
              </a:rPr>
              <a:t>):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variables that are assigned </a:t>
            </a:r>
            <a:r>
              <a:rPr lang="en-US" altLang="ko-KR" u="sng" dirty="0">
                <a:solidFill>
                  <a:schemeClr val="bg1"/>
                </a:solidFill>
              </a:rPr>
              <a:t>KNOWN</a:t>
            </a:r>
            <a:r>
              <a:rPr lang="en-US" altLang="ko-KR" dirty="0">
                <a:solidFill>
                  <a:schemeClr val="bg1"/>
                </a:solidFill>
              </a:rPr>
              <a:t> values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Decision Variables (</a:t>
            </a:r>
            <a:r>
              <a:rPr lang="ko-KR" altLang="en-US" dirty="0">
                <a:solidFill>
                  <a:schemeClr val="bg1"/>
                </a:solidFill>
              </a:rPr>
              <a:t>결정변수</a:t>
            </a:r>
            <a:r>
              <a:rPr lang="en-US" altLang="ko-KR" dirty="0">
                <a:solidFill>
                  <a:schemeClr val="bg1"/>
                </a:solidFill>
              </a:rPr>
              <a:t>): variables having unknown values that are to be determined by solving the model</a:t>
            </a: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Design variables: </a:t>
            </a:r>
            <a:r>
              <a:rPr lang="ko-KR" altLang="en-US" dirty="0">
                <a:solidFill>
                  <a:schemeClr val="bg1"/>
                </a:solidFill>
              </a:rPr>
              <a:t>저수지의 용량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보의 높이 등 설계와 관련된 변수들</a:t>
            </a:r>
            <a:endParaRPr lang="en-US" altLang="ko-KR" dirty="0">
              <a:solidFill>
                <a:schemeClr val="bg1"/>
              </a:solidFill>
            </a:endParaRPr>
          </a:p>
          <a:p>
            <a:pPr lvl="2"/>
            <a:r>
              <a:rPr lang="en-US" altLang="ko-KR" dirty="0">
                <a:solidFill>
                  <a:schemeClr val="bg1"/>
                </a:solidFill>
              </a:rPr>
              <a:t>Operating variables: </a:t>
            </a:r>
            <a:r>
              <a:rPr lang="ko-KR" altLang="en-US" dirty="0">
                <a:solidFill>
                  <a:schemeClr val="bg1"/>
                </a:solidFill>
              </a:rPr>
              <a:t>저수지 </a:t>
            </a:r>
            <a:r>
              <a:rPr lang="ko-KR" altLang="en-US" dirty="0" err="1">
                <a:solidFill>
                  <a:schemeClr val="bg1"/>
                </a:solidFill>
              </a:rPr>
              <a:t>방류량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용수 </a:t>
            </a:r>
            <a:r>
              <a:rPr lang="ko-KR" altLang="en-US" dirty="0" err="1">
                <a:solidFill>
                  <a:schemeClr val="bg1"/>
                </a:solidFill>
              </a:rPr>
              <a:t>배분량</a:t>
            </a:r>
            <a:r>
              <a:rPr lang="ko-KR" altLang="en-US" dirty="0">
                <a:solidFill>
                  <a:schemeClr val="bg1"/>
                </a:solidFill>
              </a:rPr>
              <a:t> 등</a:t>
            </a:r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State Variables (</a:t>
            </a:r>
            <a:r>
              <a:rPr lang="ko-KR" altLang="en-US" dirty="0">
                <a:solidFill>
                  <a:schemeClr val="bg1"/>
                </a:solidFill>
              </a:rPr>
              <a:t>상태변수</a:t>
            </a:r>
            <a:r>
              <a:rPr lang="en-US" altLang="ko-KR" dirty="0">
                <a:solidFill>
                  <a:schemeClr val="bg1"/>
                </a:solidFill>
              </a:rPr>
              <a:t>): 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variables that describe the state of the system</a:t>
            </a: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Constraints (</a:t>
            </a:r>
            <a:r>
              <a:rPr lang="ko-KR" altLang="en-US" dirty="0">
                <a:solidFill>
                  <a:schemeClr val="bg1"/>
                </a:solidFill>
              </a:rPr>
              <a:t>제약조건</a:t>
            </a:r>
            <a:r>
              <a:rPr lang="en-US" altLang="ko-KR" dirty="0">
                <a:solidFill>
                  <a:schemeClr val="bg1"/>
                </a:solidFill>
              </a:rPr>
              <a:t>): the conditions the system has to satisfy</a:t>
            </a:r>
          </a:p>
          <a:p>
            <a:pPr lvl="1"/>
            <a:endParaRPr lang="en-US" altLang="ko-KR" dirty="0">
              <a:solidFill>
                <a:schemeClr val="bg1"/>
              </a:solidFill>
            </a:endParaRPr>
          </a:p>
          <a:p>
            <a:pPr lvl="1"/>
            <a:r>
              <a:rPr lang="en-US" altLang="ko-KR" dirty="0">
                <a:solidFill>
                  <a:schemeClr val="bg1"/>
                </a:solidFill>
              </a:rPr>
              <a:t> (+) Objective Function (</a:t>
            </a:r>
            <a:r>
              <a:rPr lang="ko-KR" altLang="en-US" dirty="0">
                <a:solidFill>
                  <a:schemeClr val="bg1"/>
                </a:solidFill>
              </a:rPr>
              <a:t>목적함수</a:t>
            </a:r>
            <a:r>
              <a:rPr lang="en-US" altLang="ko-KR" dirty="0">
                <a:solidFill>
                  <a:schemeClr val="bg1"/>
                </a:solidFill>
              </a:rPr>
              <a:t>) (in case of optimization models): function to be optimized during the problem solving procedures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124847-3F28-4106-B76C-04666FAD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CF36C-CD27-4AC3-B05E-28216860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the Model Formulation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3136A6-3D38-4F7C-ACEC-CE658FB5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3074" name="Picture 2" descr="geometry - &amp;amp;quot;Cuboid&amp;amp;quot; not the correct name for 3d rectangle? - Mathematics  Stack Exchange">
            <a:extLst>
              <a:ext uri="{FF2B5EF4-FFF2-40B4-BE49-F238E27FC236}">
                <a16:creationId xmlns:a16="http://schemas.microsoft.com/office/drawing/2014/main" id="{D14F5BF7-E7F8-4524-97C8-68B5C5612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212976"/>
            <a:ext cx="4802501" cy="298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A39AC46-180E-49B2-BB4C-FDFFBD3B87F2}"/>
                  </a:ext>
                </a:extLst>
              </p:cNvPr>
              <p:cNvSpPr/>
              <p:nvPr/>
            </p:nvSpPr>
            <p:spPr>
              <a:xfrm>
                <a:off x="3921578" y="5517232"/>
                <a:ext cx="7564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8A39AC46-180E-49B2-BB4C-FDFFBD3B87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578" y="5517232"/>
                <a:ext cx="7564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B76FBD8-F656-46F0-A506-2AF7B23A0DD4}"/>
                  </a:ext>
                </a:extLst>
              </p:cNvPr>
              <p:cNvSpPr/>
              <p:nvPr/>
            </p:nvSpPr>
            <p:spPr>
              <a:xfrm>
                <a:off x="3973580" y="3424323"/>
                <a:ext cx="652422" cy="3907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𝑡𝑜𝑝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B76FBD8-F656-46F0-A506-2AF7B23A0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580" y="3424323"/>
                <a:ext cx="652422" cy="390748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14092B2-FA1F-427C-BDC5-ABC8F0623D63}"/>
                  </a:ext>
                </a:extLst>
              </p:cNvPr>
              <p:cNvSpPr/>
              <p:nvPr/>
            </p:nvSpPr>
            <p:spPr>
              <a:xfrm>
                <a:off x="6722203" y="4359055"/>
                <a:ext cx="7163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14092B2-FA1F-427C-BDC5-ABC8F0623D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203" y="4359055"/>
                <a:ext cx="7163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6C37072-115C-4380-A25F-B8D122D9C3A2}"/>
                  </a:ext>
                </a:extLst>
              </p:cNvPr>
              <p:cNvSpPr/>
              <p:nvPr/>
            </p:nvSpPr>
            <p:spPr>
              <a:xfrm>
                <a:off x="2031747" y="3331348"/>
                <a:ext cx="3657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46C37072-115C-4380-A25F-B8D122D9C3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747" y="3331348"/>
                <a:ext cx="36574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4F8036E-49D7-46EC-9200-BA51744932F8}"/>
                  </a:ext>
                </a:extLst>
              </p:cNvPr>
              <p:cNvSpPr/>
              <p:nvPr/>
            </p:nvSpPr>
            <p:spPr>
              <a:xfrm>
                <a:off x="4147853" y="2994756"/>
                <a:ext cx="46621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4F8036E-49D7-46EC-9200-BA5174493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853" y="2994756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6F1487F-A434-4691-8F01-5F5EFDF6C8D0}"/>
                  </a:ext>
                </a:extLst>
              </p:cNvPr>
              <p:cNvSpPr/>
              <p:nvPr/>
            </p:nvSpPr>
            <p:spPr>
              <a:xfrm>
                <a:off x="1651008" y="4694715"/>
                <a:ext cx="4126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E6F1487F-A434-4691-8F01-5F5EFDF6C8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8" y="4694715"/>
                <a:ext cx="412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28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50E69-CB84-47DD-B736-DD9C1760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of the Model Formulation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B07FCB-A1EB-4F59-B636-F3E05FCF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A548106-7137-4E31-A0C3-FDAF3F5F4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36137"/>
            <a:ext cx="7886700" cy="3456735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 Objective Function </a:t>
            </a:r>
            <a:r>
              <a:rPr lang="en-US" altLang="ko-KR" sz="1800" dirty="0"/>
              <a:t>(</a:t>
            </a:r>
            <a:r>
              <a:rPr lang="ko-KR" altLang="en-US" sz="1800" dirty="0"/>
              <a:t>목적함수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600" dirty="0"/>
              <a:t> Cost function, Loss function, Utility function </a:t>
            </a:r>
            <a:r>
              <a:rPr lang="ko-KR" altLang="en-US" sz="1600" dirty="0"/>
              <a:t>등으로 불릴 수 있음</a:t>
            </a:r>
            <a:endParaRPr lang="en-US" altLang="ko-KR" sz="1600" dirty="0"/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계산 과정을 통해 반복적으로 계산되는 함수를 뜻함</a:t>
            </a:r>
            <a:endParaRPr lang="en-US" altLang="ko-KR" sz="1600" dirty="0"/>
          </a:p>
          <a:p>
            <a:r>
              <a:rPr lang="en-US" altLang="ko-KR" sz="1800" b="1" dirty="0"/>
              <a:t> Parameters </a:t>
            </a:r>
            <a:r>
              <a:rPr lang="en-US" altLang="ko-KR" sz="1800" dirty="0"/>
              <a:t>(</a:t>
            </a:r>
            <a:r>
              <a:rPr lang="ko-KR" altLang="en-US" sz="1800" dirty="0"/>
              <a:t>매개변수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= variables that are assigned known values</a:t>
            </a:r>
          </a:p>
          <a:p>
            <a:r>
              <a:rPr lang="en-US" altLang="ko-KR" sz="1800" dirty="0"/>
              <a:t> </a:t>
            </a:r>
            <a:r>
              <a:rPr lang="en-US" altLang="ko-KR" sz="1800" b="1" dirty="0"/>
              <a:t>Decision Variables </a:t>
            </a:r>
            <a:r>
              <a:rPr lang="en-US" altLang="ko-KR" sz="1800" dirty="0"/>
              <a:t>(</a:t>
            </a:r>
            <a:r>
              <a:rPr lang="ko-KR" altLang="en-US" sz="1800" dirty="0"/>
              <a:t>결정변수</a:t>
            </a:r>
            <a:r>
              <a:rPr lang="en-US" altLang="ko-KR" sz="1800" dirty="0"/>
              <a:t>) </a:t>
            </a:r>
            <a:br>
              <a:rPr lang="en-US" altLang="ko-KR" sz="1800" dirty="0"/>
            </a:br>
            <a:r>
              <a:rPr lang="en-US" altLang="ko-KR" sz="1800" dirty="0"/>
              <a:t>= variables that are to be determined by solving the model </a:t>
            </a:r>
          </a:p>
          <a:p>
            <a:r>
              <a:rPr lang="en-US" altLang="ko-KR" sz="1800" dirty="0"/>
              <a:t> </a:t>
            </a:r>
            <a:r>
              <a:rPr lang="en-US" altLang="ko-KR" sz="1800" b="1" dirty="0"/>
              <a:t>Constraints </a:t>
            </a:r>
            <a:r>
              <a:rPr lang="en-US" altLang="ko-KR" sz="1800" dirty="0"/>
              <a:t>(</a:t>
            </a:r>
            <a:r>
              <a:rPr lang="ko-KR" altLang="en-US" sz="1800" dirty="0"/>
              <a:t>제약조건</a:t>
            </a:r>
            <a:r>
              <a:rPr lang="en-US" altLang="ko-KR" sz="1800" dirty="0"/>
              <a:t>) = the conditions that the systems has to satisfy</a:t>
            </a:r>
            <a:endParaRPr lang="ko-KR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C032F5-2E6C-4753-8CD9-F0A5AE15BA7B}"/>
                  </a:ext>
                </a:extLst>
              </p:cNvPr>
              <p:cNvSpPr txBox="1"/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C032F5-2E6C-4753-8CD9-F0A5AE15B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290774"/>
                <a:ext cx="1546385" cy="276999"/>
              </a:xfrm>
              <a:prstGeom prst="rect">
                <a:avLst/>
              </a:prstGeom>
              <a:blipFill>
                <a:blip r:embed="rId2"/>
                <a:stretch>
                  <a:fillRect l="-3162" r="-3162" b="-8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A317D-C23A-44D2-8F77-478AA93DCBA9}"/>
                  </a:ext>
                </a:extLst>
              </p:cNvPr>
              <p:cNvSpPr txBox="1"/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𝐶𝑜𝑠𝑡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𝑡𝑜𝑝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𝐿𝑊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+2(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𝑠𝑖𝑑𝑒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A317D-C23A-44D2-8F77-478AA93DC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620" y="1716111"/>
                <a:ext cx="5016758" cy="318164"/>
              </a:xfrm>
              <a:prstGeom prst="rect">
                <a:avLst/>
              </a:prstGeom>
              <a:blipFill>
                <a:blip r:embed="rId3"/>
                <a:stretch>
                  <a:fillRect l="-730" r="-1338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540471-ADB0-4715-9C08-595782FC150D}"/>
                  </a:ext>
                </a:extLst>
              </p:cNvPr>
              <p:cNvSpPr txBox="1"/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𝐿𝑊𝐻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C540471-ADB0-4715-9C08-595782FC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2396707"/>
                <a:ext cx="1023935" cy="276999"/>
              </a:xfrm>
              <a:prstGeom prst="rect">
                <a:avLst/>
              </a:prstGeom>
              <a:blipFill>
                <a:blip r:embed="rId4"/>
                <a:stretch>
                  <a:fillRect l="-4762" r="-4762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9074BA3-CC2C-48CF-B3BA-530D551A066D}"/>
              </a:ext>
            </a:extLst>
          </p:cNvPr>
          <p:cNvSpPr txBox="1"/>
          <p:nvPr/>
        </p:nvSpPr>
        <p:spPr>
          <a:xfrm>
            <a:off x="2063620" y="2353842"/>
            <a:ext cx="196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Subject to: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E4F24-B93F-45D8-A9FA-F7CD6335D0F5}"/>
              </a:ext>
            </a:extLst>
          </p:cNvPr>
          <p:cNvSpPr txBox="1"/>
          <p:nvPr/>
        </p:nvSpPr>
        <p:spPr>
          <a:xfrm>
            <a:off x="4651937" y="2350540"/>
            <a:ext cx="2966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Determine W, L, and H.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7562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976D9-F966-4D3E-A6FC-15BED1A0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Types of Water Resources Systems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20C0AF-0EE5-455A-BB8B-B177D6EAE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Optimization Models</a:t>
            </a:r>
          </a:p>
          <a:p>
            <a:pPr lvl="1"/>
            <a:r>
              <a:rPr lang="en-US" altLang="ko-KR" dirty="0"/>
              <a:t> REQUIRES an </a:t>
            </a:r>
            <a:r>
              <a:rPr lang="en-US" altLang="ko-KR" dirty="0">
                <a:solidFill>
                  <a:schemeClr val="bg1"/>
                </a:solidFill>
              </a:rPr>
              <a:t>objective function</a:t>
            </a:r>
            <a:r>
              <a:rPr lang="en-US" altLang="ko-KR" dirty="0"/>
              <a:t> to be maximized/minimized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Solution</a:t>
            </a:r>
            <a:r>
              <a:rPr lang="en-US" altLang="ko-KR" dirty="0"/>
              <a:t> = Values of ALL of Unknown Decision variables that satisfy the predefined constraints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Simulation Models: Answers </a:t>
            </a:r>
            <a:r>
              <a:rPr lang="en-US" altLang="ko-KR" u="sng" dirty="0">
                <a:solidFill>
                  <a:schemeClr val="bg1"/>
                </a:solidFill>
              </a:rPr>
              <a:t>“What if”</a:t>
            </a:r>
            <a:r>
              <a:rPr lang="en-US" altLang="ko-KR" dirty="0"/>
              <a:t> questions</a:t>
            </a:r>
          </a:p>
          <a:p>
            <a:pPr lvl="1"/>
            <a:r>
              <a:rPr lang="en-US" altLang="ko-KR" dirty="0"/>
              <a:t> What will likely to happen under a particular design or operating policy?</a:t>
            </a:r>
          </a:p>
          <a:p>
            <a:pPr lvl="1"/>
            <a:r>
              <a:rPr lang="en-US" altLang="ko-KR" dirty="0"/>
              <a:t> Works well when there are only a relatively few alternatives to be evaluated (</a:t>
            </a:r>
            <a:r>
              <a:rPr lang="en-US" altLang="ko-KR" dirty="0">
                <a:solidFill>
                  <a:schemeClr val="bg1"/>
                </a:solidFill>
              </a:rPr>
              <a:t>trial-and-error</a:t>
            </a:r>
            <a:r>
              <a:rPr lang="en-US" altLang="ko-KR" dirty="0"/>
              <a:t> process)</a:t>
            </a:r>
          </a:p>
          <a:p>
            <a:endParaRPr lang="en-US" altLang="ko-KR" dirty="0"/>
          </a:p>
          <a:p>
            <a:r>
              <a:rPr lang="en-US" altLang="ko-KR" dirty="0"/>
              <a:t> How about </a:t>
            </a:r>
            <a:r>
              <a:rPr lang="en-US" altLang="ko-KR" b="1" u="sng" dirty="0"/>
              <a:t>Simulation-Optimization Models?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C7E4D3-F51F-4DEF-AD2D-96B7E002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790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FF067-03CB-4B67-A1F7-0D687BE42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Types of Water Resources Systems Models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1D16D0-E5F1-4237-9272-5D34BD24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 Simulation Optimization Models (Simulation/Optimization)</a:t>
            </a:r>
            <a:br>
              <a:rPr lang="en-US" altLang="ko-KR" b="1" dirty="0"/>
            </a:br>
            <a:r>
              <a:rPr lang="en-US" altLang="ko-KR" b="1" dirty="0"/>
              <a:t>(=Simulation-based optimization)</a:t>
            </a:r>
          </a:p>
          <a:p>
            <a:pPr lvl="1"/>
            <a:r>
              <a:rPr lang="en-US" altLang="ko-KR" dirty="0"/>
              <a:t> Integrates optimization techniques into simulation modeling &amp; analysis (usually with stochastic objective functions)</a:t>
            </a:r>
          </a:p>
          <a:p>
            <a:pPr lvl="1"/>
            <a:r>
              <a:rPr lang="en-US" altLang="ko-KR" dirty="0"/>
              <a:t> Examples: Heuristic methods (genetic algorithms) &amp; Dynamic programming models</a:t>
            </a:r>
          </a:p>
          <a:p>
            <a:pPr lvl="1"/>
            <a:endParaRPr lang="en-US" altLang="ko-KR" sz="1050" dirty="0"/>
          </a:p>
          <a:p>
            <a:pPr lvl="1"/>
            <a:r>
              <a:rPr lang="en-US" altLang="ko-KR" dirty="0"/>
              <a:t> Primary Limitation = </a:t>
            </a:r>
            <a:r>
              <a:rPr lang="en-US" altLang="ko-KR" dirty="0">
                <a:solidFill>
                  <a:schemeClr val="bg1"/>
                </a:solidFill>
              </a:rPr>
              <a:t>Computational Expenses</a:t>
            </a:r>
            <a:br>
              <a:rPr lang="en-US" altLang="ko-KR" dirty="0"/>
            </a:br>
            <a:r>
              <a:rPr lang="en-US" altLang="ko-KR" dirty="0"/>
              <a:t>Simulation optimization is computationally expensive </a:t>
            </a:r>
            <a:br>
              <a:rPr lang="en-US" altLang="ko-KR" dirty="0"/>
            </a:br>
            <a:r>
              <a:rPr lang="en-US" altLang="ko-KR" dirty="0"/>
              <a:t>(Solution: </a:t>
            </a:r>
            <a:r>
              <a:rPr lang="en-US" altLang="ko-KR" dirty="0">
                <a:solidFill>
                  <a:schemeClr val="bg1"/>
                </a:solidFill>
              </a:rPr>
              <a:t>Parallel Computing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5385B-5A42-40B3-B7A2-E664DCCF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1D4E08-8217-4AC8-8A13-32803E27B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83" y="4987959"/>
            <a:ext cx="6975234" cy="115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22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1FA915-9F3D-4FDE-A9D0-00B8BA77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7850"/>
            <a:ext cx="7886700" cy="1058902"/>
          </a:xfrm>
        </p:spPr>
        <p:txBody>
          <a:bodyPr>
            <a:normAutofit/>
          </a:bodyPr>
          <a:lstStyle/>
          <a:p>
            <a:r>
              <a:rPr lang="en-US" altLang="ko-KR" dirty="0"/>
              <a:t>Examples of Water Resources Systems Models Applied in Practice (Industry)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BE94C-289B-49E1-AFA2-C0BC55FC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0"/>
          </a:xfrm>
        </p:spPr>
        <p:txBody>
          <a:bodyPr/>
          <a:lstStyle/>
          <a:p>
            <a:r>
              <a:rPr lang="en-US" altLang="ko-KR" dirty="0"/>
              <a:t> US Army Corps of Engineers (</a:t>
            </a:r>
            <a:r>
              <a:rPr lang="ko-KR" altLang="en-US" dirty="0"/>
              <a:t>미군 육군 공병대</a:t>
            </a:r>
            <a:r>
              <a:rPr lang="en-US" altLang="ko-KR" dirty="0"/>
              <a:t>)- </a:t>
            </a:r>
            <a:br>
              <a:rPr lang="en-US" altLang="ko-KR" dirty="0"/>
            </a:br>
            <a:r>
              <a:rPr lang="en-US" altLang="ko-KR" dirty="0"/>
              <a:t>Hydrologic Engineering Center (HEC)</a:t>
            </a:r>
          </a:p>
          <a:p>
            <a:pPr lvl="1"/>
            <a:r>
              <a:rPr lang="en-US" altLang="ko-KR" b="1" dirty="0"/>
              <a:t> HEC-HMS (Hydrologic Modeling System)</a:t>
            </a:r>
          </a:p>
          <a:p>
            <a:pPr lvl="2"/>
            <a:r>
              <a:rPr lang="en-US" altLang="ko-KR" dirty="0"/>
              <a:t>Traditional hydrologic analysis procedures (event infiltration, unit hydrographs, hydrologic routing)</a:t>
            </a:r>
          </a:p>
          <a:p>
            <a:pPr lvl="2"/>
            <a:r>
              <a:rPr lang="en-US" altLang="ko-KR" dirty="0"/>
              <a:t>Continuous simulation (evapotranspiration, snowmelt, soil moisture accounting, runoff simulations)</a:t>
            </a:r>
          </a:p>
          <a:p>
            <a:pPr lvl="1"/>
            <a:r>
              <a:rPr lang="en-US" altLang="ko-KR" b="1" dirty="0"/>
              <a:t> HEC-RAS (River Analysis System)</a:t>
            </a:r>
          </a:p>
          <a:p>
            <a:pPr lvl="2"/>
            <a:r>
              <a:rPr lang="en-US" altLang="ko-KR" dirty="0"/>
              <a:t>1-D steady flow, 1&amp;2-D unsteady flow calculations</a:t>
            </a:r>
          </a:p>
          <a:p>
            <a:pPr lvl="2"/>
            <a:r>
              <a:rPr lang="en-US" altLang="ko-KR" dirty="0"/>
              <a:t>Sediment transport/mobile bed computations</a:t>
            </a:r>
          </a:p>
          <a:p>
            <a:pPr lvl="2"/>
            <a:r>
              <a:rPr lang="en-US" altLang="ko-KR" dirty="0"/>
              <a:t>Water temperature &amp; water quality modeling</a:t>
            </a:r>
          </a:p>
          <a:p>
            <a:pPr lvl="1"/>
            <a:r>
              <a:rPr lang="en-US" altLang="ko-KR" b="1" dirty="0"/>
              <a:t> HEC-</a:t>
            </a:r>
            <a:r>
              <a:rPr lang="en-US" altLang="ko-KR" b="1" dirty="0" err="1"/>
              <a:t>ResSim</a:t>
            </a:r>
            <a:r>
              <a:rPr lang="en-US" altLang="ko-KR" b="1" dirty="0"/>
              <a:t> (Reservoir Simulation)</a:t>
            </a:r>
          </a:p>
          <a:p>
            <a:pPr lvl="2"/>
            <a:r>
              <a:rPr lang="en-US" altLang="ko-KR" dirty="0"/>
              <a:t>Model reservoir operations for a variety of operational goals and constraints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19774-1DAA-415E-B973-25002110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83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EDF48F-47FF-4BC9-AD17-F5AE7CCC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CB4E011E-C8C9-4F29-A3F0-70CF1F0A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7850"/>
            <a:ext cx="7886700" cy="1058902"/>
          </a:xfrm>
        </p:spPr>
        <p:txBody>
          <a:bodyPr>
            <a:normAutofit/>
          </a:bodyPr>
          <a:lstStyle/>
          <a:p>
            <a:r>
              <a:rPr lang="en-US" altLang="ko-KR" dirty="0"/>
              <a:t>Examples of Water Resources Systems Models Applied in Practice (Industry)</a:t>
            </a:r>
            <a:endParaRPr lang="ko-KR" altLang="en-US" dirty="0"/>
          </a:p>
        </p:txBody>
      </p:sp>
      <p:pic>
        <p:nvPicPr>
          <p:cNvPr id="6" name="Picture 2" descr="https://www.hec.usace.army.mil/software/hec-ras/images/RAS-60.png">
            <a:extLst>
              <a:ext uri="{FF2B5EF4-FFF2-40B4-BE49-F238E27FC236}">
                <a16:creationId xmlns:a16="http://schemas.microsoft.com/office/drawing/2014/main" id="{4AE1DACC-D607-4CFA-8956-AF615F892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133351"/>
            <a:ext cx="4640221" cy="361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 ">
            <a:extLst>
              <a:ext uri="{FF2B5EF4-FFF2-40B4-BE49-F238E27FC236}">
                <a16:creationId xmlns:a16="http://schemas.microsoft.com/office/drawing/2014/main" id="{4F59E9F2-1594-4F62-A8E9-CD7D15D28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52" y="1298055"/>
            <a:ext cx="4248472" cy="370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collage of HEC-ResSim windows depicting plots, data tables, maps, and editors.">
            <a:extLst>
              <a:ext uri="{FF2B5EF4-FFF2-40B4-BE49-F238E27FC236}">
                <a16:creationId xmlns:a16="http://schemas.microsoft.com/office/drawing/2014/main" id="{B3CDD0EE-A3A8-41E9-88DA-1A33A3635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508" y="239153"/>
            <a:ext cx="5324594" cy="416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D0CCD86-CC5C-402D-AD07-094E49B68982}"/>
              </a:ext>
            </a:extLst>
          </p:cNvPr>
          <p:cNvSpPr/>
          <p:nvPr/>
        </p:nvSpPr>
        <p:spPr>
          <a:xfrm>
            <a:off x="361345" y="5236779"/>
            <a:ext cx="32764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5"/>
              </a:rPr>
              <a:t>https://www.hec.usace.army.mil</a:t>
            </a:r>
            <a:br>
              <a:rPr lang="en-US" altLang="ko-KR" dirty="0">
                <a:hlinkClick r:id="rId5"/>
              </a:rPr>
            </a:br>
            <a:r>
              <a:rPr lang="ko-KR" altLang="en-US" dirty="0">
                <a:hlinkClick r:id="rId5"/>
              </a:rPr>
              <a:t>/software/default.aspx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101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EDDCF-64A9-43B5-96A8-EDA8900D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Modeling Water Resources Systems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48C6B-502E-45F0-A62B-7290C5EE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in Modeling</a:t>
            </a: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Planners and Managers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실제로 물 문제를 해결하는 사람 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정책을 만들고 정책을 시행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lvl="2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Ex)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수자원공사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한국수력원자력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등등의 기관 소속 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914400" lvl="2" indent="0">
              <a:buNone/>
            </a:pPr>
            <a:endParaRPr lang="en-US" altLang="ko-KR" sz="11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Modelers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모델을 만들고 모델을 사용하여 수치적인 분석을 진행하는 사람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의사결정자나 실제 사용자들의 의견을 받아 이를 모델로 구현하는 역할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주로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학계나 연구직에 종사하는 전문가가 많음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endParaRPr lang="en-US" altLang="ko-KR" sz="1100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Challenges of </a:t>
            </a:r>
            <a:r>
              <a:rPr lang="en-US" altLang="ko-KR" u="sng" dirty="0">
                <a:solidFill>
                  <a:schemeClr val="bg1">
                    <a:lumMod val="65000"/>
                  </a:schemeClr>
                </a:solidFill>
              </a:rPr>
              <a:t>Applying Models in Practice</a:t>
            </a: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실제로 물 문제를 경험한 사람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의사결정자나 모델을 개발한 사람들보다 상대적으로 전문 지식이 부족할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37DAF2-5D17-400C-9A4D-744E4C036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9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5294571-81EF-4075-A2F7-437701886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650053"/>
            <a:ext cx="6705419" cy="555789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8D3374-5130-4A54-BE30-AE7B26FC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98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2FE45-8846-40B4-8ADD-8505E022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Modeling in the</a:t>
            </a:r>
            <a:r>
              <a:rPr lang="ko-KR" altLang="en-US" dirty="0"/>
              <a:t> </a:t>
            </a:r>
            <a:r>
              <a:rPr lang="en-US" altLang="ko-KR" dirty="0"/>
              <a:t>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D29DB-93B8-4A5F-86C1-6E7F75894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Application of </a:t>
            </a:r>
            <a:r>
              <a:rPr lang="en-US" altLang="ko-KR" b="1" u="sng" dirty="0"/>
              <a:t>Shared Vision Planning</a:t>
            </a:r>
            <a:r>
              <a:rPr lang="en-US" altLang="ko-KR" dirty="0"/>
              <a:t> in Korea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DBCA5-B727-4E70-BBB4-2F8A1DCE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DA2802-214A-41EE-A6DC-291B02E3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628800"/>
            <a:ext cx="6444208" cy="2797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C4D9436-1527-4043-8522-B5D97E637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645"/>
          <a:stretch/>
        </p:blipFill>
        <p:spPr>
          <a:xfrm>
            <a:off x="2597416" y="4055855"/>
            <a:ext cx="6007032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41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A309D-42EC-4226-9271-82425B68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4E80CC-A26F-4670-9843-E3D210CE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Shared Vision Planning (</a:t>
            </a:r>
            <a:r>
              <a:rPr lang="ko-KR" altLang="en-US" dirty="0"/>
              <a:t>비전공유계획</a:t>
            </a:r>
            <a:r>
              <a:rPr lang="en-US" altLang="ko-KR" dirty="0"/>
              <a:t>) (</a:t>
            </a:r>
            <a:r>
              <a:rPr lang="ko-KR" altLang="en-US" dirty="0"/>
              <a:t>교재 </a:t>
            </a:r>
            <a:r>
              <a:rPr lang="en-US" altLang="ko-KR" dirty="0"/>
              <a:t>p.65-67)</a:t>
            </a:r>
          </a:p>
          <a:p>
            <a:pPr lvl="1"/>
            <a:r>
              <a:rPr lang="en-US" altLang="ko-KR" dirty="0"/>
              <a:t> Type of an </a:t>
            </a:r>
            <a:r>
              <a:rPr lang="en-US" altLang="ko-KR" b="1" u="sng" dirty="0"/>
              <a:t>Interactive Model-building Technique</a:t>
            </a:r>
          </a:p>
          <a:p>
            <a:pPr lvl="2"/>
            <a:r>
              <a:rPr lang="en-US" altLang="ko-KR" dirty="0"/>
              <a:t>Stakeholders hardly believe in the model already built</a:t>
            </a:r>
            <a:br>
              <a:rPr lang="en-US" altLang="ko-KR" dirty="0"/>
            </a:br>
            <a:r>
              <a:rPr lang="en-US" altLang="ko-KR" dirty="0"/>
              <a:t>(and this is partially TRUE- you will see in the exercise)</a:t>
            </a:r>
          </a:p>
          <a:p>
            <a:pPr lvl="1"/>
            <a:r>
              <a:rPr lang="en-US" altLang="ko-KR" b="1" dirty="0"/>
              <a:t> Objective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Involving Stakeholders in Model Building Procedures in order to give them a feeling of ownership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DF5CC5-4BDA-411C-B2FC-912527EB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28659E-13FE-4C3C-942E-AC7FD83E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221088"/>
            <a:ext cx="6444208" cy="14813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A9DDB0-4A9D-44B6-918B-DFEBDEB74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407" y="3793896"/>
            <a:ext cx="1934289" cy="286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53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7D6AC66-C46D-40E0-AC7E-10DC2B7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153" y="4707492"/>
            <a:ext cx="2560281" cy="20637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1F9A21-5D65-437E-94CB-AF90EA45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1DD536-8CF0-4855-8571-AFA5612A8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Shared Vision Planning (</a:t>
            </a:r>
            <a:r>
              <a:rPr lang="ko-KR" altLang="en-US" dirty="0"/>
              <a:t>비전공유계획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4619D-B2E2-4B5A-991C-0AD56D65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705C0E-D5C3-43C0-B933-7F1236F878DF}"/>
              </a:ext>
            </a:extLst>
          </p:cNvPr>
          <p:cNvSpPr/>
          <p:nvPr/>
        </p:nvSpPr>
        <p:spPr>
          <a:xfrm>
            <a:off x="3995936" y="5691011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200" dirty="0"/>
              <a:t>https://www.iwr.usace.army.mil/Missions/Collaboration-and-Conflict-Resolution/SVP/About-SVP/History-of-Shared-Vision-Planning/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D2CC9C-40E9-4265-8559-C3CB8305E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53" y="1765273"/>
            <a:ext cx="7751693" cy="298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17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086266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충청남도</a:t>
            </a:r>
            <a:r>
              <a:rPr lang="en-US" altLang="ko-KR" dirty="0"/>
              <a:t> </a:t>
            </a:r>
            <a:r>
              <a:rPr lang="ko-KR" altLang="en-US" dirty="0"/>
              <a:t>기후변화 적응 물관리정책 협의회</a:t>
            </a:r>
            <a:endParaRPr lang="en-US" altLang="ko-KR" dirty="0"/>
          </a:p>
          <a:p>
            <a:pPr lvl="1"/>
            <a:r>
              <a:rPr lang="ko-KR" altLang="en-US" dirty="0"/>
              <a:t> 불확실성이 큰 </a:t>
            </a:r>
            <a:r>
              <a:rPr lang="ko-KR" altLang="en-US" b="1" u="sng" dirty="0"/>
              <a:t>기후변화 적응의 기본 철학 아래</a:t>
            </a:r>
            <a:r>
              <a:rPr lang="ko-KR" altLang="en-US" dirty="0"/>
              <a:t>에서</a:t>
            </a:r>
          </a:p>
          <a:p>
            <a:pPr lvl="1"/>
            <a:r>
              <a:rPr lang="ko-KR" altLang="en-US" dirty="0"/>
              <a:t> 다양한 이해관계를 가진 사람들이 투명한 정보를 공유하고 신뢰를 </a:t>
            </a:r>
            <a:br>
              <a:rPr lang="en-US" altLang="ko-KR" dirty="0"/>
            </a:br>
            <a:r>
              <a:rPr lang="ko-KR" altLang="en-US" dirty="0"/>
              <a:t>바탕으로 서로 배우며</a:t>
            </a:r>
          </a:p>
          <a:p>
            <a:pPr lvl="1"/>
            <a:r>
              <a:rPr lang="ko-KR" altLang="en-US" dirty="0"/>
              <a:t> 비전을 만드는 시작 단계부터 대안을 선정하고 실현하여 평가하는 마지막 단계까지 전 과정을 함께 하여 합의를 이끌어내기 위함</a:t>
            </a:r>
            <a:r>
              <a:rPr lang="en-US" altLang="ko-KR" dirty="0"/>
              <a:t>. </a:t>
            </a:r>
          </a:p>
          <a:p>
            <a:pPr lvl="5"/>
            <a:endParaRPr lang="en-US" altLang="ko-KR" dirty="0"/>
          </a:p>
          <a:p>
            <a:r>
              <a:rPr lang="en-US" altLang="ko-KR" dirty="0"/>
              <a:t> Timeline</a:t>
            </a:r>
          </a:p>
          <a:p>
            <a:pPr lvl="1"/>
            <a:r>
              <a:rPr lang="en-US" altLang="ko-KR" dirty="0"/>
              <a:t> 2016-12-07 </a:t>
            </a:r>
            <a:r>
              <a:rPr lang="ko-KR" altLang="en-US" dirty="0"/>
              <a:t>창립총회 개최</a:t>
            </a:r>
            <a:endParaRPr lang="en-US" altLang="ko-KR" dirty="0"/>
          </a:p>
          <a:p>
            <a:pPr lvl="1"/>
            <a:r>
              <a:rPr lang="en-US" altLang="ko-KR" dirty="0"/>
              <a:t> 2017-09-21 1</a:t>
            </a:r>
            <a:r>
              <a:rPr lang="ko-KR" altLang="en-US" dirty="0"/>
              <a:t>차 소위원회</a:t>
            </a:r>
            <a:endParaRPr lang="en-US" altLang="ko-KR" dirty="0"/>
          </a:p>
          <a:p>
            <a:pPr lvl="1"/>
            <a:r>
              <a:rPr lang="en-US" altLang="ko-KR" dirty="0"/>
              <a:t> 2017-11-03 2</a:t>
            </a:r>
            <a:r>
              <a:rPr lang="ko-KR" altLang="en-US" dirty="0"/>
              <a:t>차 소위원회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 2018-07-25 3</a:t>
            </a:r>
            <a:r>
              <a:rPr lang="ko-KR" altLang="en-US" dirty="0"/>
              <a:t>차 소위원회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2FC183-DA61-42BA-8404-1EE0D6B13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965240"/>
            <a:ext cx="2952328" cy="237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7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7F710506-D544-459D-B946-AB5B4A52D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1989" y="1268413"/>
            <a:ext cx="5780022" cy="49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4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1</a:t>
            </a:r>
            <a:r>
              <a:rPr lang="ko-KR" altLang="en-US" dirty="0"/>
              <a:t>차 소위원회 </a:t>
            </a:r>
            <a:r>
              <a:rPr lang="en-US" altLang="ko-KR" dirty="0"/>
              <a:t>(2017-09-21) </a:t>
            </a:r>
            <a:r>
              <a:rPr lang="ko-KR" altLang="en-US" dirty="0"/>
              <a:t>사용 모형</a:t>
            </a:r>
          </a:p>
        </p:txBody>
      </p:sp>
      <p:pic>
        <p:nvPicPr>
          <p:cNvPr id="5" name="bandicam 2017-09-19 20-03-51-749">
            <a:hlinkClick r:id="" action="ppaction://media"/>
            <a:extLst>
              <a:ext uri="{FF2B5EF4-FFF2-40B4-BE49-F238E27FC236}">
                <a16:creationId xmlns:a16="http://schemas.microsoft.com/office/drawing/2014/main" id="{3699DEEF-EDC3-47C7-B18F-CE41CE57E4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16519" y="1916832"/>
            <a:ext cx="5910962" cy="403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1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2</a:t>
            </a:r>
            <a:r>
              <a:rPr lang="ko-KR" altLang="en-US" dirty="0"/>
              <a:t>차 소위원회 </a:t>
            </a:r>
            <a:r>
              <a:rPr lang="en-US" altLang="ko-KR" dirty="0"/>
              <a:t>(2017-11-03) </a:t>
            </a:r>
            <a:r>
              <a:rPr lang="ko-KR" altLang="en-US" dirty="0"/>
              <a:t>사용 모형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83E1805-62A2-4722-9691-DD37E12B4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916832"/>
            <a:ext cx="6896653" cy="4163462"/>
          </a:xfrm>
          <a:prstGeom prst="rect">
            <a:avLst/>
          </a:prstGeom>
        </p:spPr>
      </p:pic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1B1F24E8-8558-41A7-8516-0563A0232A05}"/>
              </a:ext>
            </a:extLst>
          </p:cNvPr>
          <p:cNvSpPr txBox="1">
            <a:spLocks/>
          </p:cNvSpPr>
          <p:nvPr/>
        </p:nvSpPr>
        <p:spPr>
          <a:xfrm>
            <a:off x="1217516" y="2622054"/>
            <a:ext cx="1168816" cy="551319"/>
          </a:xfrm>
          <a:prstGeom prst="rect">
            <a:avLst/>
          </a:prstGeom>
        </p:spPr>
        <p:txBody>
          <a:bodyPr vert="horz">
            <a:normAutofit fontScale="850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성공 확률</a:t>
            </a:r>
            <a:endParaRPr lang="en-US" altLang="ko-KR" sz="1800" b="1" dirty="0"/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7CCE02D9-AECC-4B38-8266-8638841C70EF}"/>
              </a:ext>
            </a:extLst>
          </p:cNvPr>
          <p:cNvSpPr txBox="1">
            <a:spLocks/>
          </p:cNvSpPr>
          <p:nvPr/>
        </p:nvSpPr>
        <p:spPr>
          <a:xfrm>
            <a:off x="2896846" y="2622053"/>
            <a:ext cx="1388518" cy="55131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회복기간</a:t>
            </a:r>
            <a:endParaRPr lang="en-US" altLang="ko-KR" sz="1800" b="1" dirty="0"/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9C91DC26-54BA-48D0-83B1-565701B97D56}"/>
              </a:ext>
            </a:extLst>
          </p:cNvPr>
          <p:cNvSpPr txBox="1">
            <a:spLocks/>
          </p:cNvSpPr>
          <p:nvPr/>
        </p:nvSpPr>
        <p:spPr>
          <a:xfrm>
            <a:off x="4580492" y="2622054"/>
            <a:ext cx="1006800" cy="55131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/>
              <a:t>부족량</a:t>
            </a:r>
            <a:endParaRPr lang="en-US" altLang="ko-KR" sz="1800" b="1" dirty="0"/>
          </a:p>
        </p:txBody>
      </p: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AF59C669-D76B-48B2-90CB-9DF2A954C3F6}"/>
              </a:ext>
            </a:extLst>
          </p:cNvPr>
          <p:cNvSpPr txBox="1">
            <a:spLocks/>
          </p:cNvSpPr>
          <p:nvPr/>
        </p:nvSpPr>
        <p:spPr>
          <a:xfrm>
            <a:off x="2158293" y="3757259"/>
            <a:ext cx="2839914" cy="629454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물부족지수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계산</a:t>
            </a:r>
            <a:endParaRPr lang="en-US" altLang="ko-KR" sz="1800" b="1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E3FFE96-7354-4DFB-A946-11532F04D16A}"/>
              </a:ext>
            </a:extLst>
          </p:cNvPr>
          <p:cNvSpPr txBox="1">
            <a:spLocks/>
          </p:cNvSpPr>
          <p:nvPr/>
        </p:nvSpPr>
        <p:spPr>
          <a:xfrm>
            <a:off x="5724135" y="2617523"/>
            <a:ext cx="2418171" cy="727167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물부족지수</a:t>
            </a:r>
            <a:endParaRPr lang="en-US" altLang="ko-KR" sz="1800" b="1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3B699E8-4916-4E8B-80AB-D706EB85D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367" y="3938832"/>
            <a:ext cx="2340008" cy="2012512"/>
          </a:xfrm>
          <a:prstGeom prst="rect">
            <a:avLst/>
          </a:prstGeom>
        </p:spPr>
      </p:pic>
      <p:sp>
        <p:nvSpPr>
          <p:cNvPr id="23" name="Content Placeholder 1">
            <a:extLst>
              <a:ext uri="{FF2B5EF4-FFF2-40B4-BE49-F238E27FC236}">
                <a16:creationId xmlns:a16="http://schemas.microsoft.com/office/drawing/2014/main" id="{0ECF172B-B29B-40A7-8457-42F42776C301}"/>
              </a:ext>
            </a:extLst>
          </p:cNvPr>
          <p:cNvSpPr txBox="1">
            <a:spLocks/>
          </p:cNvSpPr>
          <p:nvPr/>
        </p:nvSpPr>
        <p:spPr>
          <a:xfrm>
            <a:off x="5587292" y="3752058"/>
            <a:ext cx="2691858" cy="787779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en-US" altLang="ko-KR" sz="1800" b="1" dirty="0"/>
              <a:t>8</a:t>
            </a:r>
            <a:r>
              <a:rPr lang="ko-KR" altLang="en-US" sz="1800" b="1" dirty="0"/>
              <a:t>개 </a:t>
            </a:r>
            <a:r>
              <a:rPr lang="ko-KR" altLang="en-US" sz="1800" b="1" dirty="0" err="1"/>
              <a:t>시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∙군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지방상수원</a:t>
            </a:r>
            <a:r>
              <a:rPr lang="ko-KR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비율</a:t>
            </a:r>
            <a:endParaRPr lang="en-US" altLang="ko-KR" sz="1800" b="1" dirty="0"/>
          </a:p>
        </p:txBody>
      </p:sp>
      <p:sp>
        <p:nvSpPr>
          <p:cNvPr id="24" name="Content Placeholder 1">
            <a:extLst>
              <a:ext uri="{FF2B5EF4-FFF2-40B4-BE49-F238E27FC236}">
                <a16:creationId xmlns:a16="http://schemas.microsoft.com/office/drawing/2014/main" id="{DCEC38E9-5384-4A77-8655-2EE27070ED8F}"/>
              </a:ext>
            </a:extLst>
          </p:cNvPr>
          <p:cNvSpPr txBox="1">
            <a:spLocks/>
          </p:cNvSpPr>
          <p:nvPr/>
        </p:nvSpPr>
        <p:spPr>
          <a:xfrm>
            <a:off x="3180810" y="1790843"/>
            <a:ext cx="1239116" cy="42998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 err="1"/>
              <a:t>보령댐</a:t>
            </a:r>
            <a:endParaRPr lang="en-US" altLang="ko-KR" sz="1800" b="1" dirty="0"/>
          </a:p>
        </p:txBody>
      </p: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1A9A663A-1FF9-4EC3-ACB0-50DE766BA7A9}"/>
              </a:ext>
            </a:extLst>
          </p:cNvPr>
          <p:cNvSpPr txBox="1">
            <a:spLocks/>
          </p:cNvSpPr>
          <p:nvPr/>
        </p:nvSpPr>
        <p:spPr>
          <a:xfrm>
            <a:off x="5150928" y="1670052"/>
            <a:ext cx="2418171" cy="72716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4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1pPr>
            <a:lvl2pPr marL="658368" indent="-24688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2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2pPr>
            <a:lvl3pPr marL="923544" indent="-219456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kumimoji="0" sz="20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3pPr>
            <a:lvl4pPr marL="1179576" indent="-201168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  <a:defRPr kumimoji="0" sz="18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4pPr>
            <a:lvl5pPr marL="1389888" indent="-182880" algn="l" rtl="0" eaLnBrk="1" latinLnBrk="1" hangingPunct="1">
              <a:lnSpc>
                <a:spcPct val="150000"/>
              </a:lnSpc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08서울남산체 L" panose="02020603020101020101" pitchFamily="18" charset="-127"/>
                <a:ea typeface="08서울남산체 L" panose="02020603020101020101" pitchFamily="18" charset="-127"/>
                <a:cs typeface="+mn-cs"/>
              </a:defRPr>
            </a:lvl5pPr>
            <a:lvl6pPr marL="1609344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1" hangingPunct="1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buNone/>
            </a:pPr>
            <a:r>
              <a:rPr lang="ko-KR" altLang="en-US" sz="1800" b="1" dirty="0" err="1"/>
              <a:t>보령댐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물부족지수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741700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F53DA-A75B-4B45-94F6-A36AD0E6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5C673-ECA0-4E18-87EE-28AE68A3D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26C823-BCBE-4BE6-BDE8-1CE8FBD1C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3</a:t>
            </a:r>
            <a:r>
              <a:rPr lang="ko-KR" altLang="en-US" dirty="0"/>
              <a:t>차 소위원회 </a:t>
            </a:r>
            <a:r>
              <a:rPr lang="en-US" altLang="ko-KR" dirty="0"/>
              <a:t>(2018-07-25) </a:t>
            </a:r>
            <a:r>
              <a:rPr lang="ko-KR" altLang="en-US" dirty="0"/>
              <a:t>사용 모형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B07CEE-0657-4634-B929-D7F5E97FD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50" y="1812498"/>
            <a:ext cx="7026499" cy="43856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811762C-B76E-40AF-8F6B-EE87F80DF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4204038"/>
            <a:ext cx="35052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6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B18DF43-9ADA-4E9F-84B8-3A26CE21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427060"/>
            <a:ext cx="4089586" cy="42930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A0F7EA8-09B4-45F4-8CB3-3A32D413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in the Real-world: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847AB-86B2-4FC0-97FF-67B3E4137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모형을 사용한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AAE51-2C91-4020-8FDD-1283748D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DE68DCF-5F29-409D-BFC7-623C2B13D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1314293"/>
            <a:ext cx="5832648" cy="14032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EB30F5-2AEC-49E0-A170-DB54B0672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884" y="2725948"/>
            <a:ext cx="2417868" cy="378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8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83FAA-349B-45BA-9E63-03D52D62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Now, It’s Your Turn to build a model.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B11178-B1FD-4478-8071-BDA82FABF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600" dirty="0"/>
                  <a:t> Build a reservoir simulation model assuming known inflow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dirty="0"/>
                  <a:t>. What are the governing equations and the constraints? Assuming that you are the dam operator, what might be a possible objective function? How about when you are a water user? Which objective between the two is more important? </a:t>
                </a:r>
                <a:br>
                  <a:rPr lang="en-US" altLang="ko-KR" sz="1600" dirty="0"/>
                </a:br>
                <a:r>
                  <a:rPr lang="en-US" altLang="ko-KR" sz="1600" dirty="0"/>
                  <a:t>(refer to the equations in slide # 10).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7B11178-B1FD-4478-8071-BDA82FABF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00B66-E5EE-4DE9-BC02-59295E35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679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1B5B8-F348-4692-9197-34B91D2E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263673"/>
          </a:xfrm>
        </p:spPr>
        <p:txBody>
          <a:bodyPr>
            <a:noAutofit/>
          </a:bodyPr>
          <a:lstStyle/>
          <a:p>
            <a:pPr algn="ctr"/>
            <a:r>
              <a:rPr lang="en-US" altLang="ko-KR" b="1" u="sng" dirty="0"/>
              <a:t>** Flow Diagram of a Reservoir Simulation Model **</a:t>
            </a:r>
            <a:endParaRPr lang="ko-KR" altLang="en-US" b="1" u="sng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38A9E6A-DC1D-4F7C-B247-BCEF6273E1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801" y="1844824"/>
            <a:ext cx="5914397" cy="418783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9BC6B-7F6A-458A-9AE2-57E10CFA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787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Modeling</a:t>
            </a:r>
            <a:r>
              <a:rPr lang="ko-KR" altLang="en-US" b="1" dirty="0"/>
              <a:t> </a:t>
            </a:r>
            <a:r>
              <a:rPr lang="en-US" altLang="ko-KR" b="1" dirty="0"/>
              <a:t>Water</a:t>
            </a:r>
            <a:r>
              <a:rPr lang="ko-KR" altLang="en-US" b="1" dirty="0"/>
              <a:t> </a:t>
            </a:r>
            <a:r>
              <a:rPr lang="en-US" altLang="ko-KR" b="1" dirty="0"/>
              <a:t>Resources</a:t>
            </a:r>
            <a:r>
              <a:rPr lang="ko-KR" altLang="en-US" b="1" dirty="0"/>
              <a:t> </a:t>
            </a:r>
            <a:r>
              <a:rPr lang="en-US" altLang="ko-KR" b="1" dirty="0"/>
              <a:t>Systems</a:t>
            </a:r>
          </a:p>
          <a:p>
            <a:pPr lvl="1"/>
            <a:r>
              <a:rPr lang="en-US" altLang="ko-KR" dirty="0"/>
              <a:t> Models = </a:t>
            </a:r>
            <a:r>
              <a:rPr lang="en-US" altLang="ko-KR" b="1" u="sng" dirty="0"/>
              <a:t>“Simplified Representations”</a:t>
            </a:r>
            <a:r>
              <a:rPr lang="en-US" altLang="ko-KR" dirty="0"/>
              <a:t> of the real-world systems</a:t>
            </a:r>
          </a:p>
          <a:p>
            <a:pPr lvl="1"/>
            <a:r>
              <a:rPr lang="en-US" altLang="ko-KR" dirty="0"/>
              <a:t> We use models to predict (or answer “what if” questions) possible consequences (especially </a:t>
            </a:r>
            <a:r>
              <a:rPr lang="en-US" altLang="ko-KR" b="1" u="sng" dirty="0"/>
              <a:t>quantitative</a:t>
            </a:r>
            <a:r>
              <a:rPr lang="en-US" altLang="ko-KR" dirty="0"/>
              <a:t>) of our actions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Types of Water Resources Systems Models</a:t>
            </a:r>
          </a:p>
          <a:p>
            <a:pPr lvl="1"/>
            <a:r>
              <a:rPr lang="en-US" altLang="ko-KR" dirty="0"/>
              <a:t> Optimization, Simulation, Simulation/Optimization Models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Examples of Water Resources Systems Models</a:t>
            </a:r>
          </a:p>
          <a:p>
            <a:pPr lvl="1"/>
            <a:r>
              <a:rPr lang="en-US" altLang="ko-KR" dirty="0"/>
              <a:t> HEC-HMS, HEC-RAS, HEC-</a:t>
            </a:r>
            <a:r>
              <a:rPr lang="en-US" altLang="ko-KR" dirty="0" err="1"/>
              <a:t>ResSim</a:t>
            </a:r>
            <a:r>
              <a:rPr lang="en-US" altLang="ko-KR" dirty="0"/>
              <a:t> Models</a:t>
            </a:r>
          </a:p>
          <a:p>
            <a:pPr lvl="1"/>
            <a:r>
              <a:rPr lang="en-US" altLang="ko-KR" dirty="0"/>
              <a:t> Shared Vision Planning Model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</a:t>
            </a:r>
            <a:r>
              <a:rPr lang="en-US" altLang="ko-KR"/>
              <a:t>2022-03-22 </a:t>
            </a:r>
            <a:r>
              <a:rPr lang="ko-KR" altLang="en-US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Introduction to Conventional Optimization Models (DP&amp;LP) Part I</a:t>
            </a:r>
          </a:p>
          <a:p>
            <a:pPr lvl="2"/>
            <a:r>
              <a:rPr lang="en-US" altLang="ko-KR" b="1" dirty="0"/>
              <a:t>General Concepts of Optimization Models</a:t>
            </a:r>
          </a:p>
          <a:p>
            <a:pPr lvl="2"/>
            <a:r>
              <a:rPr lang="en-US" altLang="ko-KR" b="1" dirty="0"/>
              <a:t>Concepts of Linear Programming Models (LP)</a:t>
            </a:r>
          </a:p>
          <a:p>
            <a:pPr lvl="2"/>
            <a:r>
              <a:rPr lang="en-US" altLang="ko-KR" b="1" dirty="0"/>
              <a:t>Examples of Problem Solving with LP Models</a:t>
            </a:r>
          </a:p>
          <a:p>
            <a:pPr lvl="2"/>
            <a:r>
              <a:rPr lang="en-US" altLang="ko-KR" dirty="0"/>
              <a:t>Concepts of Dynamic Programming Models (DP)</a:t>
            </a:r>
          </a:p>
          <a:p>
            <a:pPr lvl="2"/>
            <a:r>
              <a:rPr lang="en-US" altLang="ko-KR" dirty="0"/>
              <a:t>Examples of Problem Solving with DP Models</a:t>
            </a:r>
          </a:p>
          <a:p>
            <a:pPr lvl="2"/>
            <a:r>
              <a:rPr lang="en-US" altLang="ko-KR" dirty="0"/>
              <a:t>Real-world Applications of Traditional Optimization Models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 Assignment #1 DUE Before Class on Mar-22 (</a:t>
            </a:r>
            <a:r>
              <a:rPr lang="ko-KR" altLang="en-US" dirty="0" err="1"/>
              <a:t>출력본</a:t>
            </a:r>
            <a:r>
              <a:rPr lang="ko-KR" altLang="en-US" dirty="0"/>
              <a:t> 제출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Quiz #1 on Mar-29 // </a:t>
            </a:r>
            <a:r>
              <a:rPr lang="en-US" altLang="ko-KR" dirty="0" err="1"/>
              <a:t>Datacamp</a:t>
            </a:r>
            <a:r>
              <a:rPr lang="en-US" altLang="ko-KR" dirty="0"/>
              <a:t> #1 Due Mar-29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858B7-A05E-4C8C-8E24-4ADF8FF9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Real-world Reservoir Simulation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EFF55C-1E90-4082-83EB-110B4BC0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Assignment #1</a:t>
            </a:r>
            <a:r>
              <a:rPr lang="ko-KR" altLang="en-US" dirty="0"/>
              <a:t>의 </a:t>
            </a:r>
            <a:r>
              <a:rPr lang="en-US" altLang="ko-KR" dirty="0"/>
              <a:t>4-5</a:t>
            </a:r>
            <a:r>
              <a:rPr lang="ko-KR" altLang="en-US" dirty="0"/>
              <a:t>번 문제를 엑셀로 수행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What are the key assumptions you made in building the model? </a:t>
            </a:r>
          </a:p>
          <a:p>
            <a:r>
              <a:rPr lang="en-US" altLang="ko-KR" dirty="0"/>
              <a:t> How will you enhance the model’s practicality?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어떻게 모델을 더욱 현실과 비슷하게 개선할 것인지</a:t>
            </a:r>
            <a:r>
              <a:rPr lang="en-US" altLang="ko-KR" dirty="0"/>
              <a:t>?)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39EFC-C851-406A-A7C8-3F577B1C3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26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74669</TotalTime>
  <Words>1695</Words>
  <Application>Microsoft Office PowerPoint</Application>
  <PresentationFormat>화면 슬라이드 쇼(4:3)</PresentationFormat>
  <Paragraphs>231</Paragraphs>
  <Slides>30</Slides>
  <Notes>1</Notes>
  <HiddenSlides>0</HiddenSlides>
  <MMClips>1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2" baseType="lpstr">
      <vt:lpstr>08서울남산체 L</vt:lpstr>
      <vt:lpstr>나눔고딕 ExtraBold</vt:lpstr>
      <vt:lpstr>나눔고딕 Light</vt:lpstr>
      <vt:lpstr>맑은 고딕</vt:lpstr>
      <vt:lpstr>Arial</vt:lpstr>
      <vt:lpstr>Calibri</vt:lpstr>
      <vt:lpstr>Cambria Math</vt:lpstr>
      <vt:lpstr>Georgia</vt:lpstr>
      <vt:lpstr>Gill Sans MT</vt:lpstr>
      <vt:lpstr>Wingdings</vt:lpstr>
      <vt:lpstr>Office 테마</vt:lpstr>
      <vt:lpstr>Equation</vt:lpstr>
      <vt:lpstr>Lecture 02</vt:lpstr>
      <vt:lpstr>Review on Lecture 01</vt:lpstr>
      <vt:lpstr>Before Lecture 02</vt:lpstr>
      <vt:lpstr>Today’s Topic: WRS Modeling</vt:lpstr>
      <vt:lpstr>Modeling Water Resources Systems</vt:lpstr>
      <vt:lpstr>Modeling Water Resources Systems</vt:lpstr>
      <vt:lpstr>Modeling Water Resources Systems</vt:lpstr>
      <vt:lpstr>***What constitutes WRS Models?***</vt:lpstr>
      <vt:lpstr>Example of the Model Formulation</vt:lpstr>
      <vt:lpstr>Example of the Model Formulation</vt:lpstr>
      <vt:lpstr>Types of Water Resources Systems Models</vt:lpstr>
      <vt:lpstr>Types of Water Resources Systems Models</vt:lpstr>
      <vt:lpstr>Examples of Water Resources Systems Models Applied in Practice (Industry)</vt:lpstr>
      <vt:lpstr>Examples of Water Resources Systems Models Applied in Practice (Industry)</vt:lpstr>
      <vt:lpstr>Modeling Water Resources Systems</vt:lpstr>
      <vt:lpstr>PowerPoint 프레젠테이션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Modeling in the Real-world: Example</vt:lpstr>
      <vt:lpstr>Now, It’s Your Turn to build a model.</vt:lpstr>
      <vt:lpstr>** Flow Diagram of a Reservoir Simulation Model **</vt:lpstr>
      <vt:lpstr>Conclusion of Lecture 02</vt:lpstr>
      <vt:lpstr>Future Schedule</vt:lpstr>
      <vt:lpstr>Real-world Reservoir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2111</cp:revision>
  <cp:lastPrinted>2022-03-14T11:39:57Z</cp:lastPrinted>
  <dcterms:created xsi:type="dcterms:W3CDTF">2020-01-02T02:18:47Z</dcterms:created>
  <dcterms:modified xsi:type="dcterms:W3CDTF">2022-03-15T02:29:38Z</dcterms:modified>
</cp:coreProperties>
</file>