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698" r:id="rId3"/>
    <p:sldId id="734" r:id="rId4"/>
    <p:sldId id="737" r:id="rId5"/>
    <p:sldId id="727" r:id="rId6"/>
    <p:sldId id="728" r:id="rId7"/>
    <p:sldId id="730" r:id="rId8"/>
    <p:sldId id="731" r:id="rId9"/>
    <p:sldId id="729" r:id="rId10"/>
    <p:sldId id="741" r:id="rId11"/>
    <p:sldId id="738" r:id="rId12"/>
    <p:sldId id="699" r:id="rId13"/>
    <p:sldId id="742" r:id="rId14"/>
    <p:sldId id="744" r:id="rId15"/>
    <p:sldId id="745" r:id="rId16"/>
    <p:sldId id="746" r:id="rId17"/>
    <p:sldId id="753" r:id="rId18"/>
    <p:sldId id="752" r:id="rId19"/>
    <p:sldId id="754" r:id="rId20"/>
    <p:sldId id="743" r:id="rId21"/>
    <p:sldId id="740" r:id="rId22"/>
    <p:sldId id="747" r:id="rId23"/>
    <p:sldId id="736" r:id="rId24"/>
    <p:sldId id="749" r:id="rId25"/>
    <p:sldId id="750" r:id="rId26"/>
    <p:sldId id="751" r:id="rId27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028" autoAdjust="0"/>
  </p:normalViewPr>
  <p:slideViewPr>
    <p:cSldViewPr>
      <p:cViewPr varScale="1">
        <p:scale>
          <a:sx n="104" d="100"/>
          <a:sy n="104" d="100"/>
        </p:scale>
        <p:origin x="15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0.png"/><Relationship Id="rId15" Type="http://schemas.openxmlformats.org/officeDocument/2006/relationships/image" Target="../media/image5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07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Probability,</a:t>
            </a:r>
            <a:r>
              <a:rPr lang="ko-KR" altLang="en-US" sz="3600" dirty="0"/>
              <a:t> </a:t>
            </a:r>
            <a:r>
              <a:rPr lang="en-US" altLang="ko-KR" sz="3600" dirty="0"/>
              <a:t>Statistics,</a:t>
            </a:r>
            <a:r>
              <a:rPr lang="ko-KR" altLang="en-US" sz="3600" dirty="0"/>
              <a:t> </a:t>
            </a:r>
            <a:r>
              <a:rPr lang="en-US" altLang="ko-KR" sz="3600" dirty="0"/>
              <a:t>Uncertainty, and Stochastic Simulations </a:t>
            </a:r>
          </a:p>
          <a:p>
            <a:r>
              <a:rPr lang="en-US" altLang="ko-KR" sz="3600" dirty="0"/>
              <a:t>Part II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Remaining Future Schedule (~End of Course)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8191822" cy="5224112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strike="sngStrike" dirty="0"/>
              <a:t>May-17 (1): TEST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May-24 (Today’s Lecture): </a:t>
            </a:r>
          </a:p>
          <a:p>
            <a:pPr lvl="1"/>
            <a:r>
              <a:rPr lang="en-US" altLang="ko-KR" b="1" dirty="0"/>
              <a:t> Introduction to Final Project B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dirty="0" err="1"/>
              <a:t>Lec</a:t>
            </a:r>
            <a:r>
              <a:rPr lang="en-US" altLang="ko-KR" b="1" dirty="0"/>
              <a:t> 07: Probability, Statistics, Uncertainty, and Stochastic Simulations II (including </a:t>
            </a:r>
            <a:r>
              <a:rPr lang="en-US" altLang="ko-KR" b="1" dirty="0" err="1"/>
              <a:t>Lec</a:t>
            </a:r>
            <a:r>
              <a:rPr lang="en-US" altLang="ko-KR" b="1" dirty="0"/>
              <a:t> 08: Performance Criteria)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Jun-14: Final Project Presentation + Report Due (Jun-20)</a:t>
            </a:r>
          </a:p>
          <a:p>
            <a:pPr lvl="1"/>
            <a:r>
              <a:rPr lang="en-US" altLang="ko-KR" dirty="0"/>
              <a:t> Report</a:t>
            </a:r>
            <a:r>
              <a:rPr lang="ko-KR" altLang="en-US" dirty="0"/>
              <a:t>는 추후에 </a:t>
            </a:r>
            <a:r>
              <a:rPr lang="ko-KR" altLang="en-US" b="1" dirty="0"/>
              <a:t>기술기사</a:t>
            </a:r>
            <a:r>
              <a:rPr lang="ko-KR" altLang="en-US" dirty="0"/>
              <a:t>로 출판할 예정 </a:t>
            </a:r>
            <a:r>
              <a:rPr lang="en-US" altLang="ko-KR" dirty="0"/>
              <a:t>(7</a:t>
            </a:r>
            <a:r>
              <a:rPr lang="ko-KR" altLang="en-US" dirty="0"/>
              <a:t>월 중</a:t>
            </a:r>
            <a:r>
              <a:rPr lang="en-US" altLang="ko-KR" dirty="0"/>
              <a:t>): </a:t>
            </a:r>
            <a:r>
              <a:rPr lang="ko-KR" altLang="en-US" b="1" dirty="0"/>
              <a:t>기술기사 예시</a:t>
            </a: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900C44-EF16-4F4A-A5BF-84CAE8CB0401}"/>
              </a:ext>
            </a:extLst>
          </p:cNvPr>
          <p:cNvSpPr/>
          <p:nvPr/>
        </p:nvSpPr>
        <p:spPr>
          <a:xfrm>
            <a:off x="251520" y="5345832"/>
            <a:ext cx="8892480" cy="151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CBE123-30ED-48D4-9EB0-F161B064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C4E0F-1D06-48DB-839D-6A4D1C40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 </a:t>
            </a:r>
            <a:r>
              <a:rPr lang="ko-KR" altLang="en-US" sz="1800" dirty="0"/>
              <a:t>이제</a:t>
            </a:r>
            <a:r>
              <a:rPr lang="en-US" altLang="ko-KR" sz="1800" dirty="0"/>
              <a:t>, </a:t>
            </a:r>
            <a:r>
              <a:rPr lang="ko-KR" altLang="en-US" sz="1800" dirty="0"/>
              <a:t>이 수업에서 배운 내용을 활용하여 </a:t>
            </a:r>
            <a:r>
              <a:rPr lang="ko-KR" altLang="en-US" sz="1800" dirty="0" err="1"/>
              <a:t>보령댐의</a:t>
            </a:r>
            <a:r>
              <a:rPr lang="ko-KR" altLang="en-US" sz="1800" dirty="0"/>
              <a:t> 최적 운영방법을 도출해 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알다시피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보령댐은</a:t>
            </a:r>
            <a:r>
              <a:rPr lang="ko-KR" altLang="en-US" sz="1800" dirty="0"/>
              <a:t> 특히 최근 다년 가뭄으로 인한 피해를 많이 입은 바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팀별로 아래 문제에 대한 답변을 </a:t>
            </a:r>
            <a:r>
              <a:rPr lang="en-US" altLang="ko-KR" sz="1800" dirty="0"/>
              <a:t>PPT </a:t>
            </a:r>
            <a:r>
              <a:rPr lang="ko-KR" altLang="en-US" sz="1800" dirty="0"/>
              <a:t>발표에 포함하여 준비하여 주시기 바랍니다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r>
              <a:rPr lang="en-US" altLang="ko-KR" sz="1800" dirty="0"/>
              <a:t>(15</a:t>
            </a:r>
            <a:r>
              <a:rPr lang="ko-KR" altLang="en-US" sz="1800" dirty="0"/>
              <a:t>분 발표</a:t>
            </a:r>
            <a:r>
              <a:rPr lang="en-US" altLang="ko-KR" sz="1800" dirty="0"/>
              <a:t>, 5</a:t>
            </a:r>
            <a:r>
              <a:rPr lang="ko-KR" altLang="en-US" sz="1800" dirty="0"/>
              <a:t>분 </a:t>
            </a:r>
            <a:r>
              <a:rPr lang="en-US" altLang="ko-KR" sz="1800" dirty="0"/>
              <a:t>Q&amp;A)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(</a:t>
            </a:r>
            <a:r>
              <a:rPr lang="ko-KR" altLang="en-US" sz="1800" dirty="0"/>
              <a:t>팀 </a:t>
            </a:r>
            <a:r>
              <a:rPr lang="en-US" altLang="ko-KR" sz="1800" dirty="0"/>
              <a:t>C: </a:t>
            </a:r>
            <a:r>
              <a:rPr lang="ko-KR" altLang="en-US" sz="1800" dirty="0" err="1"/>
              <a:t>이재황</a:t>
            </a:r>
            <a:r>
              <a:rPr lang="ko-KR" altLang="en-US" sz="1800" dirty="0"/>
              <a:t> 김현주 박성열 </a:t>
            </a:r>
            <a:r>
              <a:rPr lang="en-US" altLang="ko-KR" sz="1800" dirty="0"/>
              <a:t>// </a:t>
            </a:r>
            <a:r>
              <a:rPr lang="ko-KR" altLang="en-US" sz="1800" dirty="0"/>
              <a:t>팀 </a:t>
            </a:r>
            <a:r>
              <a:rPr lang="en-US" altLang="ko-KR" sz="1800" dirty="0"/>
              <a:t>D: </a:t>
            </a:r>
            <a:r>
              <a:rPr lang="ko-KR" altLang="en-US" sz="1800" dirty="0"/>
              <a:t>이재호 김연주 </a:t>
            </a:r>
            <a:r>
              <a:rPr lang="ko-KR" altLang="en-US" sz="1800" dirty="0" err="1"/>
              <a:t>남현욱</a:t>
            </a:r>
            <a:r>
              <a:rPr lang="ko-KR" altLang="en-US" sz="1800" dirty="0"/>
              <a:t> 이주형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및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유역에 대한 예비 분석을 수행합니다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직면하고 있는 문제는 무엇이며</a:t>
            </a:r>
            <a:r>
              <a:rPr lang="en-US" altLang="ko-KR" sz="1600" dirty="0"/>
              <a:t>, </a:t>
            </a:r>
            <a:r>
              <a:rPr lang="ko-KR" altLang="en-US" sz="1600" dirty="0"/>
              <a:t>직면한 문제의 어떤 부분을 개선할 수 있습니까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보령댐이</a:t>
            </a:r>
            <a:r>
              <a:rPr lang="ko-KR" altLang="en-US" sz="1600" dirty="0"/>
              <a:t> 최근 겪은 가뭄은 얼마나 심각했습니까</a:t>
            </a:r>
            <a:r>
              <a:rPr lang="en-US" altLang="ko-KR" sz="1600" dirty="0"/>
              <a:t>? </a:t>
            </a:r>
            <a:r>
              <a:rPr lang="ko-KR" altLang="en-US" sz="1600" dirty="0"/>
              <a:t>이벤트에 대한 확률 분석을 수행하여 봅시다</a:t>
            </a:r>
            <a:r>
              <a:rPr lang="en-US" altLang="ko-KR" sz="1600" dirty="0"/>
              <a:t>. 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대상 댐에 적용할 최적화 모델의 종류를 선택하고</a:t>
            </a:r>
            <a:r>
              <a:rPr lang="en-US" altLang="ko-KR" sz="1600" dirty="0"/>
              <a:t>, </a:t>
            </a:r>
            <a:r>
              <a:rPr lang="ko-KR" altLang="en-US" sz="1600" dirty="0"/>
              <a:t>문제를 설정해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최적화를 위한 목적 함수</a:t>
            </a:r>
            <a:r>
              <a:rPr lang="en-US" altLang="ko-KR" sz="1600" dirty="0"/>
              <a:t>, </a:t>
            </a:r>
            <a:r>
              <a:rPr lang="ko-KR" altLang="en-US" sz="1600" dirty="0"/>
              <a:t>결정 변수</a:t>
            </a:r>
            <a:r>
              <a:rPr lang="en-US" altLang="ko-KR" sz="1600" dirty="0"/>
              <a:t>, </a:t>
            </a:r>
            <a:r>
              <a:rPr lang="ko-KR" altLang="en-US" sz="1600" dirty="0"/>
              <a:t>제약 조건은 각각 무엇인가요</a:t>
            </a:r>
            <a:r>
              <a:rPr lang="en-US" altLang="ko-KR" sz="1600" dirty="0"/>
              <a:t>? </a:t>
            </a:r>
            <a:r>
              <a:rPr lang="ko-KR" altLang="en-US" sz="1600" dirty="0"/>
              <a:t>결정적</a:t>
            </a:r>
            <a:r>
              <a:rPr lang="en-US" altLang="ko-KR" sz="1600" dirty="0"/>
              <a:t>/</a:t>
            </a:r>
            <a:r>
              <a:rPr lang="ko-KR" altLang="en-US" sz="1600" dirty="0"/>
              <a:t>확률적 모델 중 어떤 모델을 사용해야 하나요</a:t>
            </a:r>
            <a:r>
              <a:rPr lang="en-US" altLang="ko-KR" sz="1600" dirty="0"/>
              <a:t>? (R</a:t>
            </a:r>
            <a:r>
              <a:rPr lang="ko-KR" altLang="en-US" sz="1600" dirty="0"/>
              <a:t>을 통한 </a:t>
            </a:r>
            <a:r>
              <a:rPr lang="en-US" altLang="ko-KR" sz="1600" dirty="0"/>
              <a:t>Coding </a:t>
            </a:r>
            <a:r>
              <a:rPr lang="ko-KR" altLang="en-US" sz="1600" dirty="0"/>
              <a:t>필수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최적화된 </a:t>
            </a:r>
            <a:r>
              <a:rPr lang="ko-KR" altLang="en-US" sz="1600" dirty="0" err="1"/>
              <a:t>운영룰을</a:t>
            </a:r>
            <a:r>
              <a:rPr lang="ko-KR" altLang="en-US" sz="1600" dirty="0"/>
              <a:t> 가지고</a:t>
            </a:r>
            <a:r>
              <a:rPr lang="en-US" altLang="ko-KR" sz="1600" dirty="0"/>
              <a:t> 2014</a:t>
            </a:r>
            <a:r>
              <a:rPr lang="ko-KR" altLang="en-US" sz="1600" dirty="0"/>
              <a:t>년 </a:t>
            </a:r>
            <a:r>
              <a:rPr lang="en-US" altLang="ko-KR" sz="1600" dirty="0"/>
              <a:t>9</a:t>
            </a:r>
            <a:r>
              <a:rPr lang="ko-KR" altLang="en-US" sz="1600" dirty="0"/>
              <a:t>월 </a:t>
            </a:r>
            <a:r>
              <a:rPr lang="en-US" altLang="ko-KR" sz="1600" dirty="0"/>
              <a:t>1</a:t>
            </a:r>
            <a:r>
              <a:rPr lang="ko-KR" altLang="en-US" sz="1600" dirty="0"/>
              <a:t>일부터 </a:t>
            </a:r>
            <a:r>
              <a:rPr lang="en-US" altLang="ko-KR" sz="1600" dirty="0"/>
              <a:t>2019</a:t>
            </a:r>
            <a:r>
              <a:rPr lang="ko-KR" altLang="en-US" sz="1600" dirty="0"/>
              <a:t>년 </a:t>
            </a:r>
            <a:r>
              <a:rPr lang="en-US" altLang="ko-KR" sz="1600" dirty="0"/>
              <a:t>6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일까지의 일별 저수지 모의를 진행해 봅시다</a:t>
            </a:r>
            <a:r>
              <a:rPr lang="en-US" altLang="ko-KR" sz="1600" dirty="0"/>
              <a:t>. (</a:t>
            </a:r>
            <a:r>
              <a:rPr lang="ko-KR" altLang="en-US" sz="1600" dirty="0"/>
              <a:t>초기 수위는 </a:t>
            </a:r>
            <a:r>
              <a:rPr lang="en-US" altLang="ko-KR" sz="1600" dirty="0"/>
              <a:t>2014</a:t>
            </a:r>
            <a:r>
              <a:rPr lang="ko-KR" altLang="en-US" sz="1600" dirty="0"/>
              <a:t>년 </a:t>
            </a:r>
            <a:r>
              <a:rPr lang="en-US" altLang="ko-KR" sz="1600" dirty="0"/>
              <a:t>8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 저수량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 결과 및 모의 결과를 사용하여 분석을 진행해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실제 운영 실적과 비교하여 최적 </a:t>
            </a:r>
            <a:r>
              <a:rPr lang="ko-KR" altLang="en-US" sz="1600" dirty="0" err="1"/>
              <a:t>운영룰이</a:t>
            </a:r>
            <a:r>
              <a:rPr lang="ko-KR" altLang="en-US" sz="1600" dirty="0"/>
              <a:t> 어떤 측면에서 얼마나 개선된 결과를 보였나요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50D96-89B7-4BD7-AB8A-39D45E29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D9FD4-D1D9-4D9F-9EA3-DB87D62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 </a:t>
            </a:r>
            <a:r>
              <a:rPr lang="ko-KR" altLang="en-US" dirty="0"/>
              <a:t>최종 리포트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C87B1-E052-4BFF-A7CE-8126D5DC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이전에 </a:t>
            </a:r>
            <a:r>
              <a:rPr lang="ko-KR" altLang="en-US" sz="1800" dirty="0" err="1"/>
              <a:t>설명드린</a:t>
            </a:r>
            <a:r>
              <a:rPr lang="ko-KR" altLang="en-US" sz="1800" dirty="0"/>
              <a:t> 바와 같이</a:t>
            </a:r>
            <a:r>
              <a:rPr lang="en-US" altLang="ko-KR" sz="1800" dirty="0"/>
              <a:t>, </a:t>
            </a:r>
            <a:r>
              <a:rPr lang="ko-KR" altLang="en-US" sz="1800" dirty="0"/>
              <a:t>조별로 제출한 최종 리포트는 학기가 끝난 후 정리 및 취합 과정을 거쳐 </a:t>
            </a:r>
            <a:r>
              <a:rPr lang="en-US" altLang="ko-KR" sz="1800" dirty="0"/>
              <a:t>7</a:t>
            </a:r>
            <a:r>
              <a:rPr lang="ko-KR" altLang="en-US" sz="1800" dirty="0"/>
              <a:t>월 중 학술기사</a:t>
            </a:r>
            <a:r>
              <a:rPr lang="en-US" altLang="ko-KR" sz="1800" dirty="0"/>
              <a:t>(</a:t>
            </a:r>
            <a:r>
              <a:rPr lang="ko-KR" altLang="en-US" sz="1800" dirty="0"/>
              <a:t>한국수자원학회지</a:t>
            </a:r>
            <a:r>
              <a:rPr lang="en-US" altLang="ko-KR" sz="1800" dirty="0"/>
              <a:t>-</a:t>
            </a:r>
            <a:r>
              <a:rPr lang="ko-KR" altLang="en-US" sz="1800" dirty="0" err="1"/>
              <a:t>물과미래</a:t>
            </a:r>
            <a:r>
              <a:rPr lang="en-US" altLang="ko-KR" sz="1800" dirty="0"/>
              <a:t>)</a:t>
            </a:r>
            <a:r>
              <a:rPr lang="ko-KR" altLang="en-US" sz="1800" dirty="0"/>
              <a:t>에 투고할 예정입니다</a:t>
            </a:r>
            <a:r>
              <a:rPr lang="en-US" altLang="ko-KR" sz="1800" dirty="0"/>
              <a:t>. </a:t>
            </a:r>
            <a:r>
              <a:rPr lang="ko-KR" altLang="en-US" sz="1800" dirty="0"/>
              <a:t>예시로 제시한 학술기사를 참고해 주시고</a:t>
            </a:r>
            <a:r>
              <a:rPr lang="en-US" altLang="ko-KR" sz="1800" dirty="0"/>
              <a:t>, </a:t>
            </a:r>
            <a:r>
              <a:rPr lang="ko-KR" altLang="en-US" sz="1800" dirty="0"/>
              <a:t>한글로 리포트 작성 부탁드립니다</a:t>
            </a:r>
            <a:r>
              <a:rPr lang="en-US" altLang="ko-KR" sz="1800" dirty="0"/>
              <a:t>. </a:t>
            </a:r>
            <a:r>
              <a:rPr lang="ko-KR" altLang="en-US" sz="1800" dirty="0"/>
              <a:t>통일성을 위해</a:t>
            </a:r>
            <a:r>
              <a:rPr lang="en-US" altLang="ko-KR" sz="1800" dirty="0"/>
              <a:t>, </a:t>
            </a:r>
            <a:r>
              <a:rPr lang="ko-KR" altLang="en-US" sz="1800" dirty="0"/>
              <a:t>되도록이면 첨부 파일 양식에 아래와 같은 목차를 사용하여 작성 부탁드립니다 </a:t>
            </a:r>
            <a:r>
              <a:rPr lang="en-US" altLang="ko-KR" sz="1800" dirty="0"/>
              <a:t>(</a:t>
            </a:r>
            <a:r>
              <a:rPr lang="ko-KR" altLang="en-US" sz="1800" dirty="0"/>
              <a:t>리포트 제출 기한</a:t>
            </a:r>
            <a:r>
              <a:rPr lang="en-US" altLang="ko-KR" sz="1800" dirty="0"/>
              <a:t>: Jun-20 </a:t>
            </a:r>
            <a:r>
              <a:rPr lang="ko-KR" altLang="en-US" sz="1800" dirty="0"/>
              <a:t>오후 </a:t>
            </a:r>
            <a:r>
              <a:rPr lang="en-US" altLang="ko-KR" sz="1800" dirty="0"/>
              <a:t>6</a:t>
            </a:r>
            <a:r>
              <a:rPr lang="ko-KR" altLang="en-US" sz="1800" dirty="0"/>
              <a:t>시까지 메일로 제출</a:t>
            </a:r>
            <a:r>
              <a:rPr lang="en-US" altLang="ko-KR" sz="1800" dirty="0"/>
              <a:t>).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서론 </a:t>
            </a:r>
            <a:r>
              <a:rPr lang="en-US" altLang="ko-KR" sz="1600" dirty="0"/>
              <a:t>(</a:t>
            </a:r>
            <a:r>
              <a:rPr lang="ko-KR" altLang="en-US" sz="1600" dirty="0"/>
              <a:t>들어가며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개요 </a:t>
            </a:r>
            <a:r>
              <a:rPr lang="en-US" altLang="ko-KR" sz="1600" dirty="0"/>
              <a:t>(</a:t>
            </a:r>
            <a:r>
              <a:rPr lang="ko-KR" altLang="en-US" sz="1600" dirty="0"/>
              <a:t>대략적인 최적화 모형 설명 및 선택한 최적화 모형 이유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대상 유역 및 문제 제기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문제 설정 및 최적화 진행 과정 </a:t>
            </a:r>
            <a:r>
              <a:rPr lang="en-US" altLang="ko-KR" sz="1600" dirty="0"/>
              <a:t>(</a:t>
            </a:r>
            <a:r>
              <a:rPr lang="ko-KR" altLang="en-US" sz="1400" dirty="0"/>
              <a:t>최적화 모델 세부 구성 및 설명 추가 필요</a:t>
            </a:r>
            <a:r>
              <a:rPr lang="en-US" altLang="ko-KR" sz="14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최적화 진행 결과 및 과거 유입량 바탕의 모의 진행 결과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결론 및 토론 </a:t>
            </a:r>
            <a:r>
              <a:rPr lang="en-US" altLang="ko-KR" sz="1600" dirty="0"/>
              <a:t>(+</a:t>
            </a:r>
            <a:r>
              <a:rPr lang="ko-KR" altLang="en-US" sz="1600" dirty="0"/>
              <a:t>시사점</a:t>
            </a:r>
            <a:r>
              <a:rPr lang="en-US" altLang="ko-KR" sz="1600" dirty="0"/>
              <a:t>&amp;</a:t>
            </a:r>
            <a:r>
              <a:rPr lang="ko-KR" altLang="en-US" sz="1600" dirty="0"/>
              <a:t>한계점</a:t>
            </a:r>
            <a:r>
              <a:rPr lang="en-US" altLang="ko-KR" sz="1600" dirty="0"/>
              <a:t>?)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D378F-024D-4F97-BD99-46C1433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3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0A81-B82A-4300-BBE2-83003752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R) Finally, Conditional Probability P(A|B)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1B5D-9E7B-45FC-840C-9F6E4A9E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A5437B2-8EE5-4C00-9C91-AFD493ECF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t="16858" r="5746" b="11111"/>
          <a:stretch>
            <a:fillRect/>
          </a:stretch>
        </p:blipFill>
        <p:spPr bwMode="auto">
          <a:xfrm>
            <a:off x="755576" y="1344348"/>
            <a:ext cx="78486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56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6069-5B7B-40E2-8F58-3662BC16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R) 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DA8B2-AA1D-45A0-8531-361C3CA6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basics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i="1" dirty="0"/>
              <a:t>a priori</a:t>
            </a:r>
            <a:r>
              <a:rPr lang="en-US" altLang="ko-KR" dirty="0"/>
              <a:t> uncertainty + new information </a:t>
            </a:r>
          </a:p>
          <a:p>
            <a:pPr lvl="2"/>
            <a:r>
              <a:rPr lang="en-US" altLang="ko-KR" dirty="0"/>
              <a:t>Yields revised assessment of uncertainty</a:t>
            </a:r>
          </a:p>
          <a:p>
            <a:pPr lvl="2"/>
            <a:r>
              <a:rPr lang="en-US" altLang="ko-KR" dirty="0"/>
              <a:t>Multiple observations—use repetitions of Bayes Theorem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684F2-AB5F-4E6F-A58C-2E84606D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/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Bayes Theorem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4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𝑃𝑜𝑠𝑡𝑒𝑟𝑖𝑜𝑟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𝑔𝑖𝑣𝑒𝑛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𝑐𝑜𝑛𝑑𝑖𝑡𝑖𝑜𝑛𝑎𝑙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𝑚𝑎𝑘𝑖𝑛𝑔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blipFill>
                <a:blip r:embed="rId2"/>
                <a:stretch>
                  <a:fillRect l="-1104" t="-1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99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C5F24-EB80-422E-8D26-D5214094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648"/>
            <a:ext cx="7886700" cy="591631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P(E|O)</a:t>
            </a:r>
          </a:p>
          <a:p>
            <a:pPr lvl="1"/>
            <a:r>
              <a:rPr lang="en-US" altLang="ko-KR" dirty="0"/>
              <a:t>Read “probability of event E conditional on O having been observed”</a:t>
            </a:r>
          </a:p>
          <a:p>
            <a:pPr lvl="1"/>
            <a:r>
              <a:rPr lang="en-US" altLang="ko-KR" dirty="0"/>
              <a:t>New information in estimate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P(O|E)</a:t>
            </a:r>
          </a:p>
          <a:p>
            <a:pPr lvl="1"/>
            <a:r>
              <a:rPr lang="en-US" altLang="ko-KR" dirty="0"/>
              <a:t>Frequency that observation O is associated with </a:t>
            </a:r>
            <a:br>
              <a:rPr lang="en-US" altLang="ko-KR" dirty="0"/>
            </a:br>
            <a:r>
              <a:rPr lang="en-US" altLang="ko-KR" dirty="0"/>
              <a:t>existence of specific event E</a:t>
            </a:r>
          </a:p>
          <a:p>
            <a:pPr lvl="1"/>
            <a:r>
              <a:rPr lang="en-US" altLang="ko-KR" dirty="0"/>
              <a:t>Ex: probability of observing salt domes when there is oil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P(E|O) ≠ P(O|E) </a:t>
            </a:r>
            <a:r>
              <a:rPr lang="en-US" altLang="ko-KR" dirty="0">
                <a:solidFill>
                  <a:srgbClr val="FF0000"/>
                </a:solidFill>
              </a:rPr>
              <a:t>these probabilities are not symmetric!</a:t>
            </a:r>
          </a:p>
          <a:p>
            <a:pPr lvl="1"/>
            <a:r>
              <a:rPr lang="en-US" altLang="ko-KR" dirty="0"/>
              <a:t>P(O = male/E = king) = 1.0</a:t>
            </a:r>
          </a:p>
          <a:p>
            <a:pPr lvl="1"/>
            <a:r>
              <a:rPr lang="en-US" altLang="ko-KR" dirty="0"/>
              <a:t>P(E = king/ O = male) is probability of finding a king given the observation an individual is male = ~ 10</a:t>
            </a:r>
            <a:r>
              <a:rPr lang="en-US" altLang="ko-KR" baseline="30000" dirty="0"/>
              <a:t>-9</a:t>
            </a:r>
            <a:endParaRPr lang="en-US" altLang="ko-KR" sz="2200" dirty="0"/>
          </a:p>
          <a:p>
            <a:r>
              <a:rPr lang="en-US" altLang="ko-KR" sz="2200" i="1" dirty="0">
                <a:solidFill>
                  <a:srgbClr val="FF0000"/>
                </a:solidFill>
              </a:rPr>
              <a:t>P(O)</a:t>
            </a:r>
          </a:p>
          <a:p>
            <a:pPr lvl="1"/>
            <a:r>
              <a:rPr lang="en-US" altLang="ko-KR" dirty="0"/>
              <a:t>Probability of making a specific observation O considering all ways it can occur</a:t>
            </a:r>
          </a:p>
          <a:p>
            <a:pPr lvl="1"/>
            <a:r>
              <a:rPr lang="en-US" altLang="ko-KR" dirty="0"/>
              <a:t>The probability of making observation O may be associated with all possible events </a:t>
            </a:r>
            <a:r>
              <a:rPr lang="en-US" altLang="ko-KR" i="1" dirty="0" err="1"/>
              <a:t>E</a:t>
            </a:r>
            <a:r>
              <a:rPr lang="en-US" altLang="ko-KR" i="1" baseline="-25000" dirty="0" err="1"/>
              <a:t>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66A82-119D-4176-8837-56BD7DC7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C3D17B-C4F0-402C-AA9E-99E756DDD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06590"/>
              </p:ext>
            </p:extLst>
          </p:nvPr>
        </p:nvGraphicFramePr>
        <p:xfrm>
          <a:off x="3347864" y="5586676"/>
          <a:ext cx="3584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Equation" r:id="rId3" imgW="1600200" imgH="342720" progId="Equation.DSMT4">
                  <p:embed/>
                </p:oleObj>
              </mc:Choice>
              <mc:Fallback>
                <p:oleObj name="Equation" r:id="rId3" imgW="1600200" imgH="34272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7864" y="5586676"/>
                        <a:ext cx="358457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661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87F07-F4F5-466C-B444-ECE3DF25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R) Bayes Theorem: Derivation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55858-1E44-427A-A007-BE0A546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2ADEDA0-F7F0-41DD-8C7D-B69C57DA0250}"/>
              </a:ext>
            </a:extLst>
          </p:cNvPr>
          <p:cNvGrpSpPr/>
          <p:nvPr/>
        </p:nvGrpSpPr>
        <p:grpSpPr>
          <a:xfrm>
            <a:off x="4427984" y="1463075"/>
            <a:ext cx="3882190" cy="1488740"/>
            <a:chOff x="2141621" y="1203158"/>
            <a:chExt cx="3882190" cy="14887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BA956B24-E036-4915-BBDA-8603CE308E87}"/>
                </a:ext>
              </a:extLst>
            </p:cNvPr>
            <p:cNvGrpSpPr/>
            <p:nvPr/>
          </p:nvGrpSpPr>
          <p:grpSpPr>
            <a:xfrm>
              <a:off x="2141621" y="1203158"/>
              <a:ext cx="3882190" cy="1488740"/>
              <a:chOff x="2141621" y="1203158"/>
              <a:chExt cx="3882190" cy="1488740"/>
            </a:xfrm>
          </p:grpSpPr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D7AE9872-37CA-4560-AAF6-AC57BF03F16D}"/>
                  </a:ext>
                </a:extLst>
              </p:cNvPr>
              <p:cNvSpPr/>
              <p:nvPr/>
            </p:nvSpPr>
            <p:spPr>
              <a:xfrm>
                <a:off x="2141621" y="1203158"/>
                <a:ext cx="3882190" cy="148389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15">
                <a:extLst>
                  <a:ext uri="{FF2B5EF4-FFF2-40B4-BE49-F238E27FC236}">
                    <a16:creationId xmlns:a16="http://schemas.microsoft.com/office/drawing/2014/main" id="{CD160878-3285-472B-BD23-001779EB3F75}"/>
                  </a:ext>
                </a:extLst>
              </p:cNvPr>
              <p:cNvSpPr/>
              <p:nvPr/>
            </p:nvSpPr>
            <p:spPr>
              <a:xfrm>
                <a:off x="2382253" y="1347537"/>
                <a:ext cx="1925052" cy="1074822"/>
              </a:xfrm>
              <a:prstGeom prst="ellipse">
                <a:avLst/>
              </a:prstGeom>
              <a:solidFill>
                <a:srgbClr val="3366FF">
                  <a:alpha val="7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16">
                <a:extLst>
                  <a:ext uri="{FF2B5EF4-FFF2-40B4-BE49-F238E27FC236}">
                    <a16:creationId xmlns:a16="http://schemas.microsoft.com/office/drawing/2014/main" id="{B298AD23-9E7D-4AE4-AE06-33562FFD6789}"/>
                  </a:ext>
                </a:extLst>
              </p:cNvPr>
              <p:cNvSpPr/>
              <p:nvPr/>
            </p:nvSpPr>
            <p:spPr>
              <a:xfrm>
                <a:off x="4010527" y="1451811"/>
                <a:ext cx="1507958" cy="818147"/>
              </a:xfrm>
              <a:prstGeom prst="ellipse">
                <a:avLst/>
              </a:prstGeom>
              <a:solidFill>
                <a:schemeClr val="accent1">
                  <a:alpha val="74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8C894D19-628E-4EE6-A08A-1F3AF8237A82}"/>
                      </a:ext>
                    </a:extLst>
                  </p:cNvPr>
                  <p:cNvSpPr/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9D9EDAEB-DC8D-4CCE-85C0-40119F116029}"/>
                      </a:ext>
                    </a:extLst>
                  </p:cNvPr>
                  <p:cNvSpPr/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A0DC5D04-B42E-4E20-B994-39B0309420B2}"/>
                      </a:ext>
                    </a:extLst>
                  </p:cNvPr>
                  <p:cNvSpPr/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25">
                    <a:extLst>
                      <a:ext uri="{FF2B5EF4-FFF2-40B4-BE49-F238E27FC236}">
                        <a16:creationId xmlns:a16="http://schemas.microsoft.com/office/drawing/2014/main" id="{B44A5388-32EF-454D-B981-D96D3DC33D8C}"/>
                      </a:ext>
                    </a:extLst>
                  </p:cNvPr>
                  <p:cNvSpPr/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Ω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Rectangle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21">
              <a:extLst>
                <a:ext uri="{FF2B5EF4-FFF2-40B4-BE49-F238E27FC236}">
                  <a16:creationId xmlns:a16="http://schemas.microsoft.com/office/drawing/2014/main" id="{AD3156E1-5AD4-421F-A06C-EEAD5BDCF4BE}"/>
                </a:ext>
              </a:extLst>
            </p:cNvPr>
            <p:cNvCxnSpPr/>
            <p:nvPr/>
          </p:nvCxnSpPr>
          <p:spPr>
            <a:xfrm flipH="1" flipV="1">
              <a:off x="4170947" y="1941097"/>
              <a:ext cx="224590" cy="45719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/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  <a:blipFill>
                <a:blip r:embed="rId12"/>
                <a:stretch>
                  <a:fillRect r="-2484"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/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  <a:blipFill>
                <a:blip r:embed="rId13"/>
                <a:stretch>
                  <a:fillRect r="-2484" b="-3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/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  <a:blipFill>
                <a:blip r:embed="rId14"/>
                <a:stretch>
                  <a:fillRect r="-66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/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  <a:blipFill>
                <a:blip r:embed="rId15"/>
                <a:stretch>
                  <a:fillRect r="-2419"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0">
            <a:extLst>
              <a:ext uri="{FF2B5EF4-FFF2-40B4-BE49-F238E27FC236}">
                <a16:creationId xmlns:a16="http://schemas.microsoft.com/office/drawing/2014/main" id="{E155A49F-DFFD-4FC9-BADB-53A6355DCBE0}"/>
              </a:ext>
            </a:extLst>
          </p:cNvPr>
          <p:cNvSpPr/>
          <p:nvPr/>
        </p:nvSpPr>
        <p:spPr>
          <a:xfrm>
            <a:off x="559774" y="2765592"/>
            <a:ext cx="34507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According to conditional probability, 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578262BC-6859-4B05-AFA6-820D805D5C1B}"/>
              </a:ext>
            </a:extLst>
          </p:cNvPr>
          <p:cNvSpPr/>
          <p:nvPr/>
        </p:nvSpPr>
        <p:spPr>
          <a:xfrm>
            <a:off x="567795" y="3760203"/>
            <a:ext cx="526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/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, the common factor: </a:t>
                </a:r>
              </a:p>
            </p:txBody>
          </p:sp>
        </mc:Choice>
        <mc:Fallback xmlns="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  <a:blipFill>
                <a:blip r:embed="rId16"/>
                <a:stretch>
                  <a:fillRect l="-1238" t="-8929" r="-6037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/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Rearranging to give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  <a:blipFill>
                <a:blip r:embed="rId17"/>
                <a:stretch>
                  <a:fillRect l="-1806" t="-10909" r="-5869" b="-3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6">
            <a:extLst>
              <a:ext uri="{FF2B5EF4-FFF2-40B4-BE49-F238E27FC236}">
                <a16:creationId xmlns:a16="http://schemas.microsoft.com/office/drawing/2014/main" id="{487AE2C1-2E4F-4A6D-9C7D-106F6006FA9B}"/>
              </a:ext>
            </a:extLst>
          </p:cNvPr>
          <p:cNvSpPr/>
          <p:nvPr/>
        </p:nvSpPr>
        <p:spPr>
          <a:xfrm>
            <a:off x="5709398" y="3232982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B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A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654DBF92-A5C7-463E-9832-F264B9F532E1}"/>
              </a:ext>
            </a:extLst>
          </p:cNvPr>
          <p:cNvSpPr/>
          <p:nvPr/>
        </p:nvSpPr>
        <p:spPr>
          <a:xfrm>
            <a:off x="5709398" y="3929080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A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B.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C30ED9F-C56C-4803-A4CD-847ADED6FAEB}"/>
              </a:ext>
            </a:extLst>
          </p:cNvPr>
          <p:cNvSpPr/>
          <p:nvPr/>
        </p:nvSpPr>
        <p:spPr>
          <a:xfrm>
            <a:off x="5990254" y="5574631"/>
            <a:ext cx="30744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one can reverse E and O </a:t>
            </a:r>
          </a:p>
          <a:p>
            <a:r>
              <a:rPr lang="en-US" dirty="0">
                <a:solidFill>
                  <a:srgbClr val="FF0000"/>
                </a:solidFill>
              </a:rPr>
              <a:t>and the solution is still valid</a:t>
            </a:r>
          </a:p>
        </p:txBody>
      </p:sp>
    </p:spTree>
    <p:extLst>
      <p:ext uri="{BB962C8B-B14F-4D97-AF65-F5344CB8AC3E}">
        <p14:creationId xmlns:p14="http://schemas.microsoft.com/office/powerpoint/2010/main" val="7556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2984E-7E44-4766-9A6F-87860E69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1: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2C8F-6E61-4123-8EFB-605A1209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8BA6C4-152F-4E59-A55D-797BB0F85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06174"/>
            <a:ext cx="7886700" cy="42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4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7CAFF-0B5B-4B09-ACCC-A4AD37A2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2: Bayes Theorem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9432D5F-F278-45D9-83EA-82E5A767E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299212"/>
            <a:ext cx="7886700" cy="28469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D38A0-BF9B-49AB-A085-937E7736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59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C323D-FF79-4836-8216-042C9A12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2: Bayes Theorem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A4711FC-1BE0-4F9B-A11A-DFFD8E755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239" y="1268413"/>
            <a:ext cx="5405521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24C57-5F67-4E86-B9A3-1E2191FC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03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AE7A9-F72A-4CA6-BE90-C10B3452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095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Probability, Statistics, Uncertainty and Stochastic Simulations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80AD7-68DB-407C-97A1-C0707F258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798234"/>
          </a:xfrm>
        </p:spPr>
        <p:txBody>
          <a:bodyPr/>
          <a:lstStyle/>
          <a:p>
            <a:r>
              <a:rPr lang="en-US" altLang="ko-KR" dirty="0"/>
              <a:t> Part I: Last Class (May-10)</a:t>
            </a:r>
          </a:p>
          <a:p>
            <a:pPr lvl="1"/>
            <a:r>
              <a:rPr lang="en-US" altLang="ko-KR" dirty="0"/>
              <a:t> Review on Common Representative Values</a:t>
            </a:r>
          </a:p>
          <a:p>
            <a:pPr lvl="1"/>
            <a:r>
              <a:rPr lang="en-US" altLang="ko-KR" dirty="0"/>
              <a:t> Concept of Probability &amp; Review on the Probability Concepts</a:t>
            </a:r>
          </a:p>
          <a:p>
            <a:pPr lvl="1"/>
            <a:r>
              <a:rPr lang="en-US" altLang="ko-KR" dirty="0"/>
              <a:t> Common Distributions in WRSA: 68-95-99.7 rule for Norm. Dist.</a:t>
            </a:r>
          </a:p>
          <a:p>
            <a:pPr lvl="1"/>
            <a:r>
              <a:rPr lang="en-US" altLang="ko-KR" dirty="0"/>
              <a:t> Conditional Probability &amp; Bayes Theorem</a:t>
            </a:r>
          </a:p>
          <a:p>
            <a:endParaRPr lang="en-US" altLang="ko-KR" sz="1050" dirty="0"/>
          </a:p>
          <a:p>
            <a:r>
              <a:rPr lang="en-US" altLang="ko-KR" b="1" dirty="0"/>
              <a:t> Part II: This Class (May-24)</a:t>
            </a:r>
          </a:p>
          <a:p>
            <a:pPr lvl="1"/>
            <a:r>
              <a:rPr lang="en-US" altLang="ko-KR" b="1" dirty="0"/>
              <a:t> Details &amp; Procedures for Probabilistic Modeling </a:t>
            </a:r>
          </a:p>
          <a:p>
            <a:pPr lvl="1"/>
            <a:r>
              <a:rPr lang="en-US" altLang="ko-KR" b="1" dirty="0"/>
              <a:t> Methods for Synthetic Streamflow Generations</a:t>
            </a:r>
          </a:p>
          <a:p>
            <a:pPr lvl="1"/>
            <a:r>
              <a:rPr lang="en-US" altLang="ko-KR" b="1" dirty="0"/>
              <a:t> Performance Criteria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7F5A0-C20B-4795-AD6A-196145CA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6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27F41-40DD-4A2C-B0D9-DFEB4C2D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9984F5-C44E-46AF-94CB-FC49E3BA1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Pick a Model: Uniform, Normal (or Lognormal), Exponential, etc. </a:t>
            </a:r>
          </a:p>
          <a:p>
            <a:pPr lvl="1"/>
            <a:r>
              <a:rPr lang="en-US" altLang="ko-KR" dirty="0"/>
              <a:t> Fit the model to Data: MLE </a:t>
            </a:r>
          </a:p>
          <a:p>
            <a:pPr lvl="2"/>
            <a:r>
              <a:rPr lang="en-US" altLang="ko-KR" dirty="0"/>
              <a:t>Maximum Likelihood </a:t>
            </a:r>
            <a:br>
              <a:rPr lang="en-US" altLang="ko-KR" dirty="0"/>
            </a:br>
            <a:r>
              <a:rPr lang="en-US" altLang="ko-KR" dirty="0"/>
              <a:t>Estimator (MLE)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How to pick a model?</a:t>
            </a:r>
          </a:p>
          <a:p>
            <a:pPr lvl="1"/>
            <a:r>
              <a:rPr lang="en-US" altLang="ko-KR" dirty="0"/>
              <a:t> Physical basis: model designed for properties of physical process</a:t>
            </a:r>
          </a:p>
          <a:p>
            <a:pPr lvl="1"/>
            <a:r>
              <a:rPr lang="en-US" altLang="ko-KR" dirty="0"/>
              <a:t> Limit Laws</a:t>
            </a:r>
          </a:p>
          <a:p>
            <a:pPr lvl="1"/>
            <a:r>
              <a:rPr lang="en-US" altLang="ko-KR" dirty="0"/>
              <a:t> Empirical Basis: which model fits data best?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88533-EE5D-40A7-A062-07A329C9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7A5EB5-DE46-4FAD-AF03-FCDD2A60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132856"/>
            <a:ext cx="4237906" cy="211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EC552-CD5D-4E7D-AACE-ACF5949F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3395A-DEAE-4E07-9CF5-12C30E1E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Then, how to pick a model?</a:t>
            </a:r>
          </a:p>
          <a:p>
            <a:pPr lvl="1"/>
            <a:r>
              <a:rPr lang="en-US" altLang="ko-KR" dirty="0"/>
              <a:t> Physical basis: model designed for properties of physical process</a:t>
            </a:r>
          </a:p>
          <a:p>
            <a:pPr marL="457200" lvl="1" indent="0">
              <a:buNone/>
            </a:pPr>
            <a:r>
              <a:rPr lang="en-US" altLang="ko-KR" b="1" dirty="0"/>
              <a:t> Ex) Poisson distribution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	Number of time event occurs in an interval of time</a:t>
            </a:r>
          </a:p>
          <a:p>
            <a:pPr marL="457200" lvl="1" indent="0">
              <a:buNone/>
            </a:pPr>
            <a:r>
              <a:rPr lang="en-US" altLang="ko-KR" dirty="0"/>
              <a:t>	* events are independent</a:t>
            </a:r>
          </a:p>
          <a:p>
            <a:pPr marL="457200" lvl="1" indent="0">
              <a:buNone/>
            </a:pPr>
            <a:r>
              <a:rPr lang="en-US" altLang="ko-KR" dirty="0"/>
              <a:t>	* rate of occurrences is constant </a:t>
            </a:r>
          </a:p>
          <a:p>
            <a:pPr marL="457200" lvl="1" indent="0">
              <a:buNone/>
            </a:pPr>
            <a:r>
              <a:rPr lang="en-US" altLang="ko-KR" dirty="0"/>
              <a:t>	* number of extreme events per year (especially in hydrology)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AA4F7-895B-4C49-AD29-71894B14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31FA5B-B0C5-4893-A62D-84D09E01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4293096"/>
            <a:ext cx="63341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5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70766-F26D-47FB-8434-5311BD1B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55217A-60A7-4E60-A6C5-1E724CF74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Then, how to pick a model?</a:t>
                </a:r>
              </a:p>
              <a:p>
                <a:pPr lvl="1"/>
                <a:r>
                  <a:rPr lang="en-US" altLang="ko-KR" dirty="0"/>
                  <a:t> Limit Laws</a:t>
                </a:r>
              </a:p>
              <a:p>
                <a:pPr lvl="2"/>
                <a:r>
                  <a:rPr lang="en-US" altLang="ko-KR" dirty="0"/>
                  <a:t>Theory suggest a distribution as n →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ko-KR" dirty="0"/>
              </a:p>
              <a:p>
                <a:pPr marL="914400" lvl="2" indent="0">
                  <a:buNone/>
                </a:pPr>
                <a:r>
                  <a:rPr lang="en-US" altLang="ko-KR" dirty="0"/>
                  <a:t>Ex) Central Limit Theorem (CLT)</a:t>
                </a:r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55217A-60A7-4E60-A6C5-1E724CF74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50315-1885-42E2-88E6-3E603962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2290" name="Picture 2" descr="https://upload.wikimedia.org/wikipedia/commons/thumb/7/7b/IllustrationCentralTheorem.png/400px-IllustrationCentralTheorem.png">
            <a:extLst>
              <a:ext uri="{FF2B5EF4-FFF2-40B4-BE49-F238E27FC236}">
                <a16:creationId xmlns:a16="http://schemas.microsoft.com/office/drawing/2014/main" id="{2F6A865E-ED6E-471D-9FCF-AB4614AB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25" y="4974099"/>
            <a:ext cx="3810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599F57-8376-47FF-A7D7-AAB7BF0B7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2852936"/>
            <a:ext cx="6229350" cy="1943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C921E9-471C-4E49-85FA-D07EF627C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5" y="4744869"/>
            <a:ext cx="3305944" cy="196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8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2B2AD-954D-4D9C-BCBB-5231EAB5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30E6-19EF-42A7-8A12-C65FF359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     * Goodness-of-fit Approaches such as: </a:t>
            </a:r>
          </a:p>
          <a:p>
            <a:pPr marL="457200" lvl="1" indent="0">
              <a:buNone/>
            </a:pPr>
            <a:r>
              <a:rPr lang="en-US" altLang="ko-KR" dirty="0"/>
              <a:t>	1) Picking model based on scores (AIC)</a:t>
            </a:r>
          </a:p>
          <a:p>
            <a:pPr marL="457200" lvl="1" indent="0">
              <a:buNone/>
            </a:pPr>
            <a:r>
              <a:rPr lang="en-US" altLang="ko-KR" dirty="0"/>
              <a:t>	2) Visual Assessments (P-P or Q-Q plots)</a:t>
            </a:r>
          </a:p>
          <a:p>
            <a:pPr marL="457200" lvl="1" indent="0">
              <a:buNone/>
            </a:pPr>
            <a:r>
              <a:rPr lang="en-US" altLang="ko-KR" dirty="0"/>
              <a:t>	3) Hypothesis testing (Chi-squared test)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* AIC, Akaike Information Criterion (</a:t>
            </a:r>
            <a:r>
              <a:rPr lang="ko-KR" altLang="en-US" dirty="0" err="1"/>
              <a:t>아카이케</a:t>
            </a:r>
            <a:r>
              <a:rPr lang="ko-KR" altLang="en-US" dirty="0"/>
              <a:t> 정보 기준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	AIC = </a:t>
            </a:r>
          </a:p>
          <a:p>
            <a:pPr marL="457200" lvl="1" indent="0">
              <a:buNone/>
            </a:pPr>
            <a:r>
              <a:rPr lang="en-US" altLang="ko-KR" dirty="0"/>
              <a:t>	in which the goal is to pick the model with the smallest AIC</a:t>
            </a:r>
            <a:br>
              <a:rPr lang="en-US" altLang="ko-KR" dirty="0"/>
            </a:br>
            <a:r>
              <a:rPr lang="en-US" altLang="ko-KR" dirty="0"/>
              <a:t>	(=large maximum likelihood, penalty for model parameter)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6BC8D-B797-47AE-91B8-411D31E6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3DD46482-BE6F-4E7F-9EAD-0A75D7112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045256"/>
              </p:ext>
            </p:extLst>
          </p:nvPr>
        </p:nvGraphicFramePr>
        <p:xfrm>
          <a:off x="3203848" y="4402048"/>
          <a:ext cx="2160240" cy="5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4402048"/>
                        <a:ext cx="2160240" cy="5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032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2B2AD-954D-4D9C-BCBB-5231EAB5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30E6-19EF-42A7-8A12-C65FF359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* AIC, Akaike Information Criterion (</a:t>
            </a:r>
            <a:r>
              <a:rPr lang="ko-KR" altLang="en-US" dirty="0" err="1"/>
              <a:t>아카이케</a:t>
            </a:r>
            <a:r>
              <a:rPr lang="ko-KR" altLang="en-US" dirty="0"/>
              <a:t> 정보 기준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	AIC = </a:t>
            </a:r>
          </a:p>
          <a:p>
            <a:pPr marL="457200" lvl="1" indent="0">
              <a:buNone/>
            </a:pPr>
            <a:r>
              <a:rPr lang="en-US" altLang="ko-KR" dirty="0"/>
              <a:t>	in which the goal is to pick the model with the smallest AIC</a:t>
            </a:r>
            <a:br>
              <a:rPr lang="en-US" altLang="ko-KR" dirty="0"/>
            </a:br>
            <a:r>
              <a:rPr lang="en-US" altLang="ko-KR" dirty="0"/>
              <a:t>	(=large maximum likelihood, penalty for model parameter)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Ex)  Exp:</a:t>
            </a:r>
          </a:p>
          <a:p>
            <a:pPr marL="457200" lvl="1" indent="0">
              <a:buNone/>
            </a:pPr>
            <a:r>
              <a:rPr lang="en-US" altLang="ko-KR" dirty="0"/>
              <a:t>	Gamma: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* Rule of Thumb *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6BC8D-B797-47AE-91B8-411D31E6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3DD46482-BE6F-4E7F-9EAD-0A75D7112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589680"/>
              </p:ext>
            </p:extLst>
          </p:nvPr>
        </p:nvGraphicFramePr>
        <p:xfrm>
          <a:off x="3203848" y="2420888"/>
          <a:ext cx="2160240" cy="5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3DD46482-BE6F-4E7F-9EAD-0A75D71128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2420888"/>
                        <a:ext cx="2160240" cy="5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5116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통계학】 1-1강. 분위수 대 분위수 플롯(Q-Q plot)">
            <a:extLst>
              <a:ext uri="{FF2B5EF4-FFF2-40B4-BE49-F238E27FC236}">
                <a16:creationId xmlns:a16="http://schemas.microsoft.com/office/drawing/2014/main" id="{079A7677-2083-4DB6-A482-EFEF4B251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152479"/>
            <a:ext cx="4873522" cy="243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A824575-2798-4F27-B5E9-E50FEC28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8ECA3-DC0C-480F-8041-0692CB511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2) Visual Assessments (P-P or Q-Q plots)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FDF4E-3C89-4AB6-9676-BCB29A70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5362" name="Picture 2" descr="P–P plot - Wikipedia">
            <a:extLst>
              <a:ext uri="{FF2B5EF4-FFF2-40B4-BE49-F238E27FC236}">
                <a16:creationId xmlns:a16="http://schemas.microsoft.com/office/drawing/2014/main" id="{1F04BDA9-6047-4DBE-93C1-3714A85F0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40487"/>
            <a:ext cx="3806088" cy="28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506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82F22-F546-4F82-A7B4-F8F8FBA9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D5054-D304-490B-8652-9AD05797F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3) Hypothesis testing (Chi-squared test)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B8E14-4407-4FF0-8FDB-244D72A5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6386" name="Picture 2" descr="https://www.jmp.com/en_sg/statistics-knowledge-portal/chi-square-test/chi-square-goodness-of-fit-test/_jcr_content/par/styledcontainer_2069/par/image_951920008.img.png/1581110137445.png">
            <a:extLst>
              <a:ext uri="{FF2B5EF4-FFF2-40B4-BE49-F238E27FC236}">
                <a16:creationId xmlns:a16="http://schemas.microsoft.com/office/drawing/2014/main" id="{58716E49-9CB1-4A04-A3D2-14936B914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246" y="2780928"/>
            <a:ext cx="5151507" cy="31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160CC-76F2-4234-AED7-D5E549122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2656"/>
            <a:ext cx="7886700" cy="5844307"/>
          </a:xfrm>
        </p:spPr>
        <p:txBody>
          <a:bodyPr/>
          <a:lstStyle/>
          <a:p>
            <a:r>
              <a:rPr lang="en-US" altLang="ko-KR" dirty="0"/>
              <a:t> For Further Details</a:t>
            </a:r>
          </a:p>
          <a:p>
            <a:pPr lvl="1"/>
            <a:r>
              <a:rPr lang="en-US" altLang="ko-KR" dirty="0"/>
              <a:t> Refer to </a:t>
            </a:r>
            <a:br>
              <a:rPr lang="en-US" altLang="ko-KR" dirty="0"/>
            </a:br>
            <a:r>
              <a:rPr lang="en-US" altLang="ko-KR" dirty="0"/>
              <a:t>2022 Fall Semester </a:t>
            </a:r>
            <a:br>
              <a:rPr lang="en-US" altLang="ko-KR" dirty="0"/>
            </a:br>
            <a:r>
              <a:rPr lang="en-US" altLang="ko-KR" dirty="0"/>
              <a:t>Statistical Hydrology</a:t>
            </a:r>
            <a:br>
              <a:rPr lang="en-US" altLang="ko-KR" dirty="0"/>
            </a:br>
            <a:r>
              <a:rPr lang="en-US" altLang="ko-KR" dirty="0"/>
              <a:t>(457.568A)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C3A65-3525-443E-9170-B08F331B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DE13F1-08F5-4F2E-AD3F-AABA1531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09218"/>
            <a:ext cx="4791075" cy="6496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C1795F-4D25-462F-B3A0-88CA749A0C04}"/>
              </a:ext>
            </a:extLst>
          </p:cNvPr>
          <p:cNvSpPr txBox="1"/>
          <p:nvPr/>
        </p:nvSpPr>
        <p:spPr>
          <a:xfrm>
            <a:off x="1981467" y="4856770"/>
            <a:ext cx="2086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2021 Fall Semester</a:t>
            </a:r>
          </a:p>
          <a:p>
            <a:r>
              <a:rPr lang="en-US" altLang="ko-KR" dirty="0"/>
              <a:t>Statistical Hydrology</a:t>
            </a:r>
          </a:p>
          <a:p>
            <a:r>
              <a:rPr lang="en-US" altLang="ko-KR" dirty="0"/>
              <a:t>Syllabus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880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4A62A-534B-43FE-BBFE-032DF546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5C1D6-4CBD-4626-A946-BB4B301A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Why do we Generate Synthetic Streamflow?</a:t>
            </a:r>
          </a:p>
          <a:p>
            <a:pPr lvl="1"/>
            <a:r>
              <a:rPr lang="en-US" altLang="ko-KR" dirty="0"/>
              <a:t> Little or no data for your system</a:t>
            </a:r>
          </a:p>
          <a:p>
            <a:pPr lvl="1"/>
            <a:r>
              <a:rPr lang="en-US" altLang="ko-KR" dirty="0"/>
              <a:t> Evaluate the effect of hydrologic non-stationarity on your system</a:t>
            </a:r>
          </a:p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dirty="0"/>
              <a:t> Indirect approach: generate precipitation and temperature series and input them to a hydrologic model of a basin (GCM)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Direct approach</a:t>
            </a:r>
            <a:r>
              <a:rPr lang="en-US" altLang="ko-KR" dirty="0"/>
              <a:t>: uses statistical techniques to generate streamflow time series directly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17DD8-C6CB-4DAC-AAC2-9C2C0E7B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B018ED-6F36-4EB0-AB71-3BCF78A0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502953"/>
            <a:ext cx="5412675" cy="23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20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0B952-D0EA-49CD-A0F5-7F3E2171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FA701-3608-4BCB-929C-7C52770C9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b="1" u="sng" dirty="0"/>
              <a:t> Direct approach</a:t>
            </a:r>
            <a:r>
              <a:rPr lang="en-US" altLang="ko-KR" dirty="0"/>
              <a:t>: uses statistical techniques to generate streamflow time series directly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Types of direct approaches</a:t>
            </a:r>
          </a:p>
          <a:p>
            <a:pPr lvl="1"/>
            <a:r>
              <a:rPr lang="en-US" altLang="ko-KR" dirty="0"/>
              <a:t> Parametric methods</a:t>
            </a:r>
          </a:p>
          <a:p>
            <a:pPr lvl="2"/>
            <a:r>
              <a:rPr lang="en-US" altLang="ko-KR" dirty="0"/>
              <a:t>Relies on hypothesized statistical model of streamflow whose parameters are selected to achieve a desired result</a:t>
            </a:r>
          </a:p>
          <a:p>
            <a:pPr lvl="2"/>
            <a:r>
              <a:rPr lang="en-US" altLang="ko-KR" dirty="0"/>
              <a:t>Time series model! (Autoregressive Moving Average- ARMA)</a:t>
            </a:r>
          </a:p>
          <a:p>
            <a:pPr lvl="1"/>
            <a:r>
              <a:rPr lang="en-US" altLang="ko-KR" dirty="0"/>
              <a:t> Non-parametric methods</a:t>
            </a:r>
          </a:p>
          <a:p>
            <a:pPr lvl="2"/>
            <a:r>
              <a:rPr lang="en-US" altLang="ko-KR" dirty="0"/>
              <a:t>Re-sample flows from a record &amp; rely heavily on the data</a:t>
            </a:r>
          </a:p>
          <a:p>
            <a:pPr lvl="2"/>
            <a:r>
              <a:rPr lang="en-US" altLang="ko-KR" dirty="0"/>
              <a:t>Examples include Block bootstrapping, k-nearest neighbor, etc.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CF6C9-F0D5-4EAB-9003-887E0CFD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35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0C2AA-A500-4877-8FF5-08BFF76E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Performance Criteria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252CE-E693-43BE-847D-49DE592F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Reliability, Resilience &amp; Vulnerability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86F2C5-31CA-4FCB-946F-A4960AF9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7410" name="Picture 2" descr="수자원시스템의 회복도 및 취약도 증감현상 해석">
            <a:extLst>
              <a:ext uri="{FF2B5EF4-FFF2-40B4-BE49-F238E27FC236}">
                <a16:creationId xmlns:a16="http://schemas.microsoft.com/office/drawing/2014/main" id="{3854F581-D6D3-46B8-97FF-FAC297E8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73441"/>
            <a:ext cx="3528392" cy="201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E735B6-0FEE-466D-85A8-B10E09EC5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40" y="2708920"/>
            <a:ext cx="7452320" cy="27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AFB15-7AE3-402A-94B7-FB183DB3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Performance Criteria: Robustness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10CE1-F038-485B-B853-4D6C810D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Among multiple types of robustness measures,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Regret-based: </a:t>
            </a:r>
            <a:r>
              <a:rPr lang="en-US" altLang="ko-KR" dirty="0"/>
              <a:t>cost of choosing incorrectly </a:t>
            </a:r>
            <a:br>
              <a:rPr lang="en-US" altLang="ko-KR" dirty="0"/>
            </a:br>
            <a:r>
              <a:rPr lang="en-US" altLang="ko-KR" dirty="0"/>
              <a:t>(focuses on the incorrect choice of decision alternative) </a:t>
            </a:r>
            <a:br>
              <a:rPr lang="en-US" altLang="ko-KR" dirty="0"/>
            </a:br>
            <a:r>
              <a:rPr lang="en-US" altLang="ko-KR" dirty="0"/>
              <a:t>(Savage 1951)</a:t>
            </a:r>
          </a:p>
          <a:p>
            <a:pPr lvl="1"/>
            <a:r>
              <a:rPr lang="en-US" altLang="ko-KR" b="1" dirty="0"/>
              <a:t> Satisficing-based: </a:t>
            </a:r>
            <a:r>
              <a:rPr lang="en-US" altLang="ko-KR" dirty="0"/>
              <a:t>tendency of decision makers to seek outcomes that meet one or more requirements but not achieve optimal performance (Simon 1959)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FFB44D-B5AA-48BF-A948-2AF4406C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2A9001-A107-455C-8D03-D82AD301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808545"/>
            <a:ext cx="4438650" cy="1638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C28670-E40C-43FE-B212-A935CAD6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683" y="5131127"/>
            <a:ext cx="7252865" cy="17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17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5E6F5-ED44-4BE1-A2A4-F8C50B35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altLang="ko-KR" dirty="0"/>
              <a:t>Performance Criteria: Robustness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6BAA069-3312-4BAD-BED3-019FA884D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37963"/>
            <a:ext cx="4286250" cy="38290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C527D3-AABE-4A83-B237-1B4EEED3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696299-3742-4164-BA92-B7B453040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481079"/>
            <a:ext cx="4238625" cy="552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0AEEDE-86B5-4ED5-91F3-EFB4FFB6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900" y="2082020"/>
            <a:ext cx="3778872" cy="35981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B7BD74-2504-4DAC-80C4-92ED384FA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882" y="5194327"/>
            <a:ext cx="1670036" cy="15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66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E37A7-6DDC-49C6-8CAF-ACC05454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 of Lecture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9A428-9AFF-451A-B583-C6CB217F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May-24 (Today’s Lecture): </a:t>
            </a:r>
          </a:p>
          <a:p>
            <a:pPr lvl="1"/>
            <a:r>
              <a:rPr lang="en-US" altLang="ko-KR" b="1" dirty="0"/>
              <a:t> Introduction to Final Project B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dirty="0" err="1"/>
              <a:t>Lec</a:t>
            </a:r>
            <a:r>
              <a:rPr lang="en-US" altLang="ko-KR" b="1" dirty="0"/>
              <a:t> 07: Probability, Statistics, Uncertainty, and Stochastic Simulations II (including </a:t>
            </a:r>
            <a:r>
              <a:rPr lang="en-US" altLang="ko-KR" b="1" dirty="0" err="1"/>
              <a:t>Lec</a:t>
            </a:r>
            <a:r>
              <a:rPr lang="en-US" altLang="ko-KR" b="1" dirty="0"/>
              <a:t> 08: Performance Criteria)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1D36A-A169-4A9B-831F-CA225322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39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78410</TotalTime>
  <Words>1683</Words>
  <Application>Microsoft Office PowerPoint</Application>
  <PresentationFormat>화면 슬라이드 쇼(4:3)</PresentationFormat>
  <Paragraphs>204</Paragraphs>
  <Slides>26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07</vt:lpstr>
      <vt:lpstr>Remaining Future Schedule (~End of Course)</vt:lpstr>
      <vt:lpstr>Final Project B</vt:lpstr>
      <vt:lpstr>Final Project B 최종 리포트 목차</vt:lpstr>
      <vt:lpstr>R) Finally, Conditional Probability P(A|B)</vt:lpstr>
      <vt:lpstr>R) Bayes Theorem</vt:lpstr>
      <vt:lpstr>PowerPoint 프레젠테이션</vt:lpstr>
      <vt:lpstr>R) Bayes Theorem: Derivation</vt:lpstr>
      <vt:lpstr>Example Problem 1: Bayes Theorem</vt:lpstr>
      <vt:lpstr>Example Problem 2: Bayes Theorem</vt:lpstr>
      <vt:lpstr>Example Problem 2: Bayes Theorem</vt:lpstr>
      <vt:lpstr>Today’s Topic: Probability, Statistics, Uncertainty and Stochastic Simulations</vt:lpstr>
      <vt:lpstr>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PowerPoint 프레젠테이션</vt:lpstr>
      <vt:lpstr>6.8 Synthetic Streamflow Generation (p.257)</vt:lpstr>
      <vt:lpstr>6.8 Synthetic Streamflow Generation (p.257)</vt:lpstr>
      <vt:lpstr>Performance Criteria</vt:lpstr>
      <vt:lpstr>Performance Criteria: Robustness </vt:lpstr>
      <vt:lpstr>Performance Criteria: Robustness 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2401</cp:revision>
  <cp:lastPrinted>2022-03-21T05:50:04Z</cp:lastPrinted>
  <dcterms:created xsi:type="dcterms:W3CDTF">2020-01-02T02:18:47Z</dcterms:created>
  <dcterms:modified xsi:type="dcterms:W3CDTF">2022-05-24T07:52:26Z</dcterms:modified>
</cp:coreProperties>
</file>