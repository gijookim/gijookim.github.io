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5"/>
  </p:notesMasterIdLst>
  <p:sldIdLst>
    <p:sldId id="256" r:id="rId2"/>
    <p:sldId id="694" r:id="rId3"/>
    <p:sldId id="699" r:id="rId4"/>
    <p:sldId id="712" r:id="rId5"/>
    <p:sldId id="710" r:id="rId6"/>
    <p:sldId id="713" r:id="rId7"/>
    <p:sldId id="714" r:id="rId8"/>
    <p:sldId id="715" r:id="rId9"/>
    <p:sldId id="707" r:id="rId10"/>
    <p:sldId id="716" r:id="rId11"/>
    <p:sldId id="717" r:id="rId12"/>
    <p:sldId id="719" r:id="rId13"/>
    <p:sldId id="720" r:id="rId14"/>
    <p:sldId id="701" r:id="rId15"/>
    <p:sldId id="705" r:id="rId16"/>
    <p:sldId id="706" r:id="rId17"/>
    <p:sldId id="708" r:id="rId18"/>
    <p:sldId id="721" r:id="rId19"/>
    <p:sldId id="709" r:id="rId20"/>
    <p:sldId id="724" r:id="rId21"/>
    <p:sldId id="723" r:id="rId22"/>
    <p:sldId id="722" r:id="rId23"/>
    <p:sldId id="725" r:id="rId24"/>
    <p:sldId id="726" r:id="rId25"/>
    <p:sldId id="727" r:id="rId26"/>
    <p:sldId id="728" r:id="rId27"/>
    <p:sldId id="730" r:id="rId28"/>
    <p:sldId id="731" r:id="rId29"/>
    <p:sldId id="729" r:id="rId30"/>
    <p:sldId id="732" r:id="rId31"/>
    <p:sldId id="733" r:id="rId32"/>
    <p:sldId id="703" r:id="rId33"/>
    <p:sldId id="698" r:id="rId34"/>
  </p:sldIdLst>
  <p:sldSz cx="9144000" cy="6858000" type="screen4x3"/>
  <p:notesSz cx="6735763" cy="98663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17CC"/>
    <a:srgbClr val="F60A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122" autoAdjust="0"/>
    <p:restoredTop sz="94379" autoAdjust="0"/>
  </p:normalViewPr>
  <p:slideViewPr>
    <p:cSldViewPr>
      <p:cViewPr varScale="1">
        <p:scale>
          <a:sx n="104" d="100"/>
          <a:sy n="104" d="100"/>
        </p:scale>
        <p:origin x="154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2918830" cy="495029"/>
          </a:xfrm>
          <a:prstGeom prst="rect">
            <a:avLst/>
          </a:prstGeom>
        </p:spPr>
        <p:txBody>
          <a:bodyPr vert="horz" lIns="90756" tIns="45378" rIns="90756" bIns="4537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15375" y="0"/>
            <a:ext cx="2918830" cy="495029"/>
          </a:xfrm>
          <a:prstGeom prst="rect">
            <a:avLst/>
          </a:prstGeom>
        </p:spPr>
        <p:txBody>
          <a:bodyPr vert="horz" lIns="90756" tIns="45378" rIns="90756" bIns="45378" rtlCol="0"/>
          <a:lstStyle>
            <a:lvl1pPr algn="r">
              <a:defRPr sz="1200"/>
            </a:lvl1pPr>
          </a:lstStyle>
          <a:p>
            <a:fld id="{E1DBA18E-019D-4DB5-9C84-C80C9EC0EDE4}" type="datetimeFigureOut">
              <a:rPr lang="ko-KR" altLang="en-US" smtClean="0"/>
              <a:t>2022-05-10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9350" y="1233488"/>
            <a:ext cx="4437063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756" tIns="45378" rIns="90756" bIns="4537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3577" y="4748164"/>
            <a:ext cx="5388610" cy="3884861"/>
          </a:xfrm>
          <a:prstGeom prst="rect">
            <a:avLst/>
          </a:prstGeom>
        </p:spPr>
        <p:txBody>
          <a:bodyPr vert="horz" lIns="90756" tIns="45378" rIns="90756" bIns="45378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2" y="9371286"/>
            <a:ext cx="2918830" cy="495028"/>
          </a:xfrm>
          <a:prstGeom prst="rect">
            <a:avLst/>
          </a:prstGeom>
        </p:spPr>
        <p:txBody>
          <a:bodyPr vert="horz" lIns="90756" tIns="45378" rIns="90756" bIns="4537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15375" y="9371286"/>
            <a:ext cx="2918830" cy="495028"/>
          </a:xfrm>
          <a:prstGeom prst="rect">
            <a:avLst/>
          </a:prstGeom>
        </p:spPr>
        <p:txBody>
          <a:bodyPr vert="horz" lIns="90756" tIns="45378" rIns="90756" bIns="45378" rtlCol="0" anchor="b"/>
          <a:lstStyle>
            <a:lvl1pPr algn="r">
              <a:defRPr sz="1200"/>
            </a:lvl1pPr>
          </a:lstStyle>
          <a:p>
            <a:fld id="{3B93C0B1-E0F9-447B-AFB5-BCC5935C28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6981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https://snu-ac-kr.zoom.us/j/84027051484?pwd=aU5OZitOKzUyRW9DQ0s0TkpIMSs4UT09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93C0B1-E0F9-447B-AFB5-BCC5935C28C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5694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1 2 </a:t>
            </a:r>
          </a:p>
          <a:p>
            <a:r>
              <a:rPr lang="en-US" altLang="ko-KR" dirty="0"/>
              <a:t>3 4 </a:t>
            </a:r>
            <a:r>
              <a:rPr lang="ko-KR" altLang="en-US" dirty="0"/>
              <a:t>순서대로 </a:t>
            </a:r>
            <a:r>
              <a:rPr lang="en-US" altLang="ko-KR" dirty="0"/>
              <a:t>CDF // CDF // PDF // PMF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93C0B1-E0F9-447B-AFB5-BCC5935C28C8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63745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00378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99427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2775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00192" y="6356349"/>
            <a:ext cx="2215158" cy="365125"/>
          </a:xfrm>
          <a:prstGeom prst="rect">
            <a:avLst/>
          </a:prstGeom>
        </p:spPr>
        <p:txBody>
          <a:bodyPr/>
          <a:lstStyle/>
          <a:p>
            <a:fld id="{4DF68E14-CAEA-49EF-A996-488ADFD1D606}" type="datetime1">
              <a:rPr lang="ko-KR" altLang="en-US" smtClean="0"/>
              <a:t>2022-05-10</a:t>
            </a:fld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9544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9829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4999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300192" y="6356349"/>
            <a:ext cx="2215158" cy="365125"/>
          </a:xfrm>
          <a:prstGeom prst="rect">
            <a:avLst/>
          </a:prstGeom>
        </p:spPr>
        <p:txBody>
          <a:bodyPr/>
          <a:lstStyle/>
          <a:p>
            <a:fld id="{9A647E19-6206-463B-9AE9-66BE4F630FC0}" type="datetime1">
              <a:rPr lang="ko-KR" altLang="en-US" smtClean="0"/>
              <a:t>2022-05-10</a:t>
            </a:fld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03339795-4603-4C4B-B582-9870510CE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9279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00192" y="6356349"/>
            <a:ext cx="2215158" cy="365125"/>
          </a:xfrm>
          <a:prstGeom prst="rect">
            <a:avLst/>
          </a:prstGeom>
        </p:spPr>
        <p:txBody>
          <a:bodyPr/>
          <a:lstStyle/>
          <a:p>
            <a:fld id="{93CDF756-7DF6-4EF7-9AE5-1CDBCC6807D0}" type="datetime1">
              <a:rPr lang="ko-KR" altLang="en-US" smtClean="0"/>
              <a:t>2022-05-10</a:t>
            </a:fld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28338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00192" y="6356349"/>
            <a:ext cx="2215158" cy="365125"/>
          </a:xfrm>
          <a:prstGeom prst="rect">
            <a:avLst/>
          </a:prstGeom>
        </p:spPr>
        <p:txBody>
          <a:bodyPr/>
          <a:lstStyle/>
          <a:p>
            <a:fld id="{0E00B1B8-02ED-4B71-B2A9-756D11FCE97A}" type="datetime1">
              <a:rPr lang="ko-KR" altLang="en-US" smtClean="0"/>
              <a:t>2022-05-10</a:t>
            </a:fld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3382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300192" y="6356349"/>
            <a:ext cx="2215158" cy="365125"/>
          </a:xfrm>
          <a:prstGeom prst="rect">
            <a:avLst/>
          </a:prstGeom>
        </p:spPr>
        <p:txBody>
          <a:bodyPr/>
          <a:lstStyle/>
          <a:p>
            <a:fld id="{F8842333-966D-4877-82E2-6DF5FF1AA6FD}" type="datetime1">
              <a:rPr lang="ko-KR" altLang="en-US" smtClean="0"/>
              <a:t>2022-05-10</a:t>
            </a:fld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39172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300192" y="6356349"/>
            <a:ext cx="2215158" cy="365125"/>
          </a:xfrm>
          <a:prstGeom prst="rect">
            <a:avLst/>
          </a:prstGeom>
        </p:spPr>
        <p:txBody>
          <a:bodyPr/>
          <a:lstStyle/>
          <a:p>
            <a:fld id="{C882E481-74EE-447E-B10C-224EAA33899A}" type="datetime1">
              <a:rPr lang="ko-KR" altLang="en-US" smtClean="0"/>
              <a:t>2022-05-10</a:t>
            </a:fld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DE5D0810-B190-47E1-A347-C4E62ABB5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466951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596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268760"/>
            <a:ext cx="7886700" cy="49082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543300" y="635502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fld id="{79822AFB-C284-4A8E-A6EE-41BAA9C576A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7" name="그림 6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6804248" y="6250409"/>
            <a:ext cx="1711102" cy="576999"/>
          </a:xfrm>
          <a:prstGeom prst="rect">
            <a:avLst/>
          </a:prstGeom>
        </p:spPr>
      </p:pic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40298C54-76D9-4D1A-B6B3-194E1AE53373}"/>
              </a:ext>
            </a:extLst>
          </p:cNvPr>
          <p:cNvSpPr txBox="1">
            <a:spLocks/>
          </p:cNvSpPr>
          <p:nvPr userDrawn="1"/>
        </p:nvSpPr>
        <p:spPr>
          <a:xfrm>
            <a:off x="628650" y="6356347"/>
            <a:ext cx="27192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dirty="0">
                <a:latin typeface="Gill Sans MT" panose="020B0502020104020203" pitchFamily="34" charset="0"/>
                <a:cs typeface="Calibri" panose="020F0502020204030204" pitchFamily="34" charset="0"/>
              </a:rPr>
              <a:t>Water Resources Systems Engineering</a:t>
            </a:r>
          </a:p>
          <a:p>
            <a:pPr algn="l"/>
            <a:r>
              <a:rPr lang="en-US" altLang="ko-KR" dirty="0">
                <a:latin typeface="Gill Sans MT" panose="020B0502020104020203" pitchFamily="34" charset="0"/>
                <a:cs typeface="Calibri" panose="020F0502020204030204" pitchFamily="34" charset="0"/>
              </a:rPr>
              <a:t>Spring 2022, Dr. Gi Joo Kim</a:t>
            </a:r>
            <a:endParaRPr lang="ko-KR" altLang="en-US" dirty="0">
              <a:latin typeface="Gill Sans MT" panose="020B0502020104020203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4399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나눔고딕 ExtraBold" panose="020D0904000000000000" pitchFamily="50" charset="-127"/>
          <a:ea typeface="나눔고딕 ExtraBold" panose="020D0904000000000000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20000"/>
        </a:lnSpc>
        <a:spcBef>
          <a:spcPts val="1000"/>
        </a:spcBef>
        <a:buFont typeface="Wingdings" panose="05000000000000000000" pitchFamily="2" charset="2"/>
        <a:buChar char="v"/>
        <a:defRPr sz="2000" kern="1200">
          <a:solidFill>
            <a:schemeClr val="tx1"/>
          </a:solidFill>
          <a:latin typeface="나눔고딕 Light" panose="020D0904000000000000" pitchFamily="50" charset="-127"/>
          <a:ea typeface="나눔고딕 Light" panose="020D0904000000000000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120000"/>
        </a:lnSpc>
        <a:spcBef>
          <a:spcPts val="500"/>
        </a:spcBef>
        <a:buFont typeface="Wingdings" panose="05000000000000000000" pitchFamily="2" charset="2"/>
        <a:buChar char="u"/>
        <a:defRPr sz="1800" kern="1200">
          <a:solidFill>
            <a:schemeClr val="tx1"/>
          </a:solidFill>
          <a:latin typeface="나눔고딕 Light" panose="020D0904000000000000" pitchFamily="50" charset="-127"/>
          <a:ea typeface="나눔고딕 Light" panose="020D0904000000000000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나눔고딕 Light" panose="020D0904000000000000" pitchFamily="50" charset="-127"/>
          <a:ea typeface="나눔고딕 Light" panose="020D0904000000000000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12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나눔고딕 Light" panose="020D0904000000000000" pitchFamily="50" charset="-127"/>
          <a:ea typeface="나눔고딕 Light" panose="020D0904000000000000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120000"/>
        </a:lnSpc>
        <a:spcBef>
          <a:spcPts val="500"/>
        </a:spcBef>
        <a:buFont typeface="Wingdings" panose="05000000000000000000" pitchFamily="2" charset="2"/>
        <a:buChar char="ü"/>
        <a:defRPr sz="1200" kern="1200">
          <a:solidFill>
            <a:schemeClr val="tx1"/>
          </a:solidFill>
          <a:latin typeface="나눔고딕 Light" panose="020D0904000000000000" pitchFamily="50" charset="-127"/>
          <a:ea typeface="나눔고딕 Light" panose="020D0904000000000000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.wmf"/><Relationship Id="rId4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3.wmf"/><Relationship Id="rId4" Type="http://schemas.openxmlformats.org/officeDocument/2006/relationships/oleObject" Target="../embeddings/oleObject2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7.png"/><Relationship Id="rId7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15.wmf"/><Relationship Id="rId4" Type="http://schemas.openxmlformats.org/officeDocument/2006/relationships/image" Target="../media/image14.w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30.wmf"/><Relationship Id="rId4" Type="http://schemas.openxmlformats.org/officeDocument/2006/relationships/oleObject" Target="../embeddings/oleObject7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32.wmf"/><Relationship Id="rId4" Type="http://schemas.openxmlformats.org/officeDocument/2006/relationships/oleObject" Target="../embeddings/oleObject8.bin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0.png"/><Relationship Id="rId13" Type="http://schemas.openxmlformats.org/officeDocument/2006/relationships/image" Target="../media/image48.png"/><Relationship Id="rId12" Type="http://schemas.openxmlformats.org/officeDocument/2006/relationships/image" Target="../media/image47.png"/><Relationship Id="rId17" Type="http://schemas.openxmlformats.org/officeDocument/2006/relationships/image" Target="../media/image52.png"/><Relationship Id="rId16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430.png"/><Relationship Id="rId15" Type="http://schemas.openxmlformats.org/officeDocument/2006/relationships/image" Target="../media/image50.png"/><Relationship Id="rId10" Type="http://schemas.openxmlformats.org/officeDocument/2006/relationships/image" Target="../media/image420.png"/><Relationship Id="rId9" Type="http://schemas.openxmlformats.org/officeDocument/2006/relationships/image" Target="../media/image410.png"/><Relationship Id="rId14" Type="http://schemas.openxmlformats.org/officeDocument/2006/relationships/image" Target="../media/image49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7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/Relationships>
</file>

<file path=ppt/slides/_rels/slide31.xml.rels><?xml version="1.0" encoding="UTF-8" standalone="yes"?>
<Relationships xmlns="http://schemas.openxmlformats.org/package/2006/relationships"><Relationship Id="rId7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348880"/>
            <a:ext cx="7772400" cy="720080"/>
          </a:xfrm>
        </p:spPr>
        <p:txBody>
          <a:bodyPr>
            <a:normAutofit/>
          </a:bodyPr>
          <a:lstStyle/>
          <a:p>
            <a:r>
              <a:rPr lang="en-US" altLang="ko-KR" sz="4000" dirty="0"/>
              <a:t>Lecture</a:t>
            </a:r>
            <a:r>
              <a:rPr lang="ko-KR" altLang="en-US" sz="4000" dirty="0"/>
              <a:t> </a:t>
            </a:r>
            <a:r>
              <a:rPr lang="en-US" altLang="ko-KR" sz="4000" dirty="0"/>
              <a:t>06</a:t>
            </a:r>
            <a:endParaRPr lang="ko-KR" altLang="en-US" dirty="0"/>
          </a:p>
        </p:txBody>
      </p:sp>
      <p:graphicFrame>
        <p:nvGraphicFramePr>
          <p:cNvPr id="4" name="개체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1035128"/>
              </p:ext>
            </p:extLst>
          </p:nvPr>
        </p:nvGraphicFramePr>
        <p:xfrm>
          <a:off x="6146800" y="3352800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7" name="Equation" r:id="rId4" imgW="914400" imgH="198720" progId="Equation.DSMT4">
                  <p:embed/>
                </p:oleObj>
              </mc:Choice>
              <mc:Fallback>
                <p:oleObj name="Equation" r:id="rId4" imgW="914400" imgH="198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146800" y="3352800"/>
                        <a:ext cx="914400" cy="1984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69520F9-6515-4E4B-A8F6-4A7B0AA74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</a:t>
            </a:fld>
            <a:endParaRPr lang="ko-KR" altLang="en-US" dirty="0"/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550591F5-0612-4BF1-AA16-517BECFA19B6}"/>
              </a:ext>
            </a:extLst>
          </p:cNvPr>
          <p:cNvSpPr txBox="1">
            <a:spLocks/>
          </p:cNvSpPr>
          <p:nvPr/>
        </p:nvSpPr>
        <p:spPr>
          <a:xfrm>
            <a:off x="685800" y="3087442"/>
            <a:ext cx="7772400" cy="163770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+mj-cs"/>
              </a:defRPr>
            </a:lvl1pPr>
          </a:lstStyle>
          <a:p>
            <a:r>
              <a:rPr lang="en-US" altLang="ko-KR" sz="3600" dirty="0"/>
              <a:t>Probability,</a:t>
            </a:r>
            <a:r>
              <a:rPr lang="ko-KR" altLang="en-US" sz="3600" dirty="0"/>
              <a:t> </a:t>
            </a:r>
            <a:r>
              <a:rPr lang="en-US" altLang="ko-KR" sz="3600" dirty="0"/>
              <a:t>Statistics,</a:t>
            </a:r>
            <a:r>
              <a:rPr lang="ko-KR" altLang="en-US" sz="3600" dirty="0"/>
              <a:t> </a:t>
            </a:r>
            <a:r>
              <a:rPr lang="en-US" altLang="ko-KR" sz="3600" dirty="0"/>
              <a:t>Uncertainty, and Stochastic Simulations </a:t>
            </a:r>
          </a:p>
          <a:p>
            <a:r>
              <a:rPr lang="en-US" altLang="ko-KR" sz="3600" dirty="0"/>
              <a:t>Part 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130919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86321C-1EF0-441A-B6C2-CC93F57FF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Review on Previous Lectures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C7CF82-3060-4574-BAF8-ED9639DDA3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68761"/>
            <a:ext cx="7886700" cy="5040560"/>
          </a:xfrm>
        </p:spPr>
        <p:txBody>
          <a:bodyPr>
            <a:normAutofit/>
          </a:bodyPr>
          <a:lstStyle/>
          <a:p>
            <a:r>
              <a:rPr lang="en-US" altLang="ko-KR" dirty="0"/>
              <a:t> </a:t>
            </a:r>
            <a:r>
              <a:rPr lang="en-US" altLang="ko-KR" dirty="0" err="1"/>
              <a:t>Lec</a:t>
            </a:r>
            <a:r>
              <a:rPr lang="en-US" altLang="ko-KR" dirty="0"/>
              <a:t> 03-04: Introduction to Conventional Optimization Models</a:t>
            </a:r>
          </a:p>
          <a:p>
            <a:pPr lvl="1"/>
            <a:r>
              <a:rPr lang="en-US" altLang="ko-KR" b="1" dirty="0"/>
              <a:t> Nonlinear Optimization Models, LP, DP </a:t>
            </a:r>
          </a:p>
          <a:p>
            <a:r>
              <a:rPr lang="en-US" altLang="ko-KR" dirty="0"/>
              <a:t> </a:t>
            </a:r>
            <a:r>
              <a:rPr lang="en-US" altLang="ko-KR" dirty="0" err="1"/>
              <a:t>Lec</a:t>
            </a:r>
            <a:r>
              <a:rPr lang="en-US" altLang="ko-KR" dirty="0"/>
              <a:t> 05: Data-fitting, Evolutionary Optimization Models</a:t>
            </a:r>
          </a:p>
          <a:p>
            <a:pPr lvl="1"/>
            <a:r>
              <a:rPr lang="en-US" altLang="ko-KR" dirty="0"/>
              <a:t> </a:t>
            </a:r>
            <a:r>
              <a:rPr lang="en-US" altLang="ko-KR" b="1" dirty="0"/>
              <a:t>EA</a:t>
            </a:r>
            <a:r>
              <a:rPr lang="en-US" altLang="ko-KR" dirty="0"/>
              <a:t>: Evolutionary Algorithms (</a:t>
            </a:r>
            <a:r>
              <a:rPr lang="ko-KR" altLang="en-US" dirty="0"/>
              <a:t>진화 알고리즘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 </a:t>
            </a:r>
            <a:r>
              <a:rPr lang="en-US" altLang="ko-KR" b="1" dirty="0"/>
              <a:t>GA</a:t>
            </a:r>
            <a:r>
              <a:rPr lang="en-US" altLang="ko-KR" dirty="0"/>
              <a:t>: Genetic Algorithms (</a:t>
            </a:r>
            <a:r>
              <a:rPr lang="ko-KR" altLang="en-US" dirty="0"/>
              <a:t>유전 알고리즘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 </a:t>
            </a:r>
            <a:r>
              <a:rPr lang="en-US" altLang="ko-KR" b="1" dirty="0"/>
              <a:t>GP/EP</a:t>
            </a:r>
            <a:r>
              <a:rPr lang="en-US" altLang="ko-KR" dirty="0"/>
              <a:t>: Genetic Programming/Evolutionary Programming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유전 프로그래밍</a:t>
            </a:r>
            <a:r>
              <a:rPr lang="en-US" altLang="ko-KR" dirty="0"/>
              <a:t>/</a:t>
            </a:r>
            <a:r>
              <a:rPr lang="ko-KR" altLang="en-US" dirty="0"/>
              <a:t>진화 프로그래밍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 </a:t>
            </a:r>
            <a:r>
              <a:rPr lang="en-US" altLang="ko-KR" b="1" dirty="0"/>
              <a:t>ANN</a:t>
            </a:r>
            <a:r>
              <a:rPr lang="en-US" altLang="ko-KR" dirty="0"/>
              <a:t>: Artificial Neural Networks (</a:t>
            </a:r>
            <a:r>
              <a:rPr lang="ko-KR" altLang="en-US" dirty="0"/>
              <a:t>인공 신경망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 </a:t>
            </a:r>
            <a:r>
              <a:rPr lang="en-US" altLang="ko-KR" b="1" dirty="0"/>
              <a:t>DE</a:t>
            </a:r>
            <a:r>
              <a:rPr lang="en-US" altLang="ko-KR" dirty="0"/>
              <a:t>: Differential Evolutions (</a:t>
            </a:r>
            <a:r>
              <a:rPr lang="ko-KR" altLang="en-US" dirty="0"/>
              <a:t>차분 진화 알고리즘</a:t>
            </a:r>
            <a:r>
              <a:rPr lang="en-US" altLang="ko-KR" dirty="0"/>
              <a:t>)</a:t>
            </a:r>
          </a:p>
          <a:p>
            <a:pPr lvl="1"/>
            <a:endParaRPr lang="en-US" altLang="ko-KR" dirty="0"/>
          </a:p>
          <a:p>
            <a:pPr lvl="1"/>
            <a:r>
              <a:rPr lang="en-US" altLang="ko-KR" b="1" dirty="0"/>
              <a:t> EMODPS:</a:t>
            </a:r>
            <a:r>
              <a:rPr lang="en-US" altLang="ko-KR" dirty="0"/>
              <a:t> Multi-objective Direct Policy Search 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진화적 다목적</a:t>
            </a:r>
            <a:r>
              <a:rPr lang="en-US" altLang="ko-KR" dirty="0"/>
              <a:t> </a:t>
            </a:r>
            <a:r>
              <a:rPr lang="ko-KR" altLang="en-US" dirty="0"/>
              <a:t>직접 정책 </a:t>
            </a:r>
            <a:r>
              <a:rPr lang="ko-KR" altLang="en-US" dirty="0" err="1"/>
              <a:t>검색법</a:t>
            </a:r>
            <a:r>
              <a:rPr lang="en-US" altLang="ko-KR" dirty="0"/>
              <a:t>)</a:t>
            </a:r>
          </a:p>
          <a:p>
            <a:pPr lvl="1"/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26250FC-3434-41AD-BEDE-BFE34FBB2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76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CAE7A9-F72A-4CA6-BE90-C10B3452D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6095"/>
            <a:ext cx="7886700" cy="1191665"/>
          </a:xfrm>
        </p:spPr>
        <p:txBody>
          <a:bodyPr>
            <a:normAutofit/>
          </a:bodyPr>
          <a:lstStyle/>
          <a:p>
            <a:r>
              <a:rPr lang="en-US" altLang="ko-KR" dirty="0"/>
              <a:t>Today’s Topic: Probability, Statistics, Uncertainty and Stochastic Simulations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A980AD7-68DB-407C-97A1-C0707F2583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56792"/>
            <a:ext cx="7886700" cy="4798234"/>
          </a:xfrm>
        </p:spPr>
        <p:txBody>
          <a:bodyPr/>
          <a:lstStyle/>
          <a:p>
            <a:r>
              <a:rPr lang="en-US" altLang="ko-KR" dirty="0"/>
              <a:t> Why does Uncertainty (</a:t>
            </a:r>
            <a:r>
              <a:rPr lang="ko-KR" altLang="en-US" dirty="0"/>
              <a:t>불확실성</a:t>
            </a:r>
            <a:r>
              <a:rPr lang="en-US" altLang="ko-KR" dirty="0"/>
              <a:t>) occur in WRSA?</a:t>
            </a:r>
          </a:p>
          <a:p>
            <a:pPr lvl="1"/>
            <a:r>
              <a:rPr lang="en-US" altLang="ko-KR" dirty="0"/>
              <a:t> Difference in the timing of Design, Building &amp; Operation</a:t>
            </a:r>
          </a:p>
          <a:p>
            <a:pPr lvl="2"/>
            <a:r>
              <a:rPr lang="en-US" altLang="ko-KR" dirty="0"/>
              <a:t>Time variability &amp; change (</a:t>
            </a:r>
            <a:r>
              <a:rPr lang="en-US" altLang="ko-KR" dirty="0" err="1"/>
              <a:t>Blöschl</a:t>
            </a:r>
            <a:r>
              <a:rPr lang="en-US" altLang="ko-KR" dirty="0"/>
              <a:t> et al. 2019) </a:t>
            </a:r>
          </a:p>
          <a:p>
            <a:pPr lvl="1"/>
            <a:r>
              <a:rPr lang="en-US" altLang="ko-KR" dirty="0"/>
              <a:t> Stochastic (randomness over time) nature of meteorological and hydrological processes such as rainfall and evaporation</a:t>
            </a:r>
          </a:p>
          <a:p>
            <a:pPr lvl="1"/>
            <a:endParaRPr lang="en-US" altLang="ko-KR" dirty="0"/>
          </a:p>
          <a:p>
            <a:pPr lvl="1"/>
            <a:r>
              <a:rPr lang="en-US" altLang="ko-KR" b="1" dirty="0"/>
              <a:t> How to deal with Uncertainty?</a:t>
            </a:r>
          </a:p>
          <a:p>
            <a:pPr lvl="2"/>
            <a:r>
              <a:rPr lang="en-US" altLang="ko-KR" dirty="0"/>
              <a:t>Simplest approach = Replacing with </a:t>
            </a:r>
            <a:r>
              <a:rPr lang="en-US" altLang="ko-KR" b="1" u="sng" dirty="0">
                <a:solidFill>
                  <a:schemeClr val="bg1"/>
                </a:solidFill>
              </a:rPr>
              <a:t>representative values (</a:t>
            </a:r>
            <a:r>
              <a:rPr lang="ko-KR" altLang="en-US" b="1" u="sng" dirty="0" err="1">
                <a:solidFill>
                  <a:schemeClr val="bg1"/>
                </a:solidFill>
              </a:rPr>
              <a:t>대표값</a:t>
            </a:r>
            <a:r>
              <a:rPr lang="en-US" altLang="ko-KR" b="1" u="sng" dirty="0">
                <a:solidFill>
                  <a:schemeClr val="bg1"/>
                </a:solidFill>
              </a:rPr>
              <a:t>)</a:t>
            </a:r>
          </a:p>
          <a:p>
            <a:pPr lvl="2"/>
            <a:r>
              <a:rPr lang="en-US" altLang="ko-KR" dirty="0">
                <a:solidFill>
                  <a:schemeClr val="bg1"/>
                </a:solidFill>
              </a:rPr>
              <a:t>Mean (expected values), median, worst-case values, etc. … </a:t>
            </a:r>
          </a:p>
          <a:p>
            <a:pPr lvl="2"/>
            <a:r>
              <a:rPr lang="en-US" altLang="ko-KR" dirty="0"/>
              <a:t>However, can create a </a:t>
            </a:r>
            <a:r>
              <a:rPr lang="en-US" altLang="ko-KR" b="1" u="sng" dirty="0">
                <a:solidFill>
                  <a:srgbClr val="FF0000"/>
                </a:solidFill>
              </a:rPr>
              <a:t>poor representation of both the average performance &amp; the possible performance range</a:t>
            </a:r>
          </a:p>
          <a:p>
            <a:r>
              <a:rPr lang="en-US" altLang="ko-KR" dirty="0"/>
              <a:t> Probability &amp; Statistics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257F5A0-C20B-4795-AD6A-196145CAF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6631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B9C70D-323F-48D5-ACB3-350216DAB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8515350" cy="759618"/>
          </a:xfrm>
        </p:spPr>
        <p:txBody>
          <a:bodyPr>
            <a:normAutofit/>
          </a:bodyPr>
          <a:lstStyle/>
          <a:p>
            <a:r>
              <a:rPr lang="en-US" altLang="ko-KR" dirty="0"/>
              <a:t>Review on Common Representative Values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9807C68-7E3D-4857-AB01-21E1F95A9B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Basic Probability Concepts</a:t>
            </a:r>
          </a:p>
          <a:p>
            <a:pPr marL="457200" lvl="1" indent="0">
              <a:buNone/>
            </a:pPr>
            <a:r>
              <a:rPr lang="en-US" altLang="ko-KR" b="1" dirty="0"/>
              <a:t>1) Measures of Central Tendency</a:t>
            </a:r>
          </a:p>
          <a:p>
            <a:pPr lvl="2"/>
            <a:r>
              <a:rPr lang="en-US" altLang="ko-KR" dirty="0"/>
              <a:t> </a:t>
            </a:r>
            <a:r>
              <a:rPr lang="en-US" altLang="ko-KR" dirty="0">
                <a:solidFill>
                  <a:schemeClr val="bg1"/>
                </a:solidFill>
              </a:rPr>
              <a:t>Arithmetic Mean (expected values)</a:t>
            </a:r>
          </a:p>
          <a:p>
            <a:pPr lvl="2"/>
            <a:r>
              <a:rPr lang="en-US" altLang="ko-KR" dirty="0"/>
              <a:t> </a:t>
            </a:r>
            <a:r>
              <a:rPr lang="en-US" altLang="ko-KR" dirty="0">
                <a:solidFill>
                  <a:schemeClr val="bg1"/>
                </a:solidFill>
              </a:rPr>
              <a:t>Median (</a:t>
            </a:r>
            <a:r>
              <a:rPr lang="ko-KR" altLang="en-US" dirty="0">
                <a:solidFill>
                  <a:schemeClr val="bg1"/>
                </a:solidFill>
              </a:rPr>
              <a:t>중앙값</a:t>
            </a:r>
            <a:r>
              <a:rPr lang="en-US" altLang="ko-KR" dirty="0">
                <a:solidFill>
                  <a:schemeClr val="bg1"/>
                </a:solidFill>
              </a:rPr>
              <a:t>) </a:t>
            </a:r>
          </a:p>
          <a:p>
            <a:pPr marL="914400" lvl="2" indent="0">
              <a:buNone/>
            </a:pPr>
            <a:r>
              <a:rPr lang="en-US" altLang="ko-KR" dirty="0"/>
              <a:t>    =&gt; useful</a:t>
            </a:r>
            <a:r>
              <a:rPr lang="ko-KR" altLang="en-US" dirty="0"/>
              <a:t> </a:t>
            </a:r>
            <a:r>
              <a:rPr lang="en-US" altLang="ko-KR" dirty="0"/>
              <a:t>for</a:t>
            </a:r>
            <a:r>
              <a:rPr lang="ko-KR" altLang="en-US" dirty="0"/>
              <a:t> </a:t>
            </a:r>
            <a:r>
              <a:rPr lang="en-US" altLang="ko-KR" dirty="0"/>
              <a:t>describing central tendency </a:t>
            </a:r>
            <a:br>
              <a:rPr lang="en-US" altLang="ko-KR" dirty="0"/>
            </a:br>
            <a:r>
              <a:rPr lang="en-US" altLang="ko-KR" dirty="0"/>
              <a:t>         regardless of skewness (less sensitive to outsiders)</a:t>
            </a:r>
          </a:p>
          <a:p>
            <a:pPr lvl="2"/>
            <a:r>
              <a:rPr lang="en-US" altLang="ko-KR" dirty="0"/>
              <a:t> </a:t>
            </a:r>
            <a:r>
              <a:rPr lang="en-US" altLang="ko-KR" dirty="0">
                <a:solidFill>
                  <a:schemeClr val="bg1"/>
                </a:solidFill>
              </a:rPr>
              <a:t>Mode (</a:t>
            </a:r>
            <a:r>
              <a:rPr lang="ko-KR" altLang="en-US" dirty="0" err="1">
                <a:solidFill>
                  <a:schemeClr val="bg1"/>
                </a:solidFill>
              </a:rPr>
              <a:t>최빈값</a:t>
            </a:r>
            <a:r>
              <a:rPr lang="en-US" altLang="ko-KR" dirty="0">
                <a:solidFill>
                  <a:schemeClr val="bg1"/>
                </a:solidFill>
              </a:rPr>
              <a:t>) </a:t>
            </a:r>
          </a:p>
          <a:p>
            <a:pPr marL="914400" lvl="2" indent="0">
              <a:buNone/>
            </a:pP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369C8A2-6FF4-46D9-B35E-CB4912A0F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4</a:t>
            </a:fld>
            <a:endParaRPr lang="ko-KR" altLang="en-US"/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EE0FA519-F296-4B04-AC65-A5E6807A51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769" t="81538" r="7591"/>
          <a:stretch>
            <a:fillRect/>
          </a:stretch>
        </p:blipFill>
        <p:spPr bwMode="auto">
          <a:xfrm>
            <a:off x="1614488" y="4107656"/>
            <a:ext cx="2670175" cy="2266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5">
            <a:extLst>
              <a:ext uri="{FF2B5EF4-FFF2-40B4-BE49-F238E27FC236}">
                <a16:creationId xmlns:a16="http://schemas.microsoft.com/office/drawing/2014/main" id="{0C52E4FA-158E-4FC8-BBA2-0DF8718F36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4402931"/>
            <a:ext cx="2819400" cy="1676400"/>
          </a:xfrm>
          <a:prstGeom prst="rect">
            <a:avLst/>
          </a:prstGeom>
          <a:noFill/>
          <a:ln w="28575">
            <a:solidFill>
              <a:srgbClr val="3366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Text Box 9">
            <a:extLst>
              <a:ext uri="{FF2B5EF4-FFF2-40B4-BE49-F238E27FC236}">
                <a16:creationId xmlns:a16="http://schemas.microsoft.com/office/drawing/2014/main" id="{CCF5E98F-C781-46F1-9547-A90F412CCE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7864" y="6169253"/>
            <a:ext cx="49530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400" dirty="0"/>
              <a:t>(Where n is the number of data points)</a:t>
            </a:r>
          </a:p>
        </p:txBody>
      </p:sp>
      <p:sp>
        <p:nvSpPr>
          <p:cNvPr id="10" name="Rectangle 12">
            <a:extLst>
              <a:ext uri="{FF2B5EF4-FFF2-40B4-BE49-F238E27FC236}">
                <a16:creationId xmlns:a16="http://schemas.microsoft.com/office/drawing/2014/main" id="{0585AB52-4813-4805-BBC7-1CFB861D95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4326731"/>
            <a:ext cx="3276600" cy="1828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1" name="Object 19">
            <a:extLst>
              <a:ext uri="{FF2B5EF4-FFF2-40B4-BE49-F238E27FC236}">
                <a16:creationId xmlns:a16="http://schemas.microsoft.com/office/drawing/2014/main" id="{9FA53D9F-450A-4035-9DBE-B08B6DBC8D2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095447"/>
              </p:ext>
            </p:extLst>
          </p:nvPr>
        </p:nvGraphicFramePr>
        <p:xfrm>
          <a:off x="1981200" y="4504531"/>
          <a:ext cx="2019300" cy="1346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72" name="Equation" r:id="rId4" imgW="647640" imgH="431640" progId="Equation.DSMT4">
                  <p:embed/>
                </p:oleObj>
              </mc:Choice>
              <mc:Fallback>
                <p:oleObj name="Equation" r:id="rId4" imgW="647640" imgH="431640" progId="Equation.DSMT4">
                  <p:embed/>
                  <p:pic>
                    <p:nvPicPr>
                      <p:cNvPr id="205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4504531"/>
                        <a:ext cx="2019300" cy="1346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7">
            <a:extLst>
              <a:ext uri="{FF2B5EF4-FFF2-40B4-BE49-F238E27FC236}">
                <a16:creationId xmlns:a16="http://schemas.microsoft.com/office/drawing/2014/main" id="{AF10F83F-04C2-4F5B-A32A-DE008D734A8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4131534"/>
              </p:ext>
            </p:extLst>
          </p:nvPr>
        </p:nvGraphicFramePr>
        <p:xfrm>
          <a:off x="4951455" y="4587527"/>
          <a:ext cx="1006475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73" name="Equation" r:id="rId6" imgW="279360" imgH="253800" progId="Equation.DSMT4">
                  <p:embed/>
                </p:oleObj>
              </mc:Choice>
              <mc:Fallback>
                <p:oleObj name="Equation" r:id="rId6" imgW="279360" imgH="253800" progId="Equation.DSMT4">
                  <p:embed/>
                  <p:pic>
                    <p:nvPicPr>
                      <p:cNvPr id="3074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1455" y="4587527"/>
                        <a:ext cx="1006475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EDC17303-C865-4721-8AFB-23A631F65EF4}"/>
              </a:ext>
            </a:extLst>
          </p:cNvPr>
          <p:cNvSpPr txBox="1"/>
          <p:nvPr/>
        </p:nvSpPr>
        <p:spPr>
          <a:xfrm>
            <a:off x="5939814" y="4444563"/>
            <a:ext cx="2670175" cy="1200329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1,3, 3, </a:t>
            </a:r>
            <a:r>
              <a:rPr lang="en-US" b="1" dirty="0"/>
              <a:t>6</a:t>
            </a:r>
            <a:r>
              <a:rPr lang="en-US" dirty="0"/>
              <a:t>, 7, 8, 9</a:t>
            </a:r>
          </a:p>
          <a:p>
            <a:pPr algn="ctr"/>
            <a:r>
              <a:rPr lang="en-US" dirty="0"/>
              <a:t>Median = </a:t>
            </a:r>
            <a:r>
              <a:rPr lang="en-US" b="1" dirty="0">
                <a:solidFill>
                  <a:srgbClr val="FF0000"/>
                </a:solidFill>
              </a:rPr>
              <a:t>6</a:t>
            </a:r>
          </a:p>
          <a:p>
            <a:pPr algn="ctr"/>
            <a:r>
              <a:rPr lang="en-US" dirty="0"/>
              <a:t>1, 2, 3, </a:t>
            </a:r>
            <a:r>
              <a:rPr lang="en-US" b="1" dirty="0"/>
              <a:t>4, 5</a:t>
            </a:r>
            <a:r>
              <a:rPr lang="en-US" dirty="0"/>
              <a:t>, 6, 8, 9</a:t>
            </a:r>
          </a:p>
          <a:p>
            <a:pPr algn="ctr"/>
            <a:r>
              <a:rPr lang="en-US" dirty="0"/>
              <a:t>Median = (4+5) / 2 = </a:t>
            </a:r>
            <a:r>
              <a:rPr lang="en-US" b="1" dirty="0">
                <a:solidFill>
                  <a:srgbClr val="FF0000"/>
                </a:solidFill>
              </a:rPr>
              <a:t>4.5</a:t>
            </a:r>
          </a:p>
        </p:txBody>
      </p:sp>
    </p:spTree>
    <p:extLst>
      <p:ext uri="{BB962C8B-B14F-4D97-AF65-F5344CB8AC3E}">
        <p14:creationId xmlns:p14="http://schemas.microsoft.com/office/powerpoint/2010/main" val="807598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33" name="Picture 13" descr="Interquartile Range | Understand, Calculate &amp; Visualize IQR">
            <a:extLst>
              <a:ext uri="{FF2B5EF4-FFF2-40B4-BE49-F238E27FC236}">
                <a16:creationId xmlns:a16="http://schemas.microsoft.com/office/drawing/2014/main" id="{E899D576-29A2-462B-919E-B0AB32CA02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770" y="3861879"/>
            <a:ext cx="4457700" cy="1485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D7B9C70D-323F-48D5-ACB3-350216DAB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8515350" cy="759618"/>
          </a:xfrm>
        </p:spPr>
        <p:txBody>
          <a:bodyPr>
            <a:normAutofit/>
          </a:bodyPr>
          <a:lstStyle/>
          <a:p>
            <a:r>
              <a:rPr lang="en-US" altLang="ko-KR" dirty="0"/>
              <a:t>Review on Common Representative Values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29807C68-7E3D-4857-AB01-21E1F95A9BB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 Basic Probability Concepts</a:t>
                </a:r>
              </a:p>
              <a:p>
                <a:pPr marL="457200" lvl="1" indent="0">
                  <a:buNone/>
                </a:pPr>
                <a:r>
                  <a:rPr lang="en-US" altLang="ko-KR" b="1" dirty="0"/>
                  <a:t>2) Measures of Dispersion: </a:t>
                </a:r>
                <a:r>
                  <a:rPr lang="en-US" altLang="ko-KR" dirty="0"/>
                  <a:t>Describes the spread of data</a:t>
                </a:r>
              </a:p>
              <a:p>
                <a:pPr lvl="1"/>
                <a:r>
                  <a:rPr lang="en-US" altLang="ko-KR" dirty="0"/>
                  <a:t> Examples include: </a:t>
                </a:r>
              </a:p>
              <a:p>
                <a:pPr lvl="2"/>
                <a:r>
                  <a:rPr lang="en-US" altLang="ko-KR" dirty="0">
                    <a:solidFill>
                      <a:schemeClr val="bg1"/>
                    </a:solidFill>
                  </a:rPr>
                  <a:t>Range: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r>
                  <a:rPr lang="en-US" altLang="ko-KR" dirty="0">
                    <a:solidFill>
                      <a:schemeClr val="bg1"/>
                    </a:solidFill>
                  </a:rPr>
                  <a:t> &amp;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ko-KR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ko-K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</m:oMath>
                </a14:m>
                <a:r>
                  <a:rPr lang="en-US" altLang="ko-KR" dirty="0">
                    <a:solidFill>
                      <a:schemeClr val="bg1"/>
                    </a:solidFill>
                  </a:rPr>
                  <a:t> (</a:t>
                </a:r>
                <a:r>
                  <a:rPr lang="ko-KR" altLang="en-US" dirty="0" err="1">
                    <a:solidFill>
                      <a:schemeClr val="bg1"/>
                    </a:solidFill>
                  </a:rPr>
                  <a:t>관측값중</a:t>
                </a:r>
                <a:r>
                  <a:rPr lang="ko-KR" altLang="en-US" dirty="0">
                    <a:solidFill>
                      <a:schemeClr val="bg1"/>
                    </a:solidFill>
                  </a:rPr>
                  <a:t> 가장 큰 값 </a:t>
                </a:r>
                <a:r>
                  <a:rPr lang="en-US" altLang="ko-KR" dirty="0">
                    <a:solidFill>
                      <a:schemeClr val="bg1"/>
                    </a:solidFill>
                  </a:rPr>
                  <a:t>&amp; </a:t>
                </a:r>
                <a:r>
                  <a:rPr lang="ko-KR" altLang="en-US" dirty="0">
                    <a:solidFill>
                      <a:schemeClr val="bg1"/>
                    </a:solidFill>
                  </a:rPr>
                  <a:t>가장 작은 값</a:t>
                </a:r>
                <a:r>
                  <a:rPr lang="en-US" altLang="ko-KR" dirty="0">
                    <a:solidFill>
                      <a:schemeClr val="bg1"/>
                    </a:solidFill>
                  </a:rPr>
                  <a:t>)</a:t>
                </a:r>
              </a:p>
              <a:p>
                <a:pPr lvl="2"/>
                <a:r>
                  <a:rPr lang="en-US" altLang="ko-KR" dirty="0">
                    <a:solidFill>
                      <a:schemeClr val="bg1"/>
                    </a:solidFill>
                  </a:rPr>
                  <a:t>Quartiles &amp; Interquartile Range</a:t>
                </a:r>
              </a:p>
              <a:p>
                <a:pPr lvl="2"/>
                <a:r>
                  <a:rPr lang="en-US" altLang="ko-KR" dirty="0">
                    <a:solidFill>
                      <a:schemeClr val="bg1"/>
                    </a:solidFill>
                  </a:rPr>
                  <a:t>Variance (Standard Deviation)</a:t>
                </a:r>
              </a:p>
              <a:p>
                <a:pPr lvl="2"/>
                <a:endParaRPr lang="en-US" altLang="ko-KR" dirty="0"/>
              </a:p>
              <a:p>
                <a:pPr lvl="2"/>
                <a:endParaRPr lang="en-US" altLang="ko-KR" dirty="0"/>
              </a:p>
              <a:p>
                <a:pPr lvl="2"/>
                <a:endParaRPr lang="en-US" altLang="ko-KR" dirty="0"/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29807C68-7E3D-4857-AB01-21E1F95A9B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369C8A2-6FF4-46D9-B35E-CB4912A0F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AAF9BD2-FDB3-438E-AF3C-85BF556BDD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3341" y="4513395"/>
            <a:ext cx="3505200" cy="1676400"/>
          </a:xfrm>
          <a:prstGeom prst="rect">
            <a:avLst/>
          </a:prstGeom>
          <a:noFill/>
          <a:ln w="28575">
            <a:solidFill>
              <a:srgbClr val="3366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C6BA945C-367E-46D4-BCD6-2E1A9EAFDB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6016" y="4437195"/>
            <a:ext cx="3886200" cy="1828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7" name="Object 33">
            <a:extLst>
              <a:ext uri="{FF2B5EF4-FFF2-40B4-BE49-F238E27FC236}">
                <a16:creationId xmlns:a16="http://schemas.microsoft.com/office/drawing/2014/main" id="{BFA44183-3D4C-4477-B48B-7A432E6B25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0189433"/>
              </p:ext>
            </p:extLst>
          </p:nvPr>
        </p:nvGraphicFramePr>
        <p:xfrm>
          <a:off x="5478016" y="4665795"/>
          <a:ext cx="2759075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3" name="Equation" r:id="rId5" imgW="1091880" imgH="482400" progId="Equation.DSMT4">
                  <p:embed/>
                </p:oleObj>
              </mc:Choice>
              <mc:Fallback>
                <p:oleObj name="Equation" r:id="rId5" imgW="1091880" imgH="482400" progId="Equation.DSMT4">
                  <p:embed/>
                  <p:pic>
                    <p:nvPicPr>
                      <p:cNvPr id="4098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78016" y="4665795"/>
                        <a:ext cx="2759075" cy="1219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그림 7">
            <a:extLst>
              <a:ext uri="{FF2B5EF4-FFF2-40B4-BE49-F238E27FC236}">
                <a16:creationId xmlns:a16="http://schemas.microsoft.com/office/drawing/2014/main" id="{79A49BD8-0A48-4669-BCD5-82892DC039C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32979" y="3429000"/>
            <a:ext cx="2977329" cy="1313353"/>
          </a:xfrm>
          <a:prstGeom prst="rect">
            <a:avLst/>
          </a:prstGeom>
        </p:spPr>
      </p:pic>
      <p:pic>
        <p:nvPicPr>
          <p:cNvPr id="5136" name="Picture 16" descr="Interquartile Range Calculator - Statistics How To">
            <a:extLst>
              <a:ext uri="{FF2B5EF4-FFF2-40B4-BE49-F238E27FC236}">
                <a16:creationId xmlns:a16="http://schemas.microsoft.com/office/drawing/2014/main" id="{3B303E09-FD74-4095-BD75-E1518CCE9D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0969" y="5339974"/>
            <a:ext cx="3510089" cy="1307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9640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B9C70D-323F-48D5-ACB3-350216DAB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8515350" cy="759618"/>
          </a:xfrm>
        </p:spPr>
        <p:txBody>
          <a:bodyPr>
            <a:normAutofit/>
          </a:bodyPr>
          <a:lstStyle/>
          <a:p>
            <a:r>
              <a:rPr lang="en-US" altLang="ko-KR" dirty="0"/>
              <a:t>Review on Common Representative Values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9807C68-7E3D-4857-AB01-21E1F95A9B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Basic Probability Concepts</a:t>
            </a:r>
          </a:p>
          <a:p>
            <a:pPr marL="457200" lvl="1" indent="0">
              <a:buNone/>
            </a:pPr>
            <a:r>
              <a:rPr lang="en-US" altLang="ko-KR" b="1" dirty="0"/>
              <a:t>3) Measure of Asymmetry</a:t>
            </a:r>
          </a:p>
          <a:p>
            <a:pPr lvl="2"/>
            <a:r>
              <a:rPr lang="en-US" altLang="ko-KR" dirty="0">
                <a:solidFill>
                  <a:schemeClr val="bg1"/>
                </a:solidFill>
              </a:rPr>
              <a:t>Coefficient of Skew</a:t>
            </a:r>
          </a:p>
          <a:p>
            <a:pPr lvl="2"/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369C8A2-6FF4-46D9-B35E-CB4912A0F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6</a:t>
            </a:fld>
            <a:endParaRPr lang="ko-KR" altLang="en-US"/>
          </a:p>
        </p:txBody>
      </p:sp>
      <p:grpSp>
        <p:nvGrpSpPr>
          <p:cNvPr id="5" name="Group 13">
            <a:extLst>
              <a:ext uri="{FF2B5EF4-FFF2-40B4-BE49-F238E27FC236}">
                <a16:creationId xmlns:a16="http://schemas.microsoft.com/office/drawing/2014/main" id="{77B15913-C490-42DA-A51A-D645309BC58A}"/>
              </a:ext>
            </a:extLst>
          </p:cNvPr>
          <p:cNvGrpSpPr>
            <a:grpSpLocks/>
          </p:cNvGrpSpPr>
          <p:nvPr/>
        </p:nvGrpSpPr>
        <p:grpSpPr bwMode="auto">
          <a:xfrm>
            <a:off x="3347864" y="2613025"/>
            <a:ext cx="5667375" cy="1631950"/>
            <a:chOff x="2079" y="960"/>
            <a:chExt cx="3570" cy="1028"/>
          </a:xfrm>
        </p:grpSpPr>
        <p:pic>
          <p:nvPicPr>
            <p:cNvPr id="6" name="Picture 9">
              <a:extLst>
                <a:ext uri="{FF2B5EF4-FFF2-40B4-BE49-F238E27FC236}">
                  <a16:creationId xmlns:a16="http://schemas.microsoft.com/office/drawing/2014/main" id="{7E079A0B-19E0-4047-A6C1-ACFEC83B069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868" t="57155" r="5992" b="8614"/>
            <a:stretch>
              <a:fillRect/>
            </a:stretch>
          </p:blipFill>
          <p:spPr bwMode="auto">
            <a:xfrm>
              <a:off x="2079" y="960"/>
              <a:ext cx="3570" cy="10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" name="Picture 10">
              <a:extLst>
                <a:ext uri="{FF2B5EF4-FFF2-40B4-BE49-F238E27FC236}">
                  <a16:creationId xmlns:a16="http://schemas.microsoft.com/office/drawing/2014/main" id="{5CFBEADF-6857-4B3A-A723-B297871C02C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5811" t="88846" r="12358" b="6363"/>
            <a:stretch>
              <a:fillRect/>
            </a:stretch>
          </p:blipFill>
          <p:spPr bwMode="auto">
            <a:xfrm>
              <a:off x="2326" y="1132"/>
              <a:ext cx="96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" name="Picture 11">
              <a:extLst>
                <a:ext uri="{FF2B5EF4-FFF2-40B4-BE49-F238E27FC236}">
                  <a16:creationId xmlns:a16="http://schemas.microsoft.com/office/drawing/2014/main" id="{2D6D2353-3293-4FC6-BEBC-0229E29A521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5811" t="88846" r="12358" b="6363"/>
            <a:stretch>
              <a:fillRect/>
            </a:stretch>
          </p:blipFill>
          <p:spPr bwMode="auto">
            <a:xfrm>
              <a:off x="3496" y="1132"/>
              <a:ext cx="96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" name="Picture 12">
              <a:extLst>
                <a:ext uri="{FF2B5EF4-FFF2-40B4-BE49-F238E27FC236}">
                  <a16:creationId xmlns:a16="http://schemas.microsoft.com/office/drawing/2014/main" id="{8BF6B847-8571-40D7-B7EA-053952D7E00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5811" t="88846" r="12358" b="6363"/>
            <a:stretch>
              <a:fillRect/>
            </a:stretch>
          </p:blipFill>
          <p:spPr bwMode="auto">
            <a:xfrm>
              <a:off x="4660" y="1132"/>
              <a:ext cx="96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0" name="Rectangle 14">
            <a:extLst>
              <a:ext uri="{FF2B5EF4-FFF2-40B4-BE49-F238E27FC236}">
                <a16:creationId xmlns:a16="http://schemas.microsoft.com/office/drawing/2014/main" id="{EB9B08AC-A873-415C-9A10-C0CDB2423C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199" y="2873375"/>
            <a:ext cx="2057400" cy="1371600"/>
          </a:xfrm>
          <a:prstGeom prst="rect">
            <a:avLst/>
          </a:prstGeom>
          <a:noFill/>
          <a:ln w="28575">
            <a:solidFill>
              <a:srgbClr val="3366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Rectangle 20">
            <a:extLst>
              <a:ext uri="{FF2B5EF4-FFF2-40B4-BE49-F238E27FC236}">
                <a16:creationId xmlns:a16="http://schemas.microsoft.com/office/drawing/2014/main" id="{2124EECB-C10B-4684-A9C5-06C83415BC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599" y="2720975"/>
            <a:ext cx="2438400" cy="1676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2" name="Object 26">
            <a:extLst>
              <a:ext uri="{FF2B5EF4-FFF2-40B4-BE49-F238E27FC236}">
                <a16:creationId xmlns:a16="http://schemas.microsoft.com/office/drawing/2014/main" id="{B51B28E7-BF81-4441-BD1B-70DC9D80518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4448098"/>
              </p:ext>
            </p:extLst>
          </p:nvPr>
        </p:nvGraphicFramePr>
        <p:xfrm>
          <a:off x="1127799" y="2949575"/>
          <a:ext cx="1550988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83" name="Equation" r:id="rId5" imgW="533160" imgH="419040" progId="Equation.DSMT4">
                  <p:embed/>
                </p:oleObj>
              </mc:Choice>
              <mc:Fallback>
                <p:oleObj name="Equation" r:id="rId5" imgW="533160" imgH="419040" progId="Equation.DSMT4">
                  <p:embed/>
                  <p:pic>
                    <p:nvPicPr>
                      <p:cNvPr id="5122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7799" y="2949575"/>
                        <a:ext cx="1550988" cy="1219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Picture 5">
            <a:extLst>
              <a:ext uri="{FF2B5EF4-FFF2-40B4-BE49-F238E27FC236}">
                <a16:creationId xmlns:a16="http://schemas.microsoft.com/office/drawing/2014/main" id="{9019C85C-FDDF-4034-9297-9208CB2993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865" t="42744" r="4840" b="42169"/>
          <a:stretch>
            <a:fillRect/>
          </a:stretch>
        </p:blipFill>
        <p:spPr bwMode="auto">
          <a:xfrm>
            <a:off x="6102177" y="5124450"/>
            <a:ext cx="1600200" cy="817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 Box 8">
            <a:extLst>
              <a:ext uri="{FF2B5EF4-FFF2-40B4-BE49-F238E27FC236}">
                <a16:creationId xmlns:a16="http://schemas.microsoft.com/office/drawing/2014/main" id="{BAA56F99-0AF3-44A1-AA37-3DBAD35B3F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0777" y="4660900"/>
            <a:ext cx="5334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dirty="0"/>
              <a:t>Using the 3</a:t>
            </a:r>
            <a:r>
              <a:rPr lang="en-US" baseline="30000" dirty="0"/>
              <a:t>rd</a:t>
            </a:r>
            <a:r>
              <a:rPr lang="en-US" dirty="0"/>
              <a:t> moment and the standard deviation,</a:t>
            </a:r>
          </a:p>
        </p:txBody>
      </p:sp>
      <p:sp>
        <p:nvSpPr>
          <p:cNvPr id="15" name="Rectangle 18">
            <a:extLst>
              <a:ext uri="{FF2B5EF4-FFF2-40B4-BE49-F238E27FC236}">
                <a16:creationId xmlns:a16="http://schemas.microsoft.com/office/drawing/2014/main" id="{BC0C3481-58FD-4B9D-A525-E66335E8E2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2777" y="5194300"/>
            <a:ext cx="2514600" cy="1524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16" name="Picture 4">
            <a:extLst>
              <a:ext uri="{FF2B5EF4-FFF2-40B4-BE49-F238E27FC236}">
                <a16:creationId xmlns:a16="http://schemas.microsoft.com/office/drawing/2014/main" id="{1592BF60-310B-41BC-8AA6-A9FAC01594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487" t="20116" b="57256"/>
          <a:stretch>
            <a:fillRect/>
          </a:stretch>
        </p:blipFill>
        <p:spPr bwMode="auto">
          <a:xfrm>
            <a:off x="2215977" y="5027613"/>
            <a:ext cx="3048000" cy="1225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Text Box 7">
            <a:extLst>
              <a:ext uri="{FF2B5EF4-FFF2-40B4-BE49-F238E27FC236}">
                <a16:creationId xmlns:a16="http://schemas.microsoft.com/office/drawing/2014/main" id="{31B5D6A9-4B7E-4B0B-94E6-3D277BD13C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6377" y="5408613"/>
            <a:ext cx="1371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and</a:t>
            </a:r>
          </a:p>
        </p:txBody>
      </p:sp>
    </p:spTree>
    <p:extLst>
      <p:ext uri="{BB962C8B-B14F-4D97-AF65-F5344CB8AC3E}">
        <p14:creationId xmlns:p14="http://schemas.microsoft.com/office/powerpoint/2010/main" val="2356563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4" grpId="0"/>
      <p:bldP spid="15" grpId="0" animBg="1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B9C70D-323F-48D5-ACB3-350216DAB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8515350" cy="759618"/>
          </a:xfrm>
        </p:spPr>
        <p:txBody>
          <a:bodyPr>
            <a:normAutofit/>
          </a:bodyPr>
          <a:lstStyle/>
          <a:p>
            <a:r>
              <a:rPr lang="en-US" altLang="ko-KR" dirty="0"/>
              <a:t>Review on Common Representative Values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9807C68-7E3D-4857-AB01-21E1F95A9B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Basic Probability Concepts </a:t>
            </a:r>
            <a:r>
              <a:rPr lang="en-US" altLang="ko-KR" b="1" dirty="0"/>
              <a:t>(Data observed in Pairs)</a:t>
            </a:r>
          </a:p>
          <a:p>
            <a:pPr marL="457200" lvl="1" indent="0">
              <a:buNone/>
            </a:pPr>
            <a:r>
              <a:rPr lang="en-US" altLang="ko-KR" b="1" dirty="0"/>
              <a:t>4) Measure of Correlation (Relation between two random variables)</a:t>
            </a:r>
          </a:p>
          <a:p>
            <a:pPr lvl="2"/>
            <a:r>
              <a:rPr lang="en-US" altLang="ko-KR" dirty="0">
                <a:solidFill>
                  <a:schemeClr val="bg1"/>
                </a:solidFill>
              </a:rPr>
              <a:t>Linear Correlation Coefficient</a:t>
            </a:r>
          </a:p>
          <a:p>
            <a:pPr lvl="2"/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369C8A2-6FF4-46D9-B35E-CB4912A0F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7</a:t>
            </a:fld>
            <a:endParaRPr lang="ko-KR" altLang="en-US"/>
          </a:p>
        </p:txBody>
      </p:sp>
      <p:graphicFrame>
        <p:nvGraphicFramePr>
          <p:cNvPr id="10" name="Object 8">
            <a:extLst>
              <a:ext uri="{FF2B5EF4-FFF2-40B4-BE49-F238E27FC236}">
                <a16:creationId xmlns:a16="http://schemas.microsoft.com/office/drawing/2014/main" id="{75BDC2BA-7B3D-459F-B82D-D305FD8AA3F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9646173"/>
              </p:ext>
            </p:extLst>
          </p:nvPr>
        </p:nvGraphicFramePr>
        <p:xfrm>
          <a:off x="1695450" y="2636912"/>
          <a:ext cx="5753100" cy="1246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06" name="Equation" r:id="rId3" imgW="2463480" imgH="533160" progId="Equation.DSMT4">
                  <p:embed/>
                </p:oleObj>
              </mc:Choice>
              <mc:Fallback>
                <p:oleObj name="Equation" r:id="rId3" imgW="2463480" imgH="533160" progId="Equation.DSMT4">
                  <p:embed/>
                  <p:pic>
                    <p:nvPicPr>
                      <p:cNvPr id="717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5450" y="2636912"/>
                        <a:ext cx="5753100" cy="1246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Picture 4">
            <a:extLst>
              <a:ext uri="{FF2B5EF4-FFF2-40B4-BE49-F238E27FC236}">
                <a16:creationId xmlns:a16="http://schemas.microsoft.com/office/drawing/2014/main" id="{4B5E3C21-C4FB-48DD-AE40-2E133A7F08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92" r="50392" b="51199"/>
          <a:stretch>
            <a:fillRect/>
          </a:stretch>
        </p:blipFill>
        <p:spPr bwMode="auto">
          <a:xfrm>
            <a:off x="1043608" y="3853666"/>
            <a:ext cx="3746635" cy="2795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 Box 5">
            <a:extLst>
              <a:ext uri="{FF2B5EF4-FFF2-40B4-BE49-F238E27FC236}">
                <a16:creationId xmlns:a16="http://schemas.microsoft.com/office/drawing/2014/main" id="{C2161AEA-B12F-4FEB-9132-C9568938B3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5486400"/>
            <a:ext cx="5105400" cy="52322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en-US" sz="2800">
                <a:solidFill>
                  <a:srgbClr val="808080"/>
                </a:solidFill>
              </a:rPr>
              <a:t>Correl(Rainfall,Runoff) = 0.91</a:t>
            </a:r>
          </a:p>
        </p:txBody>
      </p:sp>
    </p:spTree>
    <p:extLst>
      <p:ext uri="{BB962C8B-B14F-4D97-AF65-F5344CB8AC3E}">
        <p14:creationId xmlns:p14="http://schemas.microsoft.com/office/powerpoint/2010/main" val="3363903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DA73F2-FB8C-42EF-AED0-6381D4250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Summary (1)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EA104F0-3259-4931-A667-D5EA17C721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 How to deal with Uncertainty?</a:t>
            </a:r>
          </a:p>
          <a:p>
            <a:pPr lvl="1"/>
            <a:r>
              <a:rPr lang="en-US" altLang="ko-KR" dirty="0"/>
              <a:t>Simplest approach = Replacing with </a:t>
            </a:r>
            <a:r>
              <a:rPr lang="en-US" altLang="ko-KR" b="1" u="sng" dirty="0"/>
              <a:t>representative values (</a:t>
            </a:r>
            <a:r>
              <a:rPr lang="ko-KR" altLang="en-US" b="1" u="sng" dirty="0" err="1"/>
              <a:t>대표값</a:t>
            </a:r>
            <a:r>
              <a:rPr lang="en-US" altLang="ko-KR" b="1" u="sng" dirty="0"/>
              <a:t>)</a:t>
            </a:r>
          </a:p>
          <a:p>
            <a:pPr lvl="1"/>
            <a:r>
              <a:rPr lang="en-US" altLang="ko-KR" dirty="0"/>
              <a:t>Mean (expected values), median, worst-case values, etc. … </a:t>
            </a:r>
          </a:p>
          <a:p>
            <a:pPr lvl="1"/>
            <a:r>
              <a:rPr lang="en-US" altLang="ko-KR" dirty="0"/>
              <a:t>However, can create a </a:t>
            </a:r>
            <a:r>
              <a:rPr lang="en-US" altLang="ko-KR" b="1" u="sng" dirty="0">
                <a:solidFill>
                  <a:srgbClr val="FF0000"/>
                </a:solidFill>
              </a:rPr>
              <a:t>poor representation of both the average performance &amp; the possible performance range</a:t>
            </a:r>
          </a:p>
          <a:p>
            <a:endParaRPr lang="en-US" altLang="ko-KR" sz="1600" dirty="0"/>
          </a:p>
          <a:p>
            <a:r>
              <a:rPr lang="en-US" altLang="ko-KR" b="1" dirty="0"/>
              <a:t> </a:t>
            </a:r>
            <a:r>
              <a:rPr lang="en-US" altLang="ko-KR" dirty="0"/>
              <a:t>Common Representative Values for:</a:t>
            </a:r>
          </a:p>
          <a:p>
            <a:pPr marL="800100" lvl="1" indent="-342900">
              <a:buAutoNum type="arabicParenR"/>
            </a:pPr>
            <a:r>
              <a:rPr lang="en-US" altLang="ko-KR" b="1" dirty="0"/>
              <a:t>Measures of Central Tendency: </a:t>
            </a:r>
            <a:r>
              <a:rPr lang="en-US" altLang="ko-KR" b="1" u="sng" dirty="0">
                <a:solidFill>
                  <a:schemeClr val="bg1"/>
                </a:solidFill>
              </a:rPr>
              <a:t>mean, median, mode</a:t>
            </a:r>
          </a:p>
          <a:p>
            <a:pPr marL="800100" lvl="1" indent="-342900">
              <a:buAutoNum type="arabicParenR"/>
            </a:pPr>
            <a:r>
              <a:rPr lang="en-US" altLang="ko-KR" b="1" dirty="0"/>
              <a:t>Measures of Dispersion: </a:t>
            </a:r>
            <a:r>
              <a:rPr lang="en-US" altLang="ko-KR" b="1" u="sng" dirty="0">
                <a:solidFill>
                  <a:schemeClr val="bg1"/>
                </a:solidFill>
              </a:rPr>
              <a:t>range, IQR</a:t>
            </a:r>
          </a:p>
          <a:p>
            <a:pPr marL="800100" lvl="1" indent="-342900">
              <a:buAutoNum type="arabicParenR"/>
            </a:pPr>
            <a:r>
              <a:rPr lang="en-US" altLang="ko-KR" b="1" dirty="0"/>
              <a:t>Measure of Asymmetry: </a:t>
            </a:r>
            <a:r>
              <a:rPr lang="en-US" altLang="ko-KR" b="1" u="sng" dirty="0">
                <a:solidFill>
                  <a:schemeClr val="bg1"/>
                </a:solidFill>
              </a:rPr>
              <a:t>coefficient of skew</a:t>
            </a:r>
          </a:p>
          <a:p>
            <a:pPr marL="800100" lvl="1" indent="-342900">
              <a:buAutoNum type="arabicParenR"/>
            </a:pPr>
            <a:r>
              <a:rPr lang="en-US" altLang="ko-KR" b="1" dirty="0"/>
              <a:t>Measure of Correlation: </a:t>
            </a:r>
            <a:r>
              <a:rPr lang="en-US" altLang="ko-KR" b="1" u="sng" dirty="0">
                <a:solidFill>
                  <a:schemeClr val="bg1"/>
                </a:solidFill>
              </a:rPr>
              <a:t>linear correlation coefficient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6DADD2-9D2B-4955-8D75-C2C322B84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0870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0B13EE-9E3A-4EB7-B8FF-ABE2CD61D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Explain the data with Rep. Values?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013621A-7E5F-4BE8-AA60-334656EF2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9</a:t>
            </a:fld>
            <a:endParaRPr lang="ko-KR" altLang="en-US"/>
          </a:p>
        </p:txBody>
      </p:sp>
      <p:pic>
        <p:nvPicPr>
          <p:cNvPr id="5" name="Picture 1">
            <a:extLst>
              <a:ext uri="{FF2B5EF4-FFF2-40B4-BE49-F238E27FC236}">
                <a16:creationId xmlns:a16="http://schemas.microsoft.com/office/drawing/2014/main" id="{B88C58F9-66F6-409C-BBBD-24719DD011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412" y="1978484"/>
            <a:ext cx="7877175" cy="3162300"/>
          </a:xfrm>
          <a:prstGeom prst="rect">
            <a:avLst/>
          </a:prstGeom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32A7BB8E-8675-4814-9FE1-EAF29CFE7500}"/>
              </a:ext>
            </a:extLst>
          </p:cNvPr>
          <p:cNvSpPr/>
          <p:nvPr/>
        </p:nvSpPr>
        <p:spPr>
          <a:xfrm>
            <a:off x="633411" y="5140784"/>
            <a:ext cx="787717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i="1" dirty="0"/>
              <a:t>Justin </a:t>
            </a:r>
            <a:r>
              <a:rPr lang="en-US" sz="1200" i="1" dirty="0" err="1"/>
              <a:t>Matejka</a:t>
            </a:r>
            <a:r>
              <a:rPr lang="en-US" sz="1200" i="1" dirty="0"/>
              <a:t>, George Fitzmaurice (2017)</a:t>
            </a:r>
            <a:r>
              <a:rPr lang="en-US" sz="1200" dirty="0"/>
              <a:t>. Same Stats, Different Graphs: Generating Datasets with Varied Appearance and Identical Statistics through Simulated Annealing </a:t>
            </a:r>
            <a:r>
              <a:rPr lang="en-US" sz="1200" i="1" dirty="0"/>
              <a:t>CHI 2017 Conference proceedings:</a:t>
            </a:r>
            <a:r>
              <a:rPr lang="en-US" sz="1200" dirty="0"/>
              <a:t> ACM SIGCHI Conference on Human Factors in Computing Systems</a:t>
            </a:r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DCE6C368-0404-448B-BA95-7B1E09F592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68760"/>
            <a:ext cx="7886700" cy="4908203"/>
          </a:xfrm>
        </p:spPr>
        <p:txBody>
          <a:bodyPr/>
          <a:lstStyle/>
          <a:p>
            <a:r>
              <a:rPr lang="en-US" altLang="ko-KR" b="1" dirty="0"/>
              <a:t> No! Proof?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66554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7CBF74-D07F-4234-BFE3-2556D1FE5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Concept of Probability 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0802306C-8357-4392-82DD-57513F61078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 Random variables &amp; Distributions</a:t>
                </a:r>
              </a:p>
              <a:p>
                <a:pPr lvl="1"/>
                <a:r>
                  <a:rPr lang="en-US" altLang="ko-KR" dirty="0"/>
                  <a:t> Random variables (RVs, </a:t>
                </a:r>
                <a:r>
                  <a:rPr lang="ko-KR" altLang="en-US" dirty="0"/>
                  <a:t>확률 변수 </a:t>
                </a:r>
                <a:r>
                  <a:rPr lang="en-US" altLang="ko-KR" dirty="0"/>
                  <a:t>= stochastic variable): </a:t>
                </a:r>
                <a:br>
                  <a:rPr lang="en-US" altLang="ko-KR" dirty="0"/>
                </a:br>
                <a:r>
                  <a:rPr lang="en-US" altLang="ko-KR" dirty="0"/>
                  <a:t>function whose value cannot be predicted with certainty</a:t>
                </a:r>
              </a:p>
              <a:p>
                <a:pPr lvl="2"/>
                <a:r>
                  <a:rPr lang="en-US" altLang="ko-KR" dirty="0"/>
                  <a:t>For instance, let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ko-KR" dirty="0"/>
                  <a:t> denote a random variable, </a:t>
                </a:r>
                <a:br>
                  <a:rPr lang="en-US" altLang="ko-KR" dirty="0"/>
                </a:br>
                <a:r>
                  <a:rPr lang="en-US" altLang="ko-KR" dirty="0"/>
                  <a:t>and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ko-KR" dirty="0"/>
                  <a:t> a possible value of the random variable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n-US" altLang="ko-KR" dirty="0"/>
              </a:p>
              <a:p>
                <a:pPr lvl="2"/>
                <a:endParaRPr lang="en-US" altLang="ko-KR" dirty="0"/>
              </a:p>
              <a:p>
                <a:pPr lvl="2"/>
                <a:r>
                  <a:rPr lang="en-US" altLang="ko-KR" dirty="0"/>
                  <a:t>Types of RV: Discrete RV // Continuous RV</a:t>
                </a:r>
              </a:p>
              <a:p>
                <a:pPr lvl="3"/>
                <a:r>
                  <a:rPr lang="en-US" altLang="ko-KR" dirty="0"/>
                  <a:t>Examples? </a:t>
                </a:r>
              </a:p>
              <a:p>
                <a:pPr lvl="4"/>
                <a:r>
                  <a:rPr lang="en-US" altLang="ko-KR" dirty="0"/>
                  <a:t>Coin Toss</a:t>
                </a:r>
              </a:p>
              <a:p>
                <a:pPr lvl="4"/>
                <a:r>
                  <a:rPr lang="en-US" altLang="ko-KR" dirty="0"/>
                  <a:t>Height</a:t>
                </a:r>
              </a:p>
              <a:p>
                <a:pPr lvl="4"/>
                <a:r>
                  <a:rPr lang="en-US" altLang="ko-KR" dirty="0"/>
                  <a:t>Weight</a:t>
                </a:r>
              </a:p>
              <a:p>
                <a:pPr lvl="4"/>
                <a:r>
                  <a:rPr lang="en-US" altLang="ko-KR" dirty="0"/>
                  <a:t>Dice Roll</a:t>
                </a:r>
              </a:p>
              <a:p>
                <a:pPr lvl="4"/>
                <a:endParaRPr lang="en-US" altLang="ko-KR" dirty="0"/>
              </a:p>
              <a:p>
                <a:pPr lvl="2"/>
                <a:endParaRPr lang="en-US" altLang="ko-KR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0802306C-8357-4392-82DD-57513F6107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84354F-E979-4BFB-BF0E-645ACCFE5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9867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DC95347-3047-484E-8AB4-AD23A7838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11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내용 개체 틀 2">
                <a:extLst>
                  <a:ext uri="{FF2B5EF4-FFF2-40B4-BE49-F238E27FC236}">
                    <a16:creationId xmlns:a16="http://schemas.microsoft.com/office/drawing/2014/main" id="{8A52C9E1-F3E6-4054-99E9-B8034C568F1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260648"/>
                <a:ext cx="7886700" cy="5916315"/>
              </a:xfrm>
            </p:spPr>
            <p:txBody>
              <a:bodyPr/>
              <a:lstStyle/>
              <a:p>
                <a:r>
                  <a:rPr lang="en-US" altLang="ko-KR" dirty="0"/>
                  <a:t> If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ko-KR" dirty="0"/>
                  <a:t> is a discrete random variable, 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5" name="내용 개체 틀 2">
                <a:extLst>
                  <a:ext uri="{FF2B5EF4-FFF2-40B4-BE49-F238E27FC236}">
                    <a16:creationId xmlns:a16="http://schemas.microsoft.com/office/drawing/2014/main" id="{8A52C9E1-F3E6-4054-99E9-B8034C568F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260648"/>
                <a:ext cx="7886700" cy="5916315"/>
              </a:xfrm>
              <a:blipFill>
                <a:blip r:embed="rId2"/>
                <a:stretch>
                  <a:fillRect l="-696" t="-10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177116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0EAE80F0-A80E-4E19-94A9-3F6E66AAB8C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260648"/>
                <a:ext cx="7886700" cy="5916315"/>
              </a:xfrm>
            </p:spPr>
            <p:txBody>
              <a:bodyPr/>
              <a:lstStyle/>
              <a:p>
                <a:r>
                  <a:rPr lang="en-US" altLang="ko-KR" dirty="0"/>
                  <a:t> If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ko-KR" dirty="0"/>
                  <a:t> is a continuous random variable, 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0EAE80F0-A80E-4E19-94A9-3F6E66AAB8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260648"/>
                <a:ext cx="7886700" cy="5916315"/>
              </a:xfrm>
              <a:blipFill>
                <a:blip r:embed="rId2"/>
                <a:stretch>
                  <a:fillRect l="-696" t="-10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8B64744-49AB-4C9D-87C7-BE163C5D8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73183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51B8924-A62B-4223-91CA-A42EAE30F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13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내용 개체 틀 2">
                <a:extLst>
                  <a:ext uri="{FF2B5EF4-FFF2-40B4-BE49-F238E27FC236}">
                    <a16:creationId xmlns:a16="http://schemas.microsoft.com/office/drawing/2014/main" id="{1EA38CCF-FF3F-42FD-868A-8AEBA02B650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260648"/>
                <a:ext cx="7886700" cy="5916315"/>
              </a:xfrm>
            </p:spPr>
            <p:txBody>
              <a:bodyPr/>
              <a:lstStyle/>
              <a:p>
                <a:r>
                  <a:rPr lang="en-US" altLang="ko-KR" dirty="0"/>
                  <a:t> In case of joint probability distribution of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ko-KR" dirty="0"/>
                  <a:t> and </a:t>
                </a:r>
                <a14:m>
                  <m:oMath xmlns:m="http://schemas.openxmlformats.org/officeDocument/2006/math"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altLang="ko-KR" dirty="0"/>
                  <a:t>,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5" name="내용 개체 틀 2">
                <a:extLst>
                  <a:ext uri="{FF2B5EF4-FFF2-40B4-BE49-F238E27FC236}">
                    <a16:creationId xmlns:a16="http://schemas.microsoft.com/office/drawing/2014/main" id="{1EA38CCF-FF3F-42FD-868A-8AEBA02B65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260648"/>
                <a:ext cx="7886700" cy="5916315"/>
              </a:xfrm>
              <a:blipFill>
                <a:blip r:embed="rId2"/>
                <a:stretch>
                  <a:fillRect l="-696" t="-10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92812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A14E8B-310B-4C74-B14F-D71820EBC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Review on the Probability Concepts 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23D6EECA-1580-4991-B0B4-CA0C463CEF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724450" y="1268413"/>
            <a:ext cx="5695100" cy="4908550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865BF81-32B3-4CA6-A829-3172FC3D9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96021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969CA1-96E4-4175-B31F-5591462A5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15</a:t>
            </a:fld>
            <a:endParaRPr lang="ko-KR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FD6A4E-0A56-4A55-ACED-91B2A908AF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538" r="78770"/>
          <a:stretch>
            <a:fillRect/>
          </a:stretch>
        </p:blipFill>
        <p:spPr bwMode="auto">
          <a:xfrm>
            <a:off x="632495" y="330696"/>
            <a:ext cx="1676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833A0CA-1E88-480F-9652-8B6CC93FEA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847"/>
          <a:stretch>
            <a:fillRect/>
          </a:stretch>
        </p:blipFill>
        <p:spPr bwMode="auto">
          <a:xfrm>
            <a:off x="632495" y="1245096"/>
            <a:ext cx="1676400" cy="3030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80455BA4-17E1-41AD-9C49-1255232FF6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769" t="81538"/>
          <a:stretch>
            <a:fillRect/>
          </a:stretch>
        </p:blipFill>
        <p:spPr bwMode="auto">
          <a:xfrm>
            <a:off x="2585120" y="330696"/>
            <a:ext cx="1676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B4862121-96BE-40B3-AD82-046480E2A7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487"/>
          <a:stretch>
            <a:fillRect/>
          </a:stretch>
        </p:blipFill>
        <p:spPr bwMode="auto">
          <a:xfrm>
            <a:off x="2508920" y="1245096"/>
            <a:ext cx="1704975" cy="3030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2">
            <a:extLst>
              <a:ext uri="{FF2B5EF4-FFF2-40B4-BE49-F238E27FC236}">
                <a16:creationId xmlns:a16="http://schemas.microsoft.com/office/drawing/2014/main" id="{A4047F10-A6D9-4ADA-8BE0-E8EFCD50CF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695" b="10628"/>
          <a:stretch>
            <a:fillRect/>
          </a:stretch>
        </p:blipFill>
        <p:spPr bwMode="auto">
          <a:xfrm>
            <a:off x="2051720" y="4293096"/>
            <a:ext cx="2743200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13">
            <a:extLst>
              <a:ext uri="{FF2B5EF4-FFF2-40B4-BE49-F238E27FC236}">
                <a16:creationId xmlns:a16="http://schemas.microsoft.com/office/drawing/2014/main" id="{C883FBD0-02E5-4DE2-ADCE-AB342AC95E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1740" b="18076"/>
          <a:stretch>
            <a:fillRect/>
          </a:stretch>
        </p:blipFill>
        <p:spPr bwMode="auto">
          <a:xfrm>
            <a:off x="603920" y="4293096"/>
            <a:ext cx="1600200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Line 11">
            <a:extLst>
              <a:ext uri="{FF2B5EF4-FFF2-40B4-BE49-F238E27FC236}">
                <a16:creationId xmlns:a16="http://schemas.microsoft.com/office/drawing/2014/main" id="{EEB2E37E-1B3B-4A02-B595-71CE81B2A5ED}"/>
              </a:ext>
            </a:extLst>
          </p:cNvPr>
          <p:cNvSpPr>
            <a:spLocks noChangeShapeType="1"/>
          </p:cNvSpPr>
          <p:nvPr/>
        </p:nvSpPr>
        <p:spPr bwMode="auto">
          <a:xfrm>
            <a:off x="4794920" y="1321296"/>
            <a:ext cx="0" cy="5029200"/>
          </a:xfrm>
          <a:prstGeom prst="line">
            <a:avLst/>
          </a:prstGeom>
          <a:noFill/>
          <a:ln w="28575">
            <a:solidFill>
              <a:srgbClr val="3366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14" name="Picture 9">
            <a:extLst>
              <a:ext uri="{FF2B5EF4-FFF2-40B4-BE49-F238E27FC236}">
                <a16:creationId xmlns:a16="http://schemas.microsoft.com/office/drawing/2014/main" id="{D3AFCCC9-87DF-4B11-B0A0-6E6F7AB56B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897" r="80699" b="18462"/>
          <a:stretch>
            <a:fillRect/>
          </a:stretch>
        </p:blipFill>
        <p:spPr bwMode="auto">
          <a:xfrm>
            <a:off x="4981575" y="2057400"/>
            <a:ext cx="1524000" cy="325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10">
            <a:extLst>
              <a:ext uri="{FF2B5EF4-FFF2-40B4-BE49-F238E27FC236}">
                <a16:creationId xmlns:a16="http://schemas.microsoft.com/office/drawing/2014/main" id="{F852D8A6-74E3-49A7-ABB9-B1D4A6E65A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447" t="15897" b="18462"/>
          <a:stretch>
            <a:fillRect/>
          </a:stretch>
        </p:blipFill>
        <p:spPr bwMode="auto">
          <a:xfrm>
            <a:off x="6505575" y="2057400"/>
            <a:ext cx="2333625" cy="325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제목 1">
            <a:extLst>
              <a:ext uri="{FF2B5EF4-FFF2-40B4-BE49-F238E27FC236}">
                <a16:creationId xmlns:a16="http://schemas.microsoft.com/office/drawing/2014/main" id="{C172D7B6-47F8-4383-AB18-3D8CC098C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81575" y="365127"/>
            <a:ext cx="3533774" cy="759618"/>
          </a:xfrm>
        </p:spPr>
        <p:txBody>
          <a:bodyPr/>
          <a:lstStyle/>
          <a:p>
            <a:r>
              <a:rPr lang="en-US" altLang="ko-KR" dirty="0"/>
              <a:t>Summary (2)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393063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A2E96B-AEC2-4863-AF38-6EA937037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Common Distributions in WRSA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DE69FCC-7D84-4AFD-91F8-CEC18E742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16</a:t>
            </a:fld>
            <a:endParaRPr lang="ko-KR" altLang="en-US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F55E09C6-948D-489E-A565-BE6CD549E3C4}"/>
              </a:ext>
            </a:extLst>
          </p:cNvPr>
          <p:cNvGrpSpPr/>
          <p:nvPr/>
        </p:nvGrpSpPr>
        <p:grpSpPr>
          <a:xfrm>
            <a:off x="827584" y="1149085"/>
            <a:ext cx="7848600" cy="5181600"/>
            <a:chOff x="1066800" y="990600"/>
            <a:chExt cx="7848600" cy="5181600"/>
          </a:xfrm>
        </p:grpSpPr>
        <p:pic>
          <p:nvPicPr>
            <p:cNvPr id="14" name="Picture 3">
              <a:extLst>
                <a:ext uri="{FF2B5EF4-FFF2-40B4-BE49-F238E27FC236}">
                  <a16:creationId xmlns:a16="http://schemas.microsoft.com/office/drawing/2014/main" id="{E9553C0E-F257-4A6A-946C-6ECE52CD942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455" t="16969" r="6363" b="6667"/>
            <a:stretch>
              <a:fillRect/>
            </a:stretch>
          </p:blipFill>
          <p:spPr bwMode="auto">
            <a:xfrm>
              <a:off x="1066800" y="1020763"/>
              <a:ext cx="7696200" cy="49990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" name="Rectangle 4">
              <a:extLst>
                <a:ext uri="{FF2B5EF4-FFF2-40B4-BE49-F238E27FC236}">
                  <a16:creationId xmlns:a16="http://schemas.microsoft.com/office/drawing/2014/main" id="{CBB1A08C-AA9E-4C41-AED7-77623A63AA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01000" y="990600"/>
              <a:ext cx="838200" cy="457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" name="Rectangle 5">
              <a:extLst>
                <a:ext uri="{FF2B5EF4-FFF2-40B4-BE49-F238E27FC236}">
                  <a16:creationId xmlns:a16="http://schemas.microsoft.com/office/drawing/2014/main" id="{D0C6F094-A3BB-4E3B-89E0-43BFD0811A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5638800"/>
              <a:ext cx="1295400" cy="457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" name="Rectangle 6">
              <a:extLst>
                <a:ext uri="{FF2B5EF4-FFF2-40B4-BE49-F238E27FC236}">
                  <a16:creationId xmlns:a16="http://schemas.microsoft.com/office/drawing/2014/main" id="{33152BB6-AA79-453E-8313-95AD91B850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3800" y="5638800"/>
              <a:ext cx="2362200" cy="457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" name="Rectangle 7">
              <a:extLst>
                <a:ext uri="{FF2B5EF4-FFF2-40B4-BE49-F238E27FC236}">
                  <a16:creationId xmlns:a16="http://schemas.microsoft.com/office/drawing/2014/main" id="{650165EE-C903-4FD5-95A3-5D9191AA62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43800" y="5715000"/>
              <a:ext cx="1371600" cy="457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55968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0A8AA4-C1EE-4DB5-A330-80373A641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71416"/>
            <a:ext cx="7886700" cy="1191666"/>
          </a:xfrm>
        </p:spPr>
        <p:txBody>
          <a:bodyPr>
            <a:normAutofit/>
          </a:bodyPr>
          <a:lstStyle/>
          <a:p>
            <a:r>
              <a:rPr lang="en-US" altLang="ko-KR" dirty="0"/>
              <a:t>More on the Normal </a:t>
            </a:r>
            <a:br>
              <a:rPr lang="en-US" altLang="ko-KR" dirty="0"/>
            </a:br>
            <a:r>
              <a:rPr lang="en-US" altLang="ko-KR" dirty="0"/>
              <a:t>Distribution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9E1839CE-9368-4E29-BB0F-BB8F515A29C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2517988"/>
                <a:ext cx="7886700" cy="3658975"/>
              </a:xfrm>
            </p:spPr>
            <p:txBody>
              <a:bodyPr>
                <a:normAutofit/>
              </a:bodyPr>
              <a:lstStyle/>
              <a:p>
                <a:r>
                  <a:rPr lang="en-US" altLang="ko-KR" dirty="0"/>
                  <a:t> Most commonly used distribution</a:t>
                </a:r>
              </a:p>
              <a:p>
                <a:r>
                  <a:rPr lang="en-US" altLang="ko-KR" dirty="0"/>
                  <a:t> Many variables in nature are normally distributed</a:t>
                </a:r>
              </a:p>
              <a:p>
                <a:r>
                  <a:rPr lang="en-US" altLang="ko-KR" dirty="0"/>
                  <a:t> Fully described by two parameters: </a:t>
                </a:r>
                <a:br>
                  <a:rPr lang="en-US" altLang="ko-KR" dirty="0"/>
                </a:br>
                <a:r>
                  <a:rPr lang="en-US" altLang="ko-KR" dirty="0">
                    <a:solidFill>
                      <a:schemeClr val="bg1"/>
                    </a:solidFill>
                  </a:rPr>
                  <a:t>mean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ko-KR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lang="en-US" altLang="ko-KR" dirty="0">
                    <a:solidFill>
                      <a:schemeClr val="bg1"/>
                    </a:solidFill>
                  </a:rPr>
                  <a:t>) and standard deviation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ko-KR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lang="en-US" altLang="ko-KR" dirty="0">
                    <a:solidFill>
                      <a:schemeClr val="bg1"/>
                    </a:solidFill>
                  </a:rPr>
                  <a:t>)</a:t>
                </a:r>
              </a:p>
              <a:p>
                <a:r>
                  <a:rPr lang="en-US" altLang="ko-KR" dirty="0"/>
                  <a:t> The mean = the median</a:t>
                </a:r>
              </a:p>
              <a:p>
                <a:r>
                  <a:rPr lang="en-US" altLang="ko-KR" dirty="0"/>
                  <a:t> </a:t>
                </a:r>
                <a:r>
                  <a:rPr lang="en-US" altLang="ko-KR" dirty="0">
                    <a:solidFill>
                      <a:schemeClr val="bg1"/>
                    </a:solidFill>
                  </a:rPr>
                  <a:t>Central Limit Theorem (CLT)– </a:t>
                </a:r>
                <a:br>
                  <a:rPr lang="en-US" altLang="ko-KR" dirty="0"/>
                </a:br>
                <a:r>
                  <a:rPr lang="en-US" altLang="ko-KR" dirty="0"/>
                  <a:t>the sum of a large number of individual random components tends to be a normal distribution</a:t>
                </a:r>
                <a:endParaRPr lang="ko-KR" altLang="en-US" dirty="0"/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9E1839CE-9368-4E29-BB0F-BB8F515A29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2517988"/>
                <a:ext cx="7886700" cy="3658975"/>
              </a:xfrm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E28777-D6CD-4E28-B913-7D759392F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17</a:t>
            </a:fld>
            <a:endParaRPr lang="ko-KR" altLang="en-US"/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E1BCC18F-12CE-4F2F-BA31-26DB8E914C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5288" y="208176"/>
            <a:ext cx="3717925" cy="2309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E19C193-C930-4FD9-914B-3F19034C57C8}"/>
                  </a:ext>
                </a:extLst>
              </p:cNvPr>
              <p:cNvSpPr txBox="1"/>
              <p:nvPr/>
            </p:nvSpPr>
            <p:spPr>
              <a:xfrm>
                <a:off x="1547664" y="1700808"/>
                <a:ext cx="176317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400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ko-K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40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E19C193-C930-4FD9-914B-3F19034C57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7664" y="1700808"/>
                <a:ext cx="1763175" cy="369332"/>
              </a:xfrm>
              <a:prstGeom prst="rect">
                <a:avLst/>
              </a:prstGeom>
              <a:blipFill>
                <a:blip r:embed="rId4"/>
                <a:stretch>
                  <a:fillRect l="-3806" r="-5882" b="-3442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83340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C8EBD71-EFAC-4385-94DA-FAFBC7F7C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18</a:t>
            </a:fld>
            <a:endParaRPr lang="ko-KR" altLang="en-US"/>
          </a:p>
        </p:txBody>
      </p:sp>
      <p:pic>
        <p:nvPicPr>
          <p:cNvPr id="5" name="Picture 4" descr="blood_pressure">
            <a:extLst>
              <a:ext uri="{FF2B5EF4-FFF2-40B4-BE49-F238E27FC236}">
                <a16:creationId xmlns:a16="http://schemas.microsoft.com/office/drawing/2014/main" id="{30EBF13B-05DA-4EA1-9A4D-526E773E0D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8013" y="2709863"/>
            <a:ext cx="4725987" cy="293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5">
            <a:extLst>
              <a:ext uri="{FF2B5EF4-FFF2-40B4-BE49-F238E27FC236}">
                <a16:creationId xmlns:a16="http://schemas.microsoft.com/office/drawing/2014/main" id="{FA8A9348-9AD8-44E7-B0A0-97A340E33F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18238" y="2479675"/>
            <a:ext cx="1930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/>
            <a:r>
              <a:rPr lang="en-US">
                <a:solidFill>
                  <a:srgbClr val="FF0000"/>
                </a:solidFill>
              </a:rPr>
              <a:t>Blood pressure </a:t>
            </a:r>
            <a:r>
              <a:rPr lang="en-US" baseline="30000">
                <a:solidFill>
                  <a:srgbClr val="FF0000"/>
                </a:solidFill>
              </a:rPr>
              <a:t>2</a:t>
            </a:r>
          </a:p>
          <a:p>
            <a:pPr algn="ctr" eaLnBrk="1" hangingPunct="1"/>
            <a:r>
              <a:rPr lang="en-US" sz="1400">
                <a:solidFill>
                  <a:srgbClr val="FF0000"/>
                </a:solidFill>
              </a:rPr>
              <a:t>(1000 patients)</a:t>
            </a:r>
          </a:p>
        </p:txBody>
      </p:sp>
      <p:pic>
        <p:nvPicPr>
          <p:cNvPr id="7" name="Picture 6" descr="leaf_histogram">
            <a:extLst>
              <a:ext uri="{FF2B5EF4-FFF2-40B4-BE49-F238E27FC236}">
                <a16:creationId xmlns:a16="http://schemas.microsoft.com/office/drawing/2014/main" id="{9285AD78-D9FD-432D-B62C-AD4B89FDBF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948"/>
          <a:stretch>
            <a:fillRect/>
          </a:stretch>
        </p:blipFill>
        <p:spPr bwMode="auto">
          <a:xfrm>
            <a:off x="501650" y="2914650"/>
            <a:ext cx="3871913" cy="2559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 Box 7">
            <a:extLst>
              <a:ext uri="{FF2B5EF4-FFF2-40B4-BE49-F238E27FC236}">
                <a16:creationId xmlns:a16="http://schemas.microsoft.com/office/drawing/2014/main" id="{569DE165-983F-4695-9D51-D5F32BF855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2763" y="2481263"/>
            <a:ext cx="158273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/>
            <a:r>
              <a:rPr lang="en-US">
                <a:solidFill>
                  <a:srgbClr val="FF0000"/>
                </a:solidFill>
              </a:rPr>
              <a:t>Leaf lengths</a:t>
            </a:r>
            <a:r>
              <a:rPr lang="en-US" baseline="30000">
                <a:solidFill>
                  <a:srgbClr val="FF0000"/>
                </a:solidFill>
              </a:rPr>
              <a:t>1</a:t>
            </a:r>
          </a:p>
        </p:txBody>
      </p:sp>
      <p:pic>
        <p:nvPicPr>
          <p:cNvPr id="9" name="Picture 8" descr="leaf length">
            <a:extLst>
              <a:ext uri="{FF2B5EF4-FFF2-40B4-BE49-F238E27FC236}">
                <a16:creationId xmlns:a16="http://schemas.microsoft.com/office/drawing/2014/main" id="{A4313986-A8BA-4B39-A4EA-B38B3414BA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1100" y="565150"/>
            <a:ext cx="2525713" cy="1895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 Box 9">
            <a:extLst>
              <a:ext uri="{FF2B5EF4-FFF2-40B4-BE49-F238E27FC236}">
                <a16:creationId xmlns:a16="http://schemas.microsoft.com/office/drawing/2014/main" id="{E9E99844-54F9-442F-B24F-43A3341F81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5425" y="6011863"/>
            <a:ext cx="21558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/>
            <a:r>
              <a:rPr lang="en-US" sz="1200" baseline="30000"/>
              <a:t>1</a:t>
            </a:r>
            <a:r>
              <a:rPr lang="en-US" sz="1200"/>
              <a:t>Oklahoma State University</a:t>
            </a:r>
          </a:p>
        </p:txBody>
      </p:sp>
      <p:sp>
        <p:nvSpPr>
          <p:cNvPr id="11" name="Text Box 10">
            <a:extLst>
              <a:ext uri="{FF2B5EF4-FFF2-40B4-BE49-F238E27FC236}">
                <a16:creationId xmlns:a16="http://schemas.microsoft.com/office/drawing/2014/main" id="{A73DDE8E-8E1A-4759-9055-51A251D883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10313" y="5981700"/>
            <a:ext cx="16478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/>
            <a:r>
              <a:rPr lang="en-US" sz="1200" baseline="30000"/>
              <a:t>2</a:t>
            </a:r>
            <a:r>
              <a:rPr lang="en-US" sz="1200"/>
              <a:t>SurfStat Australia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CB74F93-3B1A-4FA7-8BF7-1DB1AAC739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067944" y="528637"/>
            <a:ext cx="4908550" cy="1798638"/>
          </a:xfrm>
          <a:noFill/>
        </p:spPr>
        <p:txBody>
          <a:bodyPr/>
          <a:lstStyle/>
          <a:p>
            <a:pPr eaLnBrk="1" hangingPunct="1"/>
            <a:r>
              <a:rPr lang="en-US" sz="2400" dirty="0"/>
              <a:t>Many random variables in nature follow a normal distribution  </a:t>
            </a:r>
          </a:p>
        </p:txBody>
      </p:sp>
    </p:spTree>
    <p:extLst>
      <p:ext uri="{BB962C8B-B14F-4D97-AF65-F5344CB8AC3E}">
        <p14:creationId xmlns:p14="http://schemas.microsoft.com/office/powerpoint/2010/main" val="38565287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F33A98-60D3-44D4-B429-E10CEED49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Standard Normal Distribution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056127E-F632-4E8A-A203-3519AC737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19</a:t>
            </a:fld>
            <a:endParaRPr lang="ko-KR" altLang="en-US"/>
          </a:p>
        </p:txBody>
      </p:sp>
      <p:pic>
        <p:nvPicPr>
          <p:cNvPr id="5" name="Picture 6" descr="SND">
            <a:extLst>
              <a:ext uri="{FF2B5EF4-FFF2-40B4-BE49-F238E27FC236}">
                <a16:creationId xmlns:a16="http://schemas.microsoft.com/office/drawing/2014/main" id="{4BEF1ACB-BBDD-4A33-816D-DC5CF68BD4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925" y="1114425"/>
            <a:ext cx="4914900" cy="2433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21">
            <a:extLst>
              <a:ext uri="{FF2B5EF4-FFF2-40B4-BE49-F238E27FC236}">
                <a16:creationId xmlns:a16="http://schemas.microsoft.com/office/drawing/2014/main" id="{635F5640-4C3B-453E-B2E3-C0007BD7B3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2275" y="1587500"/>
            <a:ext cx="3641725" cy="1293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2000" dirty="0">
                <a:solidFill>
                  <a:srgbClr val="FF0000"/>
                </a:solidFill>
              </a:rPr>
              <a:t>A normal distribution with parameters </a:t>
            </a:r>
            <a:r>
              <a:rPr lang="el-GR" sz="2000" dirty="0">
                <a:solidFill>
                  <a:schemeClr val="bg1"/>
                </a:solidFill>
              </a:rPr>
              <a:t>μ</a:t>
            </a:r>
            <a:r>
              <a:rPr lang="en-US" sz="2000" dirty="0">
                <a:solidFill>
                  <a:schemeClr val="bg1"/>
                </a:solidFill>
              </a:rPr>
              <a:t> = 0 and </a:t>
            </a:r>
            <a:r>
              <a:rPr lang="el-GR" sz="2000" dirty="0">
                <a:solidFill>
                  <a:schemeClr val="bg1"/>
                </a:solidFill>
              </a:rPr>
              <a:t>σ</a:t>
            </a:r>
            <a:r>
              <a:rPr lang="en-US" sz="2000" baseline="30000" dirty="0">
                <a:solidFill>
                  <a:schemeClr val="bg1"/>
                </a:solidFill>
              </a:rPr>
              <a:t>2</a:t>
            </a:r>
            <a:r>
              <a:rPr lang="en-US" sz="2000" dirty="0">
                <a:solidFill>
                  <a:schemeClr val="bg1"/>
                </a:solidFill>
              </a:rPr>
              <a:t> = 1 </a:t>
            </a:r>
            <a:br>
              <a:rPr lang="en-US" sz="2000" dirty="0">
                <a:solidFill>
                  <a:srgbClr val="FF0000"/>
                </a:solidFill>
              </a:rPr>
            </a:br>
            <a:r>
              <a:rPr lang="en-US" sz="2000" dirty="0">
                <a:solidFill>
                  <a:srgbClr val="FF0000"/>
                </a:solidFill>
              </a:rPr>
              <a:t>is known as the </a:t>
            </a:r>
            <a:br>
              <a:rPr lang="en-US" sz="2000" dirty="0">
                <a:solidFill>
                  <a:srgbClr val="FF0000"/>
                </a:solidFill>
              </a:rPr>
            </a:br>
            <a:r>
              <a:rPr lang="en-US" sz="2000" i="1" dirty="0">
                <a:solidFill>
                  <a:srgbClr val="FF0000"/>
                </a:solidFill>
              </a:rPr>
              <a:t>standard normal distribution</a:t>
            </a:r>
            <a:endParaRPr lang="el-GR" sz="2000" i="1" dirty="0">
              <a:solidFill>
                <a:srgbClr val="FF0000"/>
              </a:solidFill>
            </a:endParaRP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77C593E6-574F-4703-9B1D-EC62B62B44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3931" y="5053805"/>
            <a:ext cx="3438525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buFont typeface="Wingdings" pitchFamily="2" charset="2"/>
              <a:buChar char="à"/>
            </a:pPr>
            <a:r>
              <a:rPr lang="en-US" sz="2000">
                <a:sym typeface="Wingdings" pitchFamily="2" charset="2"/>
              </a:rPr>
              <a:t>Solved numerically and </a:t>
            </a:r>
          </a:p>
          <a:p>
            <a:pPr algn="ctr" eaLnBrk="1" hangingPunct="1">
              <a:buFont typeface="Wingdings" pitchFamily="2" charset="2"/>
              <a:buNone/>
            </a:pPr>
            <a:r>
              <a:rPr lang="en-US" sz="2000">
                <a:sym typeface="Wingdings" pitchFamily="2" charset="2"/>
              </a:rPr>
              <a:t>results widely tabulated</a:t>
            </a:r>
          </a:p>
          <a:p>
            <a:pPr algn="ctr" eaLnBrk="1" hangingPunct="1">
              <a:buFont typeface="Wingdings" pitchFamily="2" charset="2"/>
              <a:buNone/>
            </a:pPr>
            <a:r>
              <a:rPr lang="el-GR" sz="2000">
                <a:sym typeface="Wingdings" pitchFamily="2" charset="2"/>
              </a:rPr>
              <a:t>Φ</a:t>
            </a:r>
            <a:r>
              <a:rPr lang="en-US" sz="2000">
                <a:sym typeface="Wingdings" pitchFamily="2" charset="2"/>
              </a:rPr>
              <a:t>(z</a:t>
            </a:r>
            <a:r>
              <a:rPr lang="en-US" sz="2000" baseline="-25000">
                <a:sym typeface="Wingdings" pitchFamily="2" charset="2"/>
              </a:rPr>
              <a:t>i</a:t>
            </a:r>
            <a:r>
              <a:rPr lang="en-US" sz="2000">
                <a:sym typeface="Wingdings" pitchFamily="2" charset="2"/>
              </a:rPr>
              <a:t>) = F</a:t>
            </a:r>
            <a:r>
              <a:rPr lang="en-US" sz="2000" baseline="-25000">
                <a:sym typeface="Wingdings" pitchFamily="2" charset="2"/>
              </a:rPr>
              <a:t>Z</a:t>
            </a:r>
            <a:r>
              <a:rPr lang="en-US" sz="2000">
                <a:sym typeface="Wingdings" pitchFamily="2" charset="2"/>
              </a:rPr>
              <a:t>(z</a:t>
            </a:r>
            <a:r>
              <a:rPr lang="en-US" sz="2000" baseline="-25000">
                <a:sym typeface="Wingdings" pitchFamily="2" charset="2"/>
              </a:rPr>
              <a:t>i</a:t>
            </a:r>
            <a:r>
              <a:rPr lang="en-US" sz="2000">
                <a:sym typeface="Wingdings" pitchFamily="2" charset="2"/>
              </a:rPr>
              <a:t>) = P(z &lt; z</a:t>
            </a:r>
            <a:r>
              <a:rPr lang="en-US" sz="2000" baseline="-25000">
                <a:sym typeface="Wingdings" pitchFamily="2" charset="2"/>
              </a:rPr>
              <a:t>i</a:t>
            </a:r>
            <a:r>
              <a:rPr lang="en-US" sz="2000">
                <a:sym typeface="Wingdings" pitchFamily="2" charset="2"/>
              </a:rPr>
              <a:t>)</a:t>
            </a:r>
            <a:endParaRPr lang="el-GR" sz="2000"/>
          </a:p>
        </p:txBody>
      </p:sp>
      <p:graphicFrame>
        <p:nvGraphicFramePr>
          <p:cNvPr id="9" name="Object 19">
            <a:extLst>
              <a:ext uri="{FF2B5EF4-FFF2-40B4-BE49-F238E27FC236}">
                <a16:creationId xmlns:a16="http://schemas.microsoft.com/office/drawing/2014/main" id="{A837A38E-096F-4D81-9789-662DC62640F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6341979"/>
              </p:ext>
            </p:extLst>
          </p:nvPr>
        </p:nvGraphicFramePr>
        <p:xfrm>
          <a:off x="1547094" y="4802980"/>
          <a:ext cx="2428875" cy="998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2" name="Equation" r:id="rId4" imgW="1143000" imgH="469800" progId="Equation.3">
                  <p:embed/>
                </p:oleObj>
              </mc:Choice>
              <mc:Fallback>
                <p:oleObj name="Equation" r:id="rId4" imgW="1143000" imgH="469800" progId="Equation.3">
                  <p:embed/>
                  <p:pic>
                    <p:nvPicPr>
                      <p:cNvPr id="1027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094" y="4802980"/>
                        <a:ext cx="2428875" cy="998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681053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A42352-D937-49D6-A6E0-490F71C83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Transforming into Standard Normal Dist.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0721923-5855-4486-B785-F55E57126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20</a:t>
            </a:fld>
            <a:endParaRPr lang="ko-KR" altLang="en-US"/>
          </a:p>
        </p:txBody>
      </p:sp>
      <p:grpSp>
        <p:nvGrpSpPr>
          <p:cNvPr id="5" name="Group 14">
            <a:extLst>
              <a:ext uri="{FF2B5EF4-FFF2-40B4-BE49-F238E27FC236}">
                <a16:creationId xmlns:a16="http://schemas.microsoft.com/office/drawing/2014/main" id="{DD9E2318-F295-44A3-8D2F-6CB2BD94A2F5}"/>
              </a:ext>
            </a:extLst>
          </p:cNvPr>
          <p:cNvGrpSpPr>
            <a:grpSpLocks/>
          </p:cNvGrpSpPr>
          <p:nvPr/>
        </p:nvGrpSpPr>
        <p:grpSpPr bwMode="auto">
          <a:xfrm>
            <a:off x="179512" y="1298600"/>
            <a:ext cx="8618537" cy="5387975"/>
            <a:chOff x="139" y="761"/>
            <a:chExt cx="5429" cy="3394"/>
          </a:xfrm>
        </p:grpSpPr>
        <p:sp>
          <p:nvSpPr>
            <p:cNvPr id="6" name="Text Box 9">
              <a:extLst>
                <a:ext uri="{FF2B5EF4-FFF2-40B4-BE49-F238E27FC236}">
                  <a16:creationId xmlns:a16="http://schemas.microsoft.com/office/drawing/2014/main" id="{CA34A9C3-794B-454A-9F52-6C5199AD5D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41" y="2301"/>
              <a:ext cx="1527" cy="10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/>
              <a:r>
                <a:rPr lang="en-US" sz="1600" dirty="0"/>
                <a:t>We use this equation to </a:t>
              </a:r>
              <a:r>
                <a:rPr lang="en-US" sz="1600" i="1" dirty="0"/>
                <a:t>normalize x</a:t>
              </a:r>
              <a:r>
                <a:rPr lang="en-US" sz="1600" dirty="0"/>
                <a:t> – in other words to find the value of z such that</a:t>
              </a:r>
            </a:p>
            <a:p>
              <a:pPr eaLnBrk="1" hangingPunct="1"/>
              <a:endParaRPr lang="en-US" sz="1600" dirty="0"/>
            </a:p>
            <a:p>
              <a:pPr algn="ctr" eaLnBrk="1" hangingPunct="1"/>
              <a:r>
                <a:rPr lang="en-US" sz="1600" dirty="0"/>
                <a:t>F</a:t>
              </a:r>
              <a:r>
                <a:rPr lang="en-US" sz="1600" baseline="-25000" dirty="0"/>
                <a:t>X</a:t>
              </a:r>
              <a:r>
                <a:rPr lang="en-US" sz="1600" dirty="0"/>
                <a:t>(x) = F</a:t>
              </a:r>
              <a:r>
                <a:rPr lang="en-US" sz="1600" baseline="-25000" dirty="0"/>
                <a:t>Z</a:t>
              </a:r>
              <a:r>
                <a:rPr lang="en-US" sz="1600" dirty="0"/>
                <a:t>(z)</a:t>
              </a:r>
            </a:p>
          </p:txBody>
        </p:sp>
        <p:pic>
          <p:nvPicPr>
            <p:cNvPr id="7" name="Picture 11" descr="filled">
              <a:extLst>
                <a:ext uri="{FF2B5EF4-FFF2-40B4-BE49-F238E27FC236}">
                  <a16:creationId xmlns:a16="http://schemas.microsoft.com/office/drawing/2014/main" id="{34CC59D1-5F85-47C3-AFDC-6F7402EF2D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9" y="761"/>
              <a:ext cx="3795" cy="33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8" name="Group 16">
            <a:extLst>
              <a:ext uri="{FF2B5EF4-FFF2-40B4-BE49-F238E27FC236}">
                <a16:creationId xmlns:a16="http://schemas.microsoft.com/office/drawing/2014/main" id="{829C71E5-0A1E-400E-9AB2-6697389AE7C0}"/>
              </a:ext>
            </a:extLst>
          </p:cNvPr>
          <p:cNvGrpSpPr>
            <a:grpSpLocks/>
          </p:cNvGrpSpPr>
          <p:nvPr/>
        </p:nvGrpSpPr>
        <p:grpSpPr bwMode="auto">
          <a:xfrm>
            <a:off x="1989262" y="1690712"/>
            <a:ext cx="6997700" cy="1597025"/>
            <a:chOff x="1279" y="1008"/>
            <a:chExt cx="4408" cy="1006"/>
          </a:xfrm>
        </p:grpSpPr>
        <p:grpSp>
          <p:nvGrpSpPr>
            <p:cNvPr id="9" name="Group 15">
              <a:extLst>
                <a:ext uri="{FF2B5EF4-FFF2-40B4-BE49-F238E27FC236}">
                  <a16:creationId xmlns:a16="http://schemas.microsoft.com/office/drawing/2014/main" id="{3B02DBBA-B564-4362-B44E-B3AA04371D2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59" y="1008"/>
              <a:ext cx="1728" cy="1006"/>
              <a:chOff x="3959" y="1008"/>
              <a:chExt cx="1728" cy="1006"/>
            </a:xfrm>
          </p:grpSpPr>
          <p:graphicFrame>
            <p:nvGraphicFramePr>
              <p:cNvPr id="11" name="Object 4">
                <a:extLst>
                  <a:ext uri="{FF2B5EF4-FFF2-40B4-BE49-F238E27FC236}">
                    <a16:creationId xmlns:a16="http://schemas.microsoft.com/office/drawing/2014/main" id="{DA02FF27-832F-40F8-BAF0-104B641F33E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78078268"/>
                  </p:ext>
                </p:extLst>
              </p:nvPr>
            </p:nvGraphicFramePr>
            <p:xfrm>
              <a:off x="4262" y="1090"/>
              <a:ext cx="993" cy="64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253" name="Equation" r:id="rId4" imgW="609480" imgH="393480" progId="Equation.DSMT4">
                      <p:embed/>
                    </p:oleObj>
                  </mc:Choice>
                  <mc:Fallback>
                    <p:oleObj name="Equation" r:id="rId4" imgW="609480" imgH="393480" progId="Equation.DSMT4">
                      <p:embed/>
                      <p:pic>
                        <p:nvPicPr>
                          <p:cNvPr id="2050" name="Object 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262" y="1090"/>
                            <a:ext cx="993" cy="64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2" name="Oval 8">
                <a:extLst>
                  <a:ext uri="{FF2B5EF4-FFF2-40B4-BE49-F238E27FC236}">
                    <a16:creationId xmlns:a16="http://schemas.microsoft.com/office/drawing/2014/main" id="{67C9170D-909E-4474-A168-7320CE0A7D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7" y="1008"/>
                <a:ext cx="1402" cy="768"/>
              </a:xfrm>
              <a:prstGeom prst="ellips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" name="Text Box 10">
                <a:extLst>
                  <a:ext uri="{FF2B5EF4-FFF2-40B4-BE49-F238E27FC236}">
                    <a16:creationId xmlns:a16="http://schemas.microsoft.com/office/drawing/2014/main" id="{DF024B25-E8B7-40DE-9386-D60D17CF05B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59" y="1802"/>
                <a:ext cx="1728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/>
                <a:r>
                  <a:rPr lang="en-US" sz="1600"/>
                  <a:t>“Standard Normal Variate”</a:t>
                </a:r>
              </a:p>
            </p:txBody>
          </p:sp>
        </p:grp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41013C39-AA0C-4F04-BE3E-DDE52E9B486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9" y="1767"/>
              <a:ext cx="2006" cy="193"/>
            </a:xfrm>
            <a:custGeom>
              <a:avLst/>
              <a:gdLst>
                <a:gd name="T0" fmla="*/ 0 w 1920"/>
                <a:gd name="T1" fmla="*/ 0 h 203"/>
                <a:gd name="T2" fmla="*/ 411 w 1920"/>
                <a:gd name="T3" fmla="*/ 127 h 203"/>
                <a:gd name="T4" fmla="*/ 1875 w 1920"/>
                <a:gd name="T5" fmla="*/ 119 h 203"/>
                <a:gd name="T6" fmla="*/ 2006 w 1920"/>
                <a:gd name="T7" fmla="*/ 0 h 20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20"/>
                <a:gd name="T13" fmla="*/ 0 h 203"/>
                <a:gd name="T14" fmla="*/ 1920 w 1920"/>
                <a:gd name="T15" fmla="*/ 203 h 20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20" h="203">
                  <a:moveTo>
                    <a:pt x="0" y="0"/>
                  </a:moveTo>
                  <a:cubicBezTo>
                    <a:pt x="27" y="203"/>
                    <a:pt x="197" y="128"/>
                    <a:pt x="393" y="134"/>
                  </a:cubicBezTo>
                  <a:cubicBezTo>
                    <a:pt x="860" y="131"/>
                    <a:pt x="1328" y="131"/>
                    <a:pt x="1795" y="125"/>
                  </a:cubicBezTo>
                  <a:cubicBezTo>
                    <a:pt x="1856" y="124"/>
                    <a:pt x="1920" y="56"/>
                    <a:pt x="1920" y="0"/>
                  </a:cubicBez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" name="직사각형 2">
            <a:extLst>
              <a:ext uri="{FF2B5EF4-FFF2-40B4-BE49-F238E27FC236}">
                <a16:creationId xmlns:a16="http://schemas.microsoft.com/office/drawing/2014/main" id="{7554AF83-7612-481A-BD12-2B686A9235E8}"/>
              </a:ext>
            </a:extLst>
          </p:cNvPr>
          <p:cNvSpPr/>
          <p:nvPr/>
        </p:nvSpPr>
        <p:spPr>
          <a:xfrm>
            <a:off x="6724775" y="1949514"/>
            <a:ext cx="1576667" cy="8640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334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D13167-5562-47DA-8DBB-33780F915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8263830" cy="759618"/>
          </a:xfrm>
        </p:spPr>
        <p:txBody>
          <a:bodyPr>
            <a:norm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68-95-99.7</a:t>
            </a:r>
            <a:r>
              <a:rPr lang="en-US" altLang="ko-KR" dirty="0"/>
              <a:t> rule for a Normal Distribution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2C30899-D4DF-4B01-81F9-11B8E8629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21</a:t>
            </a:fld>
            <a:endParaRPr lang="ko-KR" altLang="en-US"/>
          </a:p>
        </p:txBody>
      </p:sp>
      <p:pic>
        <p:nvPicPr>
          <p:cNvPr id="8196" name="Picture 4" descr="https://miro.medium.com/max/1400/1*IZ2II2HYKeoMrdLU5jW6Dw.png">
            <a:extLst>
              <a:ext uri="{FF2B5EF4-FFF2-40B4-BE49-F238E27FC236}">
                <a16:creationId xmlns:a16="http://schemas.microsoft.com/office/drawing/2014/main" id="{53E68130-0DB3-45DE-ACA5-0FFC1F7A1A5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" y="1751013"/>
            <a:ext cx="7886700" cy="394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66688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0E0C24-1215-4BEF-9FA1-27EA61F70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Example Problem: Annual Precipitation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C32CA45-2E80-437F-847D-FACB3FD49C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/>
              <a:t>1) Sketch the histogram</a:t>
            </a:r>
          </a:p>
          <a:p>
            <a:pPr marL="0" indent="0">
              <a:buNone/>
            </a:pPr>
            <a:r>
              <a:rPr lang="en-US" altLang="ko-KR" dirty="0"/>
              <a:t>2) Calculate μ and σ</a:t>
            </a:r>
          </a:p>
          <a:p>
            <a:pPr marL="0" indent="0">
              <a:buNone/>
            </a:pPr>
            <a:r>
              <a:rPr lang="en-US" altLang="ko-KR" dirty="0"/>
              <a:t>3) Assume a normal distribution </a:t>
            </a:r>
            <a:br>
              <a:rPr lang="en-US" altLang="ko-KR" dirty="0"/>
            </a:br>
            <a:r>
              <a:rPr lang="en-US" altLang="ko-KR" dirty="0"/>
              <a:t>    – is this reasonable?</a:t>
            </a:r>
          </a:p>
          <a:p>
            <a:pPr marL="0" indent="0">
              <a:buNone/>
            </a:pPr>
            <a:r>
              <a:rPr lang="en-US" altLang="ko-KR" dirty="0"/>
              <a:t>4) What is the probability that </a:t>
            </a:r>
            <a:br>
              <a:rPr lang="en-US" altLang="ko-KR" dirty="0"/>
            </a:br>
            <a:r>
              <a:rPr lang="en-US" altLang="ko-KR" dirty="0"/>
              <a:t>    the annual precipitation </a:t>
            </a:r>
            <a:br>
              <a:rPr lang="en-US" altLang="ko-KR" dirty="0"/>
            </a:br>
            <a:r>
              <a:rPr lang="en-US" altLang="ko-KR" dirty="0"/>
              <a:t>    this year will be greater than </a:t>
            </a:r>
            <a:br>
              <a:rPr lang="en-US" altLang="ko-KR" dirty="0"/>
            </a:br>
            <a:r>
              <a:rPr lang="en-US" altLang="ko-KR" dirty="0"/>
              <a:t>    1100 mm?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9C88F2B-F580-4CA7-BDAA-5A660A111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22</a:t>
            </a:fld>
            <a:endParaRPr lang="ko-KR" altLang="en-US"/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55A72CCE-0323-4FF1-9D58-1174611A39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382" t="15746" r="43587" b="48091"/>
          <a:stretch>
            <a:fillRect/>
          </a:stretch>
        </p:blipFill>
        <p:spPr bwMode="auto">
          <a:xfrm>
            <a:off x="4932040" y="1412776"/>
            <a:ext cx="3490912" cy="2855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150644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9B8311-26D2-4267-B4D6-CA9DB14E0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Example Problem: Annual Precipitation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D9387B9-C493-408B-880D-D84406601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23</a:t>
            </a:fld>
            <a:endParaRPr lang="ko-KR" altLang="en-US"/>
          </a:p>
        </p:txBody>
      </p:sp>
      <p:pic>
        <p:nvPicPr>
          <p:cNvPr id="5" name="Picture 6">
            <a:extLst>
              <a:ext uri="{FF2B5EF4-FFF2-40B4-BE49-F238E27FC236}">
                <a16:creationId xmlns:a16="http://schemas.microsoft.com/office/drawing/2014/main" id="{23F4F23E-4AA0-4A9D-AB40-969305C9EB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50" t="16899" r="5341" b="4449"/>
          <a:stretch>
            <a:fillRect/>
          </a:stretch>
        </p:blipFill>
        <p:spPr bwMode="auto">
          <a:xfrm>
            <a:off x="5292080" y="1302808"/>
            <a:ext cx="3114675" cy="2513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9">
            <a:extLst>
              <a:ext uri="{FF2B5EF4-FFF2-40B4-BE49-F238E27FC236}">
                <a16:creationId xmlns:a16="http://schemas.microsoft.com/office/drawing/2014/main" id="{7EAA64C2-0B7B-49D1-BA97-A37C746D83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69855" y="4177770"/>
            <a:ext cx="31765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/>
            <a:r>
              <a:rPr lang="el-GR" dirty="0">
                <a:solidFill>
                  <a:srgbClr val="FF0000"/>
                </a:solidFill>
              </a:rPr>
              <a:t>μ</a:t>
            </a:r>
            <a:r>
              <a:rPr lang="en-US" dirty="0">
                <a:solidFill>
                  <a:srgbClr val="FF0000"/>
                </a:solidFill>
              </a:rPr>
              <a:t>  = 979.2 mm  </a:t>
            </a:r>
            <a:r>
              <a:rPr lang="el-GR" dirty="0">
                <a:solidFill>
                  <a:srgbClr val="FF0000"/>
                </a:solidFill>
              </a:rPr>
              <a:t>σ</a:t>
            </a:r>
            <a:r>
              <a:rPr lang="en-US" dirty="0">
                <a:solidFill>
                  <a:srgbClr val="FF0000"/>
                </a:solidFill>
              </a:rPr>
              <a:t> = 106.3 mm</a:t>
            </a:r>
          </a:p>
        </p:txBody>
      </p:sp>
      <p:grpSp>
        <p:nvGrpSpPr>
          <p:cNvPr id="7" name="Group 29">
            <a:extLst>
              <a:ext uri="{FF2B5EF4-FFF2-40B4-BE49-F238E27FC236}">
                <a16:creationId xmlns:a16="http://schemas.microsoft.com/office/drawing/2014/main" id="{143A367A-929F-4B7B-9161-83C5AE8CA34B}"/>
              </a:ext>
            </a:extLst>
          </p:cNvPr>
          <p:cNvGrpSpPr>
            <a:grpSpLocks/>
          </p:cNvGrpSpPr>
          <p:nvPr/>
        </p:nvGrpSpPr>
        <p:grpSpPr bwMode="auto">
          <a:xfrm>
            <a:off x="5681018" y="1501245"/>
            <a:ext cx="2393950" cy="2139950"/>
            <a:chOff x="3003" y="990"/>
            <a:chExt cx="1508" cy="1348"/>
          </a:xfrm>
        </p:grpSpPr>
        <p:pic>
          <p:nvPicPr>
            <p:cNvPr id="8" name="Picture 13">
              <a:extLst>
                <a:ext uri="{FF2B5EF4-FFF2-40B4-BE49-F238E27FC236}">
                  <a16:creationId xmlns:a16="http://schemas.microsoft.com/office/drawing/2014/main" id="{E77BA84C-AA95-457D-AE4B-95022B92BB6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21" t="47215" r="43115" b="15521"/>
            <a:stretch>
              <a:fillRect/>
            </a:stretch>
          </p:blipFill>
          <p:spPr bwMode="auto">
            <a:xfrm>
              <a:off x="3003" y="1066"/>
              <a:ext cx="1508" cy="1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Text Box 15">
              <a:extLst>
                <a:ext uri="{FF2B5EF4-FFF2-40B4-BE49-F238E27FC236}">
                  <a16:creationId xmlns:a16="http://schemas.microsoft.com/office/drawing/2014/main" id="{5BC998BC-C9AD-43F7-94F0-72CB5A3A38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00" y="990"/>
              <a:ext cx="93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/>
              <a:r>
                <a:rPr lang="en-US" sz="1400">
                  <a:solidFill>
                    <a:srgbClr val="FF0000"/>
                  </a:solidFill>
                </a:rPr>
                <a:t>N(979.2, 106.3)</a:t>
              </a:r>
            </a:p>
          </p:txBody>
        </p:sp>
      </p:grp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9917B52F-9BC5-4288-BD95-041A09B57F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68413"/>
            <a:ext cx="7886700" cy="4908550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1) Sketch the histogram</a:t>
            </a:r>
          </a:p>
          <a:p>
            <a:pPr marL="0" indent="0">
              <a:buNone/>
            </a:pPr>
            <a:r>
              <a:rPr lang="en-US" altLang="ko-KR" dirty="0"/>
              <a:t>2) Calculate μ and σ</a:t>
            </a:r>
          </a:p>
          <a:p>
            <a:pPr marL="0" indent="0">
              <a:buNone/>
            </a:pPr>
            <a:r>
              <a:rPr lang="en-US" altLang="ko-KR" dirty="0"/>
              <a:t>3) Assume a normal distribution </a:t>
            </a:r>
            <a:br>
              <a:rPr lang="en-US" altLang="ko-KR" dirty="0"/>
            </a:br>
            <a:r>
              <a:rPr lang="en-US" altLang="ko-KR" dirty="0"/>
              <a:t>    – is this reasonable?</a:t>
            </a:r>
          </a:p>
          <a:p>
            <a:pPr marL="0" indent="0">
              <a:buNone/>
            </a:pPr>
            <a:r>
              <a:rPr lang="en-US" altLang="ko-KR" dirty="0"/>
              <a:t>4) What is the probability that </a:t>
            </a:r>
            <a:br>
              <a:rPr lang="en-US" altLang="ko-KR" dirty="0"/>
            </a:br>
            <a:r>
              <a:rPr lang="en-US" altLang="ko-KR" dirty="0"/>
              <a:t>    the annual precipitation </a:t>
            </a:r>
            <a:br>
              <a:rPr lang="en-US" altLang="ko-KR" dirty="0"/>
            </a:br>
            <a:r>
              <a:rPr lang="en-US" altLang="ko-KR" dirty="0"/>
              <a:t>    this year will be greater than </a:t>
            </a:r>
            <a:br>
              <a:rPr lang="en-US" altLang="ko-KR" dirty="0"/>
            </a:br>
            <a:r>
              <a:rPr lang="en-US" altLang="ko-KR" dirty="0"/>
              <a:t>    1100 mm?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53732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EACA5E-B351-4050-830D-AC45B33F8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Example Problem: Annual Precipitation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B805BDC-78CF-447D-B628-A55E4A162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0591DFE4-46DD-4267-B31F-4AAA6A2068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68413"/>
            <a:ext cx="7886700" cy="4908550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4) What is the probability that </a:t>
            </a:r>
            <a:br>
              <a:rPr lang="en-US" altLang="ko-KR" dirty="0"/>
            </a:br>
            <a:r>
              <a:rPr lang="en-US" altLang="ko-KR" dirty="0"/>
              <a:t>    the annual precipitation </a:t>
            </a:r>
            <a:br>
              <a:rPr lang="en-US" altLang="ko-KR" dirty="0"/>
            </a:br>
            <a:r>
              <a:rPr lang="en-US" altLang="ko-KR" dirty="0"/>
              <a:t>    this year will be greater than </a:t>
            </a:r>
            <a:br>
              <a:rPr lang="en-US" altLang="ko-KR" dirty="0"/>
            </a:br>
            <a:r>
              <a:rPr lang="en-US" altLang="ko-KR" dirty="0"/>
              <a:t>    1100 mm?</a:t>
            </a:r>
          </a:p>
          <a:p>
            <a:endParaRPr lang="ko-KR" altLang="en-US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402FE026-B395-42CF-A469-41BC71ACF65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0" b="12161"/>
          <a:stretch/>
        </p:blipFill>
        <p:spPr bwMode="auto">
          <a:xfrm>
            <a:off x="1181364" y="3429000"/>
            <a:ext cx="6781272" cy="2618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648497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B00A81-B82A-4300-BBE2-83003752C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Finally, Conditional Probability P(A|B)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D931B5D-9E7B-45FC-840C-9F6E4A9E7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25</a:t>
            </a:fld>
            <a:endParaRPr lang="ko-KR" altLang="en-US"/>
          </a:p>
        </p:txBody>
      </p:sp>
      <p:pic>
        <p:nvPicPr>
          <p:cNvPr id="8" name="Picture 3">
            <a:extLst>
              <a:ext uri="{FF2B5EF4-FFF2-40B4-BE49-F238E27FC236}">
                <a16:creationId xmlns:a16="http://schemas.microsoft.com/office/drawing/2014/main" id="{7A5437B2-8EE5-4C00-9C91-AFD493ECF3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46" t="16858" r="5746" b="11111"/>
          <a:stretch>
            <a:fillRect/>
          </a:stretch>
        </p:blipFill>
        <p:spPr bwMode="auto">
          <a:xfrm>
            <a:off x="755576" y="1344348"/>
            <a:ext cx="7848600" cy="479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165675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B26069-5B7B-40E2-8F58-3662BC16F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Bayes Theorem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A4DA8B2-AA1D-45A0-8531-361C3CA6C0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The basics</a:t>
            </a:r>
          </a:p>
          <a:p>
            <a:pPr lvl="1"/>
            <a:r>
              <a:rPr lang="en-US" altLang="ko-KR" dirty="0"/>
              <a:t> </a:t>
            </a:r>
            <a:r>
              <a:rPr lang="en-US" altLang="ko-KR" i="1" dirty="0">
                <a:solidFill>
                  <a:schemeClr val="bg1"/>
                </a:solidFill>
              </a:rPr>
              <a:t>a priori</a:t>
            </a:r>
            <a:r>
              <a:rPr lang="en-US" altLang="ko-KR" dirty="0"/>
              <a:t> uncertainty + new information </a:t>
            </a:r>
          </a:p>
          <a:p>
            <a:pPr lvl="2"/>
            <a:r>
              <a:rPr lang="en-US" altLang="ko-KR" dirty="0"/>
              <a:t>Yields revised assessment of uncertainty</a:t>
            </a:r>
          </a:p>
          <a:p>
            <a:pPr lvl="2"/>
            <a:r>
              <a:rPr lang="en-US" altLang="ko-KR" dirty="0"/>
              <a:t>Multiple observations—use repetitions of Bayes Theorem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D684F2-AB5F-4E6F-A58C-2E84606D4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26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0C323BD-401D-4237-B2CE-B7087EB65376}"/>
                  </a:ext>
                </a:extLst>
              </p:cNvPr>
              <p:cNvSpPr txBox="1"/>
              <p:nvPr/>
            </p:nvSpPr>
            <p:spPr>
              <a:xfrm>
                <a:off x="423095" y="3139790"/>
                <a:ext cx="8280637" cy="25273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solidFill>
                      <a:srgbClr val="FF0000"/>
                    </a:solidFill>
                  </a:rPr>
                  <a:t>Bayes Theorem</a:t>
                </a:r>
              </a:p>
              <a:p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/>
                      </a:rPr>
                      <m:t>𝑃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𝐸</m:t>
                        </m:r>
                      </m:e>
                      <m:e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𝑂</m:t>
                        </m:r>
                      </m:e>
                    </m:d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/>
                      </a:rPr>
                      <m:t>𝑃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𝐸</m:t>
                        </m:r>
                      </m:e>
                    </m:d>
                    <m:d>
                      <m:dPr>
                        <m:begChr m:val="{"/>
                        <m:endChr m:val="}"/>
                        <m:ctrlP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sz="24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𝑂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𝐸</m:t>
                                </m:r>
                              </m:e>
                            </m:d>
                          </m:num>
                          <m:den>
                            <m:r>
                              <a:rPr lang="en-US" sz="24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sz="24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𝑂</m:t>
                                </m:r>
                              </m:e>
                            </m:d>
                          </m:den>
                        </m:f>
                      </m:e>
                    </m:d>
                  </m:oMath>
                </a14:m>
                <a:endParaRPr lang="en-US" sz="2400" b="0" i="1" dirty="0">
                  <a:solidFill>
                    <a:srgbClr val="FF0000"/>
                  </a:solidFill>
                  <a:latin typeface="Cambria Math"/>
                </a:endParaRPr>
              </a:p>
              <a:p>
                <a:r>
                  <a:rPr lang="en-US" sz="2000" b="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𝑃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𝐸</m:t>
                        </m:r>
                      </m:e>
                    </m:d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𝑃𝑟𝑖𝑜𝑟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𝑝𝑟𝑜𝑏𝑎𝑏𝑖𝑙𝑖𝑡𝑦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𝑜𝑓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𝑒𝑣𝑒𝑛𝑡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𝐸</m:t>
                    </m:r>
                  </m:oMath>
                </a14:m>
                <a:endParaRPr lang="en-US" sz="2000" b="0" i="1" dirty="0">
                  <a:solidFill>
                    <a:srgbClr val="FF0000"/>
                  </a:solidFill>
                  <a:latin typeface="Cambria Math"/>
                </a:endParaRPr>
              </a:p>
              <a:p>
                <a:r>
                  <a:rPr lang="en-US" sz="2000" b="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𝑃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𝐸</m:t>
                        </m:r>
                      </m:e>
                      <m:e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𝑂</m:t>
                        </m:r>
                      </m:e>
                    </m:d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𝑃𝑜𝑠𝑡𝑒𝑟𝑖𝑜𝑟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𝑝𝑟𝑜𝑏𝑎𝑏𝑖𝑙𝑖𝑡𝑦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𝑜𝑓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𝑒𝑣𝑒𝑛𝑡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𝐸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𝑔𝑖𝑣𝑒𝑛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𝑜𝑏𝑠𝑒𝑟𝑣𝑎𝑡𝑖𝑜𝑛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𝑂</m:t>
                    </m:r>
                  </m:oMath>
                </a14:m>
                <a:endParaRPr lang="en-US" sz="2000" b="0" i="1" dirty="0">
                  <a:solidFill>
                    <a:srgbClr val="FF0000"/>
                  </a:solidFill>
                  <a:latin typeface="Cambria Math"/>
                </a:endParaRPr>
              </a:p>
              <a:p>
                <a:r>
                  <a:rPr lang="en-US" sz="2000" b="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𝑃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𝑂</m:t>
                        </m:r>
                      </m:e>
                      <m:e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𝐸</m:t>
                        </m:r>
                      </m:e>
                    </m:d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𝑐𝑜𝑛𝑑𝑖𝑡𝑖𝑜𝑛𝑎𝑙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𝑝𝑟𝑜𝑏𝑎𝑏𝑖𝑙𝑡𝑦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𝑜𝑓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𝑡h𝑒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𝑜𝑏𝑠𝑒𝑟𝑣𝑎𝑡𝑖𝑜𝑛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𝑂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𝑎𝑛𝑑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𝑡h𝑒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𝑒𝑣𝑒𝑛𝑡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𝐸</m:t>
                    </m:r>
                  </m:oMath>
                </a14:m>
                <a:endParaRPr lang="en-US" sz="2000" b="0" dirty="0">
                  <a:solidFill>
                    <a:srgbClr val="FF0000"/>
                  </a:solidFill>
                </a:endParaRPr>
              </a:p>
              <a:p>
                <a:r>
                  <a:rPr lang="en-US" sz="2000" b="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𝑃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𝑂</m:t>
                        </m:r>
                      </m:e>
                    </m:d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𝑃𝑟𝑜𝑏𝑎𝑏𝑖𝑙𝑖𝑡𝑦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𝑜𝑓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𝑚𝑎𝑘𝑖𝑛𝑔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𝑜𝑏𝑠𝑒𝑟𝑣𝑎𝑡𝑖𝑜𝑛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𝑂</m:t>
                    </m:r>
                  </m:oMath>
                </a14:m>
                <a:endParaRPr lang="en-US" sz="2000" b="0" dirty="0">
                  <a:solidFill>
                    <a:srgbClr val="FF0000"/>
                  </a:solidFill>
                </a:endParaRPr>
              </a:p>
              <a:p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0C323BD-401D-4237-B2CE-B7087EB653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095" y="3139790"/>
                <a:ext cx="8280637" cy="2527359"/>
              </a:xfrm>
              <a:prstGeom prst="rect">
                <a:avLst/>
              </a:prstGeom>
              <a:blipFill>
                <a:blip r:embed="rId2"/>
                <a:stretch>
                  <a:fillRect l="-1104" t="-192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91997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CFC5F24-EB80-422E-8D26-D5214094D8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60648"/>
            <a:ext cx="7886700" cy="5916315"/>
          </a:xfrm>
        </p:spPr>
        <p:txBody>
          <a:bodyPr>
            <a:normAutofit fontScale="92500" lnSpcReduction="10000"/>
          </a:bodyPr>
          <a:lstStyle/>
          <a:p>
            <a:r>
              <a:rPr lang="en-US" altLang="ko-KR" i="1" dirty="0">
                <a:solidFill>
                  <a:schemeClr val="bg1"/>
                </a:solidFill>
              </a:rPr>
              <a:t>P(E|O)</a:t>
            </a:r>
          </a:p>
          <a:p>
            <a:pPr lvl="1"/>
            <a:r>
              <a:rPr lang="en-US" altLang="ko-KR" dirty="0"/>
              <a:t>Read “probability of event E conditional on O having been observed”</a:t>
            </a:r>
          </a:p>
          <a:p>
            <a:pPr lvl="1"/>
            <a:r>
              <a:rPr lang="en-US" altLang="ko-KR" dirty="0"/>
              <a:t>New information in estimate</a:t>
            </a:r>
          </a:p>
          <a:p>
            <a:r>
              <a:rPr lang="en-US" altLang="ko-KR" i="1" dirty="0">
                <a:solidFill>
                  <a:schemeClr val="bg1"/>
                </a:solidFill>
              </a:rPr>
              <a:t>P(O|E)</a:t>
            </a:r>
          </a:p>
          <a:p>
            <a:pPr lvl="1"/>
            <a:r>
              <a:rPr lang="en-US" altLang="ko-KR" dirty="0"/>
              <a:t>Frequency that observation O is associated with </a:t>
            </a:r>
            <a:br>
              <a:rPr lang="en-US" altLang="ko-KR" dirty="0"/>
            </a:br>
            <a:r>
              <a:rPr lang="en-US" altLang="ko-KR" dirty="0"/>
              <a:t>existence of specific event E</a:t>
            </a:r>
          </a:p>
          <a:p>
            <a:pPr lvl="1"/>
            <a:r>
              <a:rPr lang="en-US" altLang="ko-KR" dirty="0"/>
              <a:t>Ex: probability of observing salt domes when there is oil</a:t>
            </a:r>
          </a:p>
          <a:p>
            <a:r>
              <a:rPr lang="en-US" altLang="ko-KR" i="1" dirty="0">
                <a:solidFill>
                  <a:schemeClr val="bg1"/>
                </a:solidFill>
              </a:rPr>
              <a:t>P(E|O) ≠ P(O|E) </a:t>
            </a:r>
            <a:r>
              <a:rPr lang="en-US" altLang="ko-KR" dirty="0">
                <a:solidFill>
                  <a:schemeClr val="bg1"/>
                </a:solidFill>
              </a:rPr>
              <a:t>these probabilities are not symmetric!</a:t>
            </a:r>
          </a:p>
          <a:p>
            <a:pPr lvl="1"/>
            <a:r>
              <a:rPr lang="en-US" altLang="ko-KR" dirty="0"/>
              <a:t>P(O = male/E = king) = 1.0</a:t>
            </a:r>
          </a:p>
          <a:p>
            <a:pPr lvl="1"/>
            <a:r>
              <a:rPr lang="en-US" altLang="ko-KR" dirty="0"/>
              <a:t>P(E = king/ O = male) is probability of finding a king given the observation an individual is male = ~ 10</a:t>
            </a:r>
            <a:r>
              <a:rPr lang="en-US" altLang="ko-KR" baseline="30000" dirty="0"/>
              <a:t>-9</a:t>
            </a:r>
            <a:endParaRPr lang="en-US" altLang="ko-KR" sz="2200" dirty="0"/>
          </a:p>
          <a:p>
            <a:r>
              <a:rPr lang="en-US" altLang="ko-KR" sz="2200" i="1" dirty="0">
                <a:solidFill>
                  <a:schemeClr val="bg1"/>
                </a:solidFill>
              </a:rPr>
              <a:t>P(O)</a:t>
            </a:r>
          </a:p>
          <a:p>
            <a:pPr lvl="1"/>
            <a:r>
              <a:rPr lang="en-US" altLang="ko-KR" dirty="0"/>
              <a:t>Probability of making a specific observation O considering all ways it can occur</a:t>
            </a:r>
          </a:p>
          <a:p>
            <a:pPr lvl="1"/>
            <a:r>
              <a:rPr lang="en-US" altLang="ko-KR" dirty="0"/>
              <a:t>The probability of making observation O may be associated with all possible events </a:t>
            </a:r>
            <a:r>
              <a:rPr lang="en-US" altLang="ko-KR" i="1" dirty="0" err="1"/>
              <a:t>E</a:t>
            </a:r>
            <a:r>
              <a:rPr lang="en-US" altLang="ko-KR" i="1" baseline="-25000" dirty="0" err="1"/>
              <a:t>i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2366A82-119D-4176-8837-56BD7DC78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6610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B87F07-F4F5-466C-B444-ECE3DF250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Bayes Theorem: Derivation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7A55858-1E44-427A-A007-BE0A5460A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28</a:t>
            </a:fld>
            <a:endParaRPr lang="ko-KR" altLang="en-US"/>
          </a:p>
        </p:txBody>
      </p:sp>
      <p:grpSp>
        <p:nvGrpSpPr>
          <p:cNvPr id="5" name="Group 30">
            <a:extLst>
              <a:ext uri="{FF2B5EF4-FFF2-40B4-BE49-F238E27FC236}">
                <a16:creationId xmlns:a16="http://schemas.microsoft.com/office/drawing/2014/main" id="{12ADEDA0-F7F0-41DD-8C7D-B69C57DA0250}"/>
              </a:ext>
            </a:extLst>
          </p:cNvPr>
          <p:cNvGrpSpPr/>
          <p:nvPr/>
        </p:nvGrpSpPr>
        <p:grpSpPr>
          <a:xfrm>
            <a:off x="4427984" y="1463075"/>
            <a:ext cx="3882190" cy="1488740"/>
            <a:chOff x="2141621" y="1203158"/>
            <a:chExt cx="3882190" cy="1488740"/>
          </a:xfrm>
        </p:grpSpPr>
        <p:grpSp>
          <p:nvGrpSpPr>
            <p:cNvPr id="6" name="Group 29">
              <a:extLst>
                <a:ext uri="{FF2B5EF4-FFF2-40B4-BE49-F238E27FC236}">
                  <a16:creationId xmlns:a16="http://schemas.microsoft.com/office/drawing/2014/main" id="{BA956B24-E036-4915-BBDA-8603CE308E87}"/>
                </a:ext>
              </a:extLst>
            </p:cNvPr>
            <p:cNvGrpSpPr/>
            <p:nvPr/>
          </p:nvGrpSpPr>
          <p:grpSpPr>
            <a:xfrm>
              <a:off x="2141621" y="1203158"/>
              <a:ext cx="3882190" cy="1488740"/>
              <a:chOff x="2141621" y="1203158"/>
              <a:chExt cx="3882190" cy="1488740"/>
            </a:xfrm>
          </p:grpSpPr>
          <p:sp>
            <p:nvSpPr>
              <p:cNvPr id="8" name="Rectangle 14">
                <a:extLst>
                  <a:ext uri="{FF2B5EF4-FFF2-40B4-BE49-F238E27FC236}">
                    <a16:creationId xmlns:a16="http://schemas.microsoft.com/office/drawing/2014/main" id="{D7AE9872-37CA-4560-AAF6-AC57BF03F16D}"/>
                  </a:ext>
                </a:extLst>
              </p:cNvPr>
              <p:cNvSpPr/>
              <p:nvPr/>
            </p:nvSpPr>
            <p:spPr>
              <a:xfrm>
                <a:off x="2141621" y="1203158"/>
                <a:ext cx="3882190" cy="1483894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Oval 15">
                <a:extLst>
                  <a:ext uri="{FF2B5EF4-FFF2-40B4-BE49-F238E27FC236}">
                    <a16:creationId xmlns:a16="http://schemas.microsoft.com/office/drawing/2014/main" id="{CD160878-3285-472B-BD23-001779EB3F75}"/>
                  </a:ext>
                </a:extLst>
              </p:cNvPr>
              <p:cNvSpPr/>
              <p:nvPr/>
            </p:nvSpPr>
            <p:spPr>
              <a:xfrm>
                <a:off x="2382253" y="1347537"/>
                <a:ext cx="1925052" cy="1074822"/>
              </a:xfrm>
              <a:prstGeom prst="ellipse">
                <a:avLst/>
              </a:prstGeom>
              <a:solidFill>
                <a:srgbClr val="3366FF">
                  <a:alpha val="79000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Oval 16">
                <a:extLst>
                  <a:ext uri="{FF2B5EF4-FFF2-40B4-BE49-F238E27FC236}">
                    <a16:creationId xmlns:a16="http://schemas.microsoft.com/office/drawing/2014/main" id="{B298AD23-9E7D-4AE4-AE06-33562FFD6789}"/>
                  </a:ext>
                </a:extLst>
              </p:cNvPr>
              <p:cNvSpPr/>
              <p:nvPr/>
            </p:nvSpPr>
            <p:spPr>
              <a:xfrm>
                <a:off x="4010527" y="1451811"/>
                <a:ext cx="1507958" cy="818147"/>
              </a:xfrm>
              <a:prstGeom prst="ellipse">
                <a:avLst/>
              </a:prstGeom>
              <a:solidFill>
                <a:schemeClr val="accent1">
                  <a:alpha val="74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Rectangle 17">
                    <a:extLst>
                      <a:ext uri="{FF2B5EF4-FFF2-40B4-BE49-F238E27FC236}">
                        <a16:creationId xmlns:a16="http://schemas.microsoft.com/office/drawing/2014/main" id="{8C894D19-628E-4EE6-A08A-1F3AF8237A82}"/>
                      </a:ext>
                    </a:extLst>
                  </p:cNvPr>
                  <p:cNvSpPr/>
                  <p:nvPr/>
                </p:nvSpPr>
                <p:spPr>
                  <a:xfrm>
                    <a:off x="3061424" y="1699628"/>
                    <a:ext cx="378629" cy="338554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/>
                            </a:rPr>
                            <m:t>𝐸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8" name="Rectangle 17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061424" y="1699628"/>
                    <a:ext cx="378629" cy="338554"/>
                  </a:xfrm>
                  <a:prstGeom prst="rect">
                    <a:avLst/>
                  </a:prstGeom>
                  <a:blipFill rotWithShape="1"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Rectangle 18">
                    <a:extLst>
                      <a:ext uri="{FF2B5EF4-FFF2-40B4-BE49-F238E27FC236}">
                        <a16:creationId xmlns:a16="http://schemas.microsoft.com/office/drawing/2014/main" id="{9D9EDAEB-DC8D-4CCE-85C0-40119F116029}"/>
                      </a:ext>
                    </a:extLst>
                  </p:cNvPr>
                  <p:cNvSpPr/>
                  <p:nvPr/>
                </p:nvSpPr>
                <p:spPr>
                  <a:xfrm>
                    <a:off x="4601465" y="1699628"/>
                    <a:ext cx="386836" cy="338554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/>
                            </a:rPr>
                            <m:t>𝑂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9" name="Rectangle 18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01465" y="1699628"/>
                    <a:ext cx="386836" cy="338554"/>
                  </a:xfrm>
                  <a:prstGeom prst="rect">
                    <a:avLst/>
                  </a:prstGeom>
                  <a:blipFill rotWithShape="1"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Rectangle 19">
                    <a:extLst>
                      <a:ext uri="{FF2B5EF4-FFF2-40B4-BE49-F238E27FC236}">
                        <a16:creationId xmlns:a16="http://schemas.microsoft.com/office/drawing/2014/main" id="{A0DC5D04-B42E-4E20-B994-39B0309420B2}"/>
                      </a:ext>
                    </a:extLst>
                  </p:cNvPr>
                  <p:cNvSpPr/>
                  <p:nvPr/>
                </p:nvSpPr>
                <p:spPr>
                  <a:xfrm>
                    <a:off x="4273112" y="2353344"/>
                    <a:ext cx="924036" cy="338554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𝐸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∩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𝑂</m:t>
                              </m:r>
                            </m:e>
                          </m:d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0" name="Rectangle 19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273112" y="2353344"/>
                    <a:ext cx="924036" cy="338554"/>
                  </a:xfrm>
                  <a:prstGeom prst="rect">
                    <a:avLst/>
                  </a:prstGeom>
                  <a:blipFill rotWithShape="1"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Rectangle 25">
                    <a:extLst>
                      <a:ext uri="{FF2B5EF4-FFF2-40B4-BE49-F238E27FC236}">
                        <a16:creationId xmlns:a16="http://schemas.microsoft.com/office/drawing/2014/main" id="{B44A5388-32EF-454D-B981-D96D3DC33D8C}"/>
                      </a:ext>
                    </a:extLst>
                  </p:cNvPr>
                  <p:cNvSpPr/>
                  <p:nvPr/>
                </p:nvSpPr>
                <p:spPr>
                  <a:xfrm>
                    <a:off x="2163576" y="1222375"/>
                    <a:ext cx="381836" cy="338554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/>
                            </a:rPr>
                            <m:t>Ω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6" name="Rectangle 25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63576" y="1222375"/>
                    <a:ext cx="381836" cy="338554"/>
                  </a:xfrm>
                  <a:prstGeom prst="rect">
                    <a:avLst/>
                  </a:prstGeom>
                  <a:blipFill rotWithShape="1"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7" name="Straight Arrow Connector 21">
              <a:extLst>
                <a:ext uri="{FF2B5EF4-FFF2-40B4-BE49-F238E27FC236}">
                  <a16:creationId xmlns:a16="http://schemas.microsoft.com/office/drawing/2014/main" id="{AD3156E1-5AD4-421F-A06C-EEAD5BDCF4BE}"/>
                </a:ext>
              </a:extLst>
            </p:cNvPr>
            <p:cNvCxnSpPr/>
            <p:nvPr/>
          </p:nvCxnSpPr>
          <p:spPr>
            <a:xfrm flipH="1" flipV="1">
              <a:off x="4170947" y="1941097"/>
              <a:ext cx="224590" cy="457198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6">
                <a:extLst>
                  <a:ext uri="{FF2B5EF4-FFF2-40B4-BE49-F238E27FC236}">
                    <a16:creationId xmlns:a16="http://schemas.microsoft.com/office/drawing/2014/main" id="{E04C9A3F-5DEC-42DC-AC4E-4A20B4D386E6}"/>
                  </a:ext>
                </a:extLst>
              </p:cNvPr>
              <p:cNvSpPr/>
              <p:nvPr/>
            </p:nvSpPr>
            <p:spPr>
              <a:xfrm>
                <a:off x="3614807" y="3145700"/>
                <a:ext cx="1961178" cy="60503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𝐸</m:t>
                          </m:r>
                        </m:e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𝑂</m:t>
                          </m:r>
                        </m:e>
                      </m:d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𝐸</m:t>
                              </m:r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∩</m:t>
                              </m:r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𝑂</m:t>
                              </m:r>
                            </m:e>
                          </m:d>
                        </m:num>
                        <m:den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𝑂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" name="Rectangle 6">
                <a:extLst>
                  <a:ext uri="{FF2B5EF4-FFF2-40B4-BE49-F238E27FC236}">
                    <a16:creationId xmlns:a16="http://schemas.microsoft.com/office/drawing/2014/main" id="{E04C9A3F-5DEC-42DC-AC4E-4A20B4D386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4807" y="3145700"/>
                <a:ext cx="1961178" cy="605037"/>
              </a:xfrm>
              <a:prstGeom prst="rect">
                <a:avLst/>
              </a:prstGeom>
              <a:blipFill>
                <a:blip r:embed="rId12"/>
                <a:stretch>
                  <a:fillRect r="-2484" b="-303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7">
                <a:extLst>
                  <a:ext uri="{FF2B5EF4-FFF2-40B4-BE49-F238E27FC236}">
                    <a16:creationId xmlns:a16="http://schemas.microsoft.com/office/drawing/2014/main" id="{2C2AB659-1841-486C-BF2E-4B67668FE045}"/>
                  </a:ext>
                </a:extLst>
              </p:cNvPr>
              <p:cNvSpPr/>
              <p:nvPr/>
            </p:nvSpPr>
            <p:spPr>
              <a:xfrm>
                <a:off x="3534595" y="3915720"/>
                <a:ext cx="1961178" cy="60503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𝑂</m:t>
                          </m:r>
                        </m:e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𝐸</m:t>
                          </m:r>
                        </m:e>
                      </m:d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𝐸</m:t>
                              </m:r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∩</m:t>
                              </m:r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𝑂</m:t>
                              </m:r>
                            </m:e>
                          </m:d>
                        </m:num>
                        <m:den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𝐸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Rectangle 7">
                <a:extLst>
                  <a:ext uri="{FF2B5EF4-FFF2-40B4-BE49-F238E27FC236}">
                    <a16:creationId xmlns:a16="http://schemas.microsoft.com/office/drawing/2014/main" id="{2C2AB659-1841-486C-BF2E-4B67668FE04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4595" y="3915720"/>
                <a:ext cx="1961178" cy="605037"/>
              </a:xfrm>
              <a:prstGeom prst="rect">
                <a:avLst/>
              </a:prstGeom>
              <a:blipFill>
                <a:blip r:embed="rId13"/>
                <a:stretch>
                  <a:fillRect r="-2484" b="-3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8">
                <a:extLst>
                  <a:ext uri="{FF2B5EF4-FFF2-40B4-BE49-F238E27FC236}">
                    <a16:creationId xmlns:a16="http://schemas.microsoft.com/office/drawing/2014/main" id="{930C967C-494A-4E67-8632-6807B897198D}"/>
                  </a:ext>
                </a:extLst>
              </p:cNvPr>
              <p:cNvSpPr/>
              <p:nvPr/>
            </p:nvSpPr>
            <p:spPr>
              <a:xfrm>
                <a:off x="2722434" y="4859087"/>
                <a:ext cx="3756926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𝐸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∩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𝑂</m:t>
                          </m:r>
                        </m:e>
                      </m:d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𝐸</m:t>
                          </m:r>
                        </m:e>
                      </m:d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𝑂</m:t>
                          </m:r>
                        </m:e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𝐸</m:t>
                          </m:r>
                        </m:e>
                      </m:d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𝑂</m:t>
                          </m:r>
                        </m:e>
                      </m:d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𝐸</m:t>
                          </m:r>
                        </m:e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𝑂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Rectangle 8">
                <a:extLst>
                  <a:ext uri="{FF2B5EF4-FFF2-40B4-BE49-F238E27FC236}">
                    <a16:creationId xmlns:a16="http://schemas.microsoft.com/office/drawing/2014/main" id="{930C967C-494A-4E67-8632-6807B89719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2434" y="4859087"/>
                <a:ext cx="3756926" cy="338554"/>
              </a:xfrm>
              <a:prstGeom prst="rect">
                <a:avLst/>
              </a:prstGeom>
              <a:blipFill>
                <a:blip r:embed="rId14"/>
                <a:stretch>
                  <a:fillRect r="-665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9">
                <a:extLst>
                  <a:ext uri="{FF2B5EF4-FFF2-40B4-BE49-F238E27FC236}">
                    <a16:creationId xmlns:a16="http://schemas.microsoft.com/office/drawing/2014/main" id="{D0FA79DC-B029-4A22-BBAB-4D1C2BE4F319}"/>
                  </a:ext>
                </a:extLst>
              </p:cNvPr>
              <p:cNvSpPr/>
              <p:nvPr/>
            </p:nvSpPr>
            <p:spPr>
              <a:xfrm>
                <a:off x="3347899" y="5519931"/>
                <a:ext cx="2265364" cy="61100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𝐸</m:t>
                          </m:r>
                        </m:e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𝑂</m:t>
                          </m:r>
                        </m:e>
                      </m:d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𝐸</m:t>
                              </m:r>
                            </m:e>
                          </m:d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𝑂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𝐸</m:t>
                              </m:r>
                            </m:e>
                          </m:d>
                        </m:num>
                        <m:den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𝑂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Rectangle 9">
                <a:extLst>
                  <a:ext uri="{FF2B5EF4-FFF2-40B4-BE49-F238E27FC236}">
                    <a16:creationId xmlns:a16="http://schemas.microsoft.com/office/drawing/2014/main" id="{D0FA79DC-B029-4A22-BBAB-4D1C2BE4F3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7899" y="5519931"/>
                <a:ext cx="2265364" cy="611001"/>
              </a:xfrm>
              <a:prstGeom prst="rect">
                <a:avLst/>
              </a:prstGeom>
              <a:blipFill>
                <a:blip r:embed="rId15"/>
                <a:stretch>
                  <a:fillRect r="-2419" b="-2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0">
            <a:extLst>
              <a:ext uri="{FF2B5EF4-FFF2-40B4-BE49-F238E27FC236}">
                <a16:creationId xmlns:a16="http://schemas.microsoft.com/office/drawing/2014/main" id="{E155A49F-DFFD-4FC9-BADB-53A6355DCBE0}"/>
              </a:ext>
            </a:extLst>
          </p:cNvPr>
          <p:cNvSpPr/>
          <p:nvPr/>
        </p:nvSpPr>
        <p:spPr>
          <a:xfrm>
            <a:off x="559774" y="2765592"/>
            <a:ext cx="345075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According to conditional probability, </a:t>
            </a:r>
          </a:p>
        </p:txBody>
      </p:sp>
      <p:sp>
        <p:nvSpPr>
          <p:cNvPr id="20" name="Rectangle 11">
            <a:extLst>
              <a:ext uri="{FF2B5EF4-FFF2-40B4-BE49-F238E27FC236}">
                <a16:creationId xmlns:a16="http://schemas.microsoft.com/office/drawing/2014/main" id="{578262BC-6859-4B05-AFA6-820D805D5C1B}"/>
              </a:ext>
            </a:extLst>
          </p:cNvPr>
          <p:cNvSpPr/>
          <p:nvPr/>
        </p:nvSpPr>
        <p:spPr>
          <a:xfrm>
            <a:off x="567795" y="3760203"/>
            <a:ext cx="52610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and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12">
                <a:extLst>
                  <a:ext uri="{FF2B5EF4-FFF2-40B4-BE49-F238E27FC236}">
                    <a16:creationId xmlns:a16="http://schemas.microsoft.com/office/drawing/2014/main" id="{E1A8D4C3-AABA-4B2B-85E9-BC90DD116C86}"/>
                  </a:ext>
                </a:extLst>
              </p:cNvPr>
              <p:cNvSpPr/>
              <p:nvPr/>
            </p:nvSpPr>
            <p:spPr>
              <a:xfrm>
                <a:off x="567795" y="4530224"/>
                <a:ext cx="3935886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/>
                  <a:t>Solving for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r>
                  <a:rPr lang="en-US" dirty="0"/>
                  <a:t>, the common factor: </a:t>
                </a:r>
              </a:p>
            </p:txBody>
          </p:sp>
        </mc:Choice>
        <mc:Fallback xmlns="">
          <p:sp>
            <p:nvSpPr>
              <p:cNvPr id="21" name="Rectangle 12">
                <a:extLst>
                  <a:ext uri="{FF2B5EF4-FFF2-40B4-BE49-F238E27FC236}">
                    <a16:creationId xmlns:a16="http://schemas.microsoft.com/office/drawing/2014/main" id="{E1A8D4C3-AABA-4B2B-85E9-BC90DD116C8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795" y="4530224"/>
                <a:ext cx="3935886" cy="338554"/>
              </a:xfrm>
              <a:prstGeom prst="rect">
                <a:avLst/>
              </a:prstGeom>
              <a:blipFill>
                <a:blip r:embed="rId16"/>
                <a:stretch>
                  <a:fillRect l="-1238" t="-8929" r="-6037" b="-3571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13">
                <a:extLst>
                  <a:ext uri="{FF2B5EF4-FFF2-40B4-BE49-F238E27FC236}">
                    <a16:creationId xmlns:a16="http://schemas.microsoft.com/office/drawing/2014/main" id="{DAAAF1FF-4203-4F77-B333-17DF04CC3DB9}"/>
                  </a:ext>
                </a:extLst>
              </p:cNvPr>
              <p:cNvSpPr/>
              <p:nvPr/>
            </p:nvSpPr>
            <p:spPr>
              <a:xfrm>
                <a:off x="567795" y="5236077"/>
                <a:ext cx="2702599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/>
                  <a:t>Rearranging to give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r>
                  <a:rPr lang="en-US" dirty="0"/>
                  <a:t>:</a:t>
                </a:r>
              </a:p>
            </p:txBody>
          </p:sp>
        </mc:Choice>
        <mc:Fallback xmlns="">
          <p:sp>
            <p:nvSpPr>
              <p:cNvPr id="22" name="Rectangle 13">
                <a:extLst>
                  <a:ext uri="{FF2B5EF4-FFF2-40B4-BE49-F238E27FC236}">
                    <a16:creationId xmlns:a16="http://schemas.microsoft.com/office/drawing/2014/main" id="{DAAAF1FF-4203-4F77-B333-17DF04CC3D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795" y="5236077"/>
                <a:ext cx="2702599" cy="338554"/>
              </a:xfrm>
              <a:prstGeom prst="rect">
                <a:avLst/>
              </a:prstGeom>
              <a:blipFill>
                <a:blip r:embed="rId17"/>
                <a:stretch>
                  <a:fillRect l="-1806" t="-10909" r="-5869" b="-3818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 26">
            <a:extLst>
              <a:ext uri="{FF2B5EF4-FFF2-40B4-BE49-F238E27FC236}">
                <a16:creationId xmlns:a16="http://schemas.microsoft.com/office/drawing/2014/main" id="{487AE2C1-2E4F-4A6D-9C7D-106F6006FA9B}"/>
              </a:ext>
            </a:extLst>
          </p:cNvPr>
          <p:cNvSpPr/>
          <p:nvPr/>
        </p:nvSpPr>
        <p:spPr>
          <a:xfrm>
            <a:off x="5709398" y="3232982"/>
            <a:ext cx="245291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i="1" dirty="0">
                <a:solidFill>
                  <a:srgbClr val="FF0000"/>
                </a:solidFill>
              </a:rPr>
              <a:t>The fraction of ellipse B that </a:t>
            </a:r>
          </a:p>
          <a:p>
            <a:r>
              <a:rPr lang="en-US" sz="1400" i="1" dirty="0">
                <a:solidFill>
                  <a:srgbClr val="FF0000"/>
                </a:solidFill>
              </a:rPr>
              <a:t>overlaps with ellipse A</a:t>
            </a:r>
          </a:p>
        </p:txBody>
      </p:sp>
      <p:sp>
        <p:nvSpPr>
          <p:cNvPr id="24" name="Rectangle 27">
            <a:extLst>
              <a:ext uri="{FF2B5EF4-FFF2-40B4-BE49-F238E27FC236}">
                <a16:creationId xmlns:a16="http://schemas.microsoft.com/office/drawing/2014/main" id="{654DBF92-A5C7-463E-9832-F264B9F532E1}"/>
              </a:ext>
            </a:extLst>
          </p:cNvPr>
          <p:cNvSpPr/>
          <p:nvPr/>
        </p:nvSpPr>
        <p:spPr>
          <a:xfrm>
            <a:off x="5709398" y="3929080"/>
            <a:ext cx="245291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i="1" dirty="0">
                <a:solidFill>
                  <a:srgbClr val="FF0000"/>
                </a:solidFill>
              </a:rPr>
              <a:t>The fraction of ellipse A that </a:t>
            </a:r>
          </a:p>
          <a:p>
            <a:r>
              <a:rPr lang="en-US" sz="1400" i="1" dirty="0">
                <a:solidFill>
                  <a:srgbClr val="FF0000"/>
                </a:solidFill>
              </a:rPr>
              <a:t>overlaps with ellipse B.</a:t>
            </a:r>
          </a:p>
        </p:txBody>
      </p:sp>
      <p:sp>
        <p:nvSpPr>
          <p:cNvPr id="25" name="Rectangle 28">
            <a:extLst>
              <a:ext uri="{FF2B5EF4-FFF2-40B4-BE49-F238E27FC236}">
                <a16:creationId xmlns:a16="http://schemas.microsoft.com/office/drawing/2014/main" id="{9C30ED9F-C56C-4803-A4CD-847ADED6FAEB}"/>
              </a:ext>
            </a:extLst>
          </p:cNvPr>
          <p:cNvSpPr/>
          <p:nvPr/>
        </p:nvSpPr>
        <p:spPr>
          <a:xfrm>
            <a:off x="5990254" y="5574631"/>
            <a:ext cx="307449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Note: one can reverse E and O </a:t>
            </a:r>
          </a:p>
          <a:p>
            <a:r>
              <a:rPr lang="en-US" dirty="0">
                <a:solidFill>
                  <a:srgbClr val="FF0000"/>
                </a:solidFill>
              </a:rPr>
              <a:t>and the solution is still valid</a:t>
            </a:r>
          </a:p>
        </p:txBody>
      </p:sp>
    </p:spTree>
    <p:extLst>
      <p:ext uri="{BB962C8B-B14F-4D97-AF65-F5344CB8AC3E}">
        <p14:creationId xmlns:p14="http://schemas.microsoft.com/office/powerpoint/2010/main" val="755667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C2984E-7E44-4766-9A6F-87860E691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Example Problem: Bayes Theorem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999587-A4DC-4520-9E1E-3FA21D8479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In the United States, approximately 1 in 100 otherwise healthy people has Celiac Disease1. A new diagnostic test, has a 95% reliability, i.e., 95% of people with Celiac test positive, and 95% of people without Celiac test negative. During trials, a randomly selected person tests positive. </a:t>
            </a:r>
          </a:p>
          <a:p>
            <a:pPr marL="457200" lvl="1" indent="0">
              <a:buNone/>
            </a:pPr>
            <a:r>
              <a:rPr lang="en-US" altLang="ko-KR" dirty="0"/>
              <a:t>(a) What is the probability that the person has Celiac Disease? </a:t>
            </a:r>
          </a:p>
          <a:p>
            <a:pPr marL="457200" lvl="1" indent="0">
              <a:buNone/>
            </a:pPr>
            <a:r>
              <a:rPr lang="en-US" altLang="ko-KR" dirty="0"/>
              <a:t>(b) What is the probability that the person doesn’t? 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0E92C8F-6E61-4123-8EFB-605A1209E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11491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E05A24-DF36-4188-BE5D-4337C5CA8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Example Problem: Bayes Theorem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C6CDC07-FEC6-4CCD-B664-5C52E22C2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30</a:t>
            </a:fld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15197D8-8105-4034-9135-8DAB55ADD0DD}"/>
              </a:ext>
            </a:extLst>
          </p:cNvPr>
          <p:cNvSpPr txBox="1"/>
          <p:nvPr/>
        </p:nvSpPr>
        <p:spPr>
          <a:xfrm>
            <a:off x="190414" y="1404247"/>
            <a:ext cx="4363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(a)</a:t>
            </a:r>
          </a:p>
        </p:txBody>
      </p:sp>
      <p:sp>
        <p:nvSpPr>
          <p:cNvPr id="23" name="Oval 16">
            <a:extLst>
              <a:ext uri="{FF2B5EF4-FFF2-40B4-BE49-F238E27FC236}">
                <a16:creationId xmlns:a16="http://schemas.microsoft.com/office/drawing/2014/main" id="{685EE526-7537-46D2-ACAB-AEAACA543F82}"/>
              </a:ext>
            </a:extLst>
          </p:cNvPr>
          <p:cNvSpPr/>
          <p:nvPr/>
        </p:nvSpPr>
        <p:spPr>
          <a:xfrm>
            <a:off x="7239815" y="3946578"/>
            <a:ext cx="230772" cy="241566"/>
          </a:xfrm>
          <a:prstGeom prst="ellipse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4" name="Oval 18">
            <a:extLst>
              <a:ext uri="{FF2B5EF4-FFF2-40B4-BE49-F238E27FC236}">
                <a16:creationId xmlns:a16="http://schemas.microsoft.com/office/drawing/2014/main" id="{F08357AA-AB4E-487C-B3DA-DDCC13D87FE3}"/>
              </a:ext>
            </a:extLst>
          </p:cNvPr>
          <p:cNvSpPr/>
          <p:nvPr/>
        </p:nvSpPr>
        <p:spPr>
          <a:xfrm>
            <a:off x="6891326" y="3579652"/>
            <a:ext cx="612648" cy="608492"/>
          </a:xfrm>
          <a:prstGeom prst="ellipse">
            <a:avLst/>
          </a:prstGeom>
          <a:solidFill>
            <a:srgbClr val="88A945">
              <a:alpha val="7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Oval 19">
            <a:extLst>
              <a:ext uri="{FF2B5EF4-FFF2-40B4-BE49-F238E27FC236}">
                <a16:creationId xmlns:a16="http://schemas.microsoft.com/office/drawing/2014/main" id="{85D31A5C-C2D4-4B61-9C82-6BBA45E4FD98}"/>
              </a:ext>
            </a:extLst>
          </p:cNvPr>
          <p:cNvSpPr/>
          <p:nvPr/>
        </p:nvSpPr>
        <p:spPr>
          <a:xfrm>
            <a:off x="5314826" y="2252135"/>
            <a:ext cx="3753678" cy="373728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FBE6577-FEC6-42CB-80F9-0866149F482A}"/>
              </a:ext>
            </a:extLst>
          </p:cNvPr>
          <p:cNvSpPr txBox="1"/>
          <p:nvPr/>
        </p:nvSpPr>
        <p:spPr>
          <a:xfrm>
            <a:off x="6463008" y="2348217"/>
            <a:ext cx="15624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Population = 100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20EB3E3-DB7B-4F39-B125-A672B5F616C1}"/>
                  </a:ext>
                </a:extLst>
              </p:cNvPr>
              <p:cNvSpPr txBox="1"/>
              <p:nvPr/>
            </p:nvSpPr>
            <p:spPr>
              <a:xfrm>
                <a:off x="5510508" y="3310574"/>
                <a:ext cx="1905000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P</a:t>
                </a:r>
                <a:r>
                  <a:rPr lang="en-GB" sz="1400" dirty="0">
                    <a:solidFill>
                      <a:schemeClr val="tx1"/>
                    </a:solidFill>
                  </a:rPr>
                  <a:t>ositive test result </a:t>
                </a:r>
                <a14:m>
                  <m:oMath xmlns:m="http://schemas.openxmlformats.org/officeDocument/2006/math">
                    <m:r>
                      <a:rPr lang="en-US" sz="1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𝑃𝑜𝑠𝑖𝑡𝑖𝑣𝑒</m:t>
                        </m:r>
                      </m:e>
                    </m:d>
                    <m:r>
                      <a:rPr lang="en-US" sz="1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GB" sz="1400" dirty="0">
                  <a:solidFill>
                    <a:schemeClr val="tx1"/>
                  </a:solidFill>
                </a:endParaRPr>
              </a:p>
              <a:p>
                <a:r>
                  <a:rPr lang="en-GB" sz="1400" dirty="0"/>
                  <a:t>5.9</a:t>
                </a: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20EB3E3-DB7B-4F39-B125-A672B5F616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0508" y="3310574"/>
                <a:ext cx="1905000" cy="738664"/>
              </a:xfrm>
              <a:prstGeom prst="rect">
                <a:avLst/>
              </a:prstGeom>
              <a:blipFill>
                <a:blip r:embed="rId5"/>
                <a:stretch>
                  <a:fillRect l="-962" t="-1653" b="-826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DA762DA-6D44-4999-9F30-DA67648819E7}"/>
                  </a:ext>
                </a:extLst>
              </p:cNvPr>
              <p:cNvSpPr txBox="1"/>
              <p:nvPr/>
            </p:nvSpPr>
            <p:spPr>
              <a:xfrm>
                <a:off x="7503974" y="3947627"/>
                <a:ext cx="1262362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solidFill>
                      <a:schemeClr val="tx1"/>
                    </a:solidFill>
                    <a:latin typeface="+mn-lt"/>
                  </a:rPr>
                  <a:t>Patients with Celiac</a:t>
                </a:r>
              </a:p>
              <a:p>
                <a14:m>
                  <m:oMath xmlns:m="http://schemas.openxmlformats.org/officeDocument/2006/math">
                    <m:r>
                      <a:rPr lang="en-US" sz="1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𝐶𝑒𝑙𝑖𝑎𝑐</m:t>
                        </m:r>
                      </m:e>
                    </m:d>
                    <m:r>
                      <a:rPr lang="en-US" sz="1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140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DA762DA-6D44-4999-9F30-DA67648819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3974" y="3947627"/>
                <a:ext cx="1262362" cy="738664"/>
              </a:xfrm>
              <a:prstGeom prst="rect">
                <a:avLst/>
              </a:prstGeom>
              <a:blipFill>
                <a:blip r:embed="rId6"/>
                <a:stretch>
                  <a:fillRect l="-1449" t="-1653" b="-743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32">
                <a:extLst>
                  <a:ext uri="{FF2B5EF4-FFF2-40B4-BE49-F238E27FC236}">
                    <a16:creationId xmlns:a16="http://schemas.microsoft.com/office/drawing/2014/main" id="{55251DD6-7C48-4778-B153-2D8F1259F5C6}"/>
                  </a:ext>
                </a:extLst>
              </p:cNvPr>
              <p:cNvSpPr/>
              <p:nvPr/>
            </p:nvSpPr>
            <p:spPr>
              <a:xfrm>
                <a:off x="5842572" y="4768080"/>
                <a:ext cx="1936364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𝐶𝑒𝑙𝑖𝑎𝑐</m:t>
                          </m:r>
                        </m:e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𝑃𝑜𝑠𝑖𝑡𝑖𝑣𝑒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Rectangle 32">
                <a:extLst>
                  <a:ext uri="{FF2B5EF4-FFF2-40B4-BE49-F238E27FC236}">
                    <a16:creationId xmlns:a16="http://schemas.microsoft.com/office/drawing/2014/main" id="{55251DD6-7C48-4778-B153-2D8F1259F5C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2572" y="4768080"/>
                <a:ext cx="1936364" cy="338554"/>
              </a:xfrm>
              <a:prstGeom prst="rect">
                <a:avLst/>
              </a:prstGeom>
              <a:blipFill>
                <a:blip r:embed="rId7"/>
                <a:stretch>
                  <a:fillRect r="-1887" b="-178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Arrow Connector 33">
            <a:extLst>
              <a:ext uri="{FF2B5EF4-FFF2-40B4-BE49-F238E27FC236}">
                <a16:creationId xmlns:a16="http://schemas.microsoft.com/office/drawing/2014/main" id="{5FFB4A08-D6D0-41E3-AE36-9180549C8867}"/>
              </a:ext>
            </a:extLst>
          </p:cNvPr>
          <p:cNvCxnSpPr>
            <a:cxnSpLocks/>
            <a:stCxn id="29" idx="0"/>
          </p:cNvCxnSpPr>
          <p:nvPr/>
        </p:nvCxnSpPr>
        <p:spPr>
          <a:xfrm flipV="1">
            <a:off x="6810754" y="4057283"/>
            <a:ext cx="497868" cy="71079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46239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8C4AAF-5CC4-43D2-A0CB-E66ABA668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Example Problem: Bayes Theorem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02DA36A-3DB1-4000-9544-14EF6638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31</a:t>
            </a:fld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88E7D0B-E76D-425E-A9D4-7C6A5AB25FC4}"/>
              </a:ext>
            </a:extLst>
          </p:cNvPr>
          <p:cNvSpPr txBox="1"/>
          <p:nvPr/>
        </p:nvSpPr>
        <p:spPr>
          <a:xfrm>
            <a:off x="137328" y="1019429"/>
            <a:ext cx="4363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(b)</a:t>
            </a:r>
          </a:p>
        </p:txBody>
      </p:sp>
      <p:sp>
        <p:nvSpPr>
          <p:cNvPr id="25" name="Oval 17">
            <a:extLst>
              <a:ext uri="{FF2B5EF4-FFF2-40B4-BE49-F238E27FC236}">
                <a16:creationId xmlns:a16="http://schemas.microsoft.com/office/drawing/2014/main" id="{2AC764AD-7B7E-4067-A913-F193598FCF15}"/>
              </a:ext>
            </a:extLst>
          </p:cNvPr>
          <p:cNvSpPr/>
          <p:nvPr/>
        </p:nvSpPr>
        <p:spPr>
          <a:xfrm>
            <a:off x="7186729" y="3561760"/>
            <a:ext cx="230772" cy="241566"/>
          </a:xfrm>
          <a:prstGeom prst="ellipse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6" name="Oval 18">
            <a:extLst>
              <a:ext uri="{FF2B5EF4-FFF2-40B4-BE49-F238E27FC236}">
                <a16:creationId xmlns:a16="http://schemas.microsoft.com/office/drawing/2014/main" id="{4C3C0DB5-F038-4900-A2D9-7FA8DD185353}"/>
              </a:ext>
            </a:extLst>
          </p:cNvPr>
          <p:cNvSpPr/>
          <p:nvPr/>
        </p:nvSpPr>
        <p:spPr>
          <a:xfrm>
            <a:off x="6838240" y="3194834"/>
            <a:ext cx="612648" cy="608492"/>
          </a:xfrm>
          <a:prstGeom prst="ellipse">
            <a:avLst/>
          </a:prstGeom>
          <a:solidFill>
            <a:srgbClr val="88A945">
              <a:alpha val="7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Oval 19">
            <a:extLst>
              <a:ext uri="{FF2B5EF4-FFF2-40B4-BE49-F238E27FC236}">
                <a16:creationId xmlns:a16="http://schemas.microsoft.com/office/drawing/2014/main" id="{2DBE3FD3-9518-43ED-834A-4ACA05D42C35}"/>
              </a:ext>
            </a:extLst>
          </p:cNvPr>
          <p:cNvSpPr/>
          <p:nvPr/>
        </p:nvSpPr>
        <p:spPr>
          <a:xfrm>
            <a:off x="5261740" y="1867317"/>
            <a:ext cx="3753678" cy="373728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4309E52-F04B-404C-A97A-80EE0DA8911A}"/>
              </a:ext>
            </a:extLst>
          </p:cNvPr>
          <p:cNvSpPr txBox="1"/>
          <p:nvPr/>
        </p:nvSpPr>
        <p:spPr>
          <a:xfrm>
            <a:off x="6409922" y="1963399"/>
            <a:ext cx="15624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Population = 100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2CF4EA8-9547-41FC-97A9-519A99189D70}"/>
                  </a:ext>
                </a:extLst>
              </p:cNvPr>
              <p:cNvSpPr txBox="1"/>
              <p:nvPr/>
            </p:nvSpPr>
            <p:spPr>
              <a:xfrm>
                <a:off x="5457422" y="2925756"/>
                <a:ext cx="1905000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P</a:t>
                </a:r>
                <a:r>
                  <a:rPr lang="en-GB" sz="1400" dirty="0">
                    <a:solidFill>
                      <a:schemeClr val="tx1"/>
                    </a:solidFill>
                  </a:rPr>
                  <a:t>ositive test result </a:t>
                </a:r>
                <a14:m>
                  <m:oMath xmlns:m="http://schemas.openxmlformats.org/officeDocument/2006/math">
                    <m:r>
                      <a:rPr lang="en-US" sz="1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𝑃𝑜𝑠𝑖𝑡𝑖𝑣𝑒</m:t>
                        </m:r>
                      </m:e>
                    </m:d>
                    <m:r>
                      <a:rPr lang="en-US" sz="1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GB" sz="1400" dirty="0">
                  <a:solidFill>
                    <a:schemeClr val="tx1"/>
                  </a:solidFill>
                </a:endParaRPr>
              </a:p>
              <a:p>
                <a:r>
                  <a:rPr lang="en-GB" sz="1400" dirty="0"/>
                  <a:t>5.9</a:t>
                </a: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2CF4EA8-9547-41FC-97A9-519A99189D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7422" y="2925756"/>
                <a:ext cx="1905000" cy="738664"/>
              </a:xfrm>
              <a:prstGeom prst="rect">
                <a:avLst/>
              </a:prstGeom>
              <a:blipFill>
                <a:blip r:embed="rId5"/>
                <a:stretch>
                  <a:fillRect l="-958" t="-1653" b="-743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75F086B5-9124-43EE-B60B-382C2AD1CB6C}"/>
                  </a:ext>
                </a:extLst>
              </p:cNvPr>
              <p:cNvSpPr txBox="1"/>
              <p:nvPr/>
            </p:nvSpPr>
            <p:spPr>
              <a:xfrm>
                <a:off x="7450888" y="3562809"/>
                <a:ext cx="1262362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solidFill>
                      <a:schemeClr val="tx1"/>
                    </a:solidFill>
                    <a:latin typeface="+mn-lt"/>
                  </a:rPr>
                  <a:t>Patients with Celiac</a:t>
                </a:r>
              </a:p>
              <a:p>
                <a14:m>
                  <m:oMath xmlns:m="http://schemas.openxmlformats.org/officeDocument/2006/math">
                    <m:r>
                      <a:rPr lang="en-US" sz="1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𝐶𝑒𝑙𝑖𝑎𝑐</m:t>
                        </m:r>
                      </m:e>
                    </m:d>
                    <m:r>
                      <a:rPr lang="en-US" sz="1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140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75F086B5-9124-43EE-B60B-382C2AD1CB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0888" y="3562809"/>
                <a:ext cx="1262362" cy="738664"/>
              </a:xfrm>
              <a:prstGeom prst="rect">
                <a:avLst/>
              </a:prstGeom>
              <a:blipFill>
                <a:blip r:embed="rId6"/>
                <a:stretch>
                  <a:fillRect l="-1449" t="-820" b="-737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23">
                <a:extLst>
                  <a:ext uri="{FF2B5EF4-FFF2-40B4-BE49-F238E27FC236}">
                    <a16:creationId xmlns:a16="http://schemas.microsoft.com/office/drawing/2014/main" id="{E37784BE-75B4-4E08-B4F5-DBC5EB0C5643}"/>
                  </a:ext>
                </a:extLst>
              </p:cNvPr>
              <p:cNvSpPr/>
              <p:nvPr/>
            </p:nvSpPr>
            <p:spPr>
              <a:xfrm>
                <a:off x="5789486" y="4383262"/>
                <a:ext cx="1936364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𝐶𝑒𝑙𝑖𝑎𝑐</m:t>
                          </m:r>
                        </m:e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𝑃𝑜𝑠𝑖𝑡𝑖𝑣𝑒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1" name="Rectangle 23">
                <a:extLst>
                  <a:ext uri="{FF2B5EF4-FFF2-40B4-BE49-F238E27FC236}">
                    <a16:creationId xmlns:a16="http://schemas.microsoft.com/office/drawing/2014/main" id="{E37784BE-75B4-4E08-B4F5-DBC5EB0C564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9486" y="4383262"/>
                <a:ext cx="1936364" cy="338554"/>
              </a:xfrm>
              <a:prstGeom prst="rect">
                <a:avLst/>
              </a:prstGeom>
              <a:blipFill>
                <a:blip r:embed="rId7"/>
                <a:stretch>
                  <a:fillRect r="-2208" b="-178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Arrow Connector 24">
            <a:extLst>
              <a:ext uri="{FF2B5EF4-FFF2-40B4-BE49-F238E27FC236}">
                <a16:creationId xmlns:a16="http://schemas.microsoft.com/office/drawing/2014/main" id="{193182B2-C01A-44AD-8B9B-D08E42E2B3D5}"/>
              </a:ext>
            </a:extLst>
          </p:cNvPr>
          <p:cNvCxnSpPr>
            <a:cxnSpLocks/>
            <a:stCxn id="31" idx="0"/>
          </p:cNvCxnSpPr>
          <p:nvPr/>
        </p:nvCxnSpPr>
        <p:spPr>
          <a:xfrm flipV="1">
            <a:off x="6757668" y="3672465"/>
            <a:ext cx="497868" cy="71079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000085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8D48F4-04B9-4770-9AFE-595414C29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Tips for the TEST (2022 Spring WRSE)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85A62EF-5DF9-469D-9B8B-2CB15CFD0A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Closed Book, 150 mins, Calculators allows</a:t>
            </a:r>
          </a:p>
          <a:p>
            <a:pPr lvl="1"/>
            <a:r>
              <a:rPr lang="en-US" altLang="ko-KR" dirty="0"/>
              <a:t> Exact Time &amp; Place: May 17 </a:t>
            </a:r>
            <a:r>
              <a:rPr lang="ko-KR" altLang="en-US" dirty="0"/>
              <a:t>화요일</a:t>
            </a:r>
            <a:r>
              <a:rPr lang="en-US" altLang="ko-KR" dirty="0"/>
              <a:t>, 17:00-19:30, 35-431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 </a:t>
            </a:r>
            <a:r>
              <a:rPr lang="ko-KR" altLang="en-US" dirty="0"/>
              <a:t>출제 범위</a:t>
            </a:r>
            <a:endParaRPr lang="en-US" altLang="ko-KR" dirty="0"/>
          </a:p>
          <a:p>
            <a:pPr lvl="1"/>
            <a:r>
              <a:rPr lang="en-US" altLang="ko-KR" dirty="0"/>
              <a:t> Primary Textbook Chapters </a:t>
            </a:r>
          </a:p>
          <a:p>
            <a:pPr lvl="2"/>
            <a:r>
              <a:rPr lang="en-US" altLang="ko-KR" dirty="0"/>
              <a:t> 01, 02, 03, 04, 05, 06-(6.2.3, p.223 </a:t>
            </a:r>
            <a:r>
              <a:rPr lang="ko-KR" altLang="en-US" dirty="0"/>
              <a:t>까지 출제범위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 Lecture Notes: 01, 02, 03, 04, 05, 06</a:t>
            </a:r>
          </a:p>
          <a:p>
            <a:pPr lvl="1"/>
            <a:r>
              <a:rPr lang="en-US" altLang="ko-KR" dirty="0"/>
              <a:t> Assignments: #1, #2</a:t>
            </a:r>
          </a:p>
          <a:p>
            <a:pPr lvl="1"/>
            <a:r>
              <a:rPr lang="en-US" altLang="ko-KR" dirty="0"/>
              <a:t> Quizzes: #1, #2</a:t>
            </a:r>
          </a:p>
          <a:p>
            <a:pPr lvl="1"/>
            <a:r>
              <a:rPr lang="en-US" altLang="ko-KR" dirty="0"/>
              <a:t> Other New Questions (1 Question, 2 Questions Max)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7631D05-59BF-4A09-96AA-32C2A896D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02267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2972C2-44CC-4F6E-8544-2F20B844C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Future Schedule (~End of Course)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D1E931-4E26-48E4-8B68-83D521B9BA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68761"/>
            <a:ext cx="8191822" cy="4896544"/>
          </a:xfrm>
        </p:spPr>
        <p:txBody>
          <a:bodyPr>
            <a:normAutofit/>
          </a:bodyPr>
          <a:lstStyle/>
          <a:p>
            <a:r>
              <a:rPr lang="en-US" altLang="ko-KR" dirty="0"/>
              <a:t> May-17 (1): TEST</a:t>
            </a:r>
          </a:p>
          <a:p>
            <a:r>
              <a:rPr lang="en-US" altLang="ko-KR" dirty="0"/>
              <a:t> May-24 (2): </a:t>
            </a:r>
          </a:p>
          <a:p>
            <a:pPr lvl="1"/>
            <a:r>
              <a:rPr lang="en-US" altLang="ko-KR" dirty="0"/>
              <a:t> </a:t>
            </a:r>
            <a:r>
              <a:rPr lang="en-US" altLang="ko-KR" dirty="0" err="1"/>
              <a:t>Lec</a:t>
            </a:r>
            <a:r>
              <a:rPr lang="en-US" altLang="ko-KR" dirty="0"/>
              <a:t> 07: Probability, Statistics, Uncertainty, and Stochastic Simulations</a:t>
            </a:r>
          </a:p>
          <a:p>
            <a:pPr lvl="1"/>
            <a:r>
              <a:rPr lang="en-US" altLang="ko-KR" dirty="0"/>
              <a:t> </a:t>
            </a:r>
            <a:r>
              <a:rPr lang="en-US" altLang="ko-KR" dirty="0" err="1"/>
              <a:t>Lec</a:t>
            </a:r>
            <a:r>
              <a:rPr lang="en-US" altLang="ko-KR" dirty="0"/>
              <a:t> 08: Performance Criteria</a:t>
            </a:r>
          </a:p>
          <a:p>
            <a:r>
              <a:rPr lang="en-US" altLang="ko-KR" dirty="0"/>
              <a:t> May-31 &amp; Jun-07 (3 &amp; 4)</a:t>
            </a:r>
          </a:p>
          <a:p>
            <a:pPr lvl="1"/>
            <a:r>
              <a:rPr lang="en-US" altLang="ko-KR" dirty="0"/>
              <a:t> </a:t>
            </a:r>
            <a:r>
              <a:rPr lang="en-US" altLang="ko-KR" dirty="0" err="1"/>
              <a:t>Lec</a:t>
            </a:r>
            <a:r>
              <a:rPr lang="en-US" altLang="ko-KR" dirty="0"/>
              <a:t> 09: Water Resources Systems Engineering Frontiers-Introduction and Examples Part 1</a:t>
            </a:r>
          </a:p>
          <a:p>
            <a:pPr lvl="1"/>
            <a:r>
              <a:rPr lang="en-US" altLang="ko-KR" dirty="0"/>
              <a:t> </a:t>
            </a:r>
            <a:r>
              <a:rPr lang="en-US" altLang="ko-KR" dirty="0" err="1"/>
              <a:t>Lec</a:t>
            </a:r>
            <a:r>
              <a:rPr lang="en-US" altLang="ko-KR" dirty="0"/>
              <a:t> 10: Water Resources Systems Engineering Frontiers-Introduction and Examples Part 2 (</a:t>
            </a:r>
            <a:r>
              <a:rPr lang="en-US" altLang="ko-KR" i="1" dirty="0"/>
              <a:t>Invited Talk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 Jun-14: Final Project Presentation + Report Due (5)</a:t>
            </a:r>
          </a:p>
          <a:p>
            <a:pPr lvl="1"/>
            <a:r>
              <a:rPr lang="en-US" altLang="ko-KR" dirty="0"/>
              <a:t> Report</a:t>
            </a:r>
            <a:r>
              <a:rPr lang="ko-KR" altLang="en-US" dirty="0"/>
              <a:t>는 추후에 기술기사로 출판할 예정 </a:t>
            </a:r>
            <a:r>
              <a:rPr lang="en-US" altLang="ko-KR" dirty="0"/>
              <a:t>(6-7</a:t>
            </a:r>
            <a:r>
              <a:rPr lang="ko-KR" altLang="en-US" dirty="0"/>
              <a:t>월 중</a:t>
            </a:r>
            <a:r>
              <a:rPr lang="en-US" altLang="ko-KR" dirty="0"/>
              <a:t>)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FEFE042-1EF0-46EE-8B82-B1DFE71C8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42243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77943</TotalTime>
  <Words>1755</Words>
  <Application>Microsoft Office PowerPoint</Application>
  <PresentationFormat>화면 슬라이드 쇼(4:3)</PresentationFormat>
  <Paragraphs>248</Paragraphs>
  <Slides>33</Slides>
  <Notes>2</Notes>
  <HiddenSlides>0</HiddenSlides>
  <MMClips>0</MMClips>
  <ScaleCrop>false</ScaleCrop>
  <HeadingPairs>
    <vt:vector size="8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2</vt:i4>
      </vt:variant>
      <vt:variant>
        <vt:lpstr>슬라이드 제목</vt:lpstr>
      </vt:variant>
      <vt:variant>
        <vt:i4>33</vt:i4>
      </vt:variant>
    </vt:vector>
  </HeadingPairs>
  <TitlesOfParts>
    <vt:vector size="45" baseType="lpstr">
      <vt:lpstr>나눔고딕 ExtraBold</vt:lpstr>
      <vt:lpstr>나눔고딕 Light</vt:lpstr>
      <vt:lpstr>맑은 고딕</vt:lpstr>
      <vt:lpstr>Arial</vt:lpstr>
      <vt:lpstr>Calibri</vt:lpstr>
      <vt:lpstr>Cambria Math</vt:lpstr>
      <vt:lpstr>Comic Sans MS</vt:lpstr>
      <vt:lpstr>Gill Sans MT</vt:lpstr>
      <vt:lpstr>Wingdings</vt:lpstr>
      <vt:lpstr>Office 테마</vt:lpstr>
      <vt:lpstr>Equation</vt:lpstr>
      <vt:lpstr>MathType 6.0 Equation</vt:lpstr>
      <vt:lpstr>Lecture 06</vt:lpstr>
      <vt:lpstr>Review on Previous Lectures</vt:lpstr>
      <vt:lpstr>Today’s Topic: Probability, Statistics, Uncertainty and Stochastic Simulations</vt:lpstr>
      <vt:lpstr>Review on Common Representative Values</vt:lpstr>
      <vt:lpstr>Review on Common Representative Values</vt:lpstr>
      <vt:lpstr>Review on Common Representative Values</vt:lpstr>
      <vt:lpstr>Review on Common Representative Values</vt:lpstr>
      <vt:lpstr>Summary (1)</vt:lpstr>
      <vt:lpstr>Explain the data with Rep. Values?</vt:lpstr>
      <vt:lpstr>Concept of Probability </vt:lpstr>
      <vt:lpstr>PowerPoint 프레젠테이션</vt:lpstr>
      <vt:lpstr>PowerPoint 프레젠테이션</vt:lpstr>
      <vt:lpstr>PowerPoint 프레젠테이션</vt:lpstr>
      <vt:lpstr>Review on the Probability Concepts </vt:lpstr>
      <vt:lpstr>Summary (2)</vt:lpstr>
      <vt:lpstr>Common Distributions in WRSA</vt:lpstr>
      <vt:lpstr>More on the Normal  Distribution</vt:lpstr>
      <vt:lpstr>Many random variables in nature follow a normal distribution  </vt:lpstr>
      <vt:lpstr>Standard Normal Distribution</vt:lpstr>
      <vt:lpstr>Transforming into Standard Normal Dist.</vt:lpstr>
      <vt:lpstr>68-95-99.7 rule for a Normal Distribution</vt:lpstr>
      <vt:lpstr>Example Problem: Annual Precipitation</vt:lpstr>
      <vt:lpstr>Example Problem: Annual Precipitation</vt:lpstr>
      <vt:lpstr>Example Problem: Annual Precipitation</vt:lpstr>
      <vt:lpstr>Finally, Conditional Probability P(A|B)</vt:lpstr>
      <vt:lpstr>Bayes Theorem</vt:lpstr>
      <vt:lpstr>PowerPoint 프레젠테이션</vt:lpstr>
      <vt:lpstr>Bayes Theorem: Derivation</vt:lpstr>
      <vt:lpstr>Example Problem: Bayes Theorem</vt:lpstr>
      <vt:lpstr>Example Problem: Bayes Theorem</vt:lpstr>
      <vt:lpstr>Example Problem: Bayes Theorem</vt:lpstr>
      <vt:lpstr>Tips for the TEST (2022 Spring WRSE)</vt:lpstr>
      <vt:lpstr>Future Schedule (~End of Course)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Kim Gi Joo</dc:creator>
  <cp:lastModifiedBy> </cp:lastModifiedBy>
  <cp:revision>2336</cp:revision>
  <cp:lastPrinted>2022-03-21T05:50:04Z</cp:lastPrinted>
  <dcterms:created xsi:type="dcterms:W3CDTF">2020-01-02T02:18:47Z</dcterms:created>
  <dcterms:modified xsi:type="dcterms:W3CDTF">2022-05-10T02:18:48Z</dcterms:modified>
</cp:coreProperties>
</file>