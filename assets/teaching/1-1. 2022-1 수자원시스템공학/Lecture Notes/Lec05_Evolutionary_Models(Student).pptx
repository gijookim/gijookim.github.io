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694" r:id="rId3"/>
    <p:sldId id="731" r:id="rId4"/>
    <p:sldId id="714" r:id="rId5"/>
    <p:sldId id="712" r:id="rId6"/>
    <p:sldId id="729" r:id="rId7"/>
    <p:sldId id="748" r:id="rId8"/>
    <p:sldId id="730" r:id="rId9"/>
    <p:sldId id="749" r:id="rId10"/>
    <p:sldId id="741" r:id="rId11"/>
    <p:sldId id="742" r:id="rId12"/>
    <p:sldId id="743" r:id="rId13"/>
    <p:sldId id="750" r:id="rId14"/>
    <p:sldId id="751" r:id="rId15"/>
    <p:sldId id="744" r:id="rId16"/>
    <p:sldId id="754" r:id="rId17"/>
    <p:sldId id="755" r:id="rId18"/>
    <p:sldId id="733" r:id="rId19"/>
    <p:sldId id="756" r:id="rId20"/>
    <p:sldId id="753" r:id="rId21"/>
    <p:sldId id="734" r:id="rId22"/>
    <p:sldId id="747" r:id="rId23"/>
    <p:sldId id="381" r:id="rId24"/>
    <p:sldId id="382" r:id="rId25"/>
    <p:sldId id="383" r:id="rId26"/>
    <p:sldId id="384" r:id="rId27"/>
    <p:sldId id="385" r:id="rId28"/>
    <p:sldId id="757" r:id="rId29"/>
    <p:sldId id="732" r:id="rId30"/>
    <p:sldId id="746" r:id="rId31"/>
    <p:sldId id="700" r:id="rId32"/>
    <p:sldId id="698" r:id="rId33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3" autoAdjust="0"/>
    <p:restoredTop sz="94379" autoAdjust="0"/>
  </p:normalViewPr>
  <p:slideViewPr>
    <p:cSldViewPr>
      <p:cViewPr varScale="1">
        <p:scale>
          <a:sx n="104" d="100"/>
          <a:sy n="104" d="100"/>
        </p:scale>
        <p:origin x="15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Here are some examples of visualizing the goals and tradeoffs in planning.  </a:t>
            </a:r>
          </a:p>
          <a:p>
            <a:endParaRPr lang="en-US" dirty="0"/>
          </a:p>
          <a:p>
            <a:r>
              <a:rPr lang="en-US" dirty="0"/>
              <a:t>The first example shows a </a:t>
            </a:r>
            <a:r>
              <a:rPr lang="en-US" baseline="0" dirty="0"/>
              <a:t>hypothetical</a:t>
            </a:r>
            <a:r>
              <a:rPr lang="en-US" dirty="0"/>
              <a:t> planning problem optimizing</a:t>
            </a:r>
            <a:r>
              <a:rPr lang="en-US" baseline="0" dirty="0"/>
              <a:t> cost only</a:t>
            </a:r>
            <a:r>
              <a:rPr lang="en-US" dirty="0"/>
              <a:t>.  Each of the spheres shows a different solution to the problem, and the relative positions of the spheres shows the objective function value.  Minimizing a single objective problem moves the optimal solution left on the number line to the minimal cost solution.  When we add a second objective – Error - to our planning problem,</a:t>
            </a:r>
            <a:r>
              <a:rPr lang="en-US" baseline="0" dirty="0"/>
              <a:t> </a:t>
            </a:r>
            <a:r>
              <a:rPr lang="en-US" dirty="0"/>
              <a:t>our original optimal solution maps to an inferior region with respect to the error objective.  This illustrates a clear a conflict between minimizing cost and minimizing error for this problem</a:t>
            </a:r>
            <a:r>
              <a:rPr lang="en-US" baseline="0" dirty="0"/>
              <a:t> as well as the pitfalls of a single objective problem formulation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Additionally, we can note points of diminishing return on the tradeoff between Cost and Error whereby small</a:t>
            </a:r>
            <a:r>
              <a:rPr lang="en-US" baseline="0" dirty="0"/>
              <a:t> increases in cost result in large decreases in error followed by large increases in cost resulting in only nominal decreases in error. </a:t>
            </a:r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23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If we add a</a:t>
            </a:r>
            <a:r>
              <a:rPr lang="en-US" baseline="0" dirty="0"/>
              <a:t> third objective – Minimizing Risk – to our planning problem, we again see that the minimum cost solution results in maximum error and risk.  </a:t>
            </a:r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24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25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Here are some examples of visualizing the goals and tradeoffs in planning.  The first example shows a single objective problem.  Each of the triangles shows a different solution to the planning problem, and the relative position of the triangle shows its objective function value.  Minimizing a single objective problem moves the optimal solution left on the number line.  When we add a second objective (considering error explicitly), our original optimal solution maps to an inferior region with respect to the error objective.  This indicates a conflict between minimizing cost and minimizing error.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26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Here are some examples of visualizing the goals and tradeoffs in planning.  The first example shows a single objective problem.  Each of the triangles shows a different solution to the planning problem, and the relative position of the triangle shows its objective function value.  Minimizing a single objective problem moves the optimal solution left on the number line.  When we add a second objective (considering error explicitly), our original optimal solution maps to an inferior region with respect to the error objective.  This indicates a conflict between minimizing cost and minimizing error.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1pPr>
            <a:lvl2pPr marL="777943" indent="-299209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2pPr>
            <a:lvl3pPr marL="1196835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3pPr>
            <a:lvl4pPr marL="1675569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4pPr>
            <a:lvl5pPr marL="2154304" indent="-239367" eaLnBrk="0" hangingPunct="0">
              <a:defRPr sz="1700">
                <a:solidFill>
                  <a:srgbClr val="000000"/>
                </a:solidFill>
                <a:latin typeface="Times New Roman" pitchFamily="18" charset="0"/>
              </a:defRPr>
            </a:lvl5pPr>
            <a:lvl6pPr marL="2633038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6pPr>
            <a:lvl7pPr marL="3111772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7pPr>
            <a:lvl8pPr marL="3590506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8pPr>
            <a:lvl9pPr marL="4069240" indent="-239367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8C1A87E-D6BE-43FC-83B0-4DA9A736BC3E}" type="slidenum">
              <a:rPr lang="en-US" sz="1300">
                <a:solidFill>
                  <a:schemeClr val="tx1"/>
                </a:solidFill>
                <a:latin typeface="Calibri" pitchFamily="34" charset="0"/>
              </a:rPr>
              <a:pPr eaLnBrk="1" hangingPunct="1"/>
              <a:t>27</a:t>
            </a:fld>
            <a:endParaRPr lang="en-US" sz="13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5.jpeg"/><Relationship Id="rId4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6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9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4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05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1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Data-fitting,</a:t>
            </a:r>
            <a:r>
              <a:rPr lang="ko-KR" altLang="en-US" sz="3600" dirty="0"/>
              <a:t> </a:t>
            </a:r>
            <a:r>
              <a:rPr lang="en-US" altLang="ko-KR" sz="3600" dirty="0"/>
              <a:t>Evolutionary</a:t>
            </a:r>
            <a:r>
              <a:rPr lang="ko-KR" altLang="en-US" sz="3600" dirty="0"/>
              <a:t> </a:t>
            </a:r>
            <a:r>
              <a:rPr lang="en-US" altLang="ko-KR" sz="3600" dirty="0"/>
              <a:t>Optimization</a:t>
            </a:r>
            <a:r>
              <a:rPr lang="ko-KR" altLang="en-US" sz="3600" dirty="0"/>
              <a:t> </a:t>
            </a:r>
            <a:r>
              <a:rPr lang="en-US" altLang="ko-KR" sz="3600" dirty="0"/>
              <a:t>Models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03 &amp; 04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40560"/>
          </a:xfrm>
        </p:spPr>
        <p:txBody>
          <a:bodyPr>
            <a:normAutofit/>
          </a:bodyPr>
          <a:lstStyle/>
          <a:p>
            <a:r>
              <a:rPr lang="en-US" altLang="ko-KR" dirty="0"/>
              <a:t> Engineering Economics: </a:t>
            </a:r>
            <a:br>
              <a:rPr lang="en-US" altLang="ko-KR" dirty="0"/>
            </a:br>
            <a:r>
              <a:rPr lang="en-US" altLang="ko-KR" dirty="0"/>
              <a:t>Time Streams of Economic Benefits &amp; Costs</a:t>
            </a:r>
          </a:p>
          <a:p>
            <a:r>
              <a:rPr lang="en-US" altLang="ko-KR" dirty="0"/>
              <a:t> Solving Nonlinear Optimization Models with Calculus</a:t>
            </a:r>
          </a:p>
          <a:p>
            <a:pPr lvl="1"/>
            <a:r>
              <a:rPr lang="en-US" altLang="ko-KR" dirty="0"/>
              <a:t>Solution Using Calculus</a:t>
            </a:r>
          </a:p>
          <a:p>
            <a:pPr lvl="1"/>
            <a:r>
              <a:rPr lang="en-US" altLang="ko-KR" dirty="0"/>
              <a:t>Solution Using Hill Climbing</a:t>
            </a:r>
          </a:p>
          <a:p>
            <a:pPr lvl="1"/>
            <a:r>
              <a:rPr lang="en-US" altLang="ko-KR" b="1" u="sng" dirty="0"/>
              <a:t>Solution Using the Lagrange Multiplier</a:t>
            </a:r>
          </a:p>
          <a:p>
            <a:endParaRPr lang="en-US" altLang="ko-KR" sz="1000" dirty="0"/>
          </a:p>
          <a:p>
            <a:r>
              <a:rPr lang="en-US" altLang="ko-KR" dirty="0"/>
              <a:t> Concepts of </a:t>
            </a:r>
            <a:r>
              <a:rPr lang="en-US" altLang="ko-KR" b="1" u="sng" dirty="0"/>
              <a:t>Dynamic Programming Models (DP)</a:t>
            </a:r>
          </a:p>
          <a:p>
            <a:r>
              <a:rPr lang="en-US" altLang="ko-KR" dirty="0"/>
              <a:t> Examples of Problem Solving with DP Models</a:t>
            </a:r>
          </a:p>
          <a:p>
            <a:r>
              <a:rPr lang="en-US" altLang="ko-KR" dirty="0"/>
              <a:t> Concepts of Linear Programming Models (LP)</a:t>
            </a:r>
          </a:p>
          <a:p>
            <a:r>
              <a:rPr lang="en-US" altLang="ko-KR" dirty="0"/>
              <a:t> Real-world Applications of Traditional Optimization Models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295CE-A057-46CD-A51B-09E26FD8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Curses of Stochastic Dynamic Programming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3C743D-AC56-4362-A73B-631E3BD5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0158E2B-219B-49BD-958C-BA3F02E50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272" y="1268413"/>
            <a:ext cx="5863455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65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A3EC2-1917-4C25-9091-5F608EA3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</a:t>
            </a:r>
            <a:r>
              <a:rPr lang="ko-KR" altLang="en-US" dirty="0"/>
              <a:t> </a:t>
            </a:r>
            <a:r>
              <a:rPr lang="en-US" altLang="ko-KR" dirty="0"/>
              <a:t>Lecture</a:t>
            </a:r>
            <a:r>
              <a:rPr lang="ko-KR" altLang="en-US" dirty="0"/>
              <a:t> </a:t>
            </a:r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2F914-6312-4039-9E94-2C1234AE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25658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u="sng" dirty="0"/>
              <a:t>Acronyms (</a:t>
            </a:r>
            <a:r>
              <a:rPr lang="ko-KR" altLang="en-US" b="1" u="sng" dirty="0"/>
              <a:t>약어</a:t>
            </a:r>
            <a:r>
              <a:rPr lang="en-US" altLang="ko-KR" b="1" u="sng" dirty="0"/>
              <a:t>)/Keywords</a:t>
            </a:r>
            <a:r>
              <a:rPr lang="en-US" altLang="ko-KR" dirty="0"/>
              <a:t> in Lecture 05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>
                <a:solidFill>
                  <a:schemeClr val="bg1"/>
                </a:solidFill>
              </a:rPr>
              <a:t>EA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Evolutionary Algorithms (</a:t>
            </a:r>
            <a:r>
              <a:rPr lang="ko-KR" altLang="en-US" dirty="0"/>
              <a:t>진화 알고리즘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>
                <a:solidFill>
                  <a:schemeClr val="bg1"/>
                </a:solidFill>
              </a:rPr>
              <a:t>GA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Genetic Algorithms (</a:t>
            </a:r>
            <a:r>
              <a:rPr lang="ko-KR" altLang="en-US" dirty="0"/>
              <a:t>유전 알고리즘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>
                <a:solidFill>
                  <a:schemeClr val="bg1"/>
                </a:solidFill>
              </a:rPr>
              <a:t>GP/EP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Genetic Programming/Evolutionary Programming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유전 프로그래밍</a:t>
            </a:r>
            <a:r>
              <a:rPr lang="en-US" altLang="ko-KR" dirty="0"/>
              <a:t>/</a:t>
            </a:r>
            <a:r>
              <a:rPr lang="ko-KR" altLang="en-US" dirty="0"/>
              <a:t>진화 프로그래밍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>
                <a:solidFill>
                  <a:schemeClr val="bg1"/>
                </a:solidFill>
              </a:rPr>
              <a:t>ANN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Artificial Neural Networks (</a:t>
            </a:r>
            <a:r>
              <a:rPr lang="ko-KR" altLang="en-US" dirty="0"/>
              <a:t>인공 신경망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>
                <a:solidFill>
                  <a:schemeClr val="bg1"/>
                </a:solidFill>
              </a:rPr>
              <a:t>DE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Differential Evolutions (</a:t>
            </a:r>
            <a:r>
              <a:rPr lang="ko-KR" altLang="en-US" dirty="0"/>
              <a:t>차분 진화 알고리즘</a:t>
            </a:r>
            <a:r>
              <a:rPr lang="en-US" altLang="ko-KR" dirty="0"/>
              <a:t>)</a:t>
            </a:r>
          </a:p>
          <a:p>
            <a:r>
              <a:rPr lang="en-US" altLang="ko-KR" sz="1600" b="1" dirty="0"/>
              <a:t> </a:t>
            </a:r>
            <a:r>
              <a:rPr lang="ko-KR" altLang="en-US" sz="1600" b="1" dirty="0"/>
              <a:t>향후 주요 일정</a:t>
            </a:r>
            <a:endParaRPr lang="en-US" altLang="ko-KR" sz="1600" b="1" dirty="0"/>
          </a:p>
          <a:p>
            <a:pPr lvl="1"/>
            <a:r>
              <a:rPr lang="en-US" altLang="ko-KR" sz="1400" dirty="0"/>
              <a:t> </a:t>
            </a:r>
            <a:r>
              <a:rPr lang="en-US" altLang="ko-KR" sz="1400" dirty="0" err="1"/>
              <a:t>Datacamp</a:t>
            </a:r>
            <a:r>
              <a:rPr lang="en-US" altLang="ko-KR" sz="1400" dirty="0"/>
              <a:t> #2 due Apr-19</a:t>
            </a:r>
          </a:p>
          <a:p>
            <a:pPr lvl="1"/>
            <a:r>
              <a:rPr lang="en-US" altLang="ko-KR" sz="1400" dirty="0"/>
              <a:t> Assignment #2 due Apr-26 (</a:t>
            </a:r>
            <a:r>
              <a:rPr lang="en-US" altLang="ko-KR" sz="1400" b="1" dirty="0"/>
              <a:t>23:59</a:t>
            </a:r>
            <a:r>
              <a:rPr lang="ko-KR" altLang="en-US" sz="1400" dirty="0"/>
              <a:t>까지 메일로 제출</a:t>
            </a:r>
            <a:r>
              <a:rPr lang="en-US" altLang="ko-KR" sz="1400" dirty="0"/>
              <a:t>)</a:t>
            </a:r>
          </a:p>
          <a:p>
            <a:pPr lvl="1"/>
            <a:r>
              <a:rPr lang="en-US" altLang="ko-KR" sz="1400" b="1" u="sng" dirty="0">
                <a:solidFill>
                  <a:srgbClr val="FF0000"/>
                </a:solidFill>
              </a:rPr>
              <a:t>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보령댐</a:t>
            </a:r>
            <a:r>
              <a:rPr lang="ko-KR" altLang="en-US" sz="1400" b="1" u="sng" dirty="0">
                <a:solidFill>
                  <a:srgbClr val="FF0000"/>
                </a:solidFill>
              </a:rPr>
              <a:t> 견학 일정</a:t>
            </a:r>
            <a:r>
              <a:rPr lang="en-US" altLang="ko-KR" sz="1400" b="1" u="sng" dirty="0">
                <a:solidFill>
                  <a:srgbClr val="FF0000"/>
                </a:solidFill>
              </a:rPr>
              <a:t>: 4/25 </a:t>
            </a:r>
            <a:r>
              <a:rPr lang="ko-KR" altLang="en-US" sz="1400" b="1" u="sng" dirty="0">
                <a:solidFill>
                  <a:srgbClr val="FF0000"/>
                </a:solidFill>
              </a:rPr>
              <a:t>월 </a:t>
            </a:r>
            <a:r>
              <a:rPr lang="en-US" altLang="ko-KR" sz="1400" b="1" u="sng" dirty="0">
                <a:solidFill>
                  <a:srgbClr val="FF0000"/>
                </a:solidFill>
              </a:rPr>
              <a:t>(</a:t>
            </a:r>
            <a:r>
              <a:rPr lang="ko-KR" altLang="en-US" sz="1400" b="1" u="sng" dirty="0">
                <a:solidFill>
                  <a:srgbClr val="FF0000"/>
                </a:solidFill>
              </a:rPr>
              <a:t>확정</a:t>
            </a:r>
            <a:r>
              <a:rPr lang="en-US" altLang="ko-KR" sz="1400" b="1" u="sng" dirty="0">
                <a:solidFill>
                  <a:srgbClr val="FF0000"/>
                </a:solidFill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</a:rPr>
              <a:t>공문 공유 완료</a:t>
            </a:r>
            <a:r>
              <a:rPr lang="en-US" altLang="ko-KR" sz="1400" b="1" u="sng" dirty="0">
                <a:solidFill>
                  <a:srgbClr val="FF0000"/>
                </a:solidFill>
              </a:rPr>
              <a:t>) (No class on Apr-26 Tue)</a:t>
            </a:r>
          </a:p>
          <a:p>
            <a:pPr lvl="1"/>
            <a:r>
              <a:rPr lang="en-US" altLang="ko-KR" sz="1400" dirty="0"/>
              <a:t> Term Project A due May-03 </a:t>
            </a:r>
            <a:br>
              <a:rPr lang="en-US" altLang="ko-KR" sz="1400" dirty="0"/>
            </a:br>
            <a:r>
              <a:rPr lang="en-US" altLang="ko-KR" sz="1400" dirty="0"/>
              <a:t>(PPT Presentation, prepare one color copy for the instructor)</a:t>
            </a:r>
          </a:p>
          <a:p>
            <a:pPr lvl="1"/>
            <a:r>
              <a:rPr lang="en-US" altLang="ko-KR" sz="1400" dirty="0"/>
              <a:t>Quiz #2 on May-03</a:t>
            </a:r>
          </a:p>
          <a:p>
            <a:pPr lvl="1"/>
            <a:endParaRPr lang="ko-KR" altLang="en-US" sz="1400" b="1" u="sng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A1B89-6561-4E73-9AD0-8541AFB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53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52C8C-CA5B-4D05-BB08-C8857EE4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Today’s Topic: Data-fitting, </a:t>
            </a:r>
            <a:br>
              <a:rPr lang="en-US" altLang="ko-KR" dirty="0"/>
            </a:br>
            <a:r>
              <a:rPr lang="en-US" altLang="ko-KR" dirty="0"/>
              <a:t>Evolutionary Optimization Models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66E45-96C8-43C1-B1C9-741A860D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FF95656-6779-4E30-9150-A1179B104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1"/>
            <a:ext cx="7886700" cy="4680521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b="1" dirty="0"/>
              <a:t>EA</a:t>
            </a:r>
            <a:r>
              <a:rPr lang="en-US" altLang="ko-KR" dirty="0"/>
              <a:t>: Evolutionary Algorithms (</a:t>
            </a:r>
            <a:r>
              <a:rPr lang="ko-KR" altLang="en-US" dirty="0"/>
              <a:t>진화 알고리즘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GA</a:t>
            </a:r>
            <a:r>
              <a:rPr lang="en-US" altLang="ko-KR" dirty="0"/>
              <a:t>: Genetic Algorithms (</a:t>
            </a:r>
            <a:r>
              <a:rPr lang="ko-KR" altLang="en-US" dirty="0"/>
              <a:t>유전 알고리즘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GP/EP</a:t>
            </a:r>
            <a:r>
              <a:rPr lang="en-US" altLang="ko-KR" dirty="0"/>
              <a:t>: Genetic Programming/Evolutionary Programming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유전 프로그래밍</a:t>
            </a:r>
            <a:r>
              <a:rPr lang="en-US" altLang="ko-KR" dirty="0"/>
              <a:t>/</a:t>
            </a:r>
            <a:r>
              <a:rPr lang="ko-KR" altLang="en-US" dirty="0"/>
              <a:t>진화 프로그래밍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ANN</a:t>
            </a:r>
            <a:r>
              <a:rPr lang="en-US" altLang="ko-KR" dirty="0"/>
              <a:t>: Artificial Neural Networks (</a:t>
            </a:r>
            <a:r>
              <a:rPr lang="ko-KR" altLang="en-US" dirty="0"/>
              <a:t>인공 신경망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DE</a:t>
            </a:r>
            <a:r>
              <a:rPr lang="en-US" altLang="ko-KR" dirty="0"/>
              <a:t>: Differential Evolutions (</a:t>
            </a:r>
            <a:r>
              <a:rPr lang="ko-KR" altLang="en-US" dirty="0"/>
              <a:t>차분 진화 알고리즘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b="1" dirty="0"/>
              <a:t> </a:t>
            </a:r>
            <a:r>
              <a:rPr lang="en-US" altLang="ko-KR" b="1" dirty="0">
                <a:solidFill>
                  <a:schemeClr val="bg1"/>
                </a:solidFill>
              </a:rPr>
              <a:t>EMODPS: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/>
              <a:t>Multi-objective Direct Policy Search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진화적 다목적</a:t>
            </a:r>
            <a:r>
              <a:rPr lang="en-US" altLang="ko-KR" dirty="0"/>
              <a:t> </a:t>
            </a:r>
            <a:r>
              <a:rPr lang="ko-KR" altLang="en-US" dirty="0"/>
              <a:t>직접 정책 </a:t>
            </a:r>
            <a:r>
              <a:rPr lang="ko-KR" altLang="en-US" dirty="0" err="1"/>
              <a:t>검색법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88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F93E5-5711-42A4-BA59-E18A20C4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0111"/>
            <a:ext cx="7886700" cy="75961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Examples of Data-driven Models: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D32F6-807D-4379-9678-256D0883C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Data-fitting or Statistical Models (ex. Regression)</a:t>
            </a:r>
          </a:p>
          <a:p>
            <a:pPr lvl="1"/>
            <a:r>
              <a:rPr lang="en-US" altLang="ko-KR" dirty="0"/>
              <a:t> Converts </a:t>
            </a:r>
            <a:r>
              <a:rPr lang="en-US" altLang="ko-KR" b="1" u="sng" dirty="0">
                <a:solidFill>
                  <a:schemeClr val="bg1"/>
                </a:solidFill>
              </a:rPr>
              <a:t>observed inputs</a:t>
            </a:r>
            <a:r>
              <a:rPr lang="en-US" altLang="ko-KR" b="1" u="sng" dirty="0"/>
              <a:t> (rainfall, inflow, etc.)</a:t>
            </a:r>
            <a:r>
              <a:rPr lang="en-US" altLang="ko-KR" dirty="0"/>
              <a:t> to </a:t>
            </a:r>
            <a:r>
              <a:rPr lang="en-US" altLang="ko-KR" b="1" u="sng" dirty="0">
                <a:solidFill>
                  <a:schemeClr val="bg1"/>
                </a:solidFill>
              </a:rPr>
              <a:t>observed outputs</a:t>
            </a:r>
            <a:r>
              <a:rPr lang="en-US" altLang="ko-KR" b="1" u="sng" dirty="0"/>
              <a:t> (runoff, release, etc.)</a:t>
            </a:r>
            <a:r>
              <a:rPr lang="en-US" altLang="ko-KR" dirty="0"/>
              <a:t> using mathematical equations</a:t>
            </a:r>
          </a:p>
          <a:p>
            <a:pPr lvl="1"/>
            <a:r>
              <a:rPr lang="en-US" altLang="ko-KR" dirty="0"/>
              <a:t> Depend on observed inputs and observed outputs for the estimation of the values of their </a:t>
            </a:r>
            <a:r>
              <a:rPr lang="en-US" altLang="ko-KR" dirty="0">
                <a:solidFill>
                  <a:schemeClr val="bg1"/>
                </a:solidFill>
              </a:rPr>
              <a:t>parameters (a, b, c, etc.)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E79A-C484-4C89-877E-072A6C70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E889CB-5CD7-45B4-81B1-0604FCF86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25" y="3298306"/>
            <a:ext cx="4413750" cy="313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2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BE5F5-5025-4EBB-BD41-46DD645E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Examples of Data-driven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BE6FF-765E-4DB2-8378-98FE8FBB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Many of them based on </a:t>
            </a:r>
            <a:r>
              <a:rPr lang="en-US" altLang="ko-KR" dirty="0">
                <a:solidFill>
                  <a:schemeClr val="bg1"/>
                </a:solidFill>
              </a:rPr>
              <a:t>biological principles &amp; concepts</a:t>
            </a:r>
          </a:p>
          <a:p>
            <a:r>
              <a:rPr lang="en-US" altLang="ko-KR" dirty="0"/>
              <a:t> Some examples… </a:t>
            </a:r>
          </a:p>
          <a:p>
            <a:pPr lvl="1"/>
            <a:r>
              <a:rPr lang="en-US" altLang="ko-KR" dirty="0"/>
              <a:t> Evolutionary Algorithms (EA)</a:t>
            </a:r>
          </a:p>
          <a:p>
            <a:pPr lvl="1"/>
            <a:r>
              <a:rPr lang="en-US" altLang="ko-KR" dirty="0"/>
              <a:t> Genetic/evolutionary Programming (GP/EP)</a:t>
            </a:r>
          </a:p>
          <a:p>
            <a:pPr lvl="1"/>
            <a:r>
              <a:rPr lang="en-US" altLang="ko-KR" dirty="0"/>
              <a:t> Evolutionary Strategy (ES), ANN, etc.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F8236-9D9B-4DF9-BD16-9EEB2532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4098" name="Picture 2" descr="File:Evolutionary Algorithm.svg - Wikimedia Commons">
            <a:extLst>
              <a:ext uri="{FF2B5EF4-FFF2-40B4-BE49-F238E27FC236}">
                <a16:creationId xmlns:a16="http://schemas.microsoft.com/office/drawing/2014/main" id="{512C4AAC-43A7-4139-B28A-C523CAB86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894038"/>
            <a:ext cx="4070452" cy="234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llustration of the genetic programming mutation and crossover. The... |  Download Scientific Diagram">
            <a:extLst>
              <a:ext uri="{FF2B5EF4-FFF2-40B4-BE49-F238E27FC236}">
                <a16:creationId xmlns:a16="http://schemas.microsoft.com/office/drawing/2014/main" id="{24A37ADE-B27C-428E-8961-C2B26651A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257" y="3955157"/>
            <a:ext cx="3098724" cy="222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55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EDD1A-346F-45FB-99F9-04A67276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Artificial Neural Network (ANN)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399B15-F94B-4CE0-86B6-453625B2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8263830" cy="4908203"/>
          </a:xfrm>
        </p:spPr>
        <p:txBody>
          <a:bodyPr>
            <a:normAutofit/>
          </a:bodyPr>
          <a:lstStyle/>
          <a:p>
            <a:r>
              <a:rPr lang="en-US" altLang="ko-KR" dirty="0"/>
              <a:t> Concepts behind the ANN Models </a:t>
            </a:r>
          </a:p>
          <a:p>
            <a:pPr lvl="1"/>
            <a:r>
              <a:rPr lang="en-US" altLang="ko-KR" dirty="0"/>
              <a:t> Information</a:t>
            </a:r>
            <a:r>
              <a:rPr lang="ko-KR" altLang="en-US" dirty="0"/>
              <a:t> </a:t>
            </a:r>
            <a:r>
              <a:rPr lang="en-US" altLang="ko-KR" dirty="0"/>
              <a:t>processing model inspired by the </a:t>
            </a:r>
            <a:br>
              <a:rPr lang="en-US" altLang="ko-KR" dirty="0"/>
            </a:br>
            <a:r>
              <a:rPr lang="en-US" altLang="ko-KR" b="1" u="sng" dirty="0">
                <a:solidFill>
                  <a:schemeClr val="bg1"/>
                </a:solidFill>
              </a:rPr>
              <a:t>biological neuron system</a:t>
            </a:r>
          </a:p>
          <a:p>
            <a:pPr lvl="1"/>
            <a:r>
              <a:rPr lang="en-US" altLang="ko-KR" dirty="0"/>
              <a:t> Distributed, adaptive, generally nonlinear networks built from many different processing elements</a:t>
            </a:r>
          </a:p>
          <a:p>
            <a:pPr lvl="1"/>
            <a:r>
              <a:rPr lang="en-US" altLang="ko-KR" dirty="0"/>
              <a:t> Just a more complex type of regression or statistical (black-box) model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54B83C-08D2-4AA4-B271-B6868648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Picture 2" descr="https://res.cloudinary.com/dyd911kmh/image/upload/f_auto,q_auto:best/v1547672259/2_i1cdwq.png">
            <a:extLst>
              <a:ext uri="{FF2B5EF4-FFF2-40B4-BE49-F238E27FC236}">
                <a16:creationId xmlns:a16="http://schemas.microsoft.com/office/drawing/2014/main" id="{DF95D74B-EA21-43E4-B465-60AE1529D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637" y="4290291"/>
            <a:ext cx="4087366" cy="189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6FD2C4AC-A34D-461A-9882-E3DF2DDE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53" y="4258171"/>
            <a:ext cx="4264961" cy="186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99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A5317-5743-4DD1-8D96-C34F3DA2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Artificial Neural Network (ANN)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93964-CC12-47C9-853D-0AABDFF14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Components of ANN models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>
                <a:solidFill>
                  <a:schemeClr val="bg1"/>
                </a:solidFill>
              </a:rPr>
              <a:t>Input layer: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/>
              <a:t>nodes that receive an </a:t>
            </a:r>
            <a:r>
              <a:rPr lang="en-US" altLang="ko-KR" u="sng" dirty="0">
                <a:solidFill>
                  <a:schemeClr val="bg1"/>
                </a:solidFill>
              </a:rPr>
              <a:t>input from the external environment </a:t>
            </a:r>
            <a:r>
              <a:rPr lang="en-US" altLang="ko-KR" dirty="0"/>
              <a:t>(send their weighted values to hidden layer nodes)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>
                <a:solidFill>
                  <a:schemeClr val="bg1"/>
                </a:solidFill>
              </a:rPr>
              <a:t>Hidden layer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en-US" altLang="ko-KR" dirty="0"/>
              <a:t>nodes that typically receive the transferred weighted inputs from the input/previous hidden layer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>
                <a:solidFill>
                  <a:schemeClr val="bg1"/>
                </a:solidFill>
              </a:rPr>
              <a:t>Output layer</a:t>
            </a:r>
            <a:r>
              <a:rPr lang="en-US" altLang="ko-KR" dirty="0"/>
              <a:t>: nodes that receive the hidden layer output and send it to the user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D1F20-0B48-4343-908A-2CEFDBB2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Picture 2" descr="https://res.cloudinary.com/dyd911kmh/image/upload/f_auto,q_auto:best/v1547672259/3_qwv5gr.png">
            <a:extLst>
              <a:ext uri="{FF2B5EF4-FFF2-40B4-BE49-F238E27FC236}">
                <a16:creationId xmlns:a16="http://schemas.microsoft.com/office/drawing/2014/main" id="{0249C8FE-E0BC-41D9-ABD8-0EA511A23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421" y="3955934"/>
            <a:ext cx="5771158" cy="258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53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91258-FC31-48AF-AB60-4615EF7D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Artificial Neural Network (ANN) Models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ED743-C6E0-4F39-9448-75371EE49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A683E-4E48-45DA-BC3E-B2664EF1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 Types of ANN Models</a:t>
            </a:r>
          </a:p>
          <a:p>
            <a:pPr lvl="1"/>
            <a:r>
              <a:rPr lang="en-US" altLang="ko-KR" b="1" u="sng" dirty="0"/>
              <a:t> </a:t>
            </a:r>
            <a:r>
              <a:rPr lang="en-US" altLang="ko-KR" b="1" u="sng" dirty="0">
                <a:solidFill>
                  <a:schemeClr val="bg1"/>
                </a:solidFill>
              </a:rPr>
              <a:t>Feedforward ANN- </a:t>
            </a:r>
            <a:r>
              <a:rPr lang="en-US" altLang="ko-KR" dirty="0"/>
              <a:t>NOT recursive, signals travel in ONLY ONE direction towards the output layer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>
                <a:solidFill>
                  <a:schemeClr val="bg1"/>
                </a:solidFill>
              </a:rPr>
              <a:t>Feedback ANN </a:t>
            </a:r>
            <a:r>
              <a:rPr lang="en-US" altLang="ko-KR" dirty="0"/>
              <a:t>(=</a:t>
            </a:r>
            <a:r>
              <a:rPr lang="en-US" altLang="ko-KR" b="1" u="sng" dirty="0">
                <a:solidFill>
                  <a:schemeClr val="bg1"/>
                </a:solidFill>
              </a:rPr>
              <a:t>Recurrent Neural Networks</a:t>
            </a:r>
            <a:r>
              <a:rPr lang="en-US" altLang="ko-KR" b="1" u="sng" dirty="0"/>
              <a:t>, RNN</a:t>
            </a:r>
            <a:r>
              <a:rPr lang="en-US" altLang="ko-KR" dirty="0"/>
              <a:t>)- recursive, past inputs can be fed back into with current inputs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Activation Functions</a:t>
            </a:r>
          </a:p>
          <a:p>
            <a:pPr lvl="1"/>
            <a:r>
              <a:rPr lang="en-US" altLang="ko-KR" dirty="0"/>
              <a:t> Identity function</a:t>
            </a:r>
          </a:p>
          <a:p>
            <a:pPr lvl="1"/>
            <a:r>
              <a:rPr lang="en-US" altLang="ko-KR" dirty="0"/>
              <a:t> Binary Step Function</a:t>
            </a:r>
          </a:p>
          <a:p>
            <a:pPr lvl="1"/>
            <a:r>
              <a:rPr lang="en-US" altLang="ko-KR" dirty="0"/>
              <a:t> Sigmoid Function</a:t>
            </a:r>
          </a:p>
          <a:p>
            <a:pPr lvl="1"/>
            <a:r>
              <a:rPr lang="en-US" altLang="ko-KR" dirty="0"/>
              <a:t> Ramp Function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 err="1">
                <a:solidFill>
                  <a:schemeClr val="bg1"/>
                </a:solidFill>
              </a:rPr>
              <a:t>ReLU</a:t>
            </a:r>
            <a:r>
              <a:rPr lang="en-US" altLang="ko-KR" b="1" u="sng" dirty="0">
                <a:solidFill>
                  <a:schemeClr val="bg1"/>
                </a:solidFill>
              </a:rPr>
              <a:t> (Rectified Linear unit)</a:t>
            </a:r>
            <a:endParaRPr lang="ko-KR" altLang="en-US" b="1" u="sng" dirty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  <p:pic>
        <p:nvPicPr>
          <p:cNvPr id="6148" name="Picture 4" descr="https://res.cloudinary.com/dyd911kmh/image/upload/f_auto,q_auto:best/v1547672259/4_jouacz.png">
            <a:extLst>
              <a:ext uri="{FF2B5EF4-FFF2-40B4-BE49-F238E27FC236}">
                <a16:creationId xmlns:a16="http://schemas.microsoft.com/office/drawing/2014/main" id="{593520A4-727A-4A48-A2D4-EB2E8AB19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19" y="3685478"/>
            <a:ext cx="4187211" cy="280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1A028C-DA8B-41EE-9625-99D8280B701E}"/>
              </a:ext>
            </a:extLst>
          </p:cNvPr>
          <p:cNvSpPr txBox="1"/>
          <p:nvPr/>
        </p:nvSpPr>
        <p:spPr>
          <a:xfrm>
            <a:off x="8044976" y="36577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*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89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A344B-2832-4AAA-8925-060C396C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Artificial Neural Network (ANN)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D3ADF-1F4D-4FA0-8335-E6FAED4D0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896544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 Procedures for preparing/training an ANN (Smith 1993)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Design a network.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Divide the dataset into training, validation, and testing subsets.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Train the network on the training data set.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Periodically stop the training and measure the error on the validation data set.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Save the weights of the network.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Repeat Steps 2, 3, 4 until the error on the validation data sets starts increasing. This is the moment where the overfitting has started.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Go back to the weights that produced the lowest error on the validation data set, and use these weights for the trained ANN.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Test the trained ANN using the testing data set. If it shows good performance, use it. If not, redesign the network and repeat the entire procedure from Step 3.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5AB86F-44C0-4A33-8CAF-27DBF629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60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0F7AC-DA36-4CFB-9CF1-7FF2F984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 Example (Binary)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38919C-DE8A-41FF-81F6-7AC102040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Training Dataset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Train the model with given data</a:t>
            </a:r>
            <a:br>
              <a:rPr lang="en-US" altLang="ko-KR" dirty="0"/>
            </a:br>
            <a:r>
              <a:rPr lang="en-US" altLang="ko-KR" dirty="0"/>
              <a:t>(3 hidden layers with logistic activation function)</a:t>
            </a:r>
          </a:p>
          <a:p>
            <a:r>
              <a:rPr lang="en-US" altLang="ko-KR" dirty="0"/>
              <a:t> Result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5192D5-0A39-4EB4-985E-6CE61E74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D0B669-AA83-4854-8F8E-55AF1286A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076773"/>
            <a:ext cx="5812775" cy="25598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A68D60-89EA-4CAA-B003-100AD086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690" y="4692271"/>
            <a:ext cx="4947710" cy="197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3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0320C-EF92-48DD-B13C-41C83B4C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 Example (Binary)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759CED-80B8-42DD-845E-8AF72647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Test the model with Test dataset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F2A7DE-2DD0-4656-919E-47BA240D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8191D52-AEC4-4519-A4A0-4F1C1CD06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055252"/>
              </p:ext>
            </p:extLst>
          </p:nvPr>
        </p:nvGraphicFramePr>
        <p:xfrm>
          <a:off x="1524000" y="1844824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63526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311609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65323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Technical Knowledge Score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Communication Skills Score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Student Placed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02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65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57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5291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9FE57541-265F-4EEA-BADB-135754CA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4077072"/>
            <a:ext cx="61912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0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68F7C-3741-46EF-847B-80C1C2CF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 Example (Binary)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7F26F-88EE-4A33-9B68-2DCE9B35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AB0C67-C8A2-4F89-B622-7CAE035B71C8}"/>
              </a:ext>
            </a:extLst>
          </p:cNvPr>
          <p:cNvSpPr/>
          <p:nvPr/>
        </p:nvSpPr>
        <p:spPr>
          <a:xfrm>
            <a:off x="628650" y="1254667"/>
            <a:ext cx="7975798" cy="5101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/>
              <a:t>#https://www.datacamp.com/community/tutorials/neural-network-models-r</a:t>
            </a:r>
          </a:p>
          <a:p>
            <a:r>
              <a:rPr lang="ko-KR" altLang="en-US" sz="1050" dirty="0"/>
              <a:t>#</a:t>
            </a:r>
            <a:r>
              <a:rPr lang="ko-KR" altLang="en-US" sz="1050" dirty="0" err="1"/>
              <a:t>install.packages</a:t>
            </a:r>
            <a:r>
              <a:rPr lang="ko-KR" altLang="en-US" sz="1050" dirty="0"/>
              <a:t>("</a:t>
            </a:r>
            <a:r>
              <a:rPr lang="ko-KR" altLang="en-US" sz="1050" dirty="0" err="1"/>
              <a:t>neuralnet</a:t>
            </a:r>
            <a:r>
              <a:rPr lang="ko-KR" altLang="en-US" sz="1050" dirty="0"/>
              <a:t>")</a:t>
            </a:r>
          </a:p>
          <a:p>
            <a:r>
              <a:rPr lang="ko-KR" altLang="en-US" sz="1050" dirty="0" err="1"/>
              <a:t>library</a:t>
            </a:r>
            <a:r>
              <a:rPr lang="ko-KR" altLang="en-US" sz="1050" dirty="0"/>
              <a:t>(</a:t>
            </a:r>
            <a:r>
              <a:rPr lang="ko-KR" altLang="en-US" sz="1050" dirty="0" err="1"/>
              <a:t>neuralnet</a:t>
            </a:r>
            <a:r>
              <a:rPr lang="ko-KR" altLang="en-US" sz="1050" dirty="0"/>
              <a:t>)</a:t>
            </a:r>
          </a:p>
          <a:p>
            <a:endParaRPr lang="ko-KR" altLang="en-US" sz="1050" dirty="0"/>
          </a:p>
          <a:p>
            <a:r>
              <a:rPr lang="ko-KR" altLang="en-US" sz="1050" dirty="0" err="1"/>
              <a:t>set.seed</a:t>
            </a:r>
            <a:r>
              <a:rPr lang="ko-KR" altLang="en-US" sz="1050" dirty="0"/>
              <a:t>(42)</a:t>
            </a:r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creating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training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data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set</a:t>
            </a:r>
            <a:endParaRPr lang="ko-KR" altLang="en-US" sz="1050" dirty="0"/>
          </a:p>
          <a:p>
            <a:r>
              <a:rPr lang="ko-KR" altLang="en-US" sz="1050" dirty="0"/>
              <a:t>TKS=c(20,10,30,20,80,30)</a:t>
            </a:r>
          </a:p>
          <a:p>
            <a:r>
              <a:rPr lang="ko-KR" altLang="en-US" sz="1050" dirty="0"/>
              <a:t>CSS=c(90,20,40,50,50,80)</a:t>
            </a:r>
          </a:p>
          <a:p>
            <a:r>
              <a:rPr lang="ko-KR" altLang="en-US" sz="1050" dirty="0" err="1"/>
              <a:t>Placed</a:t>
            </a:r>
            <a:r>
              <a:rPr lang="ko-KR" altLang="en-US" sz="1050" dirty="0"/>
              <a:t>=c(1,0,0,0,1,1)</a:t>
            </a:r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Here</a:t>
            </a:r>
            <a:r>
              <a:rPr lang="ko-KR" altLang="en-US" sz="1050" dirty="0"/>
              <a:t>, </a:t>
            </a:r>
            <a:r>
              <a:rPr lang="ko-KR" altLang="en-US" sz="1050" dirty="0" err="1"/>
              <a:t>you</a:t>
            </a:r>
            <a:r>
              <a:rPr lang="ko-KR" altLang="en-US" sz="1050" dirty="0"/>
              <a:t> </a:t>
            </a:r>
            <a:r>
              <a:rPr lang="ko-KR" altLang="en-US" sz="1050" dirty="0" err="1"/>
              <a:t>will</a:t>
            </a:r>
            <a:r>
              <a:rPr lang="ko-KR" altLang="en-US" sz="1050" dirty="0"/>
              <a:t> </a:t>
            </a:r>
            <a:r>
              <a:rPr lang="ko-KR" altLang="en-US" sz="1050" dirty="0" err="1"/>
              <a:t>combine</a:t>
            </a:r>
            <a:r>
              <a:rPr lang="ko-KR" altLang="en-US" sz="1050" dirty="0"/>
              <a:t> </a:t>
            </a:r>
            <a:r>
              <a:rPr lang="ko-KR" altLang="en-US" sz="1050" dirty="0" err="1"/>
              <a:t>multiple</a:t>
            </a:r>
            <a:r>
              <a:rPr lang="ko-KR" altLang="en-US" sz="1050" dirty="0"/>
              <a:t> </a:t>
            </a:r>
            <a:r>
              <a:rPr lang="ko-KR" altLang="en-US" sz="1050" dirty="0" err="1"/>
              <a:t>columns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or</a:t>
            </a:r>
            <a:r>
              <a:rPr lang="ko-KR" altLang="en-US" sz="1050" dirty="0"/>
              <a:t> </a:t>
            </a:r>
            <a:r>
              <a:rPr lang="ko-KR" altLang="en-US" sz="1050" dirty="0" err="1"/>
              <a:t>features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into</a:t>
            </a:r>
            <a:r>
              <a:rPr lang="ko-KR" altLang="en-US" sz="1050" dirty="0"/>
              <a:t> </a:t>
            </a:r>
            <a:r>
              <a:rPr lang="ko-KR" altLang="en-US" sz="1050" dirty="0" err="1"/>
              <a:t>a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single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set</a:t>
            </a:r>
            <a:r>
              <a:rPr lang="ko-KR" altLang="en-US" sz="1050" dirty="0"/>
              <a:t> of </a:t>
            </a:r>
            <a:r>
              <a:rPr lang="ko-KR" altLang="en-US" sz="1050" dirty="0" err="1"/>
              <a:t>data</a:t>
            </a:r>
            <a:endParaRPr lang="ko-KR" altLang="en-US" sz="1050" dirty="0"/>
          </a:p>
          <a:p>
            <a:r>
              <a:rPr lang="ko-KR" altLang="en-US" sz="1050" dirty="0" err="1"/>
              <a:t>df</a:t>
            </a:r>
            <a:r>
              <a:rPr lang="ko-KR" altLang="en-US" sz="1050" dirty="0"/>
              <a:t>=</a:t>
            </a:r>
            <a:r>
              <a:rPr lang="ko-KR" altLang="en-US" sz="1050" dirty="0" err="1"/>
              <a:t>data.frame</a:t>
            </a:r>
            <a:r>
              <a:rPr lang="ko-KR" altLang="en-US" sz="1050" dirty="0"/>
              <a:t>(</a:t>
            </a:r>
            <a:r>
              <a:rPr lang="ko-KR" altLang="en-US" sz="1050" dirty="0" err="1"/>
              <a:t>TKS,CSS,Placed</a:t>
            </a:r>
            <a:r>
              <a:rPr lang="ko-KR" altLang="en-US" sz="1050" dirty="0"/>
              <a:t>)</a:t>
            </a:r>
          </a:p>
          <a:p>
            <a:endParaRPr lang="ko-KR" altLang="en-US" sz="1050" dirty="0"/>
          </a:p>
          <a:p>
            <a:r>
              <a:rPr lang="ko-KR" altLang="en-US" sz="1050" dirty="0" err="1"/>
              <a:t>nn</a:t>
            </a:r>
            <a:r>
              <a:rPr lang="ko-KR" altLang="en-US" sz="1050" dirty="0"/>
              <a:t>=</a:t>
            </a:r>
            <a:r>
              <a:rPr lang="ko-KR" altLang="en-US" sz="1050" dirty="0" err="1"/>
              <a:t>neuralnet</a:t>
            </a:r>
            <a:r>
              <a:rPr lang="ko-KR" altLang="en-US" sz="1050" dirty="0"/>
              <a:t>(</a:t>
            </a:r>
            <a:r>
              <a:rPr lang="ko-KR" altLang="en-US" sz="1050" dirty="0" err="1"/>
              <a:t>Placed~TKS+CSS,data</a:t>
            </a:r>
            <a:r>
              <a:rPr lang="ko-KR" altLang="en-US" sz="1050" dirty="0"/>
              <a:t>=</a:t>
            </a:r>
            <a:r>
              <a:rPr lang="ko-KR" altLang="en-US" sz="1050" dirty="0" err="1"/>
              <a:t>df</a:t>
            </a:r>
            <a:r>
              <a:rPr lang="ko-KR" altLang="en-US" sz="1050" dirty="0"/>
              <a:t>, </a:t>
            </a:r>
            <a:r>
              <a:rPr lang="ko-KR" altLang="en-US" sz="1050" dirty="0" err="1"/>
              <a:t>hidden</a:t>
            </a:r>
            <a:r>
              <a:rPr lang="ko-KR" altLang="en-US" sz="1050" dirty="0"/>
              <a:t>=3,act.fct = "</a:t>
            </a:r>
            <a:r>
              <a:rPr lang="ko-KR" altLang="en-US" sz="1050" dirty="0" err="1"/>
              <a:t>logistic</a:t>
            </a:r>
            <a:r>
              <a:rPr lang="ko-KR" altLang="en-US" sz="1050" dirty="0"/>
              <a:t>",</a:t>
            </a:r>
          </a:p>
          <a:p>
            <a:r>
              <a:rPr lang="ko-KR" altLang="en-US" sz="1050" dirty="0"/>
              <a:t>             </a:t>
            </a:r>
            <a:r>
              <a:rPr lang="ko-KR" altLang="en-US" sz="1050" dirty="0" err="1"/>
              <a:t>linear.output</a:t>
            </a:r>
            <a:r>
              <a:rPr lang="ko-KR" altLang="en-US" sz="1050" dirty="0"/>
              <a:t> = FALSE)</a:t>
            </a:r>
          </a:p>
          <a:p>
            <a:endParaRPr lang="ko-KR" altLang="en-US" sz="1050" dirty="0"/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plot</a:t>
            </a:r>
            <a:r>
              <a:rPr lang="ko-KR" altLang="en-US" sz="1050" dirty="0"/>
              <a:t> </a:t>
            </a:r>
            <a:r>
              <a:rPr lang="ko-KR" altLang="en-US" sz="1050" dirty="0" err="1"/>
              <a:t>neural</a:t>
            </a:r>
            <a:r>
              <a:rPr lang="ko-KR" altLang="en-US" sz="1050" dirty="0"/>
              <a:t> </a:t>
            </a:r>
            <a:r>
              <a:rPr lang="ko-KR" altLang="en-US" sz="1050" dirty="0" err="1"/>
              <a:t>network</a:t>
            </a:r>
            <a:endParaRPr lang="ko-KR" altLang="en-US" sz="1050" dirty="0"/>
          </a:p>
          <a:p>
            <a:r>
              <a:rPr lang="ko-KR" altLang="en-US" sz="1050" dirty="0" err="1"/>
              <a:t>plot</a:t>
            </a:r>
            <a:r>
              <a:rPr lang="ko-KR" altLang="en-US" sz="1050" dirty="0"/>
              <a:t>(</a:t>
            </a:r>
            <a:r>
              <a:rPr lang="ko-KR" altLang="en-US" sz="1050" dirty="0" err="1"/>
              <a:t>nn</a:t>
            </a:r>
            <a:r>
              <a:rPr lang="ko-KR" altLang="en-US" sz="1050" dirty="0"/>
              <a:t>)</a:t>
            </a:r>
          </a:p>
          <a:p>
            <a:endParaRPr lang="ko-KR" altLang="en-US" sz="1050" dirty="0"/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creating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test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set</a:t>
            </a:r>
            <a:endParaRPr lang="ko-KR" altLang="en-US" sz="1050" dirty="0"/>
          </a:p>
          <a:p>
            <a:r>
              <a:rPr lang="ko-KR" altLang="en-US" sz="1050" dirty="0"/>
              <a:t>TKS=c(30,40,85)</a:t>
            </a:r>
          </a:p>
          <a:p>
            <a:r>
              <a:rPr lang="ko-KR" altLang="en-US" sz="1050" dirty="0"/>
              <a:t>CSS=c(85,50,40)</a:t>
            </a:r>
          </a:p>
          <a:p>
            <a:r>
              <a:rPr lang="ko-KR" altLang="en-US" sz="1050" dirty="0" err="1"/>
              <a:t>test</a:t>
            </a:r>
            <a:r>
              <a:rPr lang="ko-KR" altLang="en-US" sz="1050" dirty="0"/>
              <a:t>=</a:t>
            </a:r>
            <a:r>
              <a:rPr lang="ko-KR" altLang="en-US" sz="1050" dirty="0" err="1"/>
              <a:t>data.frame</a:t>
            </a:r>
            <a:r>
              <a:rPr lang="ko-KR" altLang="en-US" sz="1050" dirty="0"/>
              <a:t>(TKS,CSS)</a:t>
            </a:r>
          </a:p>
          <a:p>
            <a:endParaRPr lang="ko-KR" altLang="en-US" sz="1050" dirty="0"/>
          </a:p>
          <a:p>
            <a:r>
              <a:rPr lang="ko-KR" altLang="en-US" sz="1050" dirty="0"/>
              <a:t>## </a:t>
            </a:r>
            <a:r>
              <a:rPr lang="ko-KR" altLang="en-US" sz="1050" dirty="0" err="1"/>
              <a:t>Prediction</a:t>
            </a:r>
            <a:r>
              <a:rPr lang="ko-KR" altLang="en-US" sz="1050" dirty="0"/>
              <a:t> </a:t>
            </a:r>
            <a:r>
              <a:rPr lang="ko-KR" altLang="en-US" sz="1050" dirty="0" err="1"/>
              <a:t>using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neural</a:t>
            </a:r>
            <a:r>
              <a:rPr lang="ko-KR" altLang="en-US" sz="1050" dirty="0"/>
              <a:t> </a:t>
            </a:r>
            <a:r>
              <a:rPr lang="ko-KR" altLang="en-US" sz="1050" dirty="0" err="1"/>
              <a:t>network</a:t>
            </a:r>
            <a:endParaRPr lang="ko-KR" altLang="en-US" sz="1050" dirty="0"/>
          </a:p>
          <a:p>
            <a:r>
              <a:rPr lang="ko-KR" altLang="en-US" sz="1050" dirty="0" err="1"/>
              <a:t>Predict</a:t>
            </a:r>
            <a:r>
              <a:rPr lang="ko-KR" altLang="en-US" sz="1050" dirty="0"/>
              <a:t>=</a:t>
            </a:r>
            <a:r>
              <a:rPr lang="ko-KR" altLang="en-US" sz="1050" dirty="0" err="1"/>
              <a:t>compute</a:t>
            </a:r>
            <a:r>
              <a:rPr lang="ko-KR" altLang="en-US" sz="1050" dirty="0"/>
              <a:t>(</a:t>
            </a:r>
            <a:r>
              <a:rPr lang="ko-KR" altLang="en-US" sz="1050" dirty="0" err="1"/>
              <a:t>nn,test</a:t>
            </a:r>
            <a:r>
              <a:rPr lang="ko-KR" altLang="en-US" sz="1050" dirty="0"/>
              <a:t>)</a:t>
            </a:r>
          </a:p>
          <a:p>
            <a:r>
              <a:rPr lang="ko-KR" altLang="en-US" sz="1050" dirty="0" err="1"/>
              <a:t>Predict$net.result</a:t>
            </a:r>
            <a:endParaRPr lang="ko-KR" altLang="en-US" sz="1050" dirty="0"/>
          </a:p>
          <a:p>
            <a:endParaRPr lang="ko-KR" altLang="en-US" sz="1050" dirty="0"/>
          </a:p>
          <a:p>
            <a:r>
              <a:rPr lang="ko-KR" altLang="en-US" sz="1050" dirty="0"/>
              <a:t># </a:t>
            </a:r>
            <a:r>
              <a:rPr lang="ko-KR" altLang="en-US" sz="1050" dirty="0" err="1"/>
              <a:t>Converting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probabilities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into</a:t>
            </a:r>
            <a:r>
              <a:rPr lang="ko-KR" altLang="en-US" sz="1050" dirty="0"/>
              <a:t> </a:t>
            </a:r>
            <a:r>
              <a:rPr lang="ko-KR" altLang="en-US" sz="1050" dirty="0" err="1"/>
              <a:t>binary</a:t>
            </a:r>
            <a:r>
              <a:rPr lang="ko-KR" altLang="en-US" sz="1050" dirty="0"/>
              <a:t> </a:t>
            </a:r>
            <a:r>
              <a:rPr lang="ko-KR" altLang="en-US" sz="1050" dirty="0" err="1"/>
              <a:t>classes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setting</a:t>
            </a:r>
            <a:r>
              <a:rPr lang="ko-KR" altLang="en-US" sz="1050" dirty="0"/>
              <a:t> </a:t>
            </a:r>
            <a:r>
              <a:rPr lang="ko-KR" altLang="en-US" sz="1050" dirty="0" err="1"/>
              <a:t>threshold</a:t>
            </a:r>
            <a:r>
              <a:rPr lang="ko-KR" altLang="en-US" sz="1050" dirty="0"/>
              <a:t> </a:t>
            </a:r>
            <a:r>
              <a:rPr lang="ko-KR" altLang="en-US" sz="1050" dirty="0" err="1"/>
              <a:t>level</a:t>
            </a:r>
            <a:r>
              <a:rPr lang="ko-KR" altLang="en-US" sz="1050" dirty="0"/>
              <a:t> 0.5</a:t>
            </a:r>
          </a:p>
          <a:p>
            <a:r>
              <a:rPr lang="ko-KR" altLang="en-US" sz="1050" dirty="0" err="1"/>
              <a:t>prob</a:t>
            </a:r>
            <a:r>
              <a:rPr lang="ko-KR" altLang="en-US" sz="1050" dirty="0"/>
              <a:t> &lt;- </a:t>
            </a:r>
            <a:r>
              <a:rPr lang="ko-KR" altLang="en-US" sz="1050" dirty="0" err="1"/>
              <a:t>Predict$net.result</a:t>
            </a:r>
            <a:endParaRPr lang="ko-KR" altLang="en-US" sz="1050" dirty="0"/>
          </a:p>
          <a:p>
            <a:r>
              <a:rPr lang="ko-KR" altLang="en-US" sz="1050" dirty="0" err="1"/>
              <a:t>pred</a:t>
            </a:r>
            <a:r>
              <a:rPr lang="ko-KR" altLang="en-US" sz="1050" dirty="0"/>
              <a:t> &lt;- </a:t>
            </a:r>
            <a:r>
              <a:rPr lang="ko-KR" altLang="en-US" sz="1050" dirty="0" err="1"/>
              <a:t>ifelse</a:t>
            </a:r>
            <a:r>
              <a:rPr lang="ko-KR" altLang="en-US" sz="1050" dirty="0"/>
              <a:t>(</a:t>
            </a:r>
            <a:r>
              <a:rPr lang="ko-KR" altLang="en-US" sz="1050" dirty="0" err="1"/>
              <a:t>prob</a:t>
            </a:r>
            <a:r>
              <a:rPr lang="ko-KR" altLang="en-US" sz="1050" dirty="0"/>
              <a:t>&gt;0.5, 1, 0)</a:t>
            </a:r>
          </a:p>
          <a:p>
            <a:r>
              <a:rPr lang="ko-KR" altLang="en-US" sz="1050" dirty="0" err="1"/>
              <a:t>pred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563240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72CCB-5439-4092-93B8-6B04417FC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BAFCE-9299-45FD-B6A7-0E034BEF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Evolutionary Algorithms</a:t>
            </a:r>
          </a:p>
          <a:p>
            <a:pPr lvl="1"/>
            <a:r>
              <a:rPr lang="en-US" altLang="ko-KR" dirty="0"/>
              <a:t> Randomized general-purpose search techniques used for finding the best values of the parameters or decision variables </a:t>
            </a:r>
          </a:p>
          <a:p>
            <a:pPr lvl="2"/>
            <a:r>
              <a:rPr lang="en-US" altLang="ko-KR" dirty="0"/>
              <a:t>Based on the mechanisms of </a:t>
            </a:r>
            <a:r>
              <a:rPr lang="en-US" altLang="ko-KR" b="1" u="sng" dirty="0">
                <a:solidFill>
                  <a:schemeClr val="bg1"/>
                </a:solidFill>
              </a:rPr>
              <a:t>natural selection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/>
              <a:t>(Goldberg 1989)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97ECFB-A5FF-4FE0-AD15-4F111F07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9220" name="Picture 4" descr="SOL LS.11 Natural Selection - Standards">
            <a:extLst>
              <a:ext uri="{FF2B5EF4-FFF2-40B4-BE49-F238E27FC236}">
                <a16:creationId xmlns:a16="http://schemas.microsoft.com/office/drawing/2014/main" id="{35D021CD-6581-46C8-B360-D6CC5320B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69" y="3207779"/>
            <a:ext cx="2930420" cy="27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Introduction to Evolutionary Algorithms | by Devin Soni 👑 | Towards Data  Science">
            <a:extLst>
              <a:ext uri="{FF2B5EF4-FFF2-40B4-BE49-F238E27FC236}">
                <a16:creationId xmlns:a16="http://schemas.microsoft.com/office/drawing/2014/main" id="{FAB5D891-3865-42B4-93DB-2CDFF1DD5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73586"/>
            <a:ext cx="3064339" cy="201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58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02203-7950-4C76-B535-0D6E43BB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459DD-7B14-4078-BDA3-37B141EB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Evolutionary Algorithms</a:t>
            </a:r>
          </a:p>
          <a:p>
            <a:pPr lvl="1"/>
            <a:r>
              <a:rPr lang="en-US" altLang="ko-KR" dirty="0"/>
              <a:t> Broad spectrum of heuristic approaches for simulating biological evolution in the search for improved </a:t>
            </a:r>
            <a:r>
              <a:rPr lang="en-US" altLang="ko-KR" b="1" u="sng" dirty="0">
                <a:solidFill>
                  <a:schemeClr val="bg1"/>
                </a:solidFill>
              </a:rPr>
              <a:t>“fitness”</a:t>
            </a:r>
          </a:p>
          <a:p>
            <a:pPr lvl="2"/>
            <a:r>
              <a:rPr lang="en-US" altLang="ko-KR" dirty="0"/>
              <a:t>Fitness = the best values of decision variables and parameters based on an objective or fitness function</a:t>
            </a:r>
          </a:p>
          <a:p>
            <a:pPr lvl="1"/>
            <a:r>
              <a:rPr lang="en-US" altLang="ko-KR" dirty="0"/>
              <a:t> Based on </a:t>
            </a:r>
            <a:r>
              <a:rPr lang="en-US" altLang="ko-KR" u="sng" dirty="0">
                <a:solidFill>
                  <a:schemeClr val="bg1"/>
                </a:solidFill>
              </a:rPr>
              <a:t>mutation, recombination, &amp; selection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Some examples</a:t>
            </a:r>
          </a:p>
          <a:p>
            <a:pPr lvl="2"/>
            <a:r>
              <a:rPr lang="en-US" altLang="ko-KR" dirty="0"/>
              <a:t>GA, ES, EP, GP</a:t>
            </a:r>
          </a:p>
          <a:p>
            <a:pPr lvl="2"/>
            <a:r>
              <a:rPr lang="en-US" altLang="ko-KR" dirty="0"/>
              <a:t>ACO, PSO, BFO, etc.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DA175D-995A-4C98-A823-2EB62A84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1BF4C-F8F0-439A-9EC0-9820B9A5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F67B98-DA1B-4273-8148-C0D9D8C52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 Steps in the optimization process using EAs (Maier et al. 2014)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Problem formulation (i.e. selection and definition of decision variables, objectives, and constraints).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Selection of decision variable values. 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Evaluation of objectives and constraints for the selected decision variable values, which is generally done using one or more </a:t>
            </a:r>
            <a:r>
              <a:rPr lang="en-US" altLang="ko-KR" b="1" u="sng" dirty="0">
                <a:solidFill>
                  <a:schemeClr val="bg1"/>
                </a:solidFill>
              </a:rPr>
              <a:t>simulation models.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 Selection of an updated set of decision variable values based on feedback received from the evaluation process using some search methodology.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 Repetition of points 3 and 4 until the selected stopping criterion has been satisfied.</a:t>
            </a:r>
          </a:p>
          <a:p>
            <a:pPr marL="800100" lvl="1" indent="-342900">
              <a:buAutoNum type="arabicParenR"/>
            </a:pPr>
            <a:r>
              <a:rPr lang="en-US" altLang="ko-KR" dirty="0"/>
              <a:t>Passing the optimal solutions into an appropriate decision-making process.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E088E-287A-47FC-A38F-1D34AB24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766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B6405-33F6-4BB4-B0B5-1DC94AF7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32DBF-F4BD-4C36-8F18-C1FF1632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dirty="0"/>
              <a:t> Elements of GA</a:t>
            </a:r>
          </a:p>
          <a:p>
            <a:pPr lvl="1"/>
            <a:r>
              <a:rPr lang="en-US" altLang="ko-KR" dirty="0"/>
              <a:t> Population</a:t>
            </a:r>
          </a:p>
          <a:p>
            <a:pPr lvl="1"/>
            <a:r>
              <a:rPr lang="en-US" altLang="ko-KR" dirty="0"/>
              <a:t> Chromosomes</a:t>
            </a:r>
          </a:p>
          <a:p>
            <a:pPr lvl="1"/>
            <a:r>
              <a:rPr lang="en-US" altLang="ko-KR" dirty="0"/>
              <a:t> Genes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00B639-75AC-47AA-BAFB-878BAE3D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1268" name="Picture 4" descr="Genetic Algorithm">
            <a:extLst>
              <a:ext uri="{FF2B5EF4-FFF2-40B4-BE49-F238E27FC236}">
                <a16:creationId xmlns:a16="http://schemas.microsoft.com/office/drawing/2014/main" id="{BC892DB7-73EF-40EA-B0A8-B8A069253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00808"/>
            <a:ext cx="3493269" cy="429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opulation, Chromosome, and Gene">
            <a:extLst>
              <a:ext uri="{FF2B5EF4-FFF2-40B4-BE49-F238E27FC236}">
                <a16:creationId xmlns:a16="http://schemas.microsoft.com/office/drawing/2014/main" id="{A11DAECC-1D35-4EA4-976E-0F2FDE045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842" y="3299310"/>
            <a:ext cx="4456915" cy="2788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593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32CD-0857-4B57-A1E0-CF6AAEDB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Evolutionary Algorithms (EA)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364B1-AC5B-40D3-BC49-B24221F7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DA463B-A04D-4953-9583-C002708C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70592"/>
            <a:ext cx="3888432" cy="199002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67A2D6B-2922-44EE-B902-AE75494BC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30785" y="2706972"/>
            <a:ext cx="4587281" cy="383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2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AAC26-70CD-43F7-8E39-3F29EAFF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EA Examples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8082655-0B94-493B-9D0F-0117A006F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93733"/>
            <a:ext cx="7886700" cy="485791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3C44A-E2E5-48E6-B8A9-737BC14B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228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65E89-93E4-4CE4-8268-0A07DD14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Genetic Programming (GP)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6E381-3127-4B0A-93EB-11FD531D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Genetic Programming (GP)</a:t>
            </a:r>
          </a:p>
          <a:p>
            <a:pPr lvl="1"/>
            <a:r>
              <a:rPr lang="en-US" altLang="ko-KR" dirty="0"/>
              <a:t> Induces a population of computer programs or models that improve automatically as they experience the data on which they are trained	</a:t>
            </a:r>
          </a:p>
          <a:p>
            <a:r>
              <a:rPr lang="en-US" altLang="ko-KR" dirty="0"/>
              <a:t> GP vs GA? </a:t>
            </a:r>
            <a:r>
              <a:rPr lang="ko-KR" altLang="en-US" dirty="0"/>
              <a:t>가장 큰 차이점은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8FEFA3-B185-4AA2-981A-83977235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6C599D-8EE6-433E-83C8-E45E02A53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934869"/>
            <a:ext cx="4514125" cy="25580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D6B0DA-545E-4FBF-9FA2-87FC2A0F0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094" y="3088779"/>
            <a:ext cx="3599022" cy="323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5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295CE-A057-46CD-A51B-09E26FD8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Curses of Stochastic Dynamic Programming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3C743D-AC56-4362-A73B-631E3BD5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0158E2B-219B-49BD-958C-BA3F02E50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272" y="1268413"/>
            <a:ext cx="5863455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45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K:\Documents\Josh\Current\Conferences\INFORMS\Presentation\Figures\snap_2011-11-01_12.58.1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5" y="858838"/>
            <a:ext cx="5334000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8" name="Picture 3" descr="K:\Documents\Josh\Current\Conferences\INFORMS\Presentation\Figures\snap_2011-11-01_13.00.1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362575"/>
            <a:ext cx="48482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/>
          <p:cNvSpPr/>
          <p:nvPr/>
        </p:nvSpPr>
        <p:spPr bwMode="auto">
          <a:xfrm>
            <a:off x="8305800" y="5454770"/>
            <a:ext cx="228600" cy="228600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343400" y="1143000"/>
            <a:ext cx="3744790" cy="1732628"/>
            <a:chOff x="2760681" y="870504"/>
            <a:chExt cx="6002319" cy="1339297"/>
          </a:xfrm>
        </p:grpSpPr>
        <p:grpSp>
          <p:nvGrpSpPr>
            <p:cNvPr id="19469" name="Group 44"/>
            <p:cNvGrpSpPr>
              <a:grpSpLocks/>
            </p:cNvGrpSpPr>
            <p:nvPr/>
          </p:nvGrpSpPr>
          <p:grpSpPr bwMode="auto">
            <a:xfrm>
              <a:off x="2760681" y="870504"/>
              <a:ext cx="6002319" cy="1339297"/>
              <a:chOff x="2760681" y="870504"/>
              <a:chExt cx="6002319" cy="1339297"/>
            </a:xfrm>
          </p:grpSpPr>
          <p:sp>
            <p:nvSpPr>
              <p:cNvPr id="19471" name="TextBox 57"/>
              <p:cNvSpPr txBox="1">
                <a:spLocks noChangeArrowheads="1"/>
              </p:cNvSpPr>
              <p:nvPr/>
            </p:nvSpPr>
            <p:spPr bwMode="auto">
              <a:xfrm>
                <a:off x="4571999" y="1371600"/>
                <a:ext cx="4191001" cy="832396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The original low cost solution is now </a:t>
                </a:r>
                <a:r>
                  <a:rPr lang="en-US" b="1" dirty="0">
                    <a:latin typeface="Calibri" pitchFamily="34" charset="0"/>
                    <a:cs typeface="Calibri" pitchFamily="34" charset="0"/>
                  </a:rPr>
                  <a:t>inferior</a:t>
                </a:r>
                <a:r>
                  <a:rPr lang="en-US" dirty="0">
                    <a:latin typeface="Calibri" pitchFamily="34" charset="0"/>
                    <a:cs typeface="Calibri" pitchFamily="34" charset="0"/>
                  </a:rPr>
                  <a:t> when considering the error objective.</a:t>
                </a:r>
              </a:p>
            </p:txBody>
          </p:sp>
          <p:cxnSp>
            <p:nvCxnSpPr>
              <p:cNvPr id="19472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2760681" y="870504"/>
                <a:ext cx="1811319" cy="501096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73" name="Straight Connector 35"/>
              <p:cNvCxnSpPr>
                <a:cxnSpLocks noChangeShapeType="1"/>
              </p:cNvCxnSpPr>
              <p:nvPr/>
            </p:nvCxnSpPr>
            <p:spPr bwMode="auto">
              <a:xfrm>
                <a:off x="2760681" y="870504"/>
                <a:ext cx="1811319" cy="1339297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9470" name="Straight Connector 35"/>
            <p:cNvCxnSpPr>
              <a:cxnSpLocks noChangeShapeType="1"/>
            </p:cNvCxnSpPr>
            <p:nvPr/>
          </p:nvCxnSpPr>
          <p:spPr bwMode="auto">
            <a:xfrm>
              <a:off x="2760681" y="870504"/>
              <a:ext cx="6002319" cy="501096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048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152400" y="1295400"/>
            <a:ext cx="3200400" cy="838200"/>
          </a:xfrm>
          <a:prstGeom prst="rect">
            <a:avLst/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152400" y="2133600"/>
            <a:ext cx="3200400" cy="762000"/>
          </a:xfrm>
          <a:prstGeom prst="rect">
            <a:avLst/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9468" name="Rectangle 18"/>
          <p:cNvSpPr>
            <a:spLocks noChangeArrowheads="1"/>
          </p:cNvSpPr>
          <p:nvPr/>
        </p:nvSpPr>
        <p:spPr bwMode="auto">
          <a:xfrm>
            <a:off x="152400" y="2971800"/>
            <a:ext cx="3200400" cy="3276600"/>
          </a:xfrm>
          <a:prstGeom prst="rect">
            <a:avLst/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7803976" cy="7064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The Benefits of Many Objectives</a:t>
            </a:r>
          </a:p>
        </p:txBody>
      </p:sp>
      <p:sp>
        <p:nvSpPr>
          <p:cNvPr id="17" name="Oval 16"/>
          <p:cNvSpPr/>
          <p:nvPr/>
        </p:nvSpPr>
        <p:spPr bwMode="auto">
          <a:xfrm>
            <a:off x="4134210" y="5454770"/>
            <a:ext cx="228600" cy="228600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0.00093 L -0.45625 -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0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-0.00209 -0.6546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3273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37" grpId="0" animBg="1"/>
      <p:bldP spid="40" grpId="0" animBg="1"/>
      <p:bldP spid="17" grpId="0" animBg="1"/>
      <p:bldP spid="1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K:\Documents\Josh\Current\Conferences\INFORMS\Presentation\Figures\snap_2011-11-01_12.58.1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5" y="858838"/>
            <a:ext cx="5334000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17182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19468" name="Rectangle 18"/>
          <p:cNvSpPr>
            <a:spLocks noChangeArrowheads="1"/>
          </p:cNvSpPr>
          <p:nvPr/>
        </p:nvSpPr>
        <p:spPr bwMode="auto">
          <a:xfrm>
            <a:off x="152400" y="2971800"/>
            <a:ext cx="3200400" cy="3276600"/>
          </a:xfrm>
          <a:prstGeom prst="rect">
            <a:avLst/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pic>
        <p:nvPicPr>
          <p:cNvPr id="1027" name="Picture 3" descr="K:\Documents\Josh\Current\AeroVis\Software\Data\Examples_v2011\LTM\Snapshots\snap_2011-11-02_10.35.48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24225" y="858838"/>
            <a:ext cx="5400675" cy="527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/>
          <p:cNvSpPr/>
          <p:nvPr/>
        </p:nvSpPr>
        <p:spPr bwMode="auto">
          <a:xfrm>
            <a:off x="4104681" y="952500"/>
            <a:ext cx="238719" cy="228600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15" name="Group 27"/>
          <p:cNvGrpSpPr>
            <a:grpSpLocks/>
          </p:cNvGrpSpPr>
          <p:nvPr/>
        </p:nvGrpSpPr>
        <p:grpSpPr bwMode="auto">
          <a:xfrm>
            <a:off x="4343400" y="1143000"/>
            <a:ext cx="3744790" cy="1732628"/>
            <a:chOff x="2760681" y="870504"/>
            <a:chExt cx="6002319" cy="1339297"/>
          </a:xfrm>
        </p:grpSpPr>
        <p:grpSp>
          <p:nvGrpSpPr>
            <p:cNvPr id="16" name="Group 44"/>
            <p:cNvGrpSpPr>
              <a:grpSpLocks/>
            </p:cNvGrpSpPr>
            <p:nvPr/>
          </p:nvGrpSpPr>
          <p:grpSpPr bwMode="auto">
            <a:xfrm>
              <a:off x="2760681" y="870504"/>
              <a:ext cx="6002319" cy="1339297"/>
              <a:chOff x="2760681" y="870504"/>
              <a:chExt cx="6002319" cy="1339297"/>
            </a:xfrm>
          </p:grpSpPr>
          <p:sp>
            <p:nvSpPr>
              <p:cNvPr id="19" name="TextBox 57"/>
              <p:cNvSpPr txBox="1">
                <a:spLocks noChangeArrowheads="1"/>
              </p:cNvSpPr>
              <p:nvPr/>
            </p:nvSpPr>
            <p:spPr bwMode="auto">
              <a:xfrm>
                <a:off x="4571999" y="1371600"/>
                <a:ext cx="4191001" cy="832396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The original low cost solution is now </a:t>
                </a:r>
                <a:r>
                  <a:rPr lang="en-US" b="1" dirty="0">
                    <a:latin typeface="Calibri" pitchFamily="34" charset="0"/>
                    <a:cs typeface="Calibri" pitchFamily="34" charset="0"/>
                  </a:rPr>
                  <a:t>inferior</a:t>
                </a:r>
                <a:r>
                  <a:rPr lang="en-US" dirty="0">
                    <a:latin typeface="Calibri" pitchFamily="34" charset="0"/>
                    <a:cs typeface="Calibri" pitchFamily="34" charset="0"/>
                  </a:rPr>
                  <a:t> when considering the error objective.</a:t>
                </a:r>
              </a:p>
            </p:txBody>
          </p:sp>
          <p:cxnSp>
            <p:nvCxnSpPr>
              <p:cNvPr id="27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2760681" y="870504"/>
                <a:ext cx="1811319" cy="501096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Straight Connector 35"/>
              <p:cNvCxnSpPr>
                <a:cxnSpLocks noChangeShapeType="1"/>
              </p:cNvCxnSpPr>
              <p:nvPr/>
            </p:nvCxnSpPr>
            <p:spPr bwMode="auto">
              <a:xfrm>
                <a:off x="2760681" y="870504"/>
                <a:ext cx="1811319" cy="1339297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7" name="Straight Connector 35"/>
            <p:cNvCxnSpPr>
              <a:cxnSpLocks noChangeShapeType="1"/>
            </p:cNvCxnSpPr>
            <p:nvPr/>
          </p:nvCxnSpPr>
          <p:spPr bwMode="auto">
            <a:xfrm>
              <a:off x="2760681" y="870504"/>
              <a:ext cx="6002319" cy="501096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6C700C65-7140-4BBE-89CA-CFA6F721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6200"/>
            <a:ext cx="7803976" cy="7064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The Benefits of Many Objectives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34176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:\Documents\Josh\Current\Conferences\INFORMS\Presentation\Figures\anim_2011-11-02_10.51.14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82564"/>
            <a:ext cx="5913474" cy="594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145282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28" name="Oval 27"/>
          <p:cNvSpPr/>
          <p:nvPr/>
        </p:nvSpPr>
        <p:spPr bwMode="auto">
          <a:xfrm>
            <a:off x="4078025" y="946030"/>
            <a:ext cx="228600" cy="228600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EDE2D19-8657-40BA-A678-9600031B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6200"/>
            <a:ext cx="7803976" cy="7064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The Benefits of Many Objectives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86697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44444E-6 L -0.0092 0.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9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:\Documents\Josh\Current\AeroVis\Software\Data\Examples_v2011\LTM\Snapshots\snap_2011-11-02_11.02.3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14700" y="1155253"/>
            <a:ext cx="5486400" cy="497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K:\Documents\Josh\Current\Conferences\INFORMS\Presentation\Figures\snap_2011-11-02_11.08.38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13676" y="466725"/>
            <a:ext cx="5525524" cy="560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1623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28" name="Oval 27"/>
          <p:cNvSpPr/>
          <p:nvPr/>
        </p:nvSpPr>
        <p:spPr bwMode="auto">
          <a:xfrm>
            <a:off x="4038600" y="1612657"/>
            <a:ext cx="216143" cy="216143"/>
          </a:xfrm>
          <a:prstGeom prst="ellips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3886200" cy="1066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The Benefits of </a:t>
            </a:r>
            <a:br>
              <a:rPr lang="en-US" sz="3600" dirty="0"/>
            </a:br>
            <a:r>
              <a:rPr lang="en-US" sz="3600" dirty="0"/>
              <a:t>Many Objectives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1401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K:\Documents\Josh\Current\Conferences\INFORMS\Presentation\Figures\anim_2011-11-02_13.24.04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57200"/>
            <a:ext cx="6153150" cy="555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52400" y="1295400"/>
            <a:ext cx="3124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Single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Two Objective Design Problem…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Calibri" pitchFamily="34" charset="0"/>
              </a:rPr>
              <a:t>Many-Objective Design Problem…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More compromise solutions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US" sz="2000" kern="0" dirty="0">
                <a:solidFill>
                  <a:schemeClr val="bg1"/>
                </a:solidFill>
                <a:latin typeface="Calibri" pitchFamily="34" charset="0"/>
              </a:rPr>
              <a:t>Considers many </a:t>
            </a:r>
            <a:r>
              <a:rPr lang="en-US" sz="2000" kern="0" dirty="0" err="1">
                <a:solidFill>
                  <a:schemeClr val="bg1"/>
                </a:solidFill>
                <a:latin typeface="Calibri" pitchFamily="34" charset="0"/>
              </a:rPr>
              <a:t>subproblems</a:t>
            </a:r>
            <a:endParaRPr lang="en-US" sz="2000" kern="0" dirty="0">
              <a:solidFill>
                <a:schemeClr val="bg1"/>
              </a:solidFill>
              <a:latin typeface="Calibri" pitchFamily="34" charset="0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Two and three objective subsets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kern="0" dirty="0">
                <a:latin typeface="Calibri" pitchFamily="34" charset="0"/>
              </a:rPr>
              <a:t>Difficult to specify manually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3886200" cy="1066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The Benefits of </a:t>
            </a:r>
            <a:br>
              <a:rPr lang="en-US" sz="3600" dirty="0"/>
            </a:br>
            <a:r>
              <a:rPr lang="en-US" sz="3600" dirty="0"/>
              <a:t>Many Objectives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947718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91A7-D505-4EB8-BF40-EB0D3071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Examples of models based on EAs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BD34C7-250C-4D2D-97BD-C386ED299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Multi-objective Evolutionary Algorithms (MOEAs) </a:t>
                </a:r>
                <a:r>
                  <a:rPr lang="en-US" altLang="ko-KR" sz="1600" dirty="0"/>
                  <a:t>(Schaffer 1985)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 Targets on the explicit representation of the tradeoff between multiple conflicting objectives in multi-objective problem </a:t>
                </a:r>
                <a:br>
                  <a:rPr lang="en-US" altLang="ko-KR" dirty="0"/>
                </a:br>
                <a:r>
                  <a:rPr lang="en-US" altLang="ko-KR" dirty="0"/>
                  <a:t>(</a:t>
                </a:r>
                <a:r>
                  <a:rPr lang="en-US" altLang="ko-KR" dirty="0" err="1"/>
                  <a:t>Coello</a:t>
                </a:r>
                <a:r>
                  <a:rPr lang="en-US" altLang="ko-KR" dirty="0"/>
                  <a:t> </a:t>
                </a:r>
                <a:r>
                  <a:rPr lang="en-US" altLang="ko-KR" dirty="0" err="1"/>
                  <a:t>Coello</a:t>
                </a:r>
                <a:r>
                  <a:rPr lang="en-US" altLang="ko-KR" dirty="0"/>
                  <a:t> et al. 2007)</a:t>
                </a:r>
              </a:p>
              <a:p>
                <a:pPr lvl="1"/>
                <a:r>
                  <a:rPr lang="en-US" altLang="ko-KR" dirty="0"/>
                  <a:t> Based on the concept of </a:t>
                </a:r>
                <a:r>
                  <a:rPr lang="en-US" altLang="ko-KR" b="1" u="sng" dirty="0">
                    <a:solidFill>
                      <a:schemeClr val="bg1"/>
                    </a:solidFill>
                  </a:rPr>
                  <a:t>Pareto Optimality</a:t>
                </a:r>
                <a:br>
                  <a:rPr lang="en-US" altLang="ko-KR" dirty="0"/>
                </a:br>
                <a:r>
                  <a:rPr lang="en-US" altLang="ko-KR" dirty="0"/>
                  <a:t>(Ex)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Pareto Optimal solution X dominates inferior solution Y in a maximization problem with </a:t>
                </a:r>
                <a:r>
                  <a:rPr lang="ko-KR" altLang="en-US" dirty="0">
                    <a:solidFill>
                      <a:schemeClr val="bg1"/>
                    </a:solidFill>
                  </a:rPr>
                  <a:t>𝑖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objectives: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)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BD34C7-250C-4D2D-97BD-C386ED299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39AE68-470E-4058-8D6B-F4D31DE2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8B7404-B251-458D-A6CF-B31DF2BD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240" y="3861048"/>
            <a:ext cx="3068886" cy="27743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2F0310-231D-42C9-A9B8-29A664099A9A}"/>
                  </a:ext>
                </a:extLst>
              </p:cNvPr>
              <p:cNvSpPr txBox="1"/>
              <p:nvPr/>
            </p:nvSpPr>
            <p:spPr>
              <a:xfrm>
                <a:off x="1979712" y="4077072"/>
                <a:ext cx="2373662" cy="2660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2F0310-231D-42C9-A9B8-29A664099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4077072"/>
                <a:ext cx="2373662" cy="266035"/>
              </a:xfrm>
              <a:prstGeom prst="rect">
                <a:avLst/>
              </a:prstGeom>
              <a:blipFill>
                <a:blip r:embed="rId4"/>
                <a:stretch>
                  <a:fillRect r="-257" b="-27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C73E44-1943-46C1-A31B-894B39CA5348}"/>
                  </a:ext>
                </a:extLst>
              </p:cNvPr>
              <p:cNvSpPr txBox="1"/>
              <p:nvPr/>
            </p:nvSpPr>
            <p:spPr>
              <a:xfrm>
                <a:off x="1851252" y="4437112"/>
                <a:ext cx="2864764" cy="5122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2)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least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among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objectives</m:t>
                      </m:r>
                      <m:r>
                        <a:rPr lang="en-US" altLang="ko-K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C73E44-1943-46C1-A31B-894B39CA5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252" y="4437112"/>
                <a:ext cx="2864764" cy="512256"/>
              </a:xfrm>
              <a:prstGeom prst="rect">
                <a:avLst/>
              </a:prstGeom>
              <a:blipFill>
                <a:blip r:embed="rId5"/>
                <a:stretch>
                  <a:fillRect b="-130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023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874BD-D986-4C8B-B7F7-7741028C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EMODPS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C085F0-6796-495A-8B58-96710F0DB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Evolutionary </a:t>
            </a:r>
            <a:r>
              <a:rPr lang="en-US" altLang="ko-KR" b="1" u="sng" dirty="0"/>
              <a:t>Multi-Objective</a:t>
            </a:r>
            <a:r>
              <a:rPr lang="en-US" altLang="ko-KR" dirty="0"/>
              <a:t> Direct Policy Search (EMODPS)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Direct Policy Search (DPS) </a:t>
            </a:r>
            <a:r>
              <a:rPr lang="en-US" altLang="ko-KR" dirty="0"/>
              <a:t>(Rosenstein and </a:t>
            </a:r>
            <a:r>
              <a:rPr lang="en-US" altLang="ko-KR" dirty="0" err="1"/>
              <a:t>Barto</a:t>
            </a:r>
            <a:r>
              <a:rPr lang="en-US" altLang="ko-KR" dirty="0"/>
              <a:t>, 2001)</a:t>
            </a:r>
          </a:p>
          <a:p>
            <a:pPr lvl="2"/>
            <a:r>
              <a:rPr lang="en-US" altLang="ko-KR" dirty="0"/>
              <a:t>A type of parameterization-simulation-optimization (PSO) approach in which the decision variable directly operates in the policy space</a:t>
            </a:r>
          </a:p>
          <a:p>
            <a:pPr lvl="1"/>
            <a:r>
              <a:rPr lang="en-US" altLang="ko-KR" dirty="0"/>
              <a:t> Nonlinear approximating networks: </a:t>
            </a:r>
            <a:r>
              <a:rPr lang="en-US" altLang="ko-KR" dirty="0">
                <a:solidFill>
                  <a:schemeClr val="bg1"/>
                </a:solidFill>
              </a:rPr>
              <a:t>Radial Basis Function (RBFs)</a:t>
            </a:r>
          </a:p>
          <a:p>
            <a:pPr lvl="2"/>
            <a:r>
              <a:rPr lang="en-US" altLang="ko-KR" dirty="0"/>
              <a:t>Approximating function that determines the value of the release decisions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MOEAs during the solution searching process</a:t>
            </a:r>
          </a:p>
          <a:p>
            <a:pPr lvl="2"/>
            <a:r>
              <a:rPr lang="en-US" altLang="ko-KR" dirty="0"/>
              <a:t>Iterative search algorithm that evolve a Pareto-approximate set of solutions in a multi-objective problem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8B1C15-C76F-4BEB-B141-FC140975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C394FA32-5011-4340-A5D9-BAAC9DF50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426910"/>
              </p:ext>
            </p:extLst>
          </p:nvPr>
        </p:nvGraphicFramePr>
        <p:xfrm>
          <a:off x="2363787" y="5180458"/>
          <a:ext cx="44164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3" imgW="3288960" imgH="609480" progId="Equation.DSMT4">
                  <p:embed/>
                </p:oleObj>
              </mc:Choice>
              <mc:Fallback>
                <p:oleObj name="Equation" r:id="rId3" imgW="3288960" imgH="609480" progId="Equation.DSMT4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5227F07F-4CB5-4E5F-BF09-3B5295644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3787" y="5180458"/>
                        <a:ext cx="4416425" cy="817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BE3A3504-C167-4887-9118-3A6ABE92A38A}"/>
              </a:ext>
            </a:extLst>
          </p:cNvPr>
          <p:cNvSpPr/>
          <p:nvPr/>
        </p:nvSpPr>
        <p:spPr>
          <a:xfrm>
            <a:off x="3983360" y="5433144"/>
            <a:ext cx="288032" cy="288032"/>
          </a:xfrm>
          <a:prstGeom prst="ellipse">
            <a:avLst/>
          </a:prstGeom>
          <a:noFill/>
          <a:ln>
            <a:solidFill>
              <a:srgbClr val="0417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74276F1-5996-4C54-81CE-3D5831A839B1}"/>
              </a:ext>
            </a:extLst>
          </p:cNvPr>
          <p:cNvSpPr/>
          <p:nvPr/>
        </p:nvSpPr>
        <p:spPr>
          <a:xfrm>
            <a:off x="5148064" y="5304085"/>
            <a:ext cx="288032" cy="288032"/>
          </a:xfrm>
          <a:prstGeom prst="ellipse">
            <a:avLst/>
          </a:prstGeom>
          <a:noFill/>
          <a:ln>
            <a:solidFill>
              <a:srgbClr val="0417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9A8FA4D-3E7F-4918-A059-3E41C19BF139}"/>
              </a:ext>
            </a:extLst>
          </p:cNvPr>
          <p:cNvSpPr/>
          <p:nvPr/>
        </p:nvSpPr>
        <p:spPr>
          <a:xfrm>
            <a:off x="4932040" y="5589240"/>
            <a:ext cx="288032" cy="288032"/>
          </a:xfrm>
          <a:prstGeom prst="ellipse">
            <a:avLst/>
          </a:prstGeom>
          <a:noFill/>
          <a:ln>
            <a:solidFill>
              <a:srgbClr val="0417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73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B6602-D5EC-4D45-A669-4EB278FF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EMODPS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71EE9F-69B4-433B-9E66-0F36B9D0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5" name="내용 개체 틀 6">
            <a:extLst>
              <a:ext uri="{FF2B5EF4-FFF2-40B4-BE49-F238E27FC236}">
                <a16:creationId xmlns:a16="http://schemas.microsoft.com/office/drawing/2014/main" id="{EF1E5687-09AB-4010-A8DA-C50F54ECC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496" y="1268413"/>
            <a:ext cx="7763008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03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05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Key takeaways / Thoughts?</a:t>
            </a:r>
          </a:p>
          <a:p>
            <a:pPr lvl="1"/>
            <a:r>
              <a:rPr lang="en-US" altLang="ko-KR" dirty="0"/>
              <a:t> How does the evolutionary optimizations models differ with the conventional optimization models (LP, DP)? What are the key assumptions made in each type of model? </a:t>
            </a:r>
          </a:p>
          <a:p>
            <a:pPr lvl="1"/>
            <a:r>
              <a:rPr lang="en-US" altLang="ko-KR" dirty="0"/>
              <a:t> Possible limitations of data-driven optimization models? 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“Black Box”, Outliers, anything else?</a:t>
            </a:r>
          </a:p>
          <a:p>
            <a:endParaRPr lang="en-US" altLang="ko-KR" dirty="0"/>
          </a:p>
          <a:p>
            <a:r>
              <a:rPr lang="en-US" altLang="ko-KR" dirty="0"/>
              <a:t> Possible Future Topics?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Uncertainty!</a:t>
            </a:r>
          </a:p>
          <a:p>
            <a:pPr lvl="1"/>
            <a:r>
              <a:rPr lang="en-US" altLang="ko-KR" b="1" dirty="0"/>
              <a:t> Chapter 6: An Introduction to Probability, Statistics, and Uncertainty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68551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(2022-04-19 </a:t>
            </a:r>
            <a:r>
              <a:rPr lang="ko-KR" altLang="en-US" dirty="0"/>
              <a:t>화요일 </a:t>
            </a:r>
            <a:r>
              <a:rPr lang="en-US" altLang="ko-KR" dirty="0"/>
              <a:t>17:00-19:50)</a:t>
            </a:r>
          </a:p>
          <a:p>
            <a:pPr lvl="1"/>
            <a:r>
              <a:rPr lang="en-US" altLang="ko-KR" dirty="0"/>
              <a:t> Training with Evolutionary Optimization Models (Laptops)</a:t>
            </a:r>
          </a:p>
          <a:p>
            <a:pPr lvl="2"/>
            <a:r>
              <a:rPr lang="en-US" altLang="ko-KR" b="1" u="sng" dirty="0"/>
              <a:t>INSTALL</a:t>
            </a:r>
            <a:r>
              <a:rPr lang="ko-KR" altLang="en-US" b="1" u="sng" dirty="0"/>
              <a:t> </a:t>
            </a:r>
            <a:r>
              <a:rPr lang="en-US" altLang="ko-KR" b="1" u="sng" dirty="0"/>
              <a:t>R</a:t>
            </a:r>
            <a:r>
              <a:rPr lang="ko-KR" altLang="en-US" b="1" u="sng" dirty="0"/>
              <a:t> </a:t>
            </a:r>
            <a:r>
              <a:rPr lang="en-US" altLang="ko-KR" b="1" u="sng" dirty="0"/>
              <a:t>&amp;</a:t>
            </a:r>
            <a:r>
              <a:rPr lang="ko-KR" altLang="en-US" b="1" u="sng" dirty="0"/>
              <a:t> </a:t>
            </a:r>
            <a:r>
              <a:rPr lang="en-US" altLang="ko-KR" b="1" u="sng" dirty="0"/>
              <a:t>RSTUDIO in your laptops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Future Schedule Reminder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Datacamp</a:t>
            </a:r>
            <a:r>
              <a:rPr lang="en-US" altLang="ko-KR" dirty="0"/>
              <a:t> #2 due Apr-19</a:t>
            </a:r>
          </a:p>
          <a:p>
            <a:pPr lvl="2"/>
            <a:r>
              <a:rPr lang="en-US" altLang="ko-KR" dirty="0"/>
              <a:t> Assignment #2 due Apr-26 (</a:t>
            </a:r>
            <a:r>
              <a:rPr lang="en-US" altLang="ko-KR" b="1" dirty="0"/>
              <a:t>23:59</a:t>
            </a:r>
            <a:r>
              <a:rPr lang="ko-KR" altLang="en-US" dirty="0"/>
              <a:t>까지 메일로 제출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b="1" u="sng" dirty="0">
                <a:solidFill>
                  <a:srgbClr val="FF0000"/>
                </a:solidFill>
              </a:rPr>
              <a:t> </a:t>
            </a:r>
            <a:r>
              <a:rPr lang="ko-KR" altLang="en-US" b="1" u="sng" dirty="0" err="1">
                <a:solidFill>
                  <a:srgbClr val="FF0000"/>
                </a:solidFill>
              </a:rPr>
              <a:t>보령댐</a:t>
            </a:r>
            <a:r>
              <a:rPr lang="ko-KR" altLang="en-US" b="1" u="sng" dirty="0">
                <a:solidFill>
                  <a:srgbClr val="FF0000"/>
                </a:solidFill>
              </a:rPr>
              <a:t> 견학 일정</a:t>
            </a:r>
            <a:r>
              <a:rPr lang="en-US" altLang="ko-KR" b="1" u="sng" dirty="0">
                <a:solidFill>
                  <a:srgbClr val="FF0000"/>
                </a:solidFill>
              </a:rPr>
              <a:t>: 4/25 </a:t>
            </a:r>
            <a:r>
              <a:rPr lang="ko-KR" altLang="en-US" b="1" u="sng" dirty="0">
                <a:solidFill>
                  <a:srgbClr val="FF0000"/>
                </a:solidFill>
              </a:rPr>
              <a:t>월 </a:t>
            </a:r>
            <a:r>
              <a:rPr lang="en-US" altLang="ko-KR" b="1" u="sng" dirty="0">
                <a:solidFill>
                  <a:srgbClr val="FF0000"/>
                </a:solidFill>
              </a:rPr>
              <a:t>(</a:t>
            </a:r>
            <a:r>
              <a:rPr lang="ko-KR" altLang="en-US" b="1" u="sng" dirty="0">
                <a:solidFill>
                  <a:srgbClr val="FF0000"/>
                </a:solidFill>
              </a:rPr>
              <a:t>확정</a:t>
            </a:r>
            <a:r>
              <a:rPr lang="en-US" altLang="ko-KR" b="1" u="sng" dirty="0">
                <a:solidFill>
                  <a:srgbClr val="FF0000"/>
                </a:solidFill>
              </a:rPr>
              <a:t>, </a:t>
            </a:r>
            <a:r>
              <a:rPr lang="ko-KR" altLang="en-US" b="1" u="sng" dirty="0">
                <a:solidFill>
                  <a:srgbClr val="FF0000"/>
                </a:solidFill>
              </a:rPr>
              <a:t>공문 공유 완료</a:t>
            </a:r>
            <a:r>
              <a:rPr lang="en-US" altLang="ko-KR" b="1" u="sng" dirty="0">
                <a:solidFill>
                  <a:srgbClr val="FF0000"/>
                </a:solidFill>
              </a:rPr>
              <a:t>) </a:t>
            </a:r>
            <a:br>
              <a:rPr lang="en-US" altLang="ko-KR" b="1" u="sng" dirty="0">
                <a:solidFill>
                  <a:srgbClr val="FF0000"/>
                </a:solidFill>
              </a:rPr>
            </a:br>
            <a:r>
              <a:rPr lang="en-US" altLang="ko-KR" b="1" u="sng" dirty="0">
                <a:solidFill>
                  <a:srgbClr val="FF0000"/>
                </a:solidFill>
              </a:rPr>
              <a:t>(No class on Apr-26 Tue)</a:t>
            </a:r>
          </a:p>
          <a:p>
            <a:pPr lvl="2"/>
            <a:r>
              <a:rPr lang="en-US" altLang="ko-KR" dirty="0"/>
              <a:t> Term Project A due May-03 </a:t>
            </a:r>
            <a:br>
              <a:rPr lang="en-US" altLang="ko-KR" dirty="0"/>
            </a:br>
            <a:r>
              <a:rPr lang="en-US" altLang="ko-KR" dirty="0"/>
              <a:t>(PPT Presentation, prepare one color copy for the instructor)</a:t>
            </a:r>
          </a:p>
          <a:p>
            <a:pPr lvl="2"/>
            <a:r>
              <a:rPr lang="en-US" altLang="ko-KR" dirty="0"/>
              <a:t>Quiz #2 on May-03</a:t>
            </a:r>
          </a:p>
          <a:p>
            <a:pPr lvl="1"/>
            <a:endParaRPr lang="en-US" altLang="ko-KR" b="1" dirty="0"/>
          </a:p>
          <a:p>
            <a:pPr lvl="1"/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.2|2.5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77275</TotalTime>
  <Words>2328</Words>
  <Application>Microsoft Office PowerPoint</Application>
  <PresentationFormat>화면 슬라이드 쇼(4:3)</PresentationFormat>
  <Paragraphs>284</Paragraphs>
  <Slides>32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Times New Roman</vt:lpstr>
      <vt:lpstr>Wingdings</vt:lpstr>
      <vt:lpstr>Office 테마</vt:lpstr>
      <vt:lpstr>Equation</vt:lpstr>
      <vt:lpstr>Lecture 05</vt:lpstr>
      <vt:lpstr>Review on Lecture 03 &amp; 04</vt:lpstr>
      <vt:lpstr>Curses of Stochastic Dynamic Programming</vt:lpstr>
      <vt:lpstr>Before Lecture 05</vt:lpstr>
      <vt:lpstr>Today’s Topic: Data-fitting,  Evolutionary Optimization Models</vt:lpstr>
      <vt:lpstr>Examples of Data-driven Models: Regression</vt:lpstr>
      <vt:lpstr>Examples of Data-driven Models</vt:lpstr>
      <vt:lpstr>Artificial Neural Network (ANN) Models</vt:lpstr>
      <vt:lpstr>Artificial Neural Network (ANN) Models</vt:lpstr>
      <vt:lpstr>Artificial Neural Network (ANN) Models</vt:lpstr>
      <vt:lpstr>Artificial Neural Network (ANN) Models</vt:lpstr>
      <vt:lpstr>ANN Example (Binary)</vt:lpstr>
      <vt:lpstr>ANN Example (Binary)</vt:lpstr>
      <vt:lpstr>ANN Example (Binary)</vt:lpstr>
      <vt:lpstr>Evolutionary Algorithms (EA) </vt:lpstr>
      <vt:lpstr>Evolutionary Algorithms (EA) </vt:lpstr>
      <vt:lpstr>Evolutionary Algorithms (EA) </vt:lpstr>
      <vt:lpstr>Evolutionary Algorithms (EA) </vt:lpstr>
      <vt:lpstr>Evolutionary Algorithms (EA) </vt:lpstr>
      <vt:lpstr>EA Examples</vt:lpstr>
      <vt:lpstr>Genetic Programming (GP)</vt:lpstr>
      <vt:lpstr>Curses of Stochastic Dynamic Programming</vt:lpstr>
      <vt:lpstr>The Benefits of Many Objectives</vt:lpstr>
      <vt:lpstr>The Benefits of Many Objectives</vt:lpstr>
      <vt:lpstr>The Benefits of Many Objectives</vt:lpstr>
      <vt:lpstr>The Benefits of  Many Objectives</vt:lpstr>
      <vt:lpstr>The Benefits of  Many Objectives</vt:lpstr>
      <vt:lpstr> Examples of models based on EAs</vt:lpstr>
      <vt:lpstr>Example: EMODPS</vt:lpstr>
      <vt:lpstr>Example: EMODPS</vt:lpstr>
      <vt:lpstr>Conclusion of Lecture 05</vt:lpstr>
      <vt:lpstr>Future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2272</cp:revision>
  <cp:lastPrinted>2022-03-21T05:50:04Z</cp:lastPrinted>
  <dcterms:created xsi:type="dcterms:W3CDTF">2020-01-02T02:18:47Z</dcterms:created>
  <dcterms:modified xsi:type="dcterms:W3CDTF">2022-04-12T02:23:31Z</dcterms:modified>
</cp:coreProperties>
</file>