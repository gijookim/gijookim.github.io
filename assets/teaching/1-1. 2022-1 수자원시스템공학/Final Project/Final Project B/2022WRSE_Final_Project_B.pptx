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734" r:id="rId2"/>
    <p:sldId id="737" r:id="rId3"/>
  </p:sldIdLst>
  <p:sldSz cx="9144000" cy="6858000" type="screen4x3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17CC"/>
    <a:srgbClr val="F60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22" autoAdjust="0"/>
    <p:restoredTop sz="94028" autoAdjust="0"/>
  </p:normalViewPr>
  <p:slideViewPr>
    <p:cSldViewPr>
      <p:cViewPr varScale="1">
        <p:scale>
          <a:sx n="104" d="100"/>
          <a:sy n="104" d="100"/>
        </p:scale>
        <p:origin x="154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0" cy="495029"/>
          </a:xfrm>
          <a:prstGeom prst="rect">
            <a:avLst/>
          </a:prstGeom>
        </p:spPr>
        <p:txBody>
          <a:bodyPr vert="horz" lIns="90756" tIns="45378" rIns="90756" bIns="45378" rtlCol="0"/>
          <a:lstStyle>
            <a:lvl1pPr algn="r">
              <a:defRPr sz="1200"/>
            </a:lvl1pPr>
          </a:lstStyle>
          <a:p>
            <a:fld id="{E1DBA18E-019D-4DB5-9C84-C80C9EC0EDE4}" type="datetimeFigureOut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9350" y="1233488"/>
            <a:ext cx="443706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8" rIns="90756" bIns="453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4"/>
            <a:ext cx="5388610" cy="3884861"/>
          </a:xfrm>
          <a:prstGeom prst="rect">
            <a:avLst/>
          </a:prstGeom>
        </p:spPr>
        <p:txBody>
          <a:bodyPr vert="horz" lIns="90756" tIns="45378" rIns="90756" bIns="4537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6"/>
            <a:ext cx="2918830" cy="495028"/>
          </a:xfrm>
          <a:prstGeom prst="rect">
            <a:avLst/>
          </a:prstGeom>
        </p:spPr>
        <p:txBody>
          <a:bodyPr vert="horz" lIns="90756" tIns="45378" rIns="90756" bIns="45378" rtlCol="0" anchor="b"/>
          <a:lstStyle>
            <a:lvl1pPr algn="r">
              <a:defRPr sz="1200"/>
            </a:lvl1pPr>
          </a:lstStyle>
          <a:p>
            <a:fld id="{3B93C0B1-E0F9-447B-AFB5-BCC5935C28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698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037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42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77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4DF68E14-CAEA-49EF-A996-488ADFD1D606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544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829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4999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A647E19-6206-463B-9AE9-66BE4F630FC0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3339795-4603-4C4B-B582-9870510CE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93CDF756-7DF6-4EF7-9AE5-1CDBCC6807D0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283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0E00B1B8-02ED-4B71-B2A9-756D11FCE97A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382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F8842333-966D-4877-82E2-6DF5FF1AA6FD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917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00192" y="6356349"/>
            <a:ext cx="2215158" cy="365125"/>
          </a:xfrm>
          <a:prstGeom prst="rect">
            <a:avLst/>
          </a:prstGeom>
        </p:spPr>
        <p:txBody>
          <a:bodyPr/>
          <a:lstStyle/>
          <a:p>
            <a:fld id="{C882E481-74EE-447E-B10C-224EAA33899A}" type="datetime1">
              <a:rPr lang="ko-KR" altLang="en-US" smtClean="0"/>
              <a:t>2022-05-24</a:t>
            </a:fld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DE5D0810-B190-47E1-A347-C4E62ABB5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6695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596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3300" y="63550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79822AFB-C284-4A8E-A6EE-41BAA9C576A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804248" y="6250409"/>
            <a:ext cx="1711102" cy="57699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0298C54-76D9-4D1A-B6B3-194E1AE53373}"/>
              </a:ext>
            </a:extLst>
          </p:cNvPr>
          <p:cNvSpPr txBox="1">
            <a:spLocks/>
          </p:cNvSpPr>
          <p:nvPr userDrawn="1"/>
        </p:nvSpPr>
        <p:spPr>
          <a:xfrm>
            <a:off x="628650" y="6356347"/>
            <a:ext cx="27192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Water Resources Systems Engineering</a:t>
            </a:r>
          </a:p>
          <a:p>
            <a:pPr algn="l"/>
            <a:r>
              <a:rPr lang="en-US" altLang="ko-KR" dirty="0">
                <a:latin typeface="Gill Sans MT" panose="020B0502020104020203" pitchFamily="34" charset="0"/>
                <a:cs typeface="Calibri" panose="020F0502020204030204" pitchFamily="34" charset="0"/>
              </a:rPr>
              <a:t>Spring 2022, Dr. Gi Joo Kim</a:t>
            </a:r>
            <a:endParaRPr lang="ko-KR" altLang="en-US" dirty="0">
              <a:latin typeface="Gill Sans MT" panose="020B050202010402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39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나눔고딕 ExtraBold" panose="020D0904000000000000" pitchFamily="50" charset="-127"/>
          <a:ea typeface="나눔고딕 ExtraBold" panose="020D0904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1200" kern="1200">
          <a:solidFill>
            <a:schemeClr val="tx1"/>
          </a:solidFill>
          <a:latin typeface="나눔고딕 Light" panose="020D0904000000000000" pitchFamily="50" charset="-127"/>
          <a:ea typeface="나눔고딕 Light" panose="020D0904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AD900C44-EF16-4F4A-A5BF-84CAE8CB0401}"/>
              </a:ext>
            </a:extLst>
          </p:cNvPr>
          <p:cNvSpPr/>
          <p:nvPr/>
        </p:nvSpPr>
        <p:spPr>
          <a:xfrm>
            <a:off x="251520" y="5345832"/>
            <a:ext cx="8892480" cy="1512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7CBE123-30ED-48D4-9EB0-F161B064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Project 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EC4E0F-1D06-48DB-839D-6A4D1C40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5451391"/>
          </a:xfrm>
        </p:spPr>
        <p:txBody>
          <a:bodyPr>
            <a:normAutofit/>
          </a:bodyPr>
          <a:lstStyle/>
          <a:p>
            <a:r>
              <a:rPr lang="en-US" altLang="ko-KR" sz="1800" dirty="0"/>
              <a:t> </a:t>
            </a:r>
            <a:r>
              <a:rPr lang="ko-KR" altLang="en-US" sz="1800" dirty="0"/>
              <a:t>이제</a:t>
            </a:r>
            <a:r>
              <a:rPr lang="en-US" altLang="ko-KR" sz="1800" dirty="0"/>
              <a:t>, </a:t>
            </a:r>
            <a:r>
              <a:rPr lang="ko-KR" altLang="en-US" sz="1800" dirty="0"/>
              <a:t>이 수업에서 배운 내용을 활용하여 </a:t>
            </a:r>
            <a:r>
              <a:rPr lang="ko-KR" altLang="en-US" sz="1800" dirty="0" err="1"/>
              <a:t>보령댐의</a:t>
            </a:r>
            <a:r>
              <a:rPr lang="ko-KR" altLang="en-US" sz="1800" dirty="0"/>
              <a:t> 최적 운영방법을 도출해 봅시다</a:t>
            </a:r>
            <a:r>
              <a:rPr lang="en-US" altLang="ko-KR" sz="1800" dirty="0"/>
              <a:t>. </a:t>
            </a:r>
            <a:r>
              <a:rPr lang="ko-KR" altLang="en-US" sz="1800" dirty="0"/>
              <a:t>알다시피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보령댐은</a:t>
            </a:r>
            <a:r>
              <a:rPr lang="ko-KR" altLang="en-US" sz="1800" dirty="0"/>
              <a:t> 특히 최근 다년 가뭄으로 인한 피해를 많이 입은 바 있습니다</a:t>
            </a:r>
            <a:r>
              <a:rPr lang="en-US" altLang="ko-KR" sz="1800" dirty="0"/>
              <a:t>. </a:t>
            </a:r>
            <a:r>
              <a:rPr lang="ko-KR" altLang="en-US" sz="1800" dirty="0"/>
              <a:t>팀별로 아래 문제에 대한 답변을 </a:t>
            </a:r>
            <a:r>
              <a:rPr lang="en-US" altLang="ko-KR" sz="1800" dirty="0"/>
              <a:t>PPT </a:t>
            </a:r>
            <a:r>
              <a:rPr lang="ko-KR" altLang="en-US" sz="1800" dirty="0"/>
              <a:t>발표에 포함하여 준비하여 주시기 바랍니다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r>
              <a:rPr lang="en-US" altLang="ko-KR" sz="1800" dirty="0"/>
              <a:t>(15</a:t>
            </a:r>
            <a:r>
              <a:rPr lang="ko-KR" altLang="en-US" sz="1800" dirty="0"/>
              <a:t>분 발표</a:t>
            </a:r>
            <a:r>
              <a:rPr lang="en-US" altLang="ko-KR" sz="1800" dirty="0"/>
              <a:t>, 5</a:t>
            </a:r>
            <a:r>
              <a:rPr lang="ko-KR" altLang="en-US" sz="1800" dirty="0"/>
              <a:t>분 </a:t>
            </a:r>
            <a:r>
              <a:rPr lang="en-US" altLang="ko-KR" sz="1800" dirty="0"/>
              <a:t>Q&amp;A)</a:t>
            </a:r>
            <a:r>
              <a:rPr lang="ko-KR" altLang="en-US" sz="1800" dirty="0"/>
              <a:t> </a:t>
            </a:r>
            <a:br>
              <a:rPr lang="en-US" altLang="ko-KR" sz="1800" dirty="0"/>
            </a:br>
            <a:r>
              <a:rPr lang="en-US" altLang="ko-KR" sz="1800" dirty="0"/>
              <a:t>(</a:t>
            </a:r>
            <a:r>
              <a:rPr lang="ko-KR" altLang="en-US" sz="1800" dirty="0"/>
              <a:t>팀 </a:t>
            </a:r>
            <a:r>
              <a:rPr lang="en-US" altLang="ko-KR" sz="1800" dirty="0"/>
              <a:t>C: </a:t>
            </a:r>
            <a:r>
              <a:rPr lang="ko-KR" altLang="en-US" sz="1800" dirty="0" err="1"/>
              <a:t>이재황</a:t>
            </a:r>
            <a:r>
              <a:rPr lang="ko-KR" altLang="en-US" sz="1800" dirty="0"/>
              <a:t> 김현주 박성열 </a:t>
            </a:r>
            <a:r>
              <a:rPr lang="en-US" altLang="ko-KR" sz="1800" dirty="0"/>
              <a:t>// </a:t>
            </a:r>
            <a:r>
              <a:rPr lang="ko-KR" altLang="en-US" sz="1800" dirty="0"/>
              <a:t>팀 </a:t>
            </a:r>
            <a:r>
              <a:rPr lang="en-US" altLang="ko-KR" sz="1800" dirty="0"/>
              <a:t>D: </a:t>
            </a:r>
            <a:r>
              <a:rPr lang="ko-KR" altLang="en-US" sz="1800" dirty="0"/>
              <a:t>이재호 김연주 </a:t>
            </a:r>
            <a:r>
              <a:rPr lang="ko-KR" altLang="en-US" sz="1800" dirty="0" err="1"/>
              <a:t>남현욱</a:t>
            </a:r>
            <a:r>
              <a:rPr lang="ko-KR" altLang="en-US" sz="1800" dirty="0"/>
              <a:t> 이주형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 err="1"/>
              <a:t>보령댐</a:t>
            </a:r>
            <a:r>
              <a:rPr lang="ko-KR" altLang="en-US" sz="1600" dirty="0"/>
              <a:t> 및 </a:t>
            </a:r>
            <a:r>
              <a:rPr lang="ko-KR" altLang="en-US" sz="1600" dirty="0" err="1"/>
              <a:t>보령댐</a:t>
            </a:r>
            <a:r>
              <a:rPr lang="ko-KR" altLang="en-US" sz="1600" dirty="0"/>
              <a:t> 유역에 대한 예비 분석을 수행합니다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직면하고 있는 문제는 무엇이며</a:t>
            </a:r>
            <a:r>
              <a:rPr lang="en-US" altLang="ko-KR" sz="1600" dirty="0"/>
              <a:t>, </a:t>
            </a:r>
            <a:r>
              <a:rPr lang="ko-KR" altLang="en-US" sz="1600" dirty="0"/>
              <a:t>직면한 문제의 어떤 부분을 개선할 수 있습니까</a:t>
            </a:r>
            <a:r>
              <a:rPr lang="en-US" altLang="ko-KR" sz="1600" dirty="0"/>
              <a:t>?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 err="1"/>
              <a:t>보령댐이</a:t>
            </a:r>
            <a:r>
              <a:rPr lang="ko-KR" altLang="en-US" sz="1600" dirty="0"/>
              <a:t> 최근 겪은 가뭄은 얼마나 심각했습니까</a:t>
            </a:r>
            <a:r>
              <a:rPr lang="en-US" altLang="ko-KR" sz="1600" dirty="0"/>
              <a:t>? </a:t>
            </a:r>
            <a:r>
              <a:rPr lang="ko-KR" altLang="en-US" sz="1600" dirty="0"/>
              <a:t>이벤트에 대한 확률 분석을 수행하여 봅시다</a:t>
            </a:r>
            <a:r>
              <a:rPr lang="en-US" altLang="ko-KR" sz="1600" dirty="0"/>
              <a:t>. 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대상 댐에 적용할 최적화 모델의 종류를 선택하고</a:t>
            </a:r>
            <a:r>
              <a:rPr lang="en-US" altLang="ko-KR" sz="1600" dirty="0"/>
              <a:t>, </a:t>
            </a:r>
            <a:r>
              <a:rPr lang="ko-KR" altLang="en-US" sz="1600" dirty="0"/>
              <a:t>문제를 설정해 봅시다</a:t>
            </a:r>
            <a:r>
              <a:rPr lang="en-US" altLang="ko-KR" sz="1600" dirty="0"/>
              <a:t>. </a:t>
            </a:r>
            <a:r>
              <a:rPr lang="ko-KR" altLang="en-US" sz="1600" dirty="0"/>
              <a:t>최적화를 위한 목적 함수</a:t>
            </a:r>
            <a:r>
              <a:rPr lang="en-US" altLang="ko-KR" sz="1600" dirty="0"/>
              <a:t>, </a:t>
            </a:r>
            <a:r>
              <a:rPr lang="ko-KR" altLang="en-US" sz="1600" dirty="0"/>
              <a:t>결정 변수</a:t>
            </a:r>
            <a:r>
              <a:rPr lang="en-US" altLang="ko-KR" sz="1600" dirty="0"/>
              <a:t>, </a:t>
            </a:r>
            <a:r>
              <a:rPr lang="ko-KR" altLang="en-US" sz="1600" dirty="0"/>
              <a:t>제약 조건은 각각 무엇인가요</a:t>
            </a:r>
            <a:r>
              <a:rPr lang="en-US" altLang="ko-KR" sz="1600" dirty="0"/>
              <a:t>? </a:t>
            </a:r>
            <a:r>
              <a:rPr lang="ko-KR" altLang="en-US" sz="1600" dirty="0"/>
              <a:t>결정적</a:t>
            </a:r>
            <a:r>
              <a:rPr lang="en-US" altLang="ko-KR" sz="1600" dirty="0"/>
              <a:t>/</a:t>
            </a:r>
            <a:r>
              <a:rPr lang="ko-KR" altLang="en-US" sz="1600" dirty="0"/>
              <a:t>확률적 모델 중 어떤 모델을 사용해야 하나요</a:t>
            </a:r>
            <a:r>
              <a:rPr lang="en-US" altLang="ko-KR" sz="1600" dirty="0"/>
              <a:t>?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최적화된 </a:t>
            </a:r>
            <a:r>
              <a:rPr lang="ko-KR" altLang="en-US" sz="1600" dirty="0" err="1"/>
              <a:t>운영룰을</a:t>
            </a:r>
            <a:r>
              <a:rPr lang="ko-KR" altLang="en-US" sz="1600" dirty="0"/>
              <a:t> 가지고</a:t>
            </a:r>
            <a:r>
              <a:rPr lang="en-US" altLang="ko-KR" sz="1600" dirty="0"/>
              <a:t> 2014</a:t>
            </a:r>
            <a:r>
              <a:rPr lang="ko-KR" altLang="en-US" sz="1600" dirty="0"/>
              <a:t>년 </a:t>
            </a:r>
            <a:r>
              <a:rPr lang="en-US" altLang="ko-KR" sz="1600" dirty="0"/>
              <a:t>9</a:t>
            </a:r>
            <a:r>
              <a:rPr lang="ko-KR" altLang="en-US" sz="1600" dirty="0"/>
              <a:t>월 </a:t>
            </a:r>
            <a:r>
              <a:rPr lang="en-US" altLang="ko-KR" sz="1600" dirty="0"/>
              <a:t>1</a:t>
            </a:r>
            <a:r>
              <a:rPr lang="ko-KR" altLang="en-US" sz="1600" dirty="0"/>
              <a:t>일부터 </a:t>
            </a:r>
            <a:r>
              <a:rPr lang="en-US" altLang="ko-KR" sz="1600" dirty="0"/>
              <a:t>2019</a:t>
            </a:r>
            <a:r>
              <a:rPr lang="ko-KR" altLang="en-US" sz="1600" dirty="0"/>
              <a:t>년 </a:t>
            </a:r>
            <a:r>
              <a:rPr lang="en-US" altLang="ko-KR" sz="1600" dirty="0"/>
              <a:t>6</a:t>
            </a:r>
            <a:r>
              <a:rPr lang="ko-KR" altLang="en-US" sz="1600" dirty="0"/>
              <a:t>월 </a:t>
            </a:r>
            <a:r>
              <a:rPr lang="en-US" altLang="ko-KR" sz="1600" dirty="0"/>
              <a:t>30</a:t>
            </a:r>
            <a:r>
              <a:rPr lang="ko-KR" altLang="en-US" sz="1600" dirty="0"/>
              <a:t>일까지의 일별 저수지 모의를 진행해 봅시다</a:t>
            </a:r>
            <a:r>
              <a:rPr lang="en-US" altLang="ko-KR" sz="1600" dirty="0"/>
              <a:t>. (</a:t>
            </a:r>
            <a:r>
              <a:rPr lang="ko-KR" altLang="en-US" sz="1600" dirty="0"/>
              <a:t>초기 수위는 </a:t>
            </a:r>
            <a:r>
              <a:rPr lang="en-US" altLang="ko-KR" sz="1600" dirty="0"/>
              <a:t>2014</a:t>
            </a:r>
            <a:r>
              <a:rPr lang="ko-KR" altLang="en-US" sz="1600" dirty="0"/>
              <a:t>년 </a:t>
            </a:r>
            <a:r>
              <a:rPr lang="en-US" altLang="ko-KR" sz="1600" dirty="0"/>
              <a:t>8</a:t>
            </a:r>
            <a:r>
              <a:rPr lang="ko-KR" altLang="en-US" sz="1600" dirty="0"/>
              <a:t>월 </a:t>
            </a:r>
            <a:r>
              <a:rPr lang="en-US" altLang="ko-KR" sz="1600" dirty="0"/>
              <a:t>30</a:t>
            </a:r>
            <a:r>
              <a:rPr lang="ko-KR" altLang="en-US" sz="1600" dirty="0"/>
              <a:t>일 저수량</a:t>
            </a:r>
            <a:r>
              <a:rPr lang="en-US" altLang="ko-KR" sz="1600" dirty="0"/>
              <a:t>)</a:t>
            </a:r>
          </a:p>
          <a:p>
            <a:pPr lvl="1"/>
            <a:r>
              <a:rPr lang="en-US" altLang="ko-KR" sz="1600" dirty="0"/>
              <a:t> </a:t>
            </a:r>
            <a:r>
              <a:rPr lang="ko-KR" altLang="en-US" sz="1600" dirty="0"/>
              <a:t>최적화 결과 및 모의 결과를 사용하여 분석을 진행해 봅시다</a:t>
            </a:r>
            <a:r>
              <a:rPr lang="en-US" altLang="ko-KR" sz="1600" dirty="0"/>
              <a:t>. </a:t>
            </a:r>
            <a:r>
              <a:rPr lang="ko-KR" altLang="en-US" sz="1600" dirty="0"/>
              <a:t>실제 운영 실적과 비교하여 최적 </a:t>
            </a:r>
            <a:r>
              <a:rPr lang="ko-KR" altLang="en-US" sz="1600" dirty="0" err="1"/>
              <a:t>운영룰이</a:t>
            </a:r>
            <a:r>
              <a:rPr lang="ko-KR" altLang="en-US" sz="1600" dirty="0"/>
              <a:t> 어떤 측면에서 얼마나 개선된 결과를 보였나요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D50D96-89B7-4BD7-AB8A-39D45E295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463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D9FD4-D1D9-4D9F-9EA3-DB87D621B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Final Project B </a:t>
            </a:r>
            <a:r>
              <a:rPr lang="ko-KR" altLang="en-US" dirty="0"/>
              <a:t>최종 리포트 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4C87B1-E052-4BFF-A7CE-8126D5DC3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이전에 </a:t>
            </a:r>
            <a:r>
              <a:rPr lang="ko-KR" altLang="en-US" sz="1800" dirty="0" err="1"/>
              <a:t>설명드린</a:t>
            </a:r>
            <a:r>
              <a:rPr lang="ko-KR" altLang="en-US" sz="1800" dirty="0"/>
              <a:t> 바와 같이</a:t>
            </a:r>
            <a:r>
              <a:rPr lang="en-US" altLang="ko-KR" sz="1800" dirty="0"/>
              <a:t>, </a:t>
            </a:r>
            <a:r>
              <a:rPr lang="ko-KR" altLang="en-US" sz="1800" dirty="0"/>
              <a:t>조별로 제출한 최종 리포트는 학기가 끝난 후 정리 및 취합 과정을 거쳐 </a:t>
            </a:r>
            <a:r>
              <a:rPr lang="en-US" altLang="ko-KR" sz="1800" dirty="0"/>
              <a:t>7</a:t>
            </a:r>
            <a:r>
              <a:rPr lang="ko-KR" altLang="en-US" sz="1800" dirty="0"/>
              <a:t>월 중 학술기사</a:t>
            </a:r>
            <a:r>
              <a:rPr lang="en-US" altLang="ko-KR" sz="1800" dirty="0"/>
              <a:t>(</a:t>
            </a:r>
            <a:r>
              <a:rPr lang="ko-KR" altLang="en-US" sz="1800" dirty="0"/>
              <a:t>한국수자원학회지</a:t>
            </a:r>
            <a:r>
              <a:rPr lang="en-US" altLang="ko-KR" sz="1800" dirty="0"/>
              <a:t>-</a:t>
            </a:r>
            <a:r>
              <a:rPr lang="ko-KR" altLang="en-US" sz="1800" dirty="0" err="1"/>
              <a:t>물과미래</a:t>
            </a:r>
            <a:r>
              <a:rPr lang="en-US" altLang="ko-KR" sz="1800" dirty="0"/>
              <a:t>)</a:t>
            </a:r>
            <a:r>
              <a:rPr lang="ko-KR" altLang="en-US" sz="1800" dirty="0"/>
              <a:t>에 투고할 예정입니다</a:t>
            </a:r>
            <a:r>
              <a:rPr lang="en-US" altLang="ko-KR" sz="1800" dirty="0"/>
              <a:t>. </a:t>
            </a:r>
            <a:r>
              <a:rPr lang="ko-KR" altLang="en-US" sz="1800" dirty="0"/>
              <a:t>예시로 제시한 학술기사를 참고해 주시고</a:t>
            </a:r>
            <a:r>
              <a:rPr lang="en-US" altLang="ko-KR" sz="1800" dirty="0"/>
              <a:t>, </a:t>
            </a:r>
            <a:r>
              <a:rPr lang="ko-KR" altLang="en-US" sz="1800" dirty="0"/>
              <a:t>한글로 리포트 작성 부탁드립니다</a:t>
            </a:r>
            <a:r>
              <a:rPr lang="en-US" altLang="ko-KR" sz="1800" dirty="0"/>
              <a:t>. </a:t>
            </a:r>
            <a:r>
              <a:rPr lang="ko-KR" altLang="en-US" sz="1800" dirty="0"/>
              <a:t>통일성을 위해</a:t>
            </a:r>
            <a:r>
              <a:rPr lang="en-US" altLang="ko-KR" sz="1800" dirty="0"/>
              <a:t>, </a:t>
            </a:r>
            <a:r>
              <a:rPr lang="ko-KR" altLang="en-US" sz="1800" dirty="0"/>
              <a:t>되도록이면 첨부 파일 양식에 아래와 같은 목차를 사용하여 작성 부탁드립니다 </a:t>
            </a:r>
            <a:r>
              <a:rPr lang="en-US" altLang="ko-KR" sz="1800" dirty="0"/>
              <a:t>(</a:t>
            </a:r>
            <a:r>
              <a:rPr lang="ko-KR" altLang="en-US" sz="1800" dirty="0"/>
              <a:t>리포트 제출 기한</a:t>
            </a:r>
            <a:r>
              <a:rPr lang="en-US" altLang="ko-KR" sz="1800" dirty="0"/>
              <a:t>: Jun-20 </a:t>
            </a:r>
            <a:r>
              <a:rPr lang="ko-KR" altLang="en-US" sz="1800" dirty="0"/>
              <a:t>오후 </a:t>
            </a:r>
            <a:r>
              <a:rPr lang="en-US" altLang="ko-KR" sz="1800" dirty="0"/>
              <a:t>6</a:t>
            </a:r>
            <a:r>
              <a:rPr lang="ko-KR" altLang="en-US" sz="1800" dirty="0"/>
              <a:t>시까지 메일로 제출</a:t>
            </a:r>
            <a:r>
              <a:rPr lang="en-US" altLang="ko-KR" sz="1800" dirty="0"/>
              <a:t>).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971550" lvl="1" indent="-514350">
              <a:buAutoNum type="romanUcPeriod"/>
            </a:pPr>
            <a:r>
              <a:rPr lang="ko-KR" altLang="en-US" sz="1600" dirty="0"/>
              <a:t>서론 </a:t>
            </a:r>
            <a:r>
              <a:rPr lang="en-US" altLang="ko-KR" sz="1600" dirty="0"/>
              <a:t>(</a:t>
            </a:r>
            <a:r>
              <a:rPr lang="ko-KR" altLang="en-US" sz="1600" dirty="0"/>
              <a:t>들어가며</a:t>
            </a:r>
            <a:r>
              <a:rPr lang="en-US" altLang="ko-KR" sz="1600" dirty="0"/>
              <a:t>)</a:t>
            </a:r>
          </a:p>
          <a:p>
            <a:pPr marL="971550" lvl="1" indent="-514350">
              <a:buAutoNum type="romanUcPeriod"/>
            </a:pPr>
            <a:r>
              <a:rPr lang="ko-KR" altLang="en-US" sz="1600" dirty="0"/>
              <a:t>개요 </a:t>
            </a:r>
            <a:r>
              <a:rPr lang="en-US" altLang="ko-KR" sz="1600" dirty="0"/>
              <a:t>(</a:t>
            </a:r>
            <a:r>
              <a:rPr lang="ko-KR" altLang="en-US" sz="1600" dirty="0"/>
              <a:t>대략적인 최적화 모형 설명 및 선택한 최적화 모형 이유</a:t>
            </a:r>
            <a:r>
              <a:rPr lang="en-US" altLang="ko-KR" sz="1600" dirty="0"/>
              <a:t>)</a:t>
            </a:r>
          </a:p>
          <a:p>
            <a:pPr marL="971550" lvl="1" indent="-514350">
              <a:buAutoNum type="romanUcPeriod"/>
            </a:pPr>
            <a:r>
              <a:rPr lang="ko-KR" altLang="en-US" sz="1600" dirty="0"/>
              <a:t>대상 유역 및 문제 제기</a:t>
            </a:r>
            <a:endParaRPr lang="en-US" altLang="ko-KR" sz="1600" dirty="0"/>
          </a:p>
          <a:p>
            <a:pPr marL="971550" lvl="1" indent="-514350">
              <a:buAutoNum type="romanUcPeriod"/>
            </a:pPr>
            <a:r>
              <a:rPr lang="ko-KR" altLang="en-US" sz="1600" dirty="0"/>
              <a:t>문제 설정 및 최적화 진행 과정 </a:t>
            </a:r>
            <a:r>
              <a:rPr lang="en-US" altLang="ko-KR" sz="1600" dirty="0"/>
              <a:t>(</a:t>
            </a:r>
            <a:r>
              <a:rPr lang="ko-KR" altLang="en-US" sz="1400" dirty="0"/>
              <a:t>최적화 모델 세부 구성 및 설명 추가 필요</a:t>
            </a:r>
            <a:r>
              <a:rPr lang="en-US" altLang="ko-KR" sz="1400" dirty="0"/>
              <a:t>)</a:t>
            </a:r>
          </a:p>
          <a:p>
            <a:pPr marL="971550" lvl="1" indent="-514350">
              <a:buAutoNum type="romanUcPeriod"/>
            </a:pPr>
            <a:r>
              <a:rPr lang="ko-KR" altLang="en-US" sz="1600" dirty="0"/>
              <a:t>최적화 진행 결과 및 과거 유입량 바탕의 모의 진행 결과</a:t>
            </a:r>
            <a:endParaRPr lang="en-US" altLang="ko-KR" sz="1600" dirty="0"/>
          </a:p>
          <a:p>
            <a:pPr marL="971550" lvl="1" indent="-514350">
              <a:buAutoNum type="romanUcPeriod"/>
            </a:pPr>
            <a:r>
              <a:rPr lang="ko-KR" altLang="en-US" sz="1600" dirty="0"/>
              <a:t>결론 및 토론 </a:t>
            </a:r>
            <a:r>
              <a:rPr lang="en-US" altLang="ko-KR" sz="1600" dirty="0"/>
              <a:t>(+</a:t>
            </a:r>
            <a:r>
              <a:rPr lang="ko-KR" altLang="en-US" sz="1600" dirty="0"/>
              <a:t>시사점</a:t>
            </a:r>
            <a:r>
              <a:rPr lang="en-US" altLang="ko-KR" sz="1600" dirty="0"/>
              <a:t>&amp;</a:t>
            </a:r>
            <a:r>
              <a:rPr lang="ko-KR" altLang="en-US" sz="1600" dirty="0"/>
              <a:t>한계점</a:t>
            </a:r>
            <a:r>
              <a:rPr lang="en-US" altLang="ko-KR" sz="1600" dirty="0"/>
              <a:t>?)</a:t>
            </a:r>
            <a:endParaRPr lang="ko-KR" altLang="en-US" sz="16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CD378F-024D-4F97-BD99-46C14334A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822AFB-C284-4A8E-A6EE-41BAA9C576A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43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78040</TotalTime>
  <Words>331</Words>
  <Application>Microsoft Office PowerPoint</Application>
  <PresentationFormat>화면 슬라이드 쇼(4:3)</PresentationFormat>
  <Paragraphs>18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나눔고딕 ExtraBold</vt:lpstr>
      <vt:lpstr>나눔고딕 Light</vt:lpstr>
      <vt:lpstr>맑은 고딕</vt:lpstr>
      <vt:lpstr>Arial</vt:lpstr>
      <vt:lpstr>Calibri</vt:lpstr>
      <vt:lpstr>Gill Sans MT</vt:lpstr>
      <vt:lpstr>Wingdings</vt:lpstr>
      <vt:lpstr>Office 테마</vt:lpstr>
      <vt:lpstr>Final Project B</vt:lpstr>
      <vt:lpstr>Final Project B 최종 리포트 목차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 Joo</dc:creator>
  <cp:lastModifiedBy>김기주</cp:lastModifiedBy>
  <cp:revision>2353</cp:revision>
  <cp:lastPrinted>2022-03-21T05:50:04Z</cp:lastPrinted>
  <dcterms:created xsi:type="dcterms:W3CDTF">2020-01-02T02:18:47Z</dcterms:created>
  <dcterms:modified xsi:type="dcterms:W3CDTF">2022-05-24T01:10:14Z</dcterms:modified>
</cp:coreProperties>
</file>