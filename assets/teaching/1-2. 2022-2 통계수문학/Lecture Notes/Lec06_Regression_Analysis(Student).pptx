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700" r:id="rId3"/>
    <p:sldId id="701" r:id="rId4"/>
    <p:sldId id="735" r:id="rId5"/>
    <p:sldId id="732" r:id="rId6"/>
    <p:sldId id="741" r:id="rId7"/>
    <p:sldId id="743" r:id="rId8"/>
    <p:sldId id="744" r:id="rId9"/>
    <p:sldId id="745" r:id="rId10"/>
    <p:sldId id="746" r:id="rId11"/>
    <p:sldId id="734" r:id="rId12"/>
    <p:sldId id="742" r:id="rId13"/>
    <p:sldId id="736" r:id="rId14"/>
    <p:sldId id="737" r:id="rId15"/>
    <p:sldId id="738" r:id="rId16"/>
    <p:sldId id="747" r:id="rId17"/>
    <p:sldId id="739" r:id="rId18"/>
    <p:sldId id="698" r:id="rId19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4" tIns="47392" rIns="94784" bIns="47392" rtlCol="0"/>
          <a:lstStyle>
            <a:lvl1pPr algn="r">
              <a:defRPr sz="1300"/>
            </a:lvl1pPr>
          </a:lstStyle>
          <a:p>
            <a:fld id="{E1DBA18E-019D-4DB5-9C84-C80C9EC0EDE4}" type="datetimeFigureOut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4" tIns="47392" rIns="94784" bIns="4739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4" tIns="47392" rIns="94784" bIns="4739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84" tIns="47392" rIns="94784" bIns="47392" rtlCol="0" anchor="b"/>
          <a:lstStyle>
            <a:lvl1pPr algn="r">
              <a:defRPr sz="13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2022-11-15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06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669903"/>
              </p:ext>
            </p:extLst>
          </p:nvPr>
        </p:nvGraphicFramePr>
        <p:xfrm>
          <a:off x="6146800" y="3208784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208784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2719068"/>
            <a:ext cx="7772400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4000" dirty="0"/>
              <a:t>Regression Analysis &amp;</a:t>
            </a:r>
          </a:p>
          <a:p>
            <a:r>
              <a:rPr lang="en-US" altLang="ko-KR" sz="4000" dirty="0"/>
              <a:t>Introduction to Machine Learning Techniques 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37-D1A8-45B6-9DE2-8D9AB964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5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Probabilistic Modeling in Hydrology</a:t>
                </a:r>
              </a:p>
              <a:p>
                <a:r>
                  <a:rPr lang="en-US" altLang="ko-KR" dirty="0"/>
                  <a:t> Flood Frequency Analysis</a:t>
                </a:r>
              </a:p>
              <a:p>
                <a:pPr lvl="1"/>
                <a:r>
                  <a:rPr lang="en-US" altLang="ko-KR" dirty="0"/>
                  <a:t> Empirical Method (No Distributional Assumptions)</a:t>
                </a:r>
              </a:p>
              <a:p>
                <a:pPr lvl="1"/>
                <a:r>
                  <a:rPr lang="en-US" altLang="ko-KR" dirty="0"/>
                  <a:t> Analytical Method (Distributional Assumptions)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More Distributions for Extreme Events</a:t>
                </a:r>
              </a:p>
              <a:p>
                <a:pPr lvl="1"/>
                <a:r>
                  <a:rPr lang="en-US" altLang="ko-KR" dirty="0"/>
                  <a:t> Generalized Extreme Value (GEV) Distributions</a:t>
                </a:r>
              </a:p>
              <a:p>
                <a:pPr lvl="1"/>
                <a:r>
                  <a:rPr lang="en-US" altLang="ko-KR" dirty="0"/>
                  <a:t> Peaks-over-threshold (POT) Approach (=Partial Duration)</a:t>
                </a:r>
              </a:p>
              <a:p>
                <a:pPr lvl="2"/>
                <a:r>
                  <a:rPr lang="en-US" altLang="ko-KR" dirty="0"/>
                  <a:t>Generalized Pareto Distribution (GPD)</a:t>
                </a:r>
              </a:p>
              <a:p>
                <a:pPr lvl="1"/>
                <a:r>
                  <a:rPr lang="en-US" altLang="ko-KR" dirty="0"/>
                  <a:t> How to Choose the Threshold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/>
                  <a:t>? Mean Residual Life Plot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6FCD97-7550-4EDA-B26C-8899E837E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3B384-C4BF-4875-8C9F-84C58259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475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B18E7-338E-40B1-9003-E5591036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6D20D3-4909-48A3-823F-3D5F62F90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48880"/>
            <a:ext cx="7886700" cy="3828083"/>
          </a:xfrm>
        </p:spPr>
        <p:txBody>
          <a:bodyPr/>
          <a:lstStyle/>
          <a:p>
            <a:r>
              <a:rPr lang="en-US" altLang="ko-KR" b="1" dirty="0"/>
              <a:t> Part</a:t>
            </a:r>
            <a:r>
              <a:rPr lang="ko-KR" altLang="en-US" b="1" dirty="0"/>
              <a:t> </a:t>
            </a:r>
            <a:r>
              <a:rPr lang="en-US" altLang="ko-KR" b="1" dirty="0"/>
              <a:t>I</a:t>
            </a:r>
          </a:p>
          <a:p>
            <a:pPr lvl="1"/>
            <a:r>
              <a:rPr lang="en-US" altLang="ko-KR" dirty="0"/>
              <a:t> Simple</a:t>
            </a:r>
            <a:r>
              <a:rPr lang="ko-KR" altLang="en-US" dirty="0"/>
              <a:t> </a:t>
            </a:r>
            <a:r>
              <a:rPr lang="en-US" altLang="ko-KR" dirty="0"/>
              <a:t>Linear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</a:p>
          <a:p>
            <a:pPr lvl="1"/>
            <a:r>
              <a:rPr lang="en-US" altLang="ko-KR" dirty="0"/>
              <a:t> Multiple Linear Regression</a:t>
            </a:r>
          </a:p>
          <a:p>
            <a:pPr lvl="1"/>
            <a:r>
              <a:rPr lang="en-US" altLang="ko-KR" dirty="0"/>
              <a:t> How to estimate the parameters? OLS/GD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Part II</a:t>
            </a:r>
          </a:p>
          <a:p>
            <a:pPr lvl="1"/>
            <a:r>
              <a:rPr lang="en-US" altLang="ko-KR" dirty="0"/>
              <a:t> Logistic Regression: Sigmoid Function (Relationship to ANNs?)</a:t>
            </a:r>
          </a:p>
          <a:p>
            <a:pPr lvl="1"/>
            <a:r>
              <a:rPr lang="en-US" altLang="ko-KR" dirty="0"/>
              <a:t> Introduction to Few Machine Learning Techniques</a:t>
            </a: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2B42AE-F039-4179-AC4C-CE069538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8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3DCD1-1E43-47A3-8B09-F0605D60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Basic Definitions for Lecture 06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6DE823-A064-408D-A8AB-E1ACD72D9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4908203"/>
              </a:xfrm>
            </p:spPr>
            <p:txBody>
              <a:bodyPr/>
              <a:lstStyle/>
              <a:p>
                <a:r>
                  <a:rPr lang="en-US" altLang="ko-KR" dirty="0"/>
                  <a:t> Regression (</a:t>
                </a:r>
                <a:r>
                  <a:rPr lang="ko-KR" altLang="en-US" dirty="0"/>
                  <a:t>회귀분석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</a:t>
                </a:r>
                <a:r>
                  <a:rPr lang="ko-KR" altLang="en-US" dirty="0"/>
                  <a:t>기본 개념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수식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>
                  <a:solidFill>
                    <a:schemeClr val="bg1"/>
                  </a:solidFill>
                </a:endParaRPr>
              </a:p>
              <a:p>
                <a:pPr lvl="1"/>
                <a:r>
                  <a:rPr lang="en-US" altLang="ko-KR" dirty="0"/>
                  <a:t> Objective: </a:t>
                </a:r>
              </a:p>
              <a:p>
                <a:pPr lvl="2"/>
                <a:r>
                  <a:rPr lang="ko-KR" altLang="en-US" dirty="0"/>
                  <a:t>확보된 관측 자료를 통해 모델을 만들고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매개변수를 추정하고</a:t>
                </a:r>
                <a:r>
                  <a:rPr lang="en-US" altLang="ko-KR" dirty="0"/>
                  <a:t>), </a:t>
                </a:r>
              </a:p>
              <a:p>
                <a:pPr lvl="2"/>
                <a:r>
                  <a:rPr lang="ko-KR" altLang="en-US" dirty="0"/>
                  <a:t>이후 추가적인 관측을 통해 생기는 결과를 예측하고자 함</a:t>
                </a:r>
                <a:endParaRPr lang="en-US" altLang="ko-KR" dirty="0"/>
              </a:p>
              <a:p>
                <a:pPr lvl="1"/>
                <a:endParaRPr lang="en-US" altLang="ko-KR" sz="1100" dirty="0"/>
              </a:p>
              <a:p>
                <a:r>
                  <a:rPr lang="en-US" altLang="ko-KR" dirty="0"/>
                  <a:t> Explanatory Variable (</a:t>
                </a:r>
                <a:r>
                  <a:rPr lang="ko-KR" altLang="en-US" dirty="0"/>
                  <a:t>독립변수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설명변수</a:t>
                </a:r>
                <a:r>
                  <a:rPr lang="en-US" altLang="ko-KR" dirty="0"/>
                  <a:t>; denoted as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a measure of something that is driving force to the system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	ex)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time, rainfall, streamflow, geographic coordinate, …</a:t>
                </a:r>
              </a:p>
              <a:p>
                <a:r>
                  <a:rPr lang="en-US" altLang="ko-KR" dirty="0"/>
                  <a:t> Response (or dependent) Variable (</a:t>
                </a:r>
                <a:r>
                  <a:rPr lang="ko-KR" altLang="en-US" dirty="0"/>
                  <a:t>종속변수</a:t>
                </a:r>
                <a:r>
                  <a:rPr lang="en-US" altLang="ko-KR" dirty="0"/>
                  <a:t>; denoted as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 variable to be estimated using the explanatory variable(s)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	ex)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streamflow, solute concentration, …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6DE823-A064-408D-A8AB-E1ACD72D9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490820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AA7C82-9821-4439-B876-B1F459A9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87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40886-6B4F-4358-858B-AD0609D4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Linear Regression 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9109A-5CAA-420B-AE31-A8C417C1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5DAC07D4-D5B3-4F0D-AD4A-1B48680E49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916833"/>
                <a:ext cx="7886700" cy="42601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err="1"/>
                  <a:t>th</a:t>
                </a:r>
                <a:r>
                  <a:rPr lang="en-US" altLang="ko-KR" dirty="0"/>
                  <a:t> observation of the response (or dependent) variable 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err="1"/>
                  <a:t>th</a:t>
                </a:r>
                <a:r>
                  <a:rPr lang="en-US" altLang="ko-KR" dirty="0"/>
                  <a:t> observation of the explanatory variable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dirty="0"/>
                  <a:t> = intercept </a:t>
                </a:r>
                <a:r>
                  <a:rPr lang="en-US" altLang="ko-KR" b="1" i="1" dirty="0"/>
                  <a:t>(parameter to be estimated)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= slope </a:t>
                </a:r>
                <a:r>
                  <a:rPr lang="en-US" altLang="ko-KR" b="1" i="1" dirty="0"/>
                  <a:t>(parameter to be estimated)</a:t>
                </a:r>
                <a:endParaRPr lang="en-US" altLang="ko-KR" b="1" dirty="0"/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= random error or residual for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 err="1"/>
                  <a:t>th</a:t>
                </a:r>
                <a:r>
                  <a:rPr lang="en-US" altLang="ko-KR" dirty="0"/>
                  <a:t> observation (</a:t>
                </a:r>
                <a:r>
                  <a:rPr lang="ko-KR" altLang="en-US" dirty="0"/>
                  <a:t>오차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잔차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en-US" altLang="ko-KR" dirty="0"/>
                  <a:t>Random variable which is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: </a:t>
                </a:r>
                <a:r>
                  <a:rPr lang="ko-KR" altLang="en-US" dirty="0"/>
                  <a:t>별도의 분산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을 가지고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정규분포를 따르는 </a:t>
                </a:r>
                <a:r>
                  <a:rPr lang="en-US" altLang="ko-KR" dirty="0"/>
                  <a:t>RV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/>
                  <a:t> = sample size</a:t>
                </a:r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</a:t>
                </a:r>
                <a:r>
                  <a:rPr lang="en-US" altLang="ko-KR" i="1" dirty="0"/>
                  <a:t>Preview</a:t>
                </a:r>
                <a:r>
                  <a:rPr lang="en-US" altLang="ko-KR" dirty="0"/>
                  <a:t>: AR(1) Model in Time Series</a:t>
                </a:r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5DAC07D4-D5B3-4F0D-AD4A-1B48680E4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916833"/>
                <a:ext cx="7886700" cy="4260130"/>
              </a:xfrm>
              <a:prstGeom prst="rect">
                <a:avLst/>
              </a:prstGeo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37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29514-C3B1-470A-80B6-6F93AA10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Linear Regression 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F7EC6B-0D12-466E-B342-70A35A1D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49AE57B-30DB-408F-BB40-59D4C42D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2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C6D75B-AD5C-495D-BA7E-039B90D996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86C6D75B-AD5C-495D-BA7E-039B90D996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3B6DF3-E4D0-49E3-9010-71EBFD28B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29000"/>
            <a:ext cx="7886700" cy="2747963"/>
          </a:xfrm>
        </p:spPr>
        <p:txBody>
          <a:bodyPr/>
          <a:lstStyle/>
          <a:p>
            <a:r>
              <a:rPr lang="en-US" altLang="ko-KR" dirty="0"/>
              <a:t> Are conditions changing?</a:t>
            </a:r>
          </a:p>
          <a:p>
            <a:pPr lvl="1"/>
            <a:r>
              <a:rPr lang="en-US" altLang="ko-KR" dirty="0"/>
              <a:t> Here, conditions refer to mean, variance, …</a:t>
            </a:r>
          </a:p>
          <a:p>
            <a:pPr lvl="1"/>
            <a:r>
              <a:rPr lang="en-US" altLang="ko-KR" dirty="0"/>
              <a:t> Possible types of change: linear, monotonic, stepwise, </a:t>
            </a:r>
            <a:r>
              <a:rPr lang="en-US" altLang="ko-KR" dirty="0" err="1"/>
              <a:t>expon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Is there a linear trend in the mean over time?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005B2-D88D-4685-AC0D-97511827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91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C697B8-AB08-4C2C-9B58-4940608F4B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1C697B8-AB08-4C2C-9B58-4940608F4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DC54C0-1F44-479D-8CFF-7A8414D65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84928"/>
                <a:ext cx="7886700" cy="4192036"/>
              </a:xfrm>
            </p:spPr>
            <p:txBody>
              <a:bodyPr/>
              <a:lstStyle/>
              <a:p>
                <a:r>
                  <a:rPr lang="en-US" altLang="ko-KR" dirty="0"/>
                  <a:t> Assumptions</a:t>
                </a:r>
              </a:p>
              <a:p>
                <a:pPr lvl="1"/>
                <a:r>
                  <a:rPr lang="en-US" altLang="ko-KR" dirty="0"/>
                  <a:t> t (time) is deterministic</a:t>
                </a:r>
              </a:p>
              <a:p>
                <a:pPr lvl="1"/>
                <a:r>
                  <a:rPr lang="en-US" altLang="ko-KR" dirty="0"/>
                  <a:t>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are fixed &amp; unknown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stochastic (RV)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is stochastic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7DC54C0-1F44-479D-8CFF-7A8414D65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84928"/>
                <a:ext cx="7886700" cy="4192036"/>
              </a:xfrm>
              <a:blipFill>
                <a:blip r:embed="rId3"/>
                <a:stretch>
                  <a:fillRect l="-696" t="-1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A3DD5-E39A-4F71-9771-7C9A3FB9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D42B49B0-F632-46BB-849D-3A181091B5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1302808"/>
                <a:ext cx="7886700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(0, 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D42B49B0-F632-46BB-849D-3A181091B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02808"/>
                <a:ext cx="7886700" cy="5040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93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624286-F5A9-4631-AA0C-B711F7C524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624286-F5A9-4631-AA0C-B711F7C52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674774-8C30-4BBA-A4D3-60FC157F1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760"/>
                <a:ext cx="7886700" cy="4908203"/>
              </a:xfrm>
            </p:spPr>
            <p:txBody>
              <a:bodyPr/>
              <a:lstStyle/>
              <a:p>
                <a:r>
                  <a:rPr lang="en-US" altLang="ko-KR" dirty="0"/>
                  <a:t> Estimation of Parameters (via MLE)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By setting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We get 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4674774-8C30-4BBA-A4D3-60FC157F1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760"/>
                <a:ext cx="7886700" cy="4908203"/>
              </a:xfrm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8C1761-F7AC-4B24-AE35-E23ABC6C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D0935-B864-48CA-94A0-221F8F9530EB}"/>
                  </a:ext>
                </a:extLst>
              </p:cNvPr>
              <p:cNvSpPr txBox="1"/>
              <p:nvPr/>
            </p:nvSpPr>
            <p:spPr>
              <a:xfrm>
                <a:off x="3118953" y="2996952"/>
                <a:ext cx="848694" cy="573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D0935-B864-48CA-94A0-221F8F953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953" y="2996952"/>
                <a:ext cx="848694" cy="5737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9582B1-4EDE-44F6-8E02-D905789B886D}"/>
                  </a:ext>
                </a:extLst>
              </p:cNvPr>
              <p:cNvSpPr txBox="1"/>
              <p:nvPr/>
            </p:nvSpPr>
            <p:spPr>
              <a:xfrm>
                <a:off x="4332984" y="2998431"/>
                <a:ext cx="843371" cy="573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9582B1-4EDE-44F6-8E02-D905789B8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984" y="2998431"/>
                <a:ext cx="843371" cy="5733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2F74C5-5CBA-4A2E-874B-3BF2660A843B}"/>
                  </a:ext>
                </a:extLst>
              </p:cNvPr>
              <p:cNvSpPr txBox="1"/>
              <p:nvPr/>
            </p:nvSpPr>
            <p:spPr>
              <a:xfrm>
                <a:off x="5541692" y="3020451"/>
                <a:ext cx="872097" cy="5267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2F74C5-5CBA-4A2E-874B-3BF2660A8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692" y="3020451"/>
                <a:ext cx="872097" cy="5267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24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FA0092-0275-47EC-82B2-547EBF83C2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Consider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as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 (Trend Detection)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0FA0092-0275-47EC-82B2-547EBF83C2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695591-516D-48C9-88CB-979EA6466E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By 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 into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expression, </a:t>
                </a:r>
                <a:br>
                  <a:rPr lang="en-US" altLang="ko-KR" dirty="0"/>
                </a:br>
                <a:r>
                  <a:rPr lang="en-US" altLang="ko-KR" dirty="0"/>
                  <a:t>	We get 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695591-516D-48C9-88CB-979EA6466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1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54E45-B9AD-4693-9188-21C3F050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9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E04A9-AA31-469A-92C0-48736290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Multiple Linear Regression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4C54A-FD59-41B2-A00D-122170A3E7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16834"/>
                <a:ext cx="7886700" cy="4680518"/>
              </a:xfrm>
            </p:spPr>
            <p:txBody>
              <a:bodyPr/>
              <a:lstStyle/>
              <a:p>
                <a:r>
                  <a:rPr lang="en-US" altLang="ko-KR" dirty="0"/>
                  <a:t> This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case,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 k explanatory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assumed to be n observations of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dirty="0"/>
                  <a:t> explanatory variables </a:t>
                </a:r>
                <a:br>
                  <a:rPr lang="en-US" altLang="ko-KR" dirty="0"/>
                </a:br>
                <a:r>
                  <a:rPr lang="en-US" altLang="ko-KR" dirty="0"/>
                  <a:t>and of the dependent variable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 (subscript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dirty="0"/>
                  <a:t> omitted)</a:t>
                </a:r>
              </a:p>
              <a:p>
                <a:pPr lvl="1"/>
                <a:endParaRPr lang="en-US" altLang="ko-KR" sz="800" dirty="0"/>
              </a:p>
              <a:p>
                <a:r>
                  <a:rPr lang="en-US" altLang="ko-KR" dirty="0"/>
                  <a:t> Examples</a:t>
                </a:r>
              </a:p>
              <a:p>
                <a:pPr lvl="1"/>
                <a:r>
                  <a:rPr lang="en-US" altLang="ko-KR" dirty="0"/>
                  <a:t> Streamflow basin characteristics model</a:t>
                </a:r>
              </a:p>
              <a:p>
                <a:pPr lvl="2"/>
                <a:r>
                  <a:rPr lang="en-US" altLang="ko-KR" dirty="0"/>
                  <a:t>Mean flow, 10-year flood (y) ~ drainage basin area, average basin altitude, percentage of basin forecasted (x)</a:t>
                </a:r>
              </a:p>
              <a:p>
                <a:pPr lvl="1"/>
                <a:r>
                  <a:rPr lang="en-US" altLang="ko-KR" dirty="0"/>
                  <a:t> Basin yield-basin characteristic model</a:t>
                </a:r>
              </a:p>
              <a:p>
                <a:pPr lvl="2"/>
                <a:r>
                  <a:rPr lang="en-US" altLang="ko-KR" dirty="0"/>
                  <a:t>Basin dissolved solids yield (y) ~ average rainfall, percentage of the basin area underlain by carbonate rocks, basin population (x)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7E4C54A-FD59-41B2-A00D-122170A3E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16834"/>
                <a:ext cx="7886700" cy="4680518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98C72-4940-46E3-BF71-59CAACD4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9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6CF12-9F16-49D1-A032-66AD4449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Model Parameters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F84069-5593-4D47-934D-99F7F02697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Estimation of parameters of regression models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Ordinary Least Square (OLS): Minimize </a:t>
                </a:r>
              </a:p>
              <a:p>
                <a:pPr lvl="2"/>
                <a:r>
                  <a:rPr lang="en-US" altLang="ko-KR" dirty="0"/>
                  <a:t>Non-iterative</a:t>
                </a:r>
              </a:p>
              <a:p>
                <a:pPr lvl="1"/>
                <a:r>
                  <a:rPr lang="en-US" altLang="ko-KR" dirty="0"/>
                  <a:t> Gradient Descent (Optimizer, GD)</a:t>
                </a:r>
              </a:p>
              <a:p>
                <a:pPr lvl="2"/>
                <a:r>
                  <a:rPr lang="en-US" altLang="ko-KR" dirty="0"/>
                  <a:t>Iterative, </a:t>
                </a:r>
                <a:r>
                  <a:rPr lang="en-US" altLang="ko-KR" b="1" u="sng" dirty="0"/>
                  <a:t>Learning rate </a:t>
                </a:r>
                <a14:m>
                  <m:oMath xmlns:m="http://schemas.openxmlformats.org/officeDocument/2006/math">
                    <m:r>
                      <a:rPr lang="ko-KR" altLang="en-US" b="1" i="1" u="sng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should be determined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F84069-5593-4D47-934D-99F7F02697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09DC1D-56E9-4A30-9B6B-C18726C2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074" name="Picture 2" descr="Ordinary Least Square (OLS) Method for Linear Regression | by Aishwarya  Gulve | Analytics Vidhya | Medium">
            <a:extLst>
              <a:ext uri="{FF2B5EF4-FFF2-40B4-BE49-F238E27FC236}">
                <a16:creationId xmlns:a16="http://schemas.microsoft.com/office/drawing/2014/main" id="{4A25FF95-61A3-4C6F-BA49-19C3C8A46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96195"/>
            <a:ext cx="3222161" cy="242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iro.medium.com/max/700/1*HrFZV7pKPcc5dzLaWvngtQ.png">
            <a:extLst>
              <a:ext uri="{FF2B5EF4-FFF2-40B4-BE49-F238E27FC236}">
                <a16:creationId xmlns:a16="http://schemas.microsoft.com/office/drawing/2014/main" id="{3E041CE0-2860-4648-9B16-F3A5EE40E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95" y="3772063"/>
            <a:ext cx="4277414" cy="231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086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6A1FE-03E5-4AC8-BA8C-D092DCAC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 II: Logistic Regression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9B214-0EE6-473C-B9F3-19623256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184576"/>
          </a:xfrm>
        </p:spPr>
        <p:txBody>
          <a:bodyPr/>
          <a:lstStyle/>
          <a:p>
            <a:r>
              <a:rPr lang="en-US" altLang="ko-KR" dirty="0"/>
              <a:t> Definition: </a:t>
            </a:r>
            <a:br>
              <a:rPr lang="en-US" altLang="ko-KR" dirty="0"/>
            </a:br>
            <a:r>
              <a:rPr lang="en-US" altLang="ko-KR" dirty="0"/>
              <a:t>Statistical analysis method to predict a binary outcome, based on prior observations of a data set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 Logistic Function (Sigmoid Function)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925D9-7D15-44E6-8ED3-9807491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4098" name="Picture 2" descr="5-6. 로지스틱 회귀분석(Logistic Regression)">
            <a:extLst>
              <a:ext uri="{FF2B5EF4-FFF2-40B4-BE49-F238E27FC236}">
                <a16:creationId xmlns:a16="http://schemas.microsoft.com/office/drawing/2014/main" id="{6EB779AA-E623-4579-9742-ED42C5C09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464" y="2492896"/>
            <a:ext cx="5760640" cy="245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A199F6-9D37-4718-90C6-B6710913C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07" y="4478420"/>
            <a:ext cx="2988501" cy="222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2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5CC4D-798E-4EE0-83B0-37FBA4C3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Few Machine Learning Techniques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7111B-A6B7-4D72-8443-A63A3B61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Introducing today: </a:t>
            </a:r>
          </a:p>
          <a:p>
            <a:pPr lvl="1"/>
            <a:r>
              <a:rPr lang="en-US" altLang="ko-KR" dirty="0"/>
              <a:t> Artificial Neural Network (ANN)</a:t>
            </a:r>
          </a:p>
          <a:p>
            <a:pPr marL="914400" lvl="2" indent="0">
              <a:buNone/>
            </a:pPr>
            <a:r>
              <a:rPr lang="en-US" altLang="ko-KR" dirty="0"/>
              <a:t>  known to mimic highly non-linear &amp; complex systems well</a:t>
            </a:r>
          </a:p>
          <a:p>
            <a:pPr marL="914400" lvl="2" indent="0">
              <a:buNone/>
            </a:pPr>
            <a:r>
              <a:rPr lang="en-US" altLang="ko-KR" dirty="0"/>
              <a:t>  any information about the sequential order of the inputs are lost</a:t>
            </a:r>
          </a:p>
          <a:p>
            <a:pPr lvl="1"/>
            <a:r>
              <a:rPr lang="en-US" altLang="ko-KR" dirty="0"/>
              <a:t> Deep Neural Network (DNN)</a:t>
            </a:r>
          </a:p>
          <a:p>
            <a:pPr lvl="2"/>
            <a:r>
              <a:rPr lang="en-US" altLang="ko-KR" dirty="0"/>
              <a:t>Additional number of hidden layers between input &amp; output layers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 Recurrent Neural Network (RNN)</a:t>
            </a:r>
          </a:p>
          <a:p>
            <a:pPr marL="914400" lvl="2" indent="0">
              <a:buNone/>
            </a:pPr>
            <a:r>
              <a:rPr lang="en-US" altLang="ko-KR" dirty="0"/>
              <a:t>   </a:t>
            </a:r>
          </a:p>
          <a:p>
            <a:pPr marL="914400" lvl="2" indent="0">
              <a:buNone/>
            </a:pPr>
            <a:r>
              <a:rPr lang="en-US" altLang="ko-KR" dirty="0"/>
              <a:t>   Long-term dependency</a:t>
            </a:r>
            <a:br>
              <a:rPr lang="en-US" altLang="ko-KR" dirty="0"/>
            </a:br>
            <a:r>
              <a:rPr lang="en-US" altLang="ko-KR" dirty="0"/>
              <a:t> (Only 10 or less time steps)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F739F-A830-4AA2-817D-3598AC43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2050" name="Picture 2" descr="https://wikidocs.net/images/page/22886/rnn_image4_ver2.PNG">
            <a:extLst>
              <a:ext uri="{FF2B5EF4-FFF2-40B4-BE49-F238E27FC236}">
                <a16:creationId xmlns:a16="http://schemas.microsoft.com/office/drawing/2014/main" id="{577B8D79-44D4-4B85-A7F0-887E3DAFF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294" y="4680213"/>
            <a:ext cx="1162050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orch-기초강의] 6. 순차적인 데이터를 처리하는 RNN(LSTM, GRU)">
            <a:extLst>
              <a:ext uri="{FF2B5EF4-FFF2-40B4-BE49-F238E27FC236}">
                <a16:creationId xmlns:a16="http://schemas.microsoft.com/office/drawing/2014/main" id="{8B4E32B7-0296-4FE0-AA6B-2A80571BF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797431"/>
            <a:ext cx="3009682" cy="169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579253B-37CF-4A5E-928F-FC32B1EA8DE1}"/>
              </a:ext>
            </a:extLst>
          </p:cNvPr>
          <p:cNvSpPr/>
          <p:nvPr/>
        </p:nvSpPr>
        <p:spPr>
          <a:xfrm>
            <a:off x="1403648" y="2204865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B46FABE-8BBF-4918-AE33-C576B97435BD}"/>
              </a:ext>
            </a:extLst>
          </p:cNvPr>
          <p:cNvSpPr/>
          <p:nvPr/>
        </p:nvSpPr>
        <p:spPr>
          <a:xfrm>
            <a:off x="1403648" y="2564904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C3733B2-FD40-47D8-A81E-13470FE67EC1}"/>
              </a:ext>
            </a:extLst>
          </p:cNvPr>
          <p:cNvSpPr/>
          <p:nvPr/>
        </p:nvSpPr>
        <p:spPr>
          <a:xfrm>
            <a:off x="1511660" y="4365105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CDC6BA2-CD46-45BB-88AE-527E82C3D985}"/>
              </a:ext>
            </a:extLst>
          </p:cNvPr>
          <p:cNvSpPr/>
          <p:nvPr/>
        </p:nvSpPr>
        <p:spPr>
          <a:xfrm>
            <a:off x="1511660" y="4725144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503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94A88-B014-431C-A9EA-7B2A5850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Few Machine Learning Techniques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0FE04-F745-4520-8C12-42598B35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122" name="Picture 2" descr="https://hess.copernicus.org/articles/22/6005/2018/hess-22-6005-2018-f02-web.png">
            <a:extLst>
              <a:ext uri="{FF2B5EF4-FFF2-40B4-BE49-F238E27FC236}">
                <a16:creationId xmlns:a16="http://schemas.microsoft.com/office/drawing/2014/main" id="{E244E79B-34D1-4FA4-911E-32E2E9CF5C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290884"/>
            <a:ext cx="7886700" cy="221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79EA8DB-CCE1-4008-B19E-26E4E8F92EFE}"/>
              </a:ext>
            </a:extLst>
          </p:cNvPr>
          <p:cNvSpPr txBox="1">
            <a:spLocks/>
          </p:cNvSpPr>
          <p:nvPr/>
        </p:nvSpPr>
        <p:spPr>
          <a:xfrm>
            <a:off x="628650" y="1268761"/>
            <a:ext cx="7886700" cy="2448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D721CBB-5788-41F2-B94E-B45CB6FFAFE2}"/>
              </a:ext>
            </a:extLst>
          </p:cNvPr>
          <p:cNvSpPr txBox="1">
            <a:spLocks/>
          </p:cNvSpPr>
          <p:nvPr/>
        </p:nvSpPr>
        <p:spPr>
          <a:xfrm>
            <a:off x="628650" y="1268760"/>
            <a:ext cx="826383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 Long-Short Term Memory (LSTM)</a:t>
            </a:r>
          </a:p>
          <a:p>
            <a:pPr marL="457200" lvl="1" indent="0">
              <a:buNone/>
            </a:pPr>
            <a:r>
              <a:rPr lang="en-US" altLang="ko-KR" dirty="0"/>
              <a:t>   overcomes the problem of the traditional RNN of learning </a:t>
            </a:r>
            <a:br>
              <a:rPr lang="en-US" altLang="ko-KR" dirty="0"/>
            </a:br>
            <a:r>
              <a:rPr lang="en-US" altLang="ko-KR" dirty="0"/>
              <a:t>long-term dependencies representing hydrological catchments</a:t>
            </a:r>
          </a:p>
          <a:p>
            <a:r>
              <a:rPr lang="en-US" altLang="ko-KR" dirty="0"/>
              <a:t> LSTM compared to RNNs</a:t>
            </a:r>
          </a:p>
          <a:p>
            <a:pPr lvl="1"/>
            <a:r>
              <a:rPr lang="en-US" altLang="ko-KR" dirty="0"/>
              <a:t> Additional </a:t>
            </a:r>
            <a:r>
              <a:rPr lang="en-US" altLang="ko-KR" b="1" u="sng" dirty="0"/>
              <a:t>cell state (or cell memory)</a:t>
            </a:r>
            <a:r>
              <a:rPr lang="en-US" altLang="ko-KR" dirty="0"/>
              <a:t> where information are stored</a:t>
            </a:r>
          </a:p>
          <a:p>
            <a:pPr lvl="1"/>
            <a:r>
              <a:rPr lang="en-US" altLang="ko-KR" dirty="0"/>
              <a:t> Forget/</a:t>
            </a:r>
            <a:r>
              <a:rPr lang="en-US" altLang="ko-KR" dirty="0" err="1"/>
              <a:t>Input/Output</a:t>
            </a:r>
            <a:r>
              <a:rPr lang="en-US" altLang="ko-KR" dirty="0"/>
              <a:t> gates (ⓕ ⓘ ⓞ) that control the information flow within the LSTM cell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4118B3-A871-401A-BB83-8CADE8B34687}"/>
              </a:ext>
            </a:extLst>
          </p:cNvPr>
          <p:cNvSpPr/>
          <p:nvPr/>
        </p:nvSpPr>
        <p:spPr>
          <a:xfrm>
            <a:off x="1061714" y="1817665"/>
            <a:ext cx="216024" cy="2160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356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49536-1151-48F2-A65A-496BE4B5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Few Machine Learning Techniques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B66C39-5563-4C8B-BC11-02311EF58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4149080"/>
                <a:ext cx="7886700" cy="2027883"/>
              </a:xfrm>
            </p:spPr>
            <p:txBody>
              <a:bodyPr/>
              <a:lstStyle/>
              <a:p>
                <a:r>
                  <a:rPr lang="en-US" altLang="ko-KR" dirty="0"/>
                  <a:t> Forget Gate: </a:t>
                </a:r>
                <a:r>
                  <a:rPr lang="ko-KR" altLang="en-US" dirty="0"/>
                  <a:t>과거의 정보를 얼만큼 가져올지 결정</a:t>
                </a:r>
                <a:endParaRPr lang="en-US" altLang="ko-KR" dirty="0"/>
              </a:p>
              <a:p>
                <a:r>
                  <a:rPr lang="en-US" altLang="ko-KR" dirty="0"/>
                  <a:t> Input Gate: </a:t>
                </a:r>
                <a:r>
                  <a:rPr lang="ko-KR" altLang="en-US" dirty="0"/>
                  <a:t>현재의 정보를 얼만큼 저장할지 결정</a:t>
                </a:r>
                <a:endParaRPr lang="en-US" altLang="ko-KR" dirty="0"/>
              </a:p>
              <a:p>
                <a:r>
                  <a:rPr lang="en-US" altLang="ko-KR" dirty="0"/>
                  <a:t> Update Gate: </a:t>
                </a:r>
                <a:r>
                  <a:rPr lang="ko-KR" altLang="en-US" dirty="0"/>
                  <a:t>과거의 </a:t>
                </a:r>
                <a:r>
                  <a:rPr lang="en-US" altLang="ko-KR" dirty="0"/>
                  <a:t>Cell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를 새로운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로 업데이트</a:t>
                </a:r>
                <a:endParaRPr lang="en-US" altLang="ko-KR" dirty="0"/>
              </a:p>
              <a:p>
                <a:r>
                  <a:rPr lang="en-US" altLang="ko-KR" dirty="0"/>
                  <a:t> Output Gate: </a:t>
                </a:r>
                <a:r>
                  <a:rPr lang="ko-KR" altLang="en-US" dirty="0"/>
                  <a:t>현 시점에서의 </a:t>
                </a:r>
                <a:r>
                  <a:rPr lang="en-US" altLang="ko-KR" dirty="0"/>
                  <a:t>Cell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를 얼마나 내보낼지 결정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B66C39-5563-4C8B-BC11-02311EF58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149080"/>
                <a:ext cx="7886700" cy="2027883"/>
              </a:xfrm>
              <a:blipFill>
                <a:blip r:embed="rId2"/>
                <a:stretch>
                  <a:fillRect l="-696" t="-3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9D6ECC-2546-42B5-9BB5-6F41D7895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A7A343-82B2-43B0-971C-76EFD50C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29" y="1442658"/>
            <a:ext cx="3562171" cy="2388508"/>
          </a:xfrm>
          <a:prstGeom prst="rect">
            <a:avLst/>
          </a:prstGeom>
        </p:spPr>
      </p:pic>
      <p:pic>
        <p:nvPicPr>
          <p:cNvPr id="3074" name="Picture 2" descr="딥러닝에서 사용하는 활성화함수">
            <a:extLst>
              <a:ext uri="{FF2B5EF4-FFF2-40B4-BE49-F238E27FC236}">
                <a16:creationId xmlns:a16="http://schemas.microsoft.com/office/drawing/2014/main" id="{17A50FD8-1BC2-47A6-B031-4031E59CF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468" y="1653927"/>
            <a:ext cx="3095357" cy="196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170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E0B6C-BE3E-4BB8-93F6-C9C4B74B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Examples of LSTM in Hydrology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52C0AB-0875-4CD4-87F2-4AB2EA30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6A2232-74A2-4180-8773-2882D9139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40768"/>
            <a:ext cx="6822316" cy="3180382"/>
          </a:xfrm>
          <a:prstGeom prst="rect">
            <a:avLst/>
          </a:prstGeom>
        </p:spPr>
      </p:pic>
      <p:pic>
        <p:nvPicPr>
          <p:cNvPr id="6" name="Picture 2" descr="https://hess.copernicus.org/articles/22/6005/2018/hess-22-6005-2018-f06-web.png">
            <a:extLst>
              <a:ext uri="{FF2B5EF4-FFF2-40B4-BE49-F238E27FC236}">
                <a16:creationId xmlns:a16="http://schemas.microsoft.com/office/drawing/2014/main" id="{4E871F6B-CF94-4CF6-A4BB-E3A4D3F7F4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082" y="2360134"/>
            <a:ext cx="3481767" cy="436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846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31782" cy="545139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(2022-11-22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 Final Exam Preparation (Optional)</a:t>
            </a:r>
          </a:p>
          <a:p>
            <a:pPr lvl="1"/>
            <a:r>
              <a:rPr lang="en-US" altLang="ko-KR" dirty="0"/>
              <a:t> Multiple Choice, Short Answers, Long Answers/Problem Solving</a:t>
            </a:r>
          </a:p>
          <a:p>
            <a:pPr lvl="1"/>
            <a:r>
              <a:rPr lang="en-US" altLang="ko-KR" dirty="0"/>
              <a:t> Keywords for the Test</a:t>
            </a:r>
          </a:p>
          <a:p>
            <a:pPr lvl="2"/>
            <a:r>
              <a:rPr lang="en-US" altLang="ko-KR" dirty="0"/>
              <a:t>Conditional probability, Bayesian theorem, Extreme value analysis, MLE, Linear regression, …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 Future Schedule (~End of Semester)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11/29</a:t>
            </a:r>
            <a:r>
              <a:rPr lang="en-US" altLang="ko-KR" dirty="0"/>
              <a:t>: TEST</a:t>
            </a:r>
          </a:p>
          <a:p>
            <a:pPr lvl="1"/>
            <a:r>
              <a:rPr lang="en-US" altLang="ko-KR" b="1" dirty="0"/>
              <a:t> 12/06 (Last Lecture)</a:t>
            </a:r>
            <a:br>
              <a:rPr lang="en-US" altLang="ko-KR" b="1" dirty="0"/>
            </a:br>
            <a:r>
              <a:rPr lang="en-US" altLang="ko-KR" dirty="0"/>
              <a:t>Lecture 07: Hydrologic Statistical Frontiers- Introduction &amp; Examples</a:t>
            </a:r>
          </a:p>
          <a:p>
            <a:pPr lvl="1"/>
            <a:r>
              <a:rPr lang="en-US" altLang="ko-KR" b="1" dirty="0"/>
              <a:t> 12/13: Final Project Presentation (Details TBA by 12/01)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81059</TotalTime>
  <Words>1002</Words>
  <Application>Microsoft Office PowerPoint</Application>
  <PresentationFormat>화면 슬라이드 쇼(4:3)</PresentationFormat>
  <Paragraphs>156</Paragraphs>
  <Slides>18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06</vt:lpstr>
      <vt:lpstr>Review on Lecture 5</vt:lpstr>
      <vt:lpstr>Today’s Topic: Lecture 06</vt:lpstr>
      <vt:lpstr>Basic Definitions for Lecture 06</vt:lpstr>
      <vt:lpstr>Simple Linear Regression Model</vt:lpstr>
      <vt:lpstr>Simple Linear Regression Model</vt:lpstr>
      <vt:lpstr>Consider x as t (Trend Detection)</vt:lpstr>
      <vt:lpstr>Consider x as t (Trend Detection)</vt:lpstr>
      <vt:lpstr>Consider x as t (Trend Detection)</vt:lpstr>
      <vt:lpstr>Consider x as t (Trend Detection)</vt:lpstr>
      <vt:lpstr>Multiple Linear Regression Model</vt:lpstr>
      <vt:lpstr>Determining the Model Parameters</vt:lpstr>
      <vt:lpstr>Part II: Logistic Regression</vt:lpstr>
      <vt:lpstr>Few Machine Learning Techniques</vt:lpstr>
      <vt:lpstr>Few Machine Learning Techniques</vt:lpstr>
      <vt:lpstr>Few Machine Learning Techniques</vt:lpstr>
      <vt:lpstr>Examples of LSTM in Hydrology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2485</cp:revision>
  <cp:lastPrinted>2022-10-18T03:01:51Z</cp:lastPrinted>
  <dcterms:created xsi:type="dcterms:W3CDTF">2020-01-02T02:18:47Z</dcterms:created>
  <dcterms:modified xsi:type="dcterms:W3CDTF">2022-11-15T01:26:37Z</dcterms:modified>
</cp:coreProperties>
</file>