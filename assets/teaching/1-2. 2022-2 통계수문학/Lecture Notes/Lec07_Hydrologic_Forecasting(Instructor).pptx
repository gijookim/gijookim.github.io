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700" r:id="rId3"/>
    <p:sldId id="701" r:id="rId4"/>
    <p:sldId id="702" r:id="rId5"/>
    <p:sldId id="704" r:id="rId6"/>
    <p:sldId id="705" r:id="rId7"/>
    <p:sldId id="706" r:id="rId8"/>
    <p:sldId id="703" r:id="rId9"/>
    <p:sldId id="714" r:id="rId10"/>
    <p:sldId id="707" r:id="rId11"/>
    <p:sldId id="708" r:id="rId12"/>
    <p:sldId id="709" r:id="rId13"/>
    <p:sldId id="710" r:id="rId14"/>
    <p:sldId id="712" r:id="rId15"/>
    <p:sldId id="713" r:id="rId16"/>
    <p:sldId id="715" r:id="rId17"/>
    <p:sldId id="698" r:id="rId18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2022-12-05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library.wmo.int/index.php?lvl=notice_display&amp;id=21098#.Y4gCenbP2U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ccawr.snu.ac.kr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20888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07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323528" y="2564904"/>
            <a:ext cx="8496944" cy="1224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4000" dirty="0"/>
              <a:t>Hydrologic Forecasting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Previous Lectures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 Basic Probability Concepts</a:t>
                </a:r>
                <a:r>
                  <a:rPr lang="en-US" altLang="ko-KR" dirty="0"/>
                  <a:t>: Independence, Bayes’ Theorem, …</a:t>
                </a:r>
              </a:p>
              <a:p>
                <a:r>
                  <a:rPr lang="en-US" altLang="ko-KR" b="1" dirty="0"/>
                  <a:t> Probabilistic Modeling in Hydrology</a:t>
                </a:r>
              </a:p>
              <a:p>
                <a:r>
                  <a:rPr lang="en-US" altLang="ko-KR" b="1" dirty="0"/>
                  <a:t> Flood Frequency Analysis</a:t>
                </a:r>
              </a:p>
              <a:p>
                <a:pPr lvl="1"/>
                <a:r>
                  <a:rPr lang="en-US" altLang="ko-KR" dirty="0"/>
                  <a:t> Empirical Method (No Distributional Assumptions)</a:t>
                </a:r>
              </a:p>
              <a:p>
                <a:pPr lvl="1"/>
                <a:r>
                  <a:rPr lang="en-US" altLang="ko-KR" dirty="0"/>
                  <a:t> Analytical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b="1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 Mean Residual Life Plot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6006E-3AF2-4FB2-8E28-51702D58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Hydrological Forecasting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58F0F-B080-4599-9354-AF9FB3C4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Time Series Analysis</a:t>
            </a:r>
          </a:p>
          <a:p>
            <a:pPr lvl="1"/>
            <a:r>
              <a:rPr lang="en-US" altLang="ko-KR" dirty="0"/>
              <a:t> Structure of Time Series Models -&gt; Time Series Modeling</a:t>
            </a:r>
          </a:p>
          <a:p>
            <a:pPr lvl="1"/>
            <a:r>
              <a:rPr lang="en-US" altLang="ko-KR" dirty="0"/>
              <a:t> Autoregressive Moving Average (ARMA) models</a:t>
            </a:r>
          </a:p>
          <a:p>
            <a:pPr lvl="1"/>
            <a:r>
              <a:rPr lang="en-US" altLang="ko-KR" dirty="0"/>
              <a:t> Introduction to the “Hurst Phenomenon” (Long-term dependency)</a:t>
            </a:r>
          </a:p>
          <a:p>
            <a:pPr lvl="1"/>
            <a:r>
              <a:rPr lang="en-US" altLang="ko-KR" dirty="0"/>
              <a:t> Why Important?</a:t>
            </a:r>
          </a:p>
          <a:p>
            <a:pPr lvl="2"/>
            <a:r>
              <a:rPr lang="ko-KR" altLang="en-US" dirty="0"/>
              <a:t>시간에 흐름에 따라 발생하는 순차적인 데이터를 예측하는 </a:t>
            </a:r>
            <a:br>
              <a:rPr lang="en-US" altLang="ko-KR" dirty="0"/>
            </a:br>
            <a:r>
              <a:rPr lang="ko-KR" altLang="en-US" dirty="0"/>
              <a:t>대표적인 </a:t>
            </a:r>
            <a:r>
              <a:rPr lang="ko-KR" altLang="en-US" dirty="0" err="1"/>
              <a:t>모수적</a:t>
            </a:r>
            <a:r>
              <a:rPr lang="ko-KR" altLang="en-US" dirty="0"/>
              <a:t> </a:t>
            </a:r>
            <a:r>
              <a:rPr lang="en-US" altLang="ko-KR" dirty="0"/>
              <a:t>(parametric) </a:t>
            </a:r>
            <a:r>
              <a:rPr lang="ko-KR" altLang="en-US" dirty="0"/>
              <a:t>예측 방법이기 때문</a:t>
            </a:r>
            <a:endParaRPr lang="en-US" altLang="ko-KR" dirty="0"/>
          </a:p>
          <a:p>
            <a:pPr lvl="2"/>
            <a:r>
              <a:rPr lang="ko-KR" altLang="en-US" dirty="0"/>
              <a:t>수문분야 외에도</a:t>
            </a:r>
            <a:r>
              <a:rPr lang="en-US" altLang="ko-KR" dirty="0"/>
              <a:t>, </a:t>
            </a:r>
            <a:r>
              <a:rPr lang="ko-KR" altLang="en-US" dirty="0"/>
              <a:t>경제학</a:t>
            </a:r>
            <a:r>
              <a:rPr lang="en-US" altLang="ko-KR" dirty="0"/>
              <a:t>, </a:t>
            </a:r>
            <a:r>
              <a:rPr lang="ko-KR" altLang="en-US" dirty="0"/>
              <a:t>주식</a:t>
            </a:r>
            <a:r>
              <a:rPr lang="en-US" altLang="ko-KR" dirty="0"/>
              <a:t>, AI </a:t>
            </a:r>
            <a:r>
              <a:rPr lang="ko-KR" altLang="en-US" dirty="0"/>
              <a:t>등에서도 자주 사용되는 기법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Ensemble Streamflow Prediction (ESP)</a:t>
            </a:r>
          </a:p>
          <a:p>
            <a:r>
              <a:rPr lang="en-US" altLang="ko-KR" dirty="0"/>
              <a:t> Application in Research: SNU-CCAWR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54479-3D58-4323-AE68-AAC20BE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18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04A33-6869-408B-9B2D-AC271650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(1)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21214-B18F-40FF-9623-538D7B21F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Single vs Multiple (Univariate vs. Multivariate)</a:t>
            </a:r>
          </a:p>
          <a:p>
            <a:pPr lvl="1"/>
            <a:r>
              <a:rPr lang="en-US" altLang="ko-KR" dirty="0"/>
              <a:t> One or Multiple hydrologic variable at a given site </a:t>
            </a:r>
            <a:br>
              <a:rPr lang="en-US" altLang="ko-KR" dirty="0"/>
            </a:br>
            <a:r>
              <a:rPr lang="en-US" altLang="ko-KR" dirty="0"/>
              <a:t>(or at multiple sites)</a:t>
            </a:r>
          </a:p>
          <a:p>
            <a:pPr lvl="1"/>
            <a:endParaRPr lang="en-US" altLang="ko-KR" sz="1200" dirty="0"/>
          </a:p>
          <a:p>
            <a:r>
              <a:rPr lang="en-US" altLang="ko-KR" b="1" dirty="0"/>
              <a:t> Uncorrelated vs. Correlated </a:t>
            </a:r>
          </a:p>
          <a:p>
            <a:pPr lvl="1"/>
            <a:r>
              <a:rPr lang="en-US" altLang="ko-KR" dirty="0"/>
              <a:t> Independent vs. Dependent (Serially/Auto-correlated)</a:t>
            </a:r>
          </a:p>
          <a:p>
            <a:pPr lvl="1"/>
            <a:endParaRPr lang="en-US" altLang="ko-KR" sz="1200" dirty="0"/>
          </a:p>
          <a:p>
            <a:r>
              <a:rPr lang="en-US" altLang="ko-KR" dirty="0"/>
              <a:t> Autocorrelation vs. Cross-correlation: Next Slide!</a:t>
            </a:r>
          </a:p>
          <a:p>
            <a:r>
              <a:rPr lang="en-US" altLang="ko-KR" dirty="0"/>
              <a:t> Intermittent (a) vs. Non-intermittent (b)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459265-91D3-4DE4-AD4F-06668B5E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A1009E-BE3B-45FE-A12F-FD432F5E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51" y="4888146"/>
            <a:ext cx="3985387" cy="14919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5D47E0-945B-4C37-9289-494D99EC6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05" y="4902724"/>
            <a:ext cx="3689678" cy="16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6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2CD37-8206-4453-A789-38491B71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(1)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659C5B-E5DB-4274-B784-A47FFF59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4840750" cy="4908203"/>
          </a:xfrm>
        </p:spPr>
        <p:txBody>
          <a:bodyPr/>
          <a:lstStyle/>
          <a:p>
            <a:r>
              <a:rPr lang="en-US" altLang="ko-KR" dirty="0"/>
              <a:t>  Autocorrelation vs. Cross-correlation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93476-E612-4182-AF6B-949239AC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CFDC0C-5652-4609-A6F6-EEA1BC78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76182"/>
            <a:ext cx="4154850" cy="3915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2DE25-4D25-4CCD-95D4-E8F037158B92}"/>
              </a:ext>
            </a:extLst>
          </p:cNvPr>
          <p:cNvSpPr txBox="1"/>
          <p:nvPr/>
        </p:nvSpPr>
        <p:spPr>
          <a:xfrm>
            <a:off x="5344866" y="1876182"/>
            <a:ext cx="344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*Autocorrelation Coefficient (lag k)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08A11-670B-44F6-9157-E12E1E892A76}"/>
              </a:ext>
            </a:extLst>
          </p:cNvPr>
          <p:cNvSpPr txBox="1"/>
          <p:nvPr/>
        </p:nvSpPr>
        <p:spPr>
          <a:xfrm>
            <a:off x="5403311" y="4361576"/>
            <a:ext cx="3326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*Cross-correlation between X &amp; Y</a:t>
            </a:r>
          </a:p>
          <a:p>
            <a:r>
              <a:rPr lang="en-US" altLang="ko-KR" dirty="0"/>
              <a:t>(Correlation Coefficient)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DA1650-B24D-4B62-897D-C7E26CDAE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25" y="2401039"/>
            <a:ext cx="3635138" cy="9159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4DF03B-6208-4966-ACA6-0492E343E5C5}"/>
                  </a:ext>
                </a:extLst>
              </p:cNvPr>
              <p:cNvSpPr txBox="1"/>
              <p:nvPr/>
            </p:nvSpPr>
            <p:spPr>
              <a:xfrm>
                <a:off x="6250915" y="5185970"/>
                <a:ext cx="1631729" cy="605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4DF03B-6208-4966-ACA6-0492E343E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5185970"/>
                <a:ext cx="1631729" cy="6053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91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214AD-6946-49B3-876B-B345BCB3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(2) Partitioning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79F52-8B45-48BF-BEF7-6E69AC98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Decomposition of Time Series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69334-7C66-475F-88F8-4AB53A4E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E25748-6701-48A6-A528-D447A06B0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98" y="1902545"/>
            <a:ext cx="5542004" cy="42744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7F5661-D969-463B-9565-13D02ECF329E}"/>
                  </a:ext>
                </a:extLst>
              </p:cNvPr>
              <p:cNvSpPr txBox="1"/>
              <p:nvPr/>
            </p:nvSpPr>
            <p:spPr>
              <a:xfrm>
                <a:off x="2339752" y="6320978"/>
                <a:ext cx="20117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𝒁𝒕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𝒁𝒕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𝒆𝒕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7F5661-D969-463B-9565-13D02ECF3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6320978"/>
                <a:ext cx="2011769" cy="276999"/>
              </a:xfrm>
              <a:prstGeom prst="rect">
                <a:avLst/>
              </a:prstGeom>
              <a:blipFill>
                <a:blip r:embed="rId3"/>
                <a:stretch>
                  <a:fillRect l="-2424" r="-2121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6D3F4-11B6-486D-A2AB-FC78793E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(3)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B7597-14AE-49AF-8950-27103019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Autoregressive (AR) Models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BF569-8242-4F6B-8DB4-11AA4E5A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C7B293-677B-4966-A92E-1EF1A257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05" y="1995315"/>
            <a:ext cx="5447590" cy="418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7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62AE6-1375-4CAD-817B-4442D477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 Series Analysis: (3)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EB314-4F8B-458A-AA47-3176C765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Autoregressive Moving Average (ARMA) Models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D24C4-AC0F-467B-83EA-B8346A8F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7D16D8-6525-4363-B99A-EF336DA8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69" y="1916832"/>
            <a:ext cx="5717062" cy="401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9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E92EC-0219-4F09-A1BE-AA8559C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Hurst Phenomenon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0042F-DC35-4301-9312-F7755C565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6355"/>
            <a:ext cx="7886700" cy="5086518"/>
          </a:xfrm>
        </p:spPr>
        <p:txBody>
          <a:bodyPr>
            <a:normAutofit/>
          </a:bodyPr>
          <a:lstStyle/>
          <a:p>
            <a:r>
              <a:rPr lang="en-US" altLang="ko-KR" dirty="0"/>
              <a:t> Long vs. Short Memory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Models for Long-term Variabilities</a:t>
            </a:r>
          </a:p>
          <a:p>
            <a:pPr lvl="1"/>
            <a:r>
              <a:rPr lang="en-US" altLang="ko-KR" dirty="0"/>
              <a:t> Fractional Gaussian Noise (FGN)</a:t>
            </a:r>
          </a:p>
          <a:p>
            <a:pPr lvl="1"/>
            <a:r>
              <a:rPr lang="en-US" altLang="ko-KR" dirty="0"/>
              <a:t> Long Memory Models: FARMA Model</a:t>
            </a:r>
            <a:br>
              <a:rPr lang="en-US" altLang="ko-KR" dirty="0"/>
            </a:br>
            <a:r>
              <a:rPr lang="en-US" altLang="ko-KR" b="1" u="sng" dirty="0"/>
              <a:t>Fractionally</a:t>
            </a:r>
            <a:r>
              <a:rPr lang="en-US" altLang="ko-KR" dirty="0"/>
              <a:t> differenced Autoregressive Integrated Moving Average Models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BE9D6E-F371-454D-BC42-04125CC0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6F364-EC28-42FC-A8B1-8697549218F4}"/>
              </a:ext>
            </a:extLst>
          </p:cNvPr>
          <p:cNvSpPr txBox="1"/>
          <p:nvPr/>
        </p:nvSpPr>
        <p:spPr>
          <a:xfrm>
            <a:off x="5076189" y="488443"/>
            <a:ext cx="344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*Autocorrelation Coefficient (lag k)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504661-D2D7-4B23-A8E5-07EA3167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34" y="914669"/>
            <a:ext cx="3635138" cy="9159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0DA2B9-3918-431B-BD44-8F0E5C0BB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" y="1844824"/>
            <a:ext cx="3039335" cy="17744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7809FE-5383-4333-B9AB-3CE61F1C1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676" y="2184531"/>
            <a:ext cx="2396712" cy="17744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C4C442-DB81-40CD-952C-6778EA72C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288" y="2097542"/>
            <a:ext cx="2396712" cy="186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C73BE-F616-4C15-B233-CF2FA17B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Ensemble Streamflow Prediction (ESP)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39C51-D222-4D31-9443-487A1812A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Source: </a:t>
            </a:r>
            <a:r>
              <a:rPr lang="en-US" altLang="ko-KR" dirty="0">
                <a:hlinkClick r:id="rId2"/>
              </a:rPr>
              <a:t>https://library.wmo.int/index.php?lvl=notice_display&amp;id=21098#.Y4gCenbP2Ul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5C34A-11C8-4418-B8EE-7492720E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2AF423-4204-47E7-A037-EF5C3037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44" y="1412776"/>
            <a:ext cx="7210911" cy="354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3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538D7-1522-4371-B964-DF25B98C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ESP: 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5C2BFE-6293-4674-BFFA-AABC1DA6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Hydrologic Models: Simulate &amp; forecast </a:t>
            </a:r>
            <a:r>
              <a:rPr lang="en-US" altLang="ko-KR" b="1" u="sng" dirty="0"/>
              <a:t>Streamflow</a:t>
            </a:r>
          </a:p>
          <a:p>
            <a:pPr lvl="1"/>
            <a:r>
              <a:rPr lang="en-US" altLang="ko-KR" dirty="0"/>
              <a:t> Types of Hydrologic Models</a:t>
            </a:r>
          </a:p>
          <a:p>
            <a:pPr lvl="2"/>
            <a:r>
              <a:rPr lang="en-US" altLang="ko-KR" dirty="0"/>
              <a:t>Accounting-based: Budget approach</a:t>
            </a:r>
          </a:p>
          <a:p>
            <a:pPr lvl="2"/>
            <a:r>
              <a:rPr lang="en-US" altLang="ko-KR" dirty="0"/>
              <a:t>Physics, Empirical, Statistical-based Models </a:t>
            </a:r>
          </a:p>
          <a:p>
            <a:pPr lvl="1"/>
            <a:r>
              <a:rPr lang="en-US" altLang="ko-KR" dirty="0"/>
              <a:t> Always results in </a:t>
            </a:r>
            <a:r>
              <a:rPr lang="en-US" altLang="ko-KR" b="1" dirty="0"/>
              <a:t>Model Error &amp; Forecast Uncertainty</a:t>
            </a:r>
          </a:p>
          <a:p>
            <a:pPr lvl="1"/>
            <a:r>
              <a:rPr lang="en-US" altLang="ko-KR" dirty="0"/>
              <a:t> Classified as either </a:t>
            </a:r>
            <a:r>
              <a:rPr lang="en-US" altLang="ko-KR" b="1" dirty="0"/>
              <a:t>deterministic or stochastic (probabilistic)</a:t>
            </a:r>
          </a:p>
          <a:p>
            <a:pPr lvl="2"/>
            <a:r>
              <a:rPr lang="en-US" altLang="ko-KR" dirty="0"/>
              <a:t>Deterministic: Always same result for a given input</a:t>
            </a:r>
          </a:p>
          <a:p>
            <a:pPr lvl="2"/>
            <a:r>
              <a:rPr lang="en-US" altLang="ko-KR" dirty="0"/>
              <a:t>Stochastic: Multiple possible outcomes (ex. Markov Chain models)</a:t>
            </a:r>
          </a:p>
          <a:p>
            <a:pPr lvl="2"/>
            <a:r>
              <a:rPr lang="en-US" altLang="ko-KR" dirty="0"/>
              <a:t>Scenario-based deterministic model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E77BC-D63F-40B2-85DD-36B1B78A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8006A-1491-43D0-9D48-1DC78A86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4755578"/>
            <a:ext cx="47815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F28B1-6CB4-419A-95BD-42D39337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Ensemble Streamflow Prediction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16F21-5B59-4FE4-A317-C3951001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ESP: a “scenario-based” approach </a:t>
            </a:r>
          </a:p>
          <a:p>
            <a:pPr lvl="1"/>
            <a:r>
              <a:rPr lang="en-US" altLang="ko-KR" dirty="0"/>
              <a:t> Captures current model state conditions (hydrologic states)</a:t>
            </a:r>
          </a:p>
          <a:p>
            <a:pPr lvl="1"/>
            <a:r>
              <a:rPr lang="en-US" altLang="ko-KR" dirty="0"/>
              <a:t> Input: Historic or forecast climate data (ex. Daily precipitation, Minimum/maximum daily air temperature, wind speed, etc.) </a:t>
            </a:r>
          </a:p>
          <a:p>
            <a:pPr lvl="1"/>
            <a:r>
              <a:rPr lang="en-US" altLang="ko-KR" dirty="0"/>
              <a:t> Output: future streamflow &amp; related probabilities (ex. Storage, discharge, runoff, exceedance probability, likelihoods, etc.)</a:t>
            </a:r>
          </a:p>
          <a:p>
            <a:pPr lvl="1"/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 NOT a stochastic model</a:t>
            </a:r>
          </a:p>
          <a:p>
            <a:pPr lvl="1"/>
            <a:r>
              <a:rPr lang="en-US" altLang="ko-KR" dirty="0"/>
              <a:t> Only </a:t>
            </a:r>
            <a:r>
              <a:rPr lang="en-US" altLang="ko-KR" b="1" u="sng" dirty="0"/>
              <a:t>model forcing uncertainty</a:t>
            </a:r>
            <a:r>
              <a:rPr lang="en-US" altLang="ko-KR" dirty="0"/>
              <a:t> is captured in the probabilities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59DF67-6CBA-471F-8417-7D7C566E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58B4AE-FA28-4187-8C52-CD81C4E3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12" y="4869160"/>
            <a:ext cx="5598175" cy="171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3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1BE91-232F-4F37-B950-95042F3C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 Techniques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D4C65-56A1-43F7-B841-654C28D4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B51519-E8D1-418B-AB0A-95B530DC6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88" y="1268760"/>
            <a:ext cx="3228132" cy="25922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7F6B35-2449-4F02-AEDD-858A5848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1343472"/>
            <a:ext cx="4605681" cy="23069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0C1571-FE1F-44B1-A123-3891FFBC9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25" y="4023244"/>
            <a:ext cx="4263950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93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BC17E-E7C7-4726-8CB1-05295A20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 Simulation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A0CDC-865B-4787-9637-77E3B856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Historical simulation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Conditional simulation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AD74B-0670-4BE1-9496-A78ACE88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102931-D580-45F6-927F-2D48D14F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79938"/>
            <a:ext cx="3816424" cy="8634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20B4A1-F93A-47E0-A137-55015A17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861048"/>
            <a:ext cx="2657475" cy="1962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AE3A9D-2177-4B5B-9634-46C3E7227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87963"/>
            <a:ext cx="3962201" cy="22494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1CDC80-2C6B-4687-8C5D-124D2DEE0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4552817"/>
            <a:ext cx="3545772" cy="22478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B39C38-1656-477B-8B16-01A484F6E7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2417006"/>
            <a:ext cx="3545772" cy="22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63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7CA55-D19A-4F5B-9989-864B97CB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ESP Results (Probabilistic Analysis)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9F0D5F-0994-48FE-8AFB-53100A70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D88A0D1-4345-4E80-B125-752B5E835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ESP Products for probabilistic analysis include…</a:t>
            </a:r>
          </a:p>
          <a:p>
            <a:pPr lvl="1"/>
            <a:r>
              <a:rPr lang="en-US" altLang="ko-KR" dirty="0"/>
              <a:t> Trace plots, Expected value plot, Probability plot, Exceedance plot</a:t>
            </a:r>
          </a:p>
          <a:p>
            <a:pPr lvl="1"/>
            <a:r>
              <a:rPr lang="en-US" altLang="ko-KR" dirty="0"/>
              <a:t> Probabilistic Flood Mapping (with GIS tools)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87C912-C45B-430A-8D81-378D5B4F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28" y="2996952"/>
            <a:ext cx="4414343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6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6447A-0B22-49B8-91F7-DDA90597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Applications in Research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30485B-EA3E-4474-8289-C326EC56A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543750" cy="4908203"/>
          </a:xfrm>
        </p:spPr>
        <p:txBody>
          <a:bodyPr/>
          <a:lstStyle/>
          <a:p>
            <a:r>
              <a:rPr lang="en-US" altLang="ko-KR" dirty="0"/>
              <a:t> Seoul National University-CCAWR Research Group</a:t>
            </a:r>
            <a:br>
              <a:rPr lang="en-US" altLang="ko-KR" dirty="0"/>
            </a:br>
            <a:r>
              <a:rPr lang="en-US" altLang="ko-KR" dirty="0"/>
              <a:t>(Climate Change Adaptation in Water Resources) </a:t>
            </a:r>
            <a:r>
              <a:rPr lang="en-US" altLang="ko-KR" dirty="0">
                <a:hlinkClick r:id="rId2"/>
              </a:rPr>
              <a:t>http://ccawr.snu.ac.kr/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E4150E-C2BA-458A-AC2B-803E1EEC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13DA7E-3B81-4528-BB26-0ABE156D5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94" y="2708920"/>
            <a:ext cx="6586211" cy="329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0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31782" cy="4464495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(2022-12-13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Final Project Presentation!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Future Schedule (~End of Semester)</a:t>
            </a:r>
          </a:p>
          <a:p>
            <a:pPr lvl="1"/>
            <a:r>
              <a:rPr lang="en-US" altLang="ko-KR" b="1" dirty="0"/>
              <a:t> 12/13: Final Project Presentation (Presentation Due)</a:t>
            </a:r>
          </a:p>
          <a:p>
            <a:pPr lvl="1"/>
            <a:r>
              <a:rPr lang="en-US" altLang="ko-KR" b="1" dirty="0"/>
              <a:t> 12/20: Final Project Report Due (By Email)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81650</TotalTime>
  <Words>690</Words>
  <Application>Microsoft Office PowerPoint</Application>
  <PresentationFormat>화면 슬라이드 쇼(4:3)</PresentationFormat>
  <Paragraphs>128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Lecture 07</vt:lpstr>
      <vt:lpstr>Review on Previous Lectures</vt:lpstr>
      <vt:lpstr>Today’s Topic: Hydrological Forecasting</vt:lpstr>
      <vt:lpstr>Time Series Analysis: (1) Structure</vt:lpstr>
      <vt:lpstr>Time Series Analysis: (1) Structure</vt:lpstr>
      <vt:lpstr>Time Series Analysis: (2) Partitioning</vt:lpstr>
      <vt:lpstr>Time Series Analysis: (3) Modeling</vt:lpstr>
      <vt:lpstr>Time Series Analysis: (3) Modeling</vt:lpstr>
      <vt:lpstr>Hurst Phenomenon</vt:lpstr>
      <vt:lpstr>Ensemble Streamflow Prediction (ESP)</vt:lpstr>
      <vt:lpstr>ESP: Introduction</vt:lpstr>
      <vt:lpstr>Ensemble Streamflow Prediction</vt:lpstr>
      <vt:lpstr>ESP Techniques</vt:lpstr>
      <vt:lpstr>ESP Simulation</vt:lpstr>
      <vt:lpstr>ESP Results (Probabilistic Analysis)</vt:lpstr>
      <vt:lpstr>Applications in Research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2525</cp:revision>
  <cp:lastPrinted>2022-11-15T05:07:52Z</cp:lastPrinted>
  <dcterms:created xsi:type="dcterms:W3CDTF">2020-01-02T02:18:47Z</dcterms:created>
  <dcterms:modified xsi:type="dcterms:W3CDTF">2022-12-05T02:03:46Z</dcterms:modified>
</cp:coreProperties>
</file>