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699" r:id="rId3"/>
    <p:sldId id="714" r:id="rId4"/>
    <p:sldId id="700" r:id="rId5"/>
    <p:sldId id="701" r:id="rId6"/>
    <p:sldId id="702" r:id="rId7"/>
    <p:sldId id="703" r:id="rId8"/>
    <p:sldId id="726" r:id="rId9"/>
    <p:sldId id="704" r:id="rId10"/>
    <p:sldId id="720" r:id="rId11"/>
    <p:sldId id="705" r:id="rId12"/>
    <p:sldId id="721" r:id="rId13"/>
    <p:sldId id="707" r:id="rId14"/>
    <p:sldId id="706" r:id="rId15"/>
    <p:sldId id="708" r:id="rId16"/>
    <p:sldId id="715" r:id="rId17"/>
    <p:sldId id="716" r:id="rId18"/>
    <p:sldId id="710" r:id="rId19"/>
    <p:sldId id="717" r:id="rId20"/>
    <p:sldId id="711" r:id="rId21"/>
    <p:sldId id="712" r:id="rId22"/>
    <p:sldId id="718" r:id="rId23"/>
    <p:sldId id="719" r:id="rId24"/>
    <p:sldId id="727" r:id="rId25"/>
    <p:sldId id="722" r:id="rId26"/>
    <p:sldId id="723" r:id="rId27"/>
    <p:sldId id="713" r:id="rId28"/>
    <p:sldId id="698" r:id="rId29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23" autoAdjust="0"/>
    <p:restoredTop sz="96370" autoAdjust="0"/>
  </p:normalViewPr>
  <p:slideViewPr>
    <p:cSldViewPr>
      <p:cViewPr varScale="1">
        <p:scale>
          <a:sx n="106" d="100"/>
          <a:sy n="106" d="100"/>
        </p:scale>
        <p:origin x="153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2022-09-19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2022-09-19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2022-09-19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2022-09-19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2022-09-19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2022-09-19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Statistical Hydrology</a:t>
            </a:r>
          </a:p>
          <a:p>
            <a:pPr algn="l"/>
            <a:r>
              <a:rPr lang="en-US" altLang="ko-KR">
                <a:latin typeface="Gill Sans MT" panose="020B0502020104020203" pitchFamily="34" charset="0"/>
                <a:cs typeface="Calibri" panose="020F0502020204030204" pitchFamily="34" charset="0"/>
              </a:rPr>
              <a:t>Fall </a:t>
            </a:r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03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63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Probabilistic</a:t>
            </a:r>
            <a:r>
              <a:rPr lang="ko-KR" altLang="en-US" sz="3600" dirty="0"/>
              <a:t> </a:t>
            </a:r>
            <a:r>
              <a:rPr lang="en-US" altLang="ko-KR" sz="3600" dirty="0"/>
              <a:t>Modeling</a:t>
            </a:r>
            <a:r>
              <a:rPr lang="ko-KR" altLang="en-US" sz="3600" dirty="0"/>
              <a:t> </a:t>
            </a:r>
            <a:r>
              <a:rPr lang="en-US" altLang="ko-KR" sz="3600" dirty="0"/>
              <a:t>in</a:t>
            </a:r>
            <a:r>
              <a:rPr lang="ko-KR" altLang="en-US" sz="3600" dirty="0"/>
              <a:t> </a:t>
            </a:r>
            <a:r>
              <a:rPr lang="en-US" altLang="ko-KR" sz="3600" dirty="0"/>
              <a:t>Hydrology-Part II</a:t>
            </a:r>
          </a:p>
          <a:p>
            <a:r>
              <a:rPr lang="en-US" altLang="ko-KR" sz="3600" dirty="0"/>
              <a:t>(MLE &amp; Goodness of fit tests)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40C27-7841-4431-A78F-347EF73F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7DCC65-6E99-4B8D-BF87-3D3AEE1EA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>
            <a:normAutofit/>
          </a:bodyPr>
          <a:lstStyle/>
          <a:p>
            <a:r>
              <a:rPr lang="en-US" altLang="ko-KR" b="1" dirty="0"/>
              <a:t> Basic Probability Concepts</a:t>
            </a:r>
          </a:p>
          <a:p>
            <a:pPr lvl="1"/>
            <a:r>
              <a:rPr lang="en-US" altLang="ko-KR" dirty="0"/>
              <a:t> Random Variables (RV)</a:t>
            </a:r>
          </a:p>
          <a:p>
            <a:pPr lvl="1"/>
            <a:r>
              <a:rPr lang="en-US" altLang="ko-KR" dirty="0"/>
              <a:t> Mutually Exclusive, </a:t>
            </a:r>
            <a:br>
              <a:rPr lang="en-US" altLang="ko-KR" dirty="0"/>
            </a:br>
            <a:r>
              <a:rPr lang="en-US" altLang="ko-KR" dirty="0"/>
              <a:t>Independence, Conditional Probability, </a:t>
            </a:r>
            <a:br>
              <a:rPr lang="en-US" altLang="ko-KR" dirty="0"/>
            </a:br>
            <a:r>
              <a:rPr lang="en-US" altLang="ko-KR" dirty="0"/>
              <a:t>Bayes Theorem,</a:t>
            </a:r>
            <a:r>
              <a:rPr lang="ko-KR" altLang="en-US" dirty="0"/>
              <a:t> </a:t>
            </a:r>
            <a:r>
              <a:rPr lang="en-US" altLang="ko-KR" dirty="0"/>
              <a:t>Total</a:t>
            </a:r>
            <a:r>
              <a:rPr lang="ko-KR" altLang="en-US" dirty="0"/>
              <a:t> </a:t>
            </a:r>
            <a:r>
              <a:rPr lang="en-US" altLang="ko-KR" dirty="0"/>
              <a:t>Probability</a:t>
            </a:r>
            <a:r>
              <a:rPr lang="ko-KR" altLang="en-US" dirty="0"/>
              <a:t> </a:t>
            </a:r>
            <a:r>
              <a:rPr lang="en-US" altLang="ko-KR" dirty="0"/>
              <a:t>Theorem, … </a:t>
            </a:r>
          </a:p>
          <a:p>
            <a:r>
              <a:rPr lang="en-US" altLang="ko-KR" b="1" dirty="0"/>
              <a:t> Types of Random Variables</a:t>
            </a:r>
          </a:p>
          <a:p>
            <a:pPr lvl="1"/>
            <a:r>
              <a:rPr lang="en-US" altLang="ko-KR" dirty="0"/>
              <a:t> Discrete RV &amp; Continuous RV</a:t>
            </a:r>
          </a:p>
          <a:p>
            <a:pPr lvl="1"/>
            <a:r>
              <a:rPr lang="en-US" altLang="ko-KR" dirty="0"/>
              <a:t> Discrete Distributions: </a:t>
            </a:r>
            <a:br>
              <a:rPr lang="en-US" altLang="ko-KR" dirty="0"/>
            </a:br>
            <a:r>
              <a:rPr lang="en-US" altLang="ko-KR" dirty="0"/>
              <a:t>Binomial, Poisson, Geometric, Negative Binomial, …</a:t>
            </a:r>
          </a:p>
          <a:p>
            <a:pPr lvl="1"/>
            <a:r>
              <a:rPr lang="en-US" altLang="ko-KR" dirty="0"/>
              <a:t> Continuous Distributions: Uniform, Normal, Exponential, …</a:t>
            </a:r>
          </a:p>
          <a:p>
            <a:endParaRPr lang="en-US" altLang="ko-KR" dirty="0"/>
          </a:p>
          <a:p>
            <a:r>
              <a:rPr lang="en-US" altLang="ko-KR" b="1" dirty="0"/>
              <a:t> Chebyshev Inequality &amp; Law of Large Numbers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70E187-254A-4D4D-9A30-B504171C5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3074" name="Picture 2" descr="http://bigdata.dongguk.ac.kr/lectures/med_stat/_book/figure/120909_0159_1.png">
            <a:extLst>
              <a:ext uri="{FF2B5EF4-FFF2-40B4-BE49-F238E27FC236}">
                <a16:creationId xmlns:a16="http://schemas.microsoft.com/office/drawing/2014/main" id="{A0B5498F-8E9C-48DE-9541-E9F6D67E9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26329"/>
            <a:ext cx="3609975" cy="208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688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9C777-7A2C-400B-AC9F-160D318E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928071-0E57-4342-B386-22BD5ED13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91" y="2132856"/>
            <a:ext cx="4743450" cy="2019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EE8BAF8-5CA2-4DB9-8C87-15176F4EB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450" y="2620808"/>
            <a:ext cx="3343275" cy="1352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FAD86B8-5ED9-4F86-8D6F-82B8FCAE1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479" y="4270533"/>
            <a:ext cx="3333750" cy="638175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678F7B4-93A0-434C-AE61-A282FD8F0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/>
          <a:lstStyle/>
          <a:p>
            <a:r>
              <a:rPr lang="en-US" altLang="ko-KR" dirty="0"/>
              <a:t>Assignment: Poisson from Binomial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9BE5246-8E4D-4D8A-8B92-03719E1AC86D}"/>
              </a:ext>
            </a:extLst>
          </p:cNvPr>
          <p:cNvSpPr/>
          <p:nvPr/>
        </p:nvSpPr>
        <p:spPr>
          <a:xfrm>
            <a:off x="1907704" y="2492896"/>
            <a:ext cx="216024" cy="1961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A21FD5-35CD-49F5-9121-16EE4A284619}"/>
              </a:ext>
            </a:extLst>
          </p:cNvPr>
          <p:cNvSpPr txBox="1"/>
          <p:nvPr/>
        </p:nvSpPr>
        <p:spPr>
          <a:xfrm>
            <a:off x="2017006" y="1889002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Should be x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97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B00DD-2DAF-4E8A-9D4C-A5AAEC71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Chebyshev Inequality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7B7674-07F3-49DD-A42D-2FA7DC9B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086240-8E1F-416B-AF82-F4AA2F509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89" y="1267195"/>
            <a:ext cx="7494821" cy="10280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88D9A907-BD54-4571-9893-8E4E91B874AF}"/>
                  </a:ext>
                </a:extLst>
              </p:cNvPr>
              <p:cNvSpPr/>
              <p:nvPr/>
            </p:nvSpPr>
            <p:spPr>
              <a:xfrm>
                <a:off x="6519928" y="438570"/>
                <a:ext cx="2391039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{|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ko-KR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88D9A907-BD54-4571-9893-8E4E91B87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928" y="438570"/>
                <a:ext cx="2391039" cy="61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16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7C5CB-071B-4F1E-A102-5F7A89FC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Law of Large Numbers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C41701-B118-44EB-AEB1-AD0EEB10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C4A291-3A6E-4F73-92C6-8D0402486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61" y="1215763"/>
            <a:ext cx="7445077" cy="10280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C795EF-490F-4212-8BC9-248D9B8EA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5115253"/>
            <a:ext cx="7452320" cy="145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079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Gentle Introduction to Probability Density Estimation">
            <a:extLst>
              <a:ext uri="{FF2B5EF4-FFF2-40B4-BE49-F238E27FC236}">
                <a16:creationId xmlns:a16="http://schemas.microsoft.com/office/drawing/2014/main" id="{81F56A15-F3E3-4C3F-BC77-02BE54E57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974162"/>
            <a:ext cx="3803915" cy="285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9F4271-8B74-4D25-B39B-36ACBCCB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Lecture 03 (Part 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AA8F4-9CFA-4AF0-9C99-1325582C8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Steps for Probabilistic Modeling</a:t>
            </a:r>
          </a:p>
          <a:p>
            <a:pPr lvl="1"/>
            <a:r>
              <a:rPr lang="en-US" altLang="ko-KR" dirty="0"/>
              <a:t> Step 1: Adopt family of probability models: </a:t>
            </a:r>
            <a:br>
              <a:rPr lang="en-US" altLang="ko-KR" dirty="0"/>
            </a:br>
            <a:r>
              <a:rPr lang="en-US" altLang="ko-KR" dirty="0"/>
              <a:t>Normal, Exponential, Gamma, Binomial, Poisson</a:t>
            </a:r>
          </a:p>
          <a:p>
            <a:pPr lvl="1"/>
            <a:r>
              <a:rPr lang="en-US" altLang="ko-KR" dirty="0"/>
              <a:t> Step 2: Fit the model to data (Estimate Parameters)</a:t>
            </a:r>
          </a:p>
          <a:p>
            <a:r>
              <a:rPr lang="en-US" altLang="ko-KR" dirty="0"/>
              <a:t> Corresponding Questions to be Answered:</a:t>
            </a:r>
          </a:p>
          <a:p>
            <a:pPr lvl="1"/>
            <a:r>
              <a:rPr lang="en-US" altLang="ko-KR" dirty="0"/>
              <a:t> Step 1: How to choose the appropriate model?</a:t>
            </a:r>
          </a:p>
          <a:p>
            <a:pPr lvl="1"/>
            <a:r>
              <a:rPr lang="en-US" altLang="ko-KR" b="1" u="sng" dirty="0">
                <a:solidFill>
                  <a:srgbClr val="FF0000"/>
                </a:solidFill>
              </a:rPr>
              <a:t> Step 2: How do we estimate parameters?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F09F-6524-4FCF-9E51-85B2B30A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2052" name="Picture 4" descr="Quantiles are key to understand probability distributions | Towards Data  Science">
            <a:extLst>
              <a:ext uri="{FF2B5EF4-FFF2-40B4-BE49-F238E27FC236}">
                <a16:creationId xmlns:a16="http://schemas.microsoft.com/office/drawing/2014/main" id="{7DBD89EC-05C3-479C-9C21-C2C18AA1C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109" y="4252998"/>
            <a:ext cx="3115246" cy="257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91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BEDB9-F93C-44C8-B94B-094F5BB19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estimate parameters?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49F74FE-70F9-4DE6-8D2E-950427E858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Concept of Unbiasedness &amp; Consistency</a:t>
                </a:r>
              </a:p>
              <a:p>
                <a:pPr lvl="1"/>
                <a:r>
                  <a:rPr lang="en-US" altLang="ko-KR" dirty="0"/>
                  <a:t> Bias: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Consistency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 →0</m:t>
                    </m:r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as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 →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 where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𝑝𝑟𝑜𝑏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 Refer to: </a:t>
                </a:r>
                <a:r>
                  <a:rPr lang="en-US" altLang="ko-KR" dirty="0" err="1"/>
                  <a:t>Haan</a:t>
                </a:r>
                <a:r>
                  <a:rPr lang="en-US" altLang="ko-KR" dirty="0"/>
                  <a:t> p.70-76, Handbook of Hydrology 18.1, </a:t>
                </a:r>
                <a:br>
                  <a:rPr lang="en-US" altLang="ko-KR" dirty="0"/>
                </a:br>
                <a:r>
                  <a:rPr lang="en-US" altLang="ko-KR" dirty="0"/>
                  <a:t>Devore p.264-272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49F74FE-70F9-4DE6-8D2E-950427E85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17F231-EF0A-4268-A4C3-2D3901685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1DA4E2-B1D1-4FC3-B0B0-19BD27621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312738"/>
            <a:ext cx="3972429" cy="201058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4E0B30-0270-4C12-9F39-2BD50E8F5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845" y="4287275"/>
            <a:ext cx="4392488" cy="20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3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3D818-7DEE-44FA-BF25-B7BDC069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Unbiasedness Example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43160F-5D14-4F67-B568-29B37EA636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Prove that the unbiased estimator or sample 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/>
                  <a:t>,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using the definition of bias. 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43160F-5D14-4F67-B568-29B37EA636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7" t="-18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BE282-C308-4C9B-B121-873B6379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545B4D-E409-46B5-A118-2299F270D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202869"/>
            <a:ext cx="334327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70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B841A-3B0C-4730-8ECB-1B1D760A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Maximum Likelihood Estimation (MLE)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64BFC11-B812-4E11-ADAE-2DEE17EFB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Framework behind MLE</a:t>
                </a:r>
              </a:p>
              <a:p>
                <a:pPr lvl="1"/>
                <a:r>
                  <a:rPr lang="en-US" altLang="ko-KR" dirty="0"/>
                  <a:t> Assume there is a true, known data generation process </a:t>
                </a:r>
                <a:br>
                  <a:rPr lang="en-US" altLang="ko-KR" dirty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from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l-GR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i="1" dirty="0"/>
                  <a:t>, </a:t>
                </a:r>
                <a:r>
                  <a:rPr lang="en-US" altLang="ko-KR" dirty="0"/>
                  <a:t>with true but unknown parameter </a:t>
                </a:r>
                <a14:m>
                  <m:oMath xmlns:m="http://schemas.openxmlformats.org/officeDocument/2006/math"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ko-KR" i="1" dirty="0"/>
              </a:p>
              <a:p>
                <a:pPr lvl="1"/>
                <a:r>
                  <a:rPr lang="en-US" altLang="ko-KR" i="1" dirty="0"/>
                  <a:t> </a:t>
                </a:r>
                <a:r>
                  <a:rPr lang="en-US" altLang="ko-KR" dirty="0"/>
                  <a:t>Estimator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altLang="ko-KR" dirty="0"/>
                  <a:t>) is a function of RVs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i="1" dirty="0"/>
                  <a:t> </a:t>
                </a:r>
                <a:r>
                  <a:rPr lang="en-US" altLang="ko-KR" dirty="0"/>
                  <a:t>Estimate is a particular value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altLang="ko-KR" i="1" dirty="0"/>
                  <a:t> </a:t>
                </a:r>
                <a:r>
                  <a:rPr lang="en-US" altLang="ko-KR" dirty="0"/>
                  <a:t>for observed data x</a:t>
                </a:r>
                <a:endParaRPr lang="en-US" altLang="ko-KR" i="1" dirty="0"/>
              </a:p>
              <a:p>
                <a:pPr marL="457200" lvl="1" indent="0">
                  <a:buNone/>
                </a:pPr>
                <a:endParaRPr lang="en-US" altLang="ko-KR" i="1" dirty="0"/>
              </a:p>
              <a:p>
                <a:r>
                  <a:rPr lang="en-US" altLang="ko-KR" dirty="0"/>
                  <a:t> Procedures for MLE</a:t>
                </a:r>
              </a:p>
              <a:p>
                <a:pPr lvl="1"/>
                <a:r>
                  <a:rPr lang="en-US" altLang="ko-KR" dirty="0"/>
                  <a:t> Pick </a:t>
                </a:r>
                <a14:m>
                  <m:oMath xmlns:m="http://schemas.openxmlformats.org/officeDocument/2006/math"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to make observations likely under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/>
              </a:p>
              <a:p>
                <a:pPr lvl="1"/>
                <a:r>
                  <a:rPr lang="en-US" altLang="ko-KR" dirty="0"/>
                  <a:t> Likelihood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Choose </a:t>
                </a:r>
                <a14:m>
                  <m:oMath xmlns:m="http://schemas.openxmlformats.org/officeDocument/2006/math"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to maximize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a:rPr lang="en-US" altLang="ko-K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l-GR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64BFC11-B812-4E11-ADAE-2DEE17EFB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2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A5E688-1563-458C-A70A-723AC735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9414AFFA-032C-4E9C-A533-304EC595834E}"/>
                  </a:ext>
                </a:extLst>
              </p:cNvPr>
              <p:cNvSpPr/>
              <p:nvPr/>
            </p:nvSpPr>
            <p:spPr>
              <a:xfrm>
                <a:off x="4355976" y="4581128"/>
                <a:ext cx="2109167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l-GR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9414AFFA-032C-4E9C-A533-304EC59583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4581128"/>
                <a:ext cx="2109167" cy="848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75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98FE2-C8A5-47E7-BF35-BB374855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MLE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A065D-49A6-48D3-9D90-859A545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3074" name="Picture 2" descr="최대우도법(MLE) - 공돌이의 수학정리노트">
            <a:extLst>
              <a:ext uri="{FF2B5EF4-FFF2-40B4-BE49-F238E27FC236}">
                <a16:creationId xmlns:a16="http://schemas.microsoft.com/office/drawing/2014/main" id="{D164BA3C-130E-4631-BC05-B02FB1D65F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764" y="1340768"/>
            <a:ext cx="6668472" cy="380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992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C522D-C3E0-4107-AC74-E06FFDF0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MLE Calculation Example (1): Normal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7A55E5-A01B-4363-BFAB-663BE6C4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D09CE0-11C2-42EB-9341-36117A69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524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606B0-6768-4464-95EC-273CAFA6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584015-6CFA-446E-A35A-0A5616E58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334B44-79CC-471F-A02D-6F301A1B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362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EFCCEB-FF55-46DF-9DAE-B16D2C66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MLE Calculation Example (2): Exponential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E10335-8148-454B-980A-0915251C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687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1A016-A28C-4B75-BD27-5618CEFA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E39BA9-40DF-4B6E-B647-CB3B30CE7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794774-7512-4AEE-937E-58454F74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816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E54B2-F7F9-48AD-A24E-7BEA655F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Sampling Variability in MLE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46AD0AE-F839-47DD-A78D-A869BED49D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Sampling Variability </a:t>
                </a:r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=0.136</m:t>
                    </m:r>
                  </m:oMath>
                </a14:m>
                <a:r>
                  <a:rPr lang="en-US" altLang="ko-KR" dirty="0"/>
                  <a:t> is an estimate of true (unknown)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</m:oMath>
                </a14:m>
                <a:r>
                  <a:rPr lang="en-US" altLang="ko-KR" dirty="0"/>
                  <a:t> will vary if based on a different sample of data</a:t>
                </a:r>
              </a:p>
              <a:p>
                <a:pPr lvl="2"/>
                <a:r>
                  <a:rPr lang="en-US" altLang="ko-KR" dirty="0"/>
                  <a:t>Less data =&gt; More Sampling variability</a:t>
                </a:r>
              </a:p>
              <a:p>
                <a:pPr lvl="2"/>
                <a:r>
                  <a:rPr lang="en-US" altLang="ko-KR" dirty="0"/>
                  <a:t>More data =&gt; More Sampling =&gt; More like Normal Distribution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 Approximate Normality of MLE</a:t>
                </a:r>
              </a:p>
              <a:p>
                <a:pPr lvl="1"/>
                <a:r>
                  <a:rPr lang="en-US" altLang="ko-KR" dirty="0"/>
                  <a:t> For 1 parameter models (exponential distribution), as n gets big,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𝑀𝐿𝐸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sSup>
                        <m:sSup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46AD0AE-F839-47DD-A78D-A869BED49D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FE34F-FCD4-4D04-B2C7-E5BE56E0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62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543FC-BBD8-490F-AFC8-27C67035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20F97E-BBA9-4F24-A326-E2D3E14B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14A8B-F8FC-42A8-832B-5AC64E04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234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Gentle Introduction to Probability Density Estimation">
            <a:extLst>
              <a:ext uri="{FF2B5EF4-FFF2-40B4-BE49-F238E27FC236}">
                <a16:creationId xmlns:a16="http://schemas.microsoft.com/office/drawing/2014/main" id="{81F56A15-F3E3-4C3F-BC77-02BE54E57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974162"/>
            <a:ext cx="3803915" cy="285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9F4271-8B74-4D25-B39B-36ACBCCB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Lecture 03 (Part 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AA8F4-9CFA-4AF0-9C99-1325582C8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Steps for Probabilistic Modeling</a:t>
            </a:r>
          </a:p>
          <a:p>
            <a:pPr lvl="1"/>
            <a:r>
              <a:rPr lang="en-US" altLang="ko-KR" dirty="0"/>
              <a:t> Step 1: Adopt family of probability models: </a:t>
            </a:r>
            <a:br>
              <a:rPr lang="en-US" altLang="ko-KR" dirty="0"/>
            </a:br>
            <a:r>
              <a:rPr lang="en-US" altLang="ko-KR" dirty="0"/>
              <a:t>Normal, Exponential, Gamma, Binomial, Poisson</a:t>
            </a:r>
          </a:p>
          <a:p>
            <a:pPr lvl="1"/>
            <a:r>
              <a:rPr lang="en-US" altLang="ko-KR" dirty="0"/>
              <a:t> Step 2: Fit the model to data (Estimate Parameters)</a:t>
            </a:r>
          </a:p>
          <a:p>
            <a:r>
              <a:rPr lang="en-US" altLang="ko-KR" dirty="0"/>
              <a:t> Corresponding Questions to be Answered:</a:t>
            </a:r>
          </a:p>
          <a:p>
            <a:pPr lvl="1"/>
            <a:r>
              <a:rPr lang="en-US" altLang="ko-KR" b="1" u="sng" dirty="0">
                <a:solidFill>
                  <a:srgbClr val="FF0000"/>
                </a:solidFill>
              </a:rPr>
              <a:t> Step 1: How to choose the appropriate model?</a:t>
            </a:r>
          </a:p>
          <a:p>
            <a:pPr lvl="1"/>
            <a:r>
              <a:rPr lang="en-US" altLang="ko-KR" dirty="0"/>
              <a:t> Step 2: How do we estimate parameters?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F09F-6524-4FCF-9E51-85B2B30A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2052" name="Picture 4" descr="Quantiles are key to understand probability distributions | Towards Data  Science">
            <a:extLst>
              <a:ext uri="{FF2B5EF4-FFF2-40B4-BE49-F238E27FC236}">
                <a16:creationId xmlns:a16="http://schemas.microsoft.com/office/drawing/2014/main" id="{7DBD89EC-05C3-479C-9C21-C2C18AA1C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109" y="4252998"/>
            <a:ext cx="3115246" cy="257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997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CA342-658F-46E0-B8C9-29ED2FD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92B2F-7DF6-4D23-ACA7-D4969F554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어떤 데이터를 가지고 있을 때</a:t>
            </a:r>
            <a:r>
              <a:rPr lang="en-US" altLang="ko-KR" dirty="0"/>
              <a:t>, </a:t>
            </a:r>
            <a:r>
              <a:rPr lang="ko-KR" altLang="en-US" dirty="0"/>
              <a:t>알맞는 분포는 어떻게 결정하는가</a:t>
            </a:r>
            <a:r>
              <a:rPr lang="en-US" altLang="ko-KR" dirty="0"/>
              <a:t>?</a:t>
            </a:r>
          </a:p>
          <a:p>
            <a:pPr marL="457200" lvl="1" indent="0">
              <a:buNone/>
            </a:pPr>
            <a:r>
              <a:rPr lang="en-US" altLang="ko-KR" b="1" dirty="0"/>
              <a:t>[1] Physical Basis</a:t>
            </a:r>
            <a:r>
              <a:rPr lang="en-US" altLang="ko-KR" dirty="0"/>
              <a:t> (</a:t>
            </a:r>
            <a:r>
              <a:rPr lang="ko-KR" altLang="en-US" dirty="0"/>
              <a:t>물리적인 특성을 바탕으로 선택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아래 성질을 가진 데이터는 </a:t>
            </a:r>
            <a:r>
              <a:rPr lang="en-US" altLang="ko-KR" dirty="0"/>
              <a:t>__________ </a:t>
            </a:r>
            <a:r>
              <a:rPr lang="ko-KR" altLang="en-US" dirty="0"/>
              <a:t>분포를 따른다</a:t>
            </a:r>
            <a:r>
              <a:rPr lang="en-US" altLang="ko-KR" dirty="0"/>
              <a:t>. </a:t>
            </a:r>
          </a:p>
          <a:p>
            <a:pPr lvl="2"/>
            <a:r>
              <a:rPr lang="en-US" altLang="ko-KR" dirty="0"/>
              <a:t>Events are Independent</a:t>
            </a:r>
          </a:p>
          <a:p>
            <a:pPr lvl="2"/>
            <a:r>
              <a:rPr lang="en-US" altLang="ko-KR" dirty="0"/>
              <a:t>Rate of occurrence is constant</a:t>
            </a:r>
          </a:p>
          <a:p>
            <a:pPr lvl="2"/>
            <a:r>
              <a:rPr lang="en-US" altLang="ko-KR" dirty="0"/>
              <a:t>Number of extreme events per year (in hydrology)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A5F847-BB81-44B1-A39E-1D074B687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743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60F00-7F2A-4203-97FC-996E55F5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(2)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0194660-F379-453A-92FC-78AC15E216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</a:t>
                </a:r>
                <a:r>
                  <a:rPr lang="ko-KR" altLang="en-US" dirty="0"/>
                  <a:t>어떤 데이터를 가지고 있을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알맞는 분포는 어떻게 결정하는가</a:t>
                </a:r>
                <a:r>
                  <a:rPr lang="en-US" altLang="ko-KR" dirty="0"/>
                  <a:t>?</a:t>
                </a:r>
              </a:p>
              <a:p>
                <a:pPr marL="457200" lvl="1" indent="0">
                  <a:buNone/>
                </a:pPr>
                <a:r>
                  <a:rPr lang="en-US" altLang="ko-KR" b="1" dirty="0"/>
                  <a:t>[2] Limit Laws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극한 정리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ko-KR" altLang="en-US" dirty="0"/>
                  <a:t> </a:t>
                </a:r>
                <a:r>
                  <a:rPr lang="en-US" altLang="ko-KR" dirty="0"/>
                  <a:t>Theory suggest a distribution as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altLang="ko-KR" b="1" dirty="0"/>
              </a:p>
              <a:p>
                <a:pPr lvl="1"/>
                <a:endParaRPr lang="en-US" altLang="ko-KR" b="1" dirty="0"/>
              </a:p>
              <a:p>
                <a:pPr lvl="1"/>
                <a:r>
                  <a:rPr lang="en-US" altLang="ko-KR" dirty="0"/>
                  <a:t> For instance, let X = daily precipitation and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𝑒𝑥𝑝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/>
              </a:p>
              <a:p>
                <a:pPr lvl="1"/>
                <a:r>
                  <a:rPr lang="en-US" altLang="ko-KR" i="1" dirty="0"/>
                  <a:t> </a:t>
                </a:r>
                <a:r>
                  <a:rPr lang="en-US" altLang="ko-KR" dirty="0"/>
                  <a:t>How about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dirty="0"/>
                  <a:t>? (Annual average precipitation?)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0194660-F379-453A-92FC-78AC15E21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E41F8-0AB4-4393-AF29-00B6D243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327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667DA-69EA-446E-A78A-93F32469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453DF3-CB1D-4EBA-98C7-50EF7A419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어떤 데이터를 가지고 있을 때</a:t>
            </a:r>
            <a:r>
              <a:rPr lang="en-US" altLang="ko-KR" dirty="0"/>
              <a:t>, </a:t>
            </a:r>
            <a:r>
              <a:rPr lang="ko-KR" altLang="en-US" dirty="0"/>
              <a:t>알맞는 분포는 어떻게 결정하는가</a:t>
            </a:r>
            <a:r>
              <a:rPr lang="en-US" altLang="ko-KR" dirty="0"/>
              <a:t>?</a:t>
            </a:r>
          </a:p>
          <a:p>
            <a:pPr marL="457200" lvl="1" indent="0">
              <a:buNone/>
            </a:pPr>
            <a:r>
              <a:rPr lang="en-US" altLang="ko-KR" b="1" dirty="0"/>
              <a:t>[3] Empirical Basis: Which model fits data best?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Goodness-of-fit Approaches</a:t>
            </a:r>
            <a:r>
              <a:rPr lang="en-US" altLang="ko-KR" dirty="0"/>
              <a:t> such as:</a:t>
            </a:r>
          </a:p>
          <a:p>
            <a:pPr lvl="2"/>
            <a:r>
              <a:rPr lang="en-US" altLang="ko-KR" dirty="0"/>
              <a:t>Picking based on Scores (AIC)</a:t>
            </a:r>
          </a:p>
          <a:p>
            <a:pPr lvl="2"/>
            <a:r>
              <a:rPr lang="en-US" altLang="ko-KR" dirty="0"/>
              <a:t>Visual Assessments (P-P or Q-Q Plots)</a:t>
            </a:r>
          </a:p>
          <a:p>
            <a:pPr lvl="2"/>
            <a:r>
              <a:rPr lang="en-US" altLang="ko-KR" dirty="0"/>
              <a:t>Hypothesis testing  (Chi-squared test)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27E35-FA4D-4664-9472-70C031CE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636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E78FBD-F18C-4982-B471-C9851E10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DFE541-873D-4B23-BD94-16A3818F2F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AIC (</a:t>
                </a:r>
                <a:r>
                  <a:rPr lang="en-US" altLang="ko-KR" dirty="0" err="1"/>
                  <a:t>Akaikes</a:t>
                </a:r>
                <a:r>
                  <a:rPr lang="en-US" altLang="ko-KR" dirty="0"/>
                  <a:t> Information Criterion, </a:t>
                </a:r>
                <a:r>
                  <a:rPr lang="ko-KR" altLang="en-US" dirty="0" err="1"/>
                  <a:t>아카이케</a:t>
                </a:r>
                <a:r>
                  <a:rPr lang="ko-KR" altLang="en-US" dirty="0"/>
                  <a:t> 정보 기준</a:t>
                </a:r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𝑀𝐿𝐸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(#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𝑝𝑎𝑟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.)</m:t>
                      </m:r>
                    </m:oMath>
                  </m:oMathPara>
                </a14:m>
                <a:endParaRPr lang="en-US" altLang="ko-KR" dirty="0"/>
              </a:p>
              <a:p>
                <a:pPr marL="457200" lvl="1" indent="0">
                  <a:buNone/>
                </a:pPr>
                <a:r>
                  <a:rPr lang="en-US" altLang="ko-KR" dirty="0"/>
                  <a:t> </a:t>
                </a:r>
              </a:p>
              <a:p>
                <a:pPr lvl="1"/>
                <a:r>
                  <a:rPr lang="en-US" altLang="ko-KR" dirty="0"/>
                  <a:t> Goal: pick the model with smallest AIC score</a:t>
                </a:r>
                <a:br>
                  <a:rPr lang="en-US" altLang="ko-KR" dirty="0"/>
                </a:br>
                <a:r>
                  <a:rPr lang="en-US" altLang="ko-KR" dirty="0"/>
                  <a:t>(Large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maximum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likelihood, penalty for model parameters)</a:t>
                </a:r>
              </a:p>
              <a:p>
                <a:pPr lvl="1"/>
                <a:r>
                  <a:rPr lang="en-US" altLang="ko-KR" dirty="0"/>
                  <a:t> Rule of thumb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DFE541-873D-4B23-BD94-16A3818F2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7E6CA-ADDB-4C07-BFFC-27A5AC6B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780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96156E-3794-4EF4-B82D-E7242184C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3D15B-9702-4496-A21E-F61FB1259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AIC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E4936-01F1-4FAD-8C38-4AFE24F88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351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F94D1-9883-4A14-8644-FE951A1D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968483A-EA1C-4E29-AFEA-6E294671E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Probability plots and Quantile plots (P-P or Q-Q plots)</a:t>
                </a:r>
              </a:p>
              <a:p>
                <a:pPr lvl="1"/>
                <a:r>
                  <a:rPr lang="en-US" altLang="ko-KR" dirty="0"/>
                  <a:t> Testing the plausibility that the observed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/>
                  <a:t> is drawn from a distribution with CDF F(X)</a:t>
                </a:r>
              </a:p>
              <a:p>
                <a:pPr lvl="1"/>
                <a:r>
                  <a:rPr lang="en-US" altLang="ko-KR" dirty="0"/>
                  <a:t> Strategy: for proposed distribution and data,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plot evaluated under model against empirical (model free) estimates 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Procedures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968483A-EA1C-4E29-AFEA-6E294671E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2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6A0A80-4B95-40F8-B1D0-22CB1F25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284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23691-40C6-4DC0-92B3-857C54E2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P-P &amp; Q-Q Plot Examples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1582B0-46DD-469A-8B7F-FDC2A075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3145DAB9-FBDE-497B-9B53-154C06FF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13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C0EC5-8D82-48E7-B80E-BFA52AD0F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9234D91-C651-49D8-A7DE-521E597428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Goodness of Fit Tests (Chi-squared)</a:t>
                </a:r>
              </a:p>
              <a:p>
                <a:pPr lvl="1"/>
                <a:r>
                  <a:rPr lang="en-US" altLang="ko-KR" dirty="0"/>
                  <a:t> Define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Define 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Identify a test statistics</a:t>
                </a:r>
              </a:p>
              <a:p>
                <a:pPr lvl="1"/>
                <a:r>
                  <a:rPr lang="en-US" altLang="ko-KR" dirty="0"/>
                  <a:t> Determine the null distribution: sampling distribution of test statistic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 Compare test statistics to null distribution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9234D91-C651-49D8-A7DE-521E597428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AD6D66-76E4-42B5-9472-DBD16A7D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301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92768-CEAA-476E-8317-23300868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pick a model? (3): Example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8E03892-EC65-45A3-BA0D-ADB9369165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1239946"/>
            <a:ext cx="4647652" cy="423162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2FC634-599F-4354-B3B0-AE506721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922ACB-8C75-4B50-9CDB-D065F8CEB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677" y="2989169"/>
            <a:ext cx="3825787" cy="336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38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8E4D5-AA71-4C57-83AB-7B7D7CF8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복습과제 </a:t>
            </a:r>
            <a:r>
              <a:rPr lang="en-US" altLang="ko-KR" dirty="0"/>
              <a:t>(Quiz 1, </a:t>
            </a:r>
            <a:r>
              <a:rPr lang="en-US" altLang="ko-KR" dirty="0" err="1"/>
              <a:t>Lec</a:t>
            </a:r>
            <a:r>
              <a:rPr lang="en-US" altLang="ko-KR" dirty="0"/>
              <a:t> 01-Lec 03)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6BB22B-A43E-4A3C-A45C-9F6BA9781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책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문제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24DDE-5A7A-4745-9EB0-F7EE2988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289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Preview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86265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(2022-09-27 </a:t>
            </a:r>
            <a:r>
              <a:rPr lang="ko-KR" altLang="en-US" dirty="0"/>
              <a:t>화요일 </a:t>
            </a:r>
            <a:r>
              <a:rPr lang="en-US" altLang="ko-KR" dirty="0"/>
              <a:t>18:30-21:20)</a:t>
            </a:r>
          </a:p>
          <a:p>
            <a:pPr lvl="1"/>
            <a:r>
              <a:rPr lang="en-US" altLang="ko-KR" b="1" i="1" dirty="0"/>
              <a:t> Training with Probabilistic Modeling</a:t>
            </a:r>
          </a:p>
          <a:p>
            <a:pPr lvl="2"/>
            <a:r>
              <a:rPr lang="en-US" altLang="ko-KR" b="1" dirty="0"/>
              <a:t>Bring LAPTOPS with R &amp; R studio on Sep-27!</a:t>
            </a:r>
          </a:p>
          <a:p>
            <a:pPr lvl="2"/>
            <a:r>
              <a:rPr lang="en-US" altLang="ko-KR" dirty="0"/>
              <a:t>Quiz 1 before the Training Session * Bring Calculators</a:t>
            </a:r>
            <a:br>
              <a:rPr lang="en-US" altLang="ko-KR" dirty="0"/>
            </a:br>
            <a:r>
              <a:rPr lang="en-US" altLang="ko-KR" dirty="0"/>
              <a:t>Multiple Questions, Short Answers, Problem Solving (~ 5-6 Q.)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Other Assignments (Plans for September)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Datacamp</a:t>
            </a:r>
            <a:r>
              <a:rPr lang="en-US" altLang="ko-KR" dirty="0"/>
              <a:t> Assignments due 9/15 (Introduction to R)</a:t>
            </a:r>
          </a:p>
          <a:p>
            <a:pPr lvl="2"/>
            <a:r>
              <a:rPr lang="en-US" altLang="ko-KR" dirty="0"/>
              <a:t> Introduction to R due 9/15</a:t>
            </a:r>
          </a:p>
          <a:p>
            <a:pPr lvl="2"/>
            <a:r>
              <a:rPr lang="en-US" altLang="ko-KR" dirty="0"/>
              <a:t> Foundations of Probability in R due 9/23</a:t>
            </a:r>
          </a:p>
          <a:p>
            <a:pPr lvl="1"/>
            <a:r>
              <a:rPr lang="en-US" altLang="ko-KR" dirty="0"/>
              <a:t> Training Assignment (on 9/27) due 10/04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78246</TotalTime>
  <Words>1064</Words>
  <Application>Microsoft Office PowerPoint</Application>
  <PresentationFormat>화면 슬라이드 쇼(4:3)</PresentationFormat>
  <Paragraphs>155</Paragraphs>
  <Slides>28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8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03</vt:lpstr>
      <vt:lpstr>Review on Lecture 2</vt:lpstr>
      <vt:lpstr>Assignment: Poisson from Binomial</vt:lpstr>
      <vt:lpstr>Chebyshev Inequality Example</vt:lpstr>
      <vt:lpstr>Law of Large Numbers Example</vt:lpstr>
      <vt:lpstr>Today’s Topic: Lecture 03 (Part 1)</vt:lpstr>
      <vt:lpstr>How to estimate parameters?</vt:lpstr>
      <vt:lpstr>Unbiasedness Example</vt:lpstr>
      <vt:lpstr>Maximum Likelihood Estimation (MLE)</vt:lpstr>
      <vt:lpstr>Concept of MLE</vt:lpstr>
      <vt:lpstr>MLE Calculation Example (1): Normal </vt:lpstr>
      <vt:lpstr>PowerPoint 프레젠테이션</vt:lpstr>
      <vt:lpstr>MLE Calculation Example (2): Exponential</vt:lpstr>
      <vt:lpstr>PowerPoint 프레젠테이션</vt:lpstr>
      <vt:lpstr>Sampling Variability in MLE</vt:lpstr>
      <vt:lpstr>PowerPoint 프레젠테이션</vt:lpstr>
      <vt:lpstr>Today’s Topic: Lecture 03 (Part 2)</vt:lpstr>
      <vt:lpstr>How to pick a model? (1)</vt:lpstr>
      <vt:lpstr>How to pick a model? (2) </vt:lpstr>
      <vt:lpstr>How to pick a model? (3) </vt:lpstr>
      <vt:lpstr>How to pick a model? (3) </vt:lpstr>
      <vt:lpstr>How to pick a model? (3) </vt:lpstr>
      <vt:lpstr>How to pick a model? (3) </vt:lpstr>
      <vt:lpstr>P-P &amp; Q-Q Plot Examples</vt:lpstr>
      <vt:lpstr>How to pick a model? (3) </vt:lpstr>
      <vt:lpstr>How to pick a model? (3): Example</vt:lpstr>
      <vt:lpstr>복습과제 (Quiz 1, Lec 01-Lec 03)</vt:lpstr>
      <vt:lpstr>Future Schedule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김기주</cp:lastModifiedBy>
  <cp:revision>2298</cp:revision>
  <cp:lastPrinted>2021-11-18T01:41:47Z</cp:lastPrinted>
  <dcterms:created xsi:type="dcterms:W3CDTF">2020-01-02T02:18:47Z</dcterms:created>
  <dcterms:modified xsi:type="dcterms:W3CDTF">2022-09-19T05:54:31Z</dcterms:modified>
</cp:coreProperties>
</file>