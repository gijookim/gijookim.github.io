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6"/>
  </p:notesMasterIdLst>
  <p:sldIdLst>
    <p:sldId id="256" r:id="rId2"/>
    <p:sldId id="700" r:id="rId3"/>
    <p:sldId id="740" r:id="rId4"/>
    <p:sldId id="741" r:id="rId5"/>
    <p:sldId id="743" r:id="rId6"/>
    <p:sldId id="766" r:id="rId7"/>
    <p:sldId id="764" r:id="rId8"/>
    <p:sldId id="768" r:id="rId9"/>
    <p:sldId id="769" r:id="rId10"/>
    <p:sldId id="742" r:id="rId11"/>
    <p:sldId id="770" r:id="rId12"/>
    <p:sldId id="778" r:id="rId13"/>
    <p:sldId id="748" r:id="rId14"/>
    <p:sldId id="760" r:id="rId15"/>
    <p:sldId id="759" r:id="rId16"/>
    <p:sldId id="750" r:id="rId17"/>
    <p:sldId id="773" r:id="rId18"/>
    <p:sldId id="774" r:id="rId19"/>
    <p:sldId id="762" r:id="rId20"/>
    <p:sldId id="780" r:id="rId21"/>
    <p:sldId id="744" r:id="rId22"/>
    <p:sldId id="752" r:id="rId23"/>
    <p:sldId id="754" r:id="rId24"/>
    <p:sldId id="776" r:id="rId25"/>
    <p:sldId id="781" r:id="rId26"/>
    <p:sldId id="777" r:id="rId27"/>
    <p:sldId id="756" r:id="rId28"/>
    <p:sldId id="782" r:id="rId29"/>
    <p:sldId id="775" r:id="rId30"/>
    <p:sldId id="745" r:id="rId31"/>
    <p:sldId id="747" r:id="rId32"/>
    <p:sldId id="758" r:id="rId33"/>
    <p:sldId id="755" r:id="rId34"/>
    <p:sldId id="698" r:id="rId35"/>
  </p:sldIdLst>
  <p:sldSz cx="9144000" cy="6858000" type="screen4x3"/>
  <p:notesSz cx="6735763" cy="98663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17CC"/>
    <a:srgbClr val="F60A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861" autoAdjust="0"/>
    <p:restoredTop sz="85023" autoAdjust="0"/>
  </p:normalViewPr>
  <p:slideViewPr>
    <p:cSldViewPr>
      <p:cViewPr varScale="1">
        <p:scale>
          <a:sx n="93" d="100"/>
          <a:sy n="93" d="100"/>
        </p:scale>
        <p:origin x="1860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18830" cy="495029"/>
          </a:xfrm>
          <a:prstGeom prst="rect">
            <a:avLst/>
          </a:prstGeom>
        </p:spPr>
        <p:txBody>
          <a:bodyPr vert="horz" lIns="90763" tIns="45382" rIns="90763" bIns="4538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5" y="0"/>
            <a:ext cx="2918830" cy="495029"/>
          </a:xfrm>
          <a:prstGeom prst="rect">
            <a:avLst/>
          </a:prstGeom>
        </p:spPr>
        <p:txBody>
          <a:bodyPr vert="horz" lIns="90763" tIns="45382" rIns="90763" bIns="45382" rtlCol="0"/>
          <a:lstStyle>
            <a:lvl1pPr algn="r">
              <a:defRPr sz="1200"/>
            </a:lvl1pPr>
          </a:lstStyle>
          <a:p>
            <a:fld id="{E1DBA18E-019D-4DB5-9C84-C80C9EC0EDE4}" type="datetimeFigureOut">
              <a:rPr lang="ko-KR" altLang="en-US" smtClean="0"/>
              <a:t>2022-09-13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9350" y="1233488"/>
            <a:ext cx="443706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63" tIns="45382" rIns="90763" bIns="45382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0763" tIns="45382" rIns="90763" bIns="45382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371286"/>
            <a:ext cx="2918830" cy="495028"/>
          </a:xfrm>
          <a:prstGeom prst="rect">
            <a:avLst/>
          </a:prstGeom>
        </p:spPr>
        <p:txBody>
          <a:bodyPr vert="horz" lIns="90763" tIns="45382" rIns="90763" bIns="4538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5" y="9371286"/>
            <a:ext cx="2918830" cy="495028"/>
          </a:xfrm>
          <a:prstGeom prst="rect">
            <a:avLst/>
          </a:prstGeom>
        </p:spPr>
        <p:txBody>
          <a:bodyPr vert="horz" lIns="90763" tIns="45382" rIns="90763" bIns="45382" rtlCol="0" anchor="b"/>
          <a:lstStyle>
            <a:lvl1pPr algn="r">
              <a:defRPr sz="1200"/>
            </a:lvl1pPr>
          </a:lstStyle>
          <a:p>
            <a:fld id="{3B93C0B1-E0F9-447B-AFB5-BCC5935C28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6981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93C0B1-E0F9-447B-AFB5-BCC5935C28C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5694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0037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9942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2775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4DF68E14-CAEA-49EF-A996-488ADFD1D606}" type="datetime1">
              <a:rPr lang="ko-KR" altLang="en-US" smtClean="0"/>
              <a:t>2022-09-13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9544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9829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4999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9A647E19-6206-463B-9AE9-66BE4F630FC0}" type="datetime1">
              <a:rPr lang="ko-KR" altLang="en-US" smtClean="0"/>
              <a:t>2022-09-13</a:t>
            </a:fld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3339795-4603-4C4B-B582-9870510CE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279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93CDF756-7DF6-4EF7-9AE5-1CDBCC6807D0}" type="datetime1">
              <a:rPr lang="ko-KR" altLang="en-US" smtClean="0"/>
              <a:t>2022-09-13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2833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0E00B1B8-02ED-4B71-B2A9-756D11FCE97A}" type="datetime1">
              <a:rPr lang="ko-KR" altLang="en-US" smtClean="0"/>
              <a:t>2022-09-13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3382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F8842333-966D-4877-82E2-6DF5FF1AA6FD}" type="datetime1">
              <a:rPr lang="ko-KR" altLang="en-US" smtClean="0"/>
              <a:t>2022-09-13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917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C882E481-74EE-447E-B10C-224EAA33899A}" type="datetime1">
              <a:rPr lang="ko-KR" altLang="en-US" smtClean="0"/>
              <a:t>2022-09-13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DE5D0810-B190-47E1-A347-C4E62ABB5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66951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596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268760"/>
            <a:ext cx="7886700" cy="49082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43300" y="635502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fld id="{79822AFB-C284-4A8E-A6EE-41BAA9C576A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6804248" y="6250409"/>
            <a:ext cx="1711102" cy="576999"/>
          </a:xfrm>
          <a:prstGeom prst="rect">
            <a:avLst/>
          </a:prstGeom>
        </p:spPr>
      </p:pic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0298C54-76D9-4D1A-B6B3-194E1AE53373}"/>
              </a:ext>
            </a:extLst>
          </p:cNvPr>
          <p:cNvSpPr txBox="1">
            <a:spLocks/>
          </p:cNvSpPr>
          <p:nvPr userDrawn="1"/>
        </p:nvSpPr>
        <p:spPr>
          <a:xfrm>
            <a:off x="628650" y="6356347"/>
            <a:ext cx="27192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dirty="0">
                <a:latin typeface="Gill Sans MT" panose="020B0502020104020203" pitchFamily="34" charset="0"/>
                <a:cs typeface="Calibri" panose="020F0502020204030204" pitchFamily="34" charset="0"/>
              </a:rPr>
              <a:t>Statistical Hydrology</a:t>
            </a:r>
          </a:p>
          <a:p>
            <a:pPr algn="l"/>
            <a:r>
              <a:rPr lang="en-US" altLang="ko-KR">
                <a:latin typeface="Gill Sans MT" panose="020B0502020104020203" pitchFamily="34" charset="0"/>
                <a:cs typeface="Calibri" panose="020F0502020204030204" pitchFamily="34" charset="0"/>
              </a:rPr>
              <a:t>Fall </a:t>
            </a:r>
            <a:r>
              <a:rPr lang="en-US" altLang="ko-KR" dirty="0">
                <a:latin typeface="Gill Sans MT" panose="020B0502020104020203" pitchFamily="34" charset="0"/>
                <a:cs typeface="Calibri" panose="020F0502020204030204" pitchFamily="34" charset="0"/>
              </a:rPr>
              <a:t>2022, Dr. Gi Joo Kim</a:t>
            </a:r>
            <a:endParaRPr lang="ko-KR" altLang="en-US" dirty="0">
              <a:latin typeface="Gill Sans MT" panose="020B0502020104020203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4399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나눔고딕 ExtraBold" panose="020D0904000000000000" pitchFamily="50" charset="-127"/>
          <a:ea typeface="나눔고딕 ExtraBold" panose="020D0904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Font typeface="Wingdings" panose="05000000000000000000" pitchFamily="2" charset="2"/>
        <a:buChar char="v"/>
        <a:defRPr sz="20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ü"/>
        <a:defRPr sz="12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29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37.png"/><Relationship Id="rId7" Type="http://schemas.openxmlformats.org/officeDocument/2006/relationships/image" Target="../media/image42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image" Target="../media/image50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348880"/>
            <a:ext cx="7772400" cy="720080"/>
          </a:xfrm>
        </p:spPr>
        <p:txBody>
          <a:bodyPr>
            <a:normAutofit/>
          </a:bodyPr>
          <a:lstStyle/>
          <a:p>
            <a:r>
              <a:rPr lang="en-US" altLang="ko-KR" sz="4000" dirty="0"/>
              <a:t>Lecture</a:t>
            </a:r>
            <a:r>
              <a:rPr lang="ko-KR" altLang="en-US" sz="4000" dirty="0"/>
              <a:t> </a:t>
            </a:r>
            <a:r>
              <a:rPr lang="en-US" altLang="ko-KR" sz="4000" dirty="0"/>
              <a:t>02</a:t>
            </a:r>
            <a:endParaRPr lang="ko-KR" altLang="en-US" dirty="0"/>
          </a:p>
        </p:txBody>
      </p:sp>
      <p:graphicFrame>
        <p:nvGraphicFramePr>
          <p:cNvPr id="4" name="개체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1035128"/>
              </p:ext>
            </p:extLst>
          </p:nvPr>
        </p:nvGraphicFramePr>
        <p:xfrm>
          <a:off x="6146800" y="33528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3" name="Equation" r:id="rId4" imgW="914400" imgH="198720" progId="Equation.DSMT4">
                  <p:embed/>
                </p:oleObj>
              </mc:Choice>
              <mc:Fallback>
                <p:oleObj name="Equation" r:id="rId4" imgW="914400" imgH="198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146800" y="3352800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69520F9-6515-4E4B-A8F6-4A7B0AA74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</a:t>
            </a:fld>
            <a:endParaRPr lang="ko-KR" altLang="en-US" dirty="0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550591F5-0612-4BF1-AA16-517BECFA19B6}"/>
              </a:ext>
            </a:extLst>
          </p:cNvPr>
          <p:cNvSpPr txBox="1">
            <a:spLocks/>
          </p:cNvSpPr>
          <p:nvPr/>
        </p:nvSpPr>
        <p:spPr>
          <a:xfrm>
            <a:off x="685800" y="3087442"/>
            <a:ext cx="7772400" cy="16377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</a:lstStyle>
          <a:p>
            <a:r>
              <a:rPr lang="en-US" altLang="ko-KR" sz="3600" dirty="0"/>
              <a:t>Probabilistic</a:t>
            </a:r>
            <a:r>
              <a:rPr lang="ko-KR" altLang="en-US" sz="3600" dirty="0"/>
              <a:t> </a:t>
            </a:r>
            <a:r>
              <a:rPr lang="en-US" altLang="ko-KR" sz="3600" dirty="0"/>
              <a:t>Modeling</a:t>
            </a:r>
            <a:r>
              <a:rPr lang="ko-KR" altLang="en-US" sz="3600" dirty="0"/>
              <a:t> </a:t>
            </a:r>
            <a:r>
              <a:rPr lang="en-US" altLang="ko-KR" sz="3600" dirty="0"/>
              <a:t>in</a:t>
            </a:r>
            <a:r>
              <a:rPr lang="ko-KR" altLang="en-US" sz="3600" dirty="0"/>
              <a:t> </a:t>
            </a:r>
            <a:r>
              <a:rPr lang="en-US" altLang="ko-KR" sz="3600" dirty="0"/>
              <a:t>Hydrology-Part I</a:t>
            </a:r>
          </a:p>
          <a:p>
            <a:r>
              <a:rPr lang="en-US" altLang="ko-KR" sz="3600" dirty="0"/>
              <a:t>(Moments &amp; Probabilistic Models)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13091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C32D9C-5B9C-463C-A183-253D11ABB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Review on Lecture 01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B54ED7-E2F6-4D40-AFB0-9CF5058BC5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0"/>
            <a:ext cx="7886700" cy="5224113"/>
          </a:xfrm>
        </p:spPr>
        <p:txBody>
          <a:bodyPr>
            <a:normAutofit/>
          </a:bodyPr>
          <a:lstStyle/>
          <a:p>
            <a:r>
              <a:rPr lang="en-US" altLang="ko-KR" b="1" dirty="0"/>
              <a:t> Introduction to the Course: Statistical Hydrology</a:t>
            </a:r>
          </a:p>
          <a:p>
            <a:pPr lvl="1"/>
            <a:r>
              <a:rPr lang="en-US" altLang="ko-KR" dirty="0"/>
              <a:t> Hydrology</a:t>
            </a:r>
            <a:r>
              <a:rPr lang="ko-KR" altLang="en-US" dirty="0"/>
              <a:t> </a:t>
            </a:r>
            <a:r>
              <a:rPr lang="en-US" altLang="ko-KR" dirty="0"/>
              <a:t>&amp;</a:t>
            </a:r>
            <a:r>
              <a:rPr lang="ko-KR" altLang="en-US" dirty="0"/>
              <a:t> </a:t>
            </a:r>
            <a:r>
              <a:rPr lang="en-US" altLang="ko-KR" dirty="0"/>
              <a:t>Statistics</a:t>
            </a:r>
          </a:p>
          <a:p>
            <a:pPr lvl="1"/>
            <a:r>
              <a:rPr lang="ko-KR" altLang="en-US" dirty="0"/>
              <a:t> 수문학에서의 불확실성 분류 방법 </a:t>
            </a:r>
            <a:r>
              <a:rPr lang="en-US" altLang="ko-KR" dirty="0"/>
              <a:t>(Handbook of Hydrology, 17.1.1)</a:t>
            </a:r>
          </a:p>
          <a:p>
            <a:pPr lvl="2"/>
            <a:r>
              <a:rPr lang="en-US" altLang="ko-KR" dirty="0"/>
              <a:t> </a:t>
            </a:r>
            <a:r>
              <a:rPr lang="en-US" altLang="ko-KR" b="1" u="sng" dirty="0"/>
              <a:t>Inherent randomness </a:t>
            </a:r>
            <a:r>
              <a:rPr lang="en-US" altLang="ko-KR" dirty="0"/>
              <a:t>of the driving variables (predominantly </a:t>
            </a:r>
            <a:r>
              <a:rPr lang="en-US" altLang="ko-KR" b="1" dirty="0">
                <a:solidFill>
                  <a:srgbClr val="0417CC"/>
                </a:solidFill>
              </a:rPr>
              <a:t>precipitation</a:t>
            </a:r>
            <a:r>
              <a:rPr lang="en-US" altLang="ko-KR" dirty="0"/>
              <a:t>) and the randomness of the hydrologic system (including topographic, aquifer, and soil characteristics)</a:t>
            </a:r>
          </a:p>
          <a:p>
            <a:pPr lvl="2"/>
            <a:r>
              <a:rPr lang="en-US" altLang="ko-KR" dirty="0"/>
              <a:t> </a:t>
            </a:r>
            <a:r>
              <a:rPr lang="en-US" altLang="ko-KR" b="1" u="sng" dirty="0"/>
              <a:t>Sampling error </a:t>
            </a:r>
            <a:r>
              <a:rPr lang="en-US" altLang="ko-KR" dirty="0"/>
              <a:t>– the measurements that hydrologists have to work with are only a small sample from a large or potentially infinite population</a:t>
            </a:r>
          </a:p>
          <a:p>
            <a:pPr lvl="2"/>
            <a:r>
              <a:rPr lang="en-US" altLang="ko-KR" dirty="0"/>
              <a:t> Uncertainty resulting from incorrect understanding of the processes involved (</a:t>
            </a:r>
            <a:r>
              <a:rPr lang="en-US" altLang="ko-KR" b="1" u="sng" dirty="0"/>
              <a:t>System error</a:t>
            </a:r>
            <a:r>
              <a:rPr lang="en-US" altLang="ko-KR" dirty="0"/>
              <a:t>- errors in estimating or predicting system outputs from system inputs)</a:t>
            </a:r>
          </a:p>
          <a:p>
            <a:pPr lvl="1"/>
            <a:r>
              <a:rPr lang="en-US" altLang="ko-KR" dirty="0"/>
              <a:t> Introduction to Common Representative Values</a:t>
            </a:r>
          </a:p>
          <a:p>
            <a:pPr lvl="2"/>
            <a:r>
              <a:rPr lang="en-US" altLang="ko-KR" dirty="0"/>
              <a:t>Central Tendency, Dispersion, Asymmetry, Correlation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950B24-59D4-4FEE-AEE7-6908BEC18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412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405BFD-FA13-492F-9737-49B1BC46E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Today’s Topic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1F0E6A-D35B-4721-9CF8-82E8007C17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0"/>
            <a:ext cx="7886700" cy="5224113"/>
          </a:xfrm>
        </p:spPr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이전 강의에서 봤듯이</a:t>
            </a:r>
            <a:r>
              <a:rPr lang="en-US" altLang="ko-KR" dirty="0"/>
              <a:t>, </a:t>
            </a:r>
            <a:r>
              <a:rPr lang="ko-KR" altLang="en-US" dirty="0" err="1"/>
              <a:t>대표값들</a:t>
            </a:r>
            <a:r>
              <a:rPr lang="en-US" altLang="ko-KR" dirty="0"/>
              <a:t>(</a:t>
            </a:r>
            <a:r>
              <a:rPr lang="ko-KR" altLang="en-US" dirty="0"/>
              <a:t>평균</a:t>
            </a:r>
            <a:r>
              <a:rPr lang="en-US" altLang="ko-KR" dirty="0"/>
              <a:t>, </a:t>
            </a:r>
            <a:r>
              <a:rPr lang="ko-KR" altLang="en-US" dirty="0"/>
              <a:t>표준편차</a:t>
            </a:r>
            <a:r>
              <a:rPr lang="en-US" altLang="ko-KR" dirty="0"/>
              <a:t>, </a:t>
            </a:r>
            <a:r>
              <a:rPr lang="ko-KR" altLang="en-US" dirty="0"/>
              <a:t>왜곡도 등</a:t>
            </a:r>
            <a:r>
              <a:rPr lang="en-US" altLang="ko-KR" dirty="0"/>
              <a:t>)</a:t>
            </a:r>
            <a:r>
              <a:rPr lang="ko-KR" altLang="en-US" dirty="0"/>
              <a:t>로만 </a:t>
            </a:r>
            <a:br>
              <a:rPr lang="en-US" altLang="ko-KR" dirty="0"/>
            </a:br>
            <a:r>
              <a:rPr lang="ko-KR" altLang="en-US" dirty="0"/>
              <a:t>어느 불확실한 변수를 설명하기에는 어려움이 있음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 </a:t>
            </a:r>
            <a:r>
              <a:rPr lang="ko-KR" altLang="en-US" dirty="0"/>
              <a:t>따라서</a:t>
            </a:r>
            <a:r>
              <a:rPr lang="en-US" altLang="ko-KR" dirty="0"/>
              <a:t>, </a:t>
            </a:r>
            <a:r>
              <a:rPr lang="ko-KR" altLang="en-US" dirty="0"/>
              <a:t>대부분의 확률변수들이 주로 따르는 이미 알려진 확률분포들에 대해서 학습하고</a:t>
            </a:r>
            <a:r>
              <a:rPr lang="en-US" altLang="ko-KR" dirty="0"/>
              <a:t>, </a:t>
            </a:r>
            <a:r>
              <a:rPr lang="ko-KR" altLang="en-US" dirty="0"/>
              <a:t>이를 사용해서 확률변수를 설명하고자 함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Probabilistic Modeling in Hydrology (Parts I &amp; II)</a:t>
            </a:r>
          </a:p>
          <a:p>
            <a:pPr lvl="1"/>
            <a:r>
              <a:rPr lang="en-US" altLang="ko-KR" dirty="0"/>
              <a:t> Introduction to probability &amp; probability distributions</a:t>
            </a:r>
          </a:p>
          <a:p>
            <a:pPr lvl="2"/>
            <a:r>
              <a:rPr lang="en-US" altLang="ko-KR" dirty="0"/>
              <a:t>What are Discrete/Continuous probability distributions?</a:t>
            </a:r>
          </a:p>
          <a:p>
            <a:pPr lvl="1"/>
            <a:r>
              <a:rPr lang="en-US" altLang="ko-KR" dirty="0"/>
              <a:t> What are the factors that determine the specific shape of the probability distributions? Parameters (</a:t>
            </a:r>
            <a:r>
              <a:rPr lang="ko-KR" altLang="en-US" dirty="0"/>
              <a:t>매개변수</a:t>
            </a:r>
            <a:r>
              <a:rPr lang="en-US" altLang="ko-KR" dirty="0"/>
              <a:t>)!</a:t>
            </a:r>
          </a:p>
          <a:p>
            <a:pPr lvl="1"/>
            <a:r>
              <a:rPr lang="en-US" altLang="ko-KR" dirty="0"/>
              <a:t> How do we decide on the “adequate” values of parameters? – P2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D09412-1F5E-4E6D-9B51-06B4F80A7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1905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AEAB90-6763-40E6-86E8-A67F918F4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Review on Basic Probability Concepts 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7E8256B-3058-49A4-92B8-31F104B7E0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268760"/>
                <a:ext cx="7886700" cy="5224113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b="1" dirty="0"/>
                  <a:t> </a:t>
                </a:r>
                <a:r>
                  <a:rPr lang="en-US" altLang="ko-KR" dirty="0"/>
                  <a:t>Populations vs Samples (</a:t>
                </a:r>
                <a:r>
                  <a:rPr lang="ko-KR" altLang="en-US" dirty="0"/>
                  <a:t>모집단</a:t>
                </a:r>
                <a:r>
                  <a:rPr lang="en-US" altLang="ko-KR" dirty="0"/>
                  <a:t> vs</a:t>
                </a:r>
                <a:r>
                  <a:rPr lang="ko-KR" altLang="en-US" dirty="0"/>
                  <a:t> 표본집단</a:t>
                </a:r>
                <a:r>
                  <a:rPr lang="en-US" altLang="ko-KR" dirty="0"/>
                  <a:t>)</a:t>
                </a:r>
              </a:p>
              <a:p>
                <a:pPr lvl="1"/>
                <a:r>
                  <a:rPr lang="en-US" altLang="ko-KR" dirty="0"/>
                  <a:t> Parameter vs Statistic (</a:t>
                </a:r>
                <a:r>
                  <a:rPr lang="ko-KR" altLang="en-US" dirty="0" err="1"/>
                  <a:t>모수</a:t>
                </a:r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vs </a:t>
                </a:r>
                <a:r>
                  <a:rPr lang="ko-KR" altLang="en-US" dirty="0"/>
                  <a:t>통계치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ko-KR" altLang="en-US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ko-KR" alt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</m:acc>
                  </m:oMath>
                </a14:m>
                <a:r>
                  <a:rPr lang="en-US" altLang="ko-KR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US" altLang="ko-KR" dirty="0"/>
                  <a:t>) =&gt; Probabilistic Model</a:t>
                </a:r>
              </a:p>
              <a:p>
                <a:pPr lvl="5"/>
                <a:endParaRPr lang="en-US" altLang="ko-KR" b="1" dirty="0"/>
              </a:p>
              <a:p>
                <a:r>
                  <a:rPr lang="en-US" altLang="ko-KR" b="1" dirty="0"/>
                  <a:t> Random Variable (RV) (</a:t>
                </a:r>
                <a:r>
                  <a:rPr lang="ko-KR" altLang="en-US" b="1" dirty="0"/>
                  <a:t>확률변수</a:t>
                </a:r>
                <a:r>
                  <a:rPr lang="en-US" altLang="ko-KR" b="1" dirty="0"/>
                  <a:t>) (X, Y, Z </a:t>
                </a:r>
                <a:r>
                  <a:rPr lang="ko-KR" altLang="en-US" b="1" dirty="0"/>
                  <a:t>등</a:t>
                </a:r>
                <a:r>
                  <a:rPr lang="en-US" altLang="ko-KR" b="1" dirty="0"/>
                  <a:t> </a:t>
                </a:r>
                <a:r>
                  <a:rPr lang="ko-KR" altLang="en-US" b="1" u="sng" dirty="0"/>
                  <a:t>영어 대문자</a:t>
                </a:r>
                <a:r>
                  <a:rPr lang="ko-KR" altLang="en-US" b="1" dirty="0"/>
                  <a:t>로 표현</a:t>
                </a:r>
                <a:r>
                  <a:rPr lang="en-US" altLang="ko-KR" b="1" dirty="0"/>
                  <a:t>)</a:t>
                </a:r>
                <a:br>
                  <a:rPr lang="en-US" altLang="ko-KR" b="1" dirty="0"/>
                </a:br>
                <a:r>
                  <a:rPr lang="en-US" altLang="ko-KR" b="1" dirty="0"/>
                  <a:t>(=Stochastic Variable, </a:t>
                </a:r>
                <a:r>
                  <a:rPr lang="ko-KR" altLang="en-US" b="1" dirty="0"/>
                  <a:t>추계학적 변수</a:t>
                </a:r>
                <a:r>
                  <a:rPr lang="en-US" altLang="ko-KR" b="1" dirty="0"/>
                  <a:t>)</a:t>
                </a:r>
              </a:p>
              <a:p>
                <a:pPr lvl="1"/>
                <a:r>
                  <a:rPr lang="en-US" altLang="ko-KR" dirty="0"/>
                  <a:t> A variable whose values are numerical outcomes </a:t>
                </a:r>
                <a:br>
                  <a:rPr lang="en-US" altLang="ko-KR" dirty="0"/>
                </a:br>
                <a:r>
                  <a:rPr lang="en-US" altLang="ko-KR" dirty="0"/>
                  <a:t>of </a:t>
                </a:r>
                <a:r>
                  <a:rPr lang="en-US" altLang="ko-KR" u="sng" dirty="0"/>
                  <a:t>random process</a:t>
                </a:r>
                <a:r>
                  <a:rPr lang="en-US" altLang="ko-KR" dirty="0"/>
                  <a:t> (** Random/stochastic process is a complex confluence of physical variables, often too difficult to track)</a:t>
                </a:r>
              </a:p>
              <a:p>
                <a:pPr lvl="1"/>
                <a:r>
                  <a:rPr lang="en-US" altLang="ko-KR" dirty="0"/>
                  <a:t> Few Examples of RVs</a:t>
                </a:r>
              </a:p>
              <a:p>
                <a:pPr lvl="2"/>
                <a:r>
                  <a:rPr lang="en-US" altLang="ko-KR" dirty="0"/>
                  <a:t>Coin Toss (Single Trial): {0, 1} </a:t>
                </a:r>
                <a:r>
                  <a:rPr lang="en-US" altLang="ko-KR" u="sng" dirty="0">
                    <a:solidFill>
                      <a:schemeClr val="bg1"/>
                    </a:solidFill>
                  </a:rPr>
                  <a:t>–Bernoulli (</a:t>
                </a:r>
                <a:r>
                  <a:rPr lang="ko-KR" altLang="en-US" u="sng" dirty="0">
                    <a:solidFill>
                      <a:schemeClr val="bg1"/>
                    </a:solidFill>
                  </a:rPr>
                  <a:t>베르누이 분포</a:t>
                </a:r>
                <a:r>
                  <a:rPr lang="en-US" altLang="ko-KR" u="sng" dirty="0">
                    <a:solidFill>
                      <a:schemeClr val="bg1"/>
                    </a:solidFill>
                  </a:rPr>
                  <a:t>)</a:t>
                </a:r>
                <a:br>
                  <a:rPr lang="en-US" altLang="ko-KR" dirty="0"/>
                </a:br>
                <a:r>
                  <a:rPr lang="en-US" altLang="ko-KR" dirty="0"/>
                  <a:t>[trajectory of coin affected by flip strength, air density, moisture, …]</a:t>
                </a:r>
              </a:p>
              <a:p>
                <a:pPr lvl="2"/>
                <a:r>
                  <a:rPr lang="en-US" altLang="ko-KR" dirty="0"/>
                  <a:t>Coin Toss (N Trials): {0,1,…,N} </a:t>
                </a:r>
                <a:r>
                  <a:rPr lang="en-US" altLang="ko-KR" dirty="0">
                    <a:solidFill>
                      <a:schemeClr val="bg1"/>
                    </a:solidFill>
                  </a:rPr>
                  <a:t>–Binomial (</a:t>
                </a:r>
                <a:r>
                  <a:rPr lang="ko-KR" altLang="en-US" dirty="0">
                    <a:solidFill>
                      <a:schemeClr val="bg1"/>
                    </a:solidFill>
                  </a:rPr>
                  <a:t>이항 분포</a:t>
                </a:r>
                <a:r>
                  <a:rPr lang="en-US" altLang="ko-KR" dirty="0">
                    <a:solidFill>
                      <a:schemeClr val="bg1"/>
                    </a:solidFill>
                  </a:rPr>
                  <a:t>) [N times above]</a:t>
                </a:r>
              </a:p>
              <a:p>
                <a:pPr lvl="2"/>
                <a:r>
                  <a:rPr lang="en-US" altLang="ko-KR" dirty="0"/>
                  <a:t>Annual Precipitation in Korea: (0,…,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altLang="ko-KR" dirty="0"/>
                  <a:t>) </a:t>
                </a:r>
                <a:r>
                  <a:rPr lang="en-US" altLang="ko-KR" dirty="0">
                    <a:solidFill>
                      <a:schemeClr val="bg1"/>
                    </a:solidFill>
                  </a:rPr>
                  <a:t>–Normal, Log-normal</a:t>
                </a:r>
                <a:br>
                  <a:rPr lang="en-US" altLang="ko-KR" dirty="0"/>
                </a:br>
                <a:r>
                  <a:rPr lang="en-US" altLang="ko-KR" dirty="0"/>
                  <a:t>[moisture available in air, other factors affecting precipitation, …]</a:t>
                </a:r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7E8256B-3058-49A4-92B8-31F104B7E0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268760"/>
                <a:ext cx="7886700" cy="5224113"/>
              </a:xfrm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F550DD-9D68-4FC3-A827-A9D581C49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9633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AC7C9F3E-F661-4FC3-9642-B6972A82F321}"/>
              </a:ext>
            </a:extLst>
          </p:cNvPr>
          <p:cNvSpPr/>
          <p:nvPr/>
        </p:nvSpPr>
        <p:spPr>
          <a:xfrm>
            <a:off x="591764" y="5596700"/>
            <a:ext cx="8444732" cy="1152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F354BB4-A6BF-447A-9FBB-5F79C0DE1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Review on Basic Probability Concepts 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EB69D22-1645-479D-B180-2CF6FD665B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268760"/>
                <a:ext cx="7886700" cy="5451391"/>
              </a:xfrm>
            </p:spPr>
            <p:txBody>
              <a:bodyPr/>
              <a:lstStyle/>
              <a:p>
                <a:r>
                  <a:rPr lang="en-US" altLang="ko-KR" dirty="0"/>
                  <a:t> Mutually Exclusive (</a:t>
                </a:r>
                <a:r>
                  <a:rPr lang="ko-KR" altLang="en-US" dirty="0"/>
                  <a:t>배반</a:t>
                </a:r>
                <a:r>
                  <a:rPr lang="en-US" altLang="ko-KR" dirty="0"/>
                  <a:t>)</a:t>
                </a:r>
              </a:p>
              <a:p>
                <a:r>
                  <a:rPr lang="en-US" altLang="ko-KR" dirty="0"/>
                  <a:t> Independence (</a:t>
                </a:r>
                <a:r>
                  <a:rPr lang="ko-KR" altLang="en-US" dirty="0"/>
                  <a:t>독립</a:t>
                </a:r>
                <a:r>
                  <a:rPr lang="en-US" altLang="ko-KR" dirty="0"/>
                  <a:t>)</a:t>
                </a:r>
              </a:p>
              <a:p>
                <a:r>
                  <a:rPr lang="en-US" altLang="ko-KR" dirty="0"/>
                  <a:t> Conditional Probability (</a:t>
                </a:r>
                <a:r>
                  <a:rPr lang="ko-KR" altLang="en-US" dirty="0"/>
                  <a:t>조건부확률</a:t>
                </a:r>
                <a:r>
                  <a:rPr lang="en-US" altLang="ko-KR" dirty="0"/>
                  <a:t>)</a:t>
                </a:r>
              </a:p>
              <a:p>
                <a:pPr lvl="1"/>
                <a:r>
                  <a:rPr lang="en-US" altLang="ko-KR" dirty="0"/>
                  <a:t> Probability of occurrence of event A given that event B has already occurred is defined as:</a:t>
                </a:r>
              </a:p>
              <a:p>
                <a:pPr lvl="1"/>
                <a:endParaRPr lang="en-US" altLang="ko-KR" dirty="0"/>
              </a:p>
              <a:p>
                <a:pPr lvl="1"/>
                <a:r>
                  <a:rPr lang="en-US" altLang="ko-KR" dirty="0"/>
                  <a:t> In case of Independence, </a:t>
                </a:r>
              </a:p>
              <a:p>
                <a:pPr lvl="1"/>
                <a:endParaRPr lang="en-US" altLang="ko-KR" dirty="0"/>
              </a:p>
              <a:p>
                <a:r>
                  <a:rPr lang="en-US" altLang="ko-KR" dirty="0"/>
                  <a:t> Bayes Theorem (</a:t>
                </a:r>
                <a:r>
                  <a:rPr lang="ko-KR" altLang="en-US" dirty="0" err="1"/>
                  <a:t>베이즈</a:t>
                </a:r>
                <a:r>
                  <a:rPr lang="ko-KR" altLang="en-US" dirty="0"/>
                  <a:t> 정리</a:t>
                </a:r>
                <a:r>
                  <a:rPr lang="en-US" altLang="ko-KR" dirty="0"/>
                  <a:t>)</a:t>
                </a:r>
              </a:p>
              <a:p>
                <a:endParaRPr lang="en-US" altLang="ko-KR" dirty="0"/>
              </a:p>
              <a:p>
                <a:endParaRPr lang="en-US" altLang="ko-KR" sz="700" dirty="0"/>
              </a:p>
              <a:p>
                <a:r>
                  <a:rPr lang="en-US" altLang="ko-KR" dirty="0"/>
                  <a:t> Total Probability Theorem (</a:t>
                </a:r>
                <a:r>
                  <a:rPr lang="ko-KR" altLang="en-US" dirty="0"/>
                  <a:t>전체 확률의 법칙</a:t>
                </a:r>
                <a:r>
                  <a:rPr lang="en-US" altLang="ko-KR" dirty="0"/>
                  <a:t>)</a:t>
                </a:r>
              </a:p>
              <a:p>
                <a:pPr lvl="1"/>
                <a:r>
                  <a:rPr lang="en-US" altLang="ko-KR" dirty="0"/>
                  <a:t> </a:t>
                </a:r>
                <a:r>
                  <a:rPr lang="ko-KR" altLang="en-US" dirty="0"/>
                  <a:t>대신</a:t>
                </a:r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은</m:t>
                    </m:r>
                  </m:oMath>
                </a14:m>
                <a:r>
                  <a:rPr lang="ko-KR" altLang="en-US" dirty="0"/>
                  <a:t> 서로 </a:t>
                </a:r>
                <a:r>
                  <a:rPr lang="en-US" altLang="ko-KR" dirty="0"/>
                  <a:t>Mutually Exclusive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EB69D22-1645-479D-B180-2CF6FD665B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268760"/>
                <a:ext cx="7886700" cy="5451391"/>
              </a:xfrm>
              <a:blipFill>
                <a:blip r:embed="rId2"/>
                <a:stretch>
                  <a:fillRect l="-696" b="-16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DD34A1-9904-4152-B1E1-625B66727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53458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BDEFA8-30D7-4EF0-A19C-9778A67F1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altLang="ko-KR" dirty="0"/>
              <a:t>Bayes’ Theorem</a:t>
            </a:r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2575C82-29AA-4CB9-9DEF-2F8D91B584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 </a:t>
                </a:r>
                <a:r>
                  <a:rPr lang="ko-KR" altLang="en-US" dirty="0"/>
                  <a:t>정의</a:t>
                </a:r>
                <a:r>
                  <a:rPr lang="en-US" altLang="ko-KR" dirty="0"/>
                  <a:t>: </a:t>
                </a:r>
                <a:r>
                  <a:rPr lang="ko-KR" altLang="en-US" dirty="0"/>
                  <a:t>사전확률을 통해 사후확률을 업데이트하는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방법</a:t>
                </a:r>
                <a:br>
                  <a:rPr lang="en-US" altLang="ko-KR" dirty="0"/>
                </a:br>
                <a:r>
                  <a:rPr lang="ko-KR" altLang="en-US" dirty="0"/>
                  <a:t>특히 </a:t>
                </a:r>
                <a:r>
                  <a:rPr lang="ko-KR" altLang="en-US" b="1" u="sng" dirty="0"/>
                  <a:t>관찰을 통해 획득한 새로운 정보로 사후 확률을 업데이트</a:t>
                </a:r>
                <a:endParaRPr lang="en-US" altLang="ko-KR" b="1" u="sng" dirty="0"/>
              </a:p>
              <a:p>
                <a:r>
                  <a:rPr lang="en-US" altLang="ko-KR" dirty="0"/>
                  <a:t> </a:t>
                </a:r>
                <a:r>
                  <a:rPr lang="ko-KR" altLang="en-US" dirty="0"/>
                  <a:t>대부분의 </a:t>
                </a:r>
                <a:r>
                  <a:rPr lang="en-US" altLang="ko-KR" dirty="0"/>
                  <a:t>Machine Learning </a:t>
                </a:r>
                <a:r>
                  <a:rPr lang="ko-KR" altLang="en-US" dirty="0"/>
                  <a:t>방법들도 가장 먼저 가설을 설정한 후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데이터 </a:t>
                </a:r>
                <a:r>
                  <a:rPr lang="en-US" altLang="ko-KR" dirty="0"/>
                  <a:t>(=</a:t>
                </a:r>
                <a:r>
                  <a:rPr lang="ko-KR" altLang="en-US" dirty="0"/>
                  <a:t>새로운 관찰 결과</a:t>
                </a:r>
                <a:r>
                  <a:rPr lang="en-US" altLang="ko-KR" dirty="0"/>
                  <a:t>)</a:t>
                </a:r>
                <a:r>
                  <a:rPr lang="ko-KR" altLang="en-US" dirty="0"/>
                  <a:t>를 통해 처음 설정한 가설을 업데이트하기 때문에 현재까지도 매우 유용하게 사용되는 정리</a:t>
                </a:r>
                <a:endParaRPr lang="en-US" altLang="ko-KR" dirty="0"/>
              </a:p>
              <a:p>
                <a:endParaRPr lang="en-US" altLang="ko-KR" dirty="0"/>
              </a:p>
              <a:p>
                <a:r>
                  <a:rPr lang="en-US" altLang="ko-KR" dirty="0"/>
                  <a:t> </a:t>
                </a:r>
                <a:r>
                  <a:rPr lang="ko-KR" altLang="en-US" dirty="0"/>
                  <a:t>용어 정리</a:t>
                </a:r>
                <a:endParaRPr lang="en-US" altLang="ko-KR" dirty="0"/>
              </a:p>
              <a:p>
                <a:pPr lvl="1"/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n-US" altLang="ko-KR" dirty="0"/>
                  <a:t>A</a:t>
                </a:r>
                <a:r>
                  <a:rPr lang="ko-KR" altLang="en-US" dirty="0"/>
                  <a:t>의 사후확률 </a:t>
                </a:r>
                <a:r>
                  <a:rPr lang="en-US" altLang="ko-KR" dirty="0"/>
                  <a:t>(</a:t>
                </a:r>
                <a:r>
                  <a:rPr lang="en-US" altLang="ko-KR" dirty="0">
                    <a:solidFill>
                      <a:schemeClr val="bg1"/>
                    </a:solidFill>
                  </a:rPr>
                  <a:t>Posterior Probability</a:t>
                </a:r>
                <a:r>
                  <a:rPr lang="en-US" altLang="ko-KR" dirty="0"/>
                  <a:t>)</a:t>
                </a:r>
              </a:p>
              <a:p>
                <a:pPr lvl="1"/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ko-KR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ko-KR" altLang="en-US" dirty="0"/>
                  <a:t>우도 </a:t>
                </a:r>
                <a:r>
                  <a:rPr lang="en-US" altLang="ko-KR" dirty="0"/>
                  <a:t>(</a:t>
                </a:r>
                <a:r>
                  <a:rPr lang="en-US" altLang="ko-KR" dirty="0">
                    <a:solidFill>
                      <a:schemeClr val="bg1"/>
                    </a:solidFill>
                  </a:rPr>
                  <a:t>Likelihood Probability</a:t>
                </a:r>
                <a:r>
                  <a:rPr lang="en-US" altLang="ko-KR" dirty="0"/>
                  <a:t>)</a:t>
                </a:r>
              </a:p>
              <a:p>
                <a:pPr lvl="1"/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),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ko-KR" dirty="0"/>
                  <a:t> A </a:t>
                </a:r>
                <a:r>
                  <a:rPr lang="ko-KR" altLang="en-US" dirty="0"/>
                  <a:t>혹은 </a:t>
                </a:r>
                <a:r>
                  <a:rPr lang="en-US" altLang="ko-KR" dirty="0"/>
                  <a:t>B</a:t>
                </a:r>
                <a:r>
                  <a:rPr lang="ko-KR" altLang="en-US" dirty="0"/>
                  <a:t>의 사전 확률 </a:t>
                </a:r>
                <a:r>
                  <a:rPr lang="en-US" altLang="ko-KR" dirty="0"/>
                  <a:t>(</a:t>
                </a:r>
                <a:r>
                  <a:rPr lang="en-US" altLang="ko-KR" dirty="0">
                    <a:solidFill>
                      <a:schemeClr val="bg1"/>
                    </a:solidFill>
                  </a:rPr>
                  <a:t>Prior Probability</a:t>
                </a:r>
                <a:r>
                  <a:rPr lang="en-US" altLang="ko-KR" dirty="0"/>
                  <a:t>) </a:t>
                </a:r>
              </a:p>
              <a:p>
                <a:endParaRPr lang="ko-KR" altLang="en-US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2575C82-29AA-4CB9-9DEF-2F8D91B584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BB46F4-8FD0-437A-B902-0D15897BF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6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5DE42BA5-F047-4DED-B9F6-128C03F54CD6}"/>
                  </a:ext>
                </a:extLst>
              </p:cNvPr>
              <p:cNvSpPr/>
              <p:nvPr/>
            </p:nvSpPr>
            <p:spPr>
              <a:xfrm>
                <a:off x="3923928" y="405420"/>
                <a:ext cx="2466829" cy="6790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5DE42BA5-F047-4DED-B9F6-128C03F54C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928" y="405420"/>
                <a:ext cx="2466829" cy="6790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45430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2EDEC-A108-8814-BFC2-25ACA7DFF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Total Probability </a:t>
            </a:r>
            <a:r>
              <a:rPr lang="en-US" altLang="ko-KR" dirty="0"/>
              <a:t>Theorem </a:t>
            </a:r>
            <a:r>
              <a:rPr lang="en-KR" dirty="0"/>
              <a:t>Example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89EE7B35-DBB1-4A74-9220-1A0EB5A5DC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69118"/>
          <a:stretch/>
        </p:blipFill>
        <p:spPr>
          <a:xfrm>
            <a:off x="376244" y="1149840"/>
            <a:ext cx="8391512" cy="136815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51BA34-ABE4-AB62-DEFE-3C5062040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090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CDA865-2ED0-4231-85D5-AE45B8609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Bayes’</a:t>
            </a:r>
            <a:r>
              <a:rPr lang="ko-KR" altLang="en-US" dirty="0"/>
              <a:t> </a:t>
            </a:r>
            <a:r>
              <a:rPr lang="en-US" altLang="ko-KR" dirty="0"/>
              <a:t>Theorem </a:t>
            </a:r>
            <a:r>
              <a:rPr lang="en-KR" altLang="ko-KR" dirty="0"/>
              <a:t>Example</a:t>
            </a:r>
            <a:endParaRPr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863592F2-E794-4CCC-BEE0-A180FF3964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33150"/>
          <a:stretch/>
        </p:blipFill>
        <p:spPr>
          <a:xfrm>
            <a:off x="628650" y="1268761"/>
            <a:ext cx="7886700" cy="1872208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5797D9-CF86-42DD-ACBC-6C1928EB5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683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66B107-C03D-476B-9BDE-D78767F9D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Bayes’</a:t>
            </a:r>
            <a:r>
              <a:rPr lang="ko-KR" altLang="en-US" dirty="0"/>
              <a:t> </a:t>
            </a:r>
            <a:r>
              <a:rPr lang="en-US" altLang="ko-KR" dirty="0"/>
              <a:t>Theorem </a:t>
            </a:r>
            <a:r>
              <a:rPr lang="en-KR" altLang="ko-KR" dirty="0"/>
              <a:t>Example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154631-7A72-4032-87DB-3C140C069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43027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0F2D14-AE0C-4B85-9734-2B6A670F7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Types of Random Variables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A8C492-8863-4CB7-8465-F68190680F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0"/>
            <a:ext cx="7886700" cy="5589240"/>
          </a:xfrm>
        </p:spPr>
        <p:txBody>
          <a:bodyPr>
            <a:normAutofit/>
          </a:bodyPr>
          <a:lstStyle/>
          <a:p>
            <a:r>
              <a:rPr lang="en-US" altLang="ko-KR" b="1" dirty="0"/>
              <a:t> Discrete Random Variable (</a:t>
            </a:r>
            <a:r>
              <a:rPr lang="ko-KR" altLang="en-US" b="1" dirty="0"/>
              <a:t>이산확률변수</a:t>
            </a:r>
            <a:r>
              <a:rPr lang="en-US" altLang="ko-KR" b="1" dirty="0"/>
              <a:t>)</a:t>
            </a:r>
          </a:p>
          <a:p>
            <a:pPr lvl="1"/>
            <a:r>
              <a:rPr lang="en-US" altLang="ko-KR" dirty="0"/>
              <a:t> Probability Mass Function (PMF) </a:t>
            </a:r>
          </a:p>
          <a:p>
            <a:pPr lvl="1"/>
            <a:r>
              <a:rPr lang="en-US" altLang="ko-KR" dirty="0"/>
              <a:t> Cumulative Distribution Function (CDF)</a:t>
            </a:r>
          </a:p>
          <a:p>
            <a:pPr lvl="1"/>
            <a:r>
              <a:rPr lang="en-US" altLang="ko-KR" dirty="0"/>
              <a:t> Example Distributions: Bernoulli, Poisson, Geometric, Negative, …</a:t>
            </a:r>
          </a:p>
          <a:p>
            <a:pPr marL="457200" lvl="1" indent="0">
              <a:buNone/>
            </a:pPr>
            <a:endParaRPr lang="en-US" altLang="ko-KR" sz="100" dirty="0"/>
          </a:p>
          <a:p>
            <a:r>
              <a:rPr lang="en-US" altLang="ko-KR" b="1" dirty="0"/>
              <a:t> Continuous Random Variable (</a:t>
            </a:r>
            <a:r>
              <a:rPr lang="ko-KR" altLang="en-US" b="1" dirty="0"/>
              <a:t>연속확률변수</a:t>
            </a:r>
            <a:r>
              <a:rPr lang="en-US" altLang="ko-KR" b="1" dirty="0"/>
              <a:t>)</a:t>
            </a:r>
          </a:p>
          <a:p>
            <a:pPr lvl="1"/>
            <a:r>
              <a:rPr lang="en-US" altLang="ko-KR" dirty="0"/>
              <a:t> Probability Density Function (PDF) 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 Cumulative Distribution Function (CDF)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 Example Distributions: </a:t>
            </a:r>
            <a:br>
              <a:rPr lang="en-US" altLang="ko-KR" dirty="0"/>
            </a:br>
            <a:r>
              <a:rPr lang="en-US" altLang="ko-KR" dirty="0"/>
              <a:t>Uniform, Normal, Log-normal, Generalized Extreme Value (GEV)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526276-8338-451A-A67D-2E9DD12F9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74571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1CDAB7-DDC0-4885-AC3F-25200214A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Types of Random Variables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4FC08C-D506-4665-A320-F8DED781B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11</a:t>
            </a:fld>
            <a:endParaRPr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D75FC8E9-B85F-4C21-9853-915C45B5DA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904" y="1203759"/>
            <a:ext cx="5163630" cy="4450481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686AE53E-92BE-4A44-A501-F71481178390}"/>
              </a:ext>
            </a:extLst>
          </p:cNvPr>
          <p:cNvSpPr/>
          <p:nvPr/>
        </p:nvSpPr>
        <p:spPr>
          <a:xfrm>
            <a:off x="5392534" y="1407186"/>
            <a:ext cx="3406953" cy="51901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56ED6E-9609-4E14-860B-40692E89624F}"/>
              </a:ext>
            </a:extLst>
          </p:cNvPr>
          <p:cNvSpPr txBox="1"/>
          <p:nvPr/>
        </p:nvSpPr>
        <p:spPr>
          <a:xfrm>
            <a:off x="5508104" y="1477703"/>
            <a:ext cx="13706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*Discrete RV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9200DF-B06B-4F09-954B-218752161A2E}"/>
              </a:ext>
            </a:extLst>
          </p:cNvPr>
          <p:cNvSpPr txBox="1"/>
          <p:nvPr/>
        </p:nvSpPr>
        <p:spPr>
          <a:xfrm>
            <a:off x="5508104" y="4002269"/>
            <a:ext cx="1678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*Continuous RV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895395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469E95-5688-4F1D-996B-2A6E435A9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AB40576-EF15-495C-BD98-4E8CFEB92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735" y="74601"/>
            <a:ext cx="6894267" cy="370919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F0382C8-86CB-42AB-9D72-06EEF66EFC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401" y="3691686"/>
            <a:ext cx="6724934" cy="216907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C2395B0-5122-4F4D-980B-C9C8F66844A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5260"/>
          <a:stretch/>
        </p:blipFill>
        <p:spPr>
          <a:xfrm>
            <a:off x="671246" y="5793668"/>
            <a:ext cx="6894267" cy="989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1094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EF11C5-3D21-42DB-9F98-995118688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Bernoulli Processes &amp; Binomial Distribution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AFE2D5-8327-482F-B48D-62C9E87E1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pPr lvl="1"/>
            <a:r>
              <a:rPr lang="en-US" altLang="ko-KR" dirty="0"/>
              <a:t> Only two possible outcomes are possible: success or failure</a:t>
            </a:r>
          </a:p>
          <a:p>
            <a:pPr lvl="1"/>
            <a:r>
              <a:rPr lang="en-US" altLang="ko-KR" dirty="0"/>
              <a:t> The probability of occurrence of a success (or a failure) is constant</a:t>
            </a:r>
          </a:p>
          <a:p>
            <a:pPr lvl="1"/>
            <a:r>
              <a:rPr lang="en-US" altLang="ko-KR" dirty="0"/>
              <a:t> The trials are independent (i.e., the outcome of a trial does not depend on the outcome of another trial)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 Extension to the Binomial Distribution (</a:t>
            </a:r>
            <a:r>
              <a:rPr lang="ko-KR" altLang="en-US" dirty="0"/>
              <a:t>이항분포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 n times of Bernoulli trials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1543DA-F9BB-4E1D-B80E-036F7D197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13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C4C1F10-0DF3-4FD8-B004-300ACE5FA6C3}"/>
                  </a:ext>
                </a:extLst>
              </p:cNvPr>
              <p:cNvSpPr txBox="1"/>
              <p:nvPr/>
            </p:nvSpPr>
            <p:spPr>
              <a:xfrm>
                <a:off x="2702385" y="1268760"/>
                <a:ext cx="373922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</m:fun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sSup>
                        <m:sSup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C4C1F10-0DF3-4FD8-B004-300ACE5FA6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2385" y="1268760"/>
                <a:ext cx="3739229" cy="276999"/>
              </a:xfrm>
              <a:prstGeom prst="rect">
                <a:avLst/>
              </a:prstGeom>
              <a:blipFill>
                <a:blip r:embed="rId2"/>
                <a:stretch>
                  <a:fillRect l="-1140" t="-4348" b="-326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8F44B37A-4FDA-4127-9CB2-9635CDEB42BC}"/>
                  </a:ext>
                </a:extLst>
              </p:cNvPr>
              <p:cNvSpPr/>
              <p:nvPr/>
            </p:nvSpPr>
            <p:spPr>
              <a:xfrm>
                <a:off x="1475656" y="3538195"/>
                <a:ext cx="94442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8F44B37A-4FDA-4127-9CB2-9635CDEB42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5656" y="3538195"/>
                <a:ext cx="94442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36EA28F9-95EA-4DFE-ACD7-77033C12751C}"/>
                  </a:ext>
                </a:extLst>
              </p:cNvPr>
              <p:cNvSpPr/>
              <p:nvPr/>
            </p:nvSpPr>
            <p:spPr>
              <a:xfrm>
                <a:off x="4878868" y="3538195"/>
                <a:ext cx="117769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36EA28F9-95EA-4DFE-ACD7-77033C1275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8868" y="3538195"/>
                <a:ext cx="117769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57AD405-43CA-4A5F-B541-1D95A5973E31}"/>
                  </a:ext>
                </a:extLst>
              </p:cNvPr>
              <p:cNvSpPr txBox="1"/>
              <p:nvPr/>
            </p:nvSpPr>
            <p:spPr>
              <a:xfrm>
                <a:off x="4355976" y="4627707"/>
                <a:ext cx="4458272" cy="4145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</m:fun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sSup>
                        <m:sSup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57AD405-43CA-4A5F-B541-1D95A5973E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5976" y="4627707"/>
                <a:ext cx="4458272" cy="414537"/>
              </a:xfrm>
              <a:prstGeom prst="rect">
                <a:avLst/>
              </a:prstGeom>
              <a:blipFill>
                <a:blip r:embed="rId5"/>
                <a:stretch>
                  <a:fillRect t="-1471" b="-1323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6BB96BF7-CC09-467F-9E2A-C825E54F9512}"/>
                  </a:ext>
                </a:extLst>
              </p:cNvPr>
              <p:cNvSpPr/>
              <p:nvPr/>
            </p:nvSpPr>
            <p:spPr>
              <a:xfrm>
                <a:off x="1483085" y="5301208"/>
                <a:ext cx="94442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6BB96BF7-CC09-467F-9E2A-C825E54F95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3085" y="5301208"/>
                <a:ext cx="94442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C42EBE11-4ABF-4DE3-B4AA-01EE49481374}"/>
                  </a:ext>
                </a:extLst>
              </p:cNvPr>
              <p:cNvSpPr/>
              <p:nvPr/>
            </p:nvSpPr>
            <p:spPr>
              <a:xfrm>
                <a:off x="4886297" y="5301208"/>
                <a:ext cx="117769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C42EBE11-4ABF-4DE3-B4AA-01EE494813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6297" y="5301208"/>
                <a:ext cx="117769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91036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820B91-632F-4112-9970-5A2F19DDB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29CC5B-F303-4A7E-9F77-CA902D1181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 Example 4.4</a:t>
            </a:r>
            <a:br>
              <a:rPr lang="en-US" altLang="ko-KR" dirty="0"/>
            </a:br>
            <a:r>
              <a:rPr lang="en-US" altLang="ko-KR" dirty="0"/>
              <a:t>On the average, how many times will a 10-year flood occur in a 40-year flood? What is the probability that exactly this number of 10-year floods will occur in a 40-year period?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B93AA5-0455-4744-B03F-79425711E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27213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53938E-48C0-4BC2-BE5D-CE05B194D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BDA771-9316-4F64-B184-4A2D753208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 Example 4.7</a:t>
            </a:r>
            <a:br>
              <a:rPr lang="en-US" altLang="ko-KR" b="1" dirty="0"/>
            </a:br>
            <a:r>
              <a:rPr lang="en-US" altLang="ko-KR" dirty="0"/>
              <a:t>In order to be 90% sure that a design storm is not exceeded in a 10-year period, what should be the return period of the design storm?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39DF03-A297-4C1C-92E7-583AD72D0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22238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658261-DDDB-4A13-A236-7B7F60B90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Poisson Process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333D315-8CB1-4B03-9B12-55051B4051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 Poisson Distribution</a:t>
                </a:r>
              </a:p>
              <a:p>
                <a:pPr lvl="1"/>
                <a:r>
                  <a:rPr lang="en-US" altLang="ko-KR" dirty="0"/>
                  <a:t> </a:t>
                </a:r>
                <a:r>
                  <a:rPr lang="ko-KR" altLang="en-US" dirty="0"/>
                  <a:t>베르누이 과정에서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en-US" altLang="ko-KR" dirty="0">
                    <a:solidFill>
                      <a:schemeClr val="bg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ko-KR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  <m:r>
                      <a:rPr lang="en-US" altLang="ko-KR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dirty="0"/>
                  <a:t>이 성립할 경우</a:t>
                </a:r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ko-K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𝑛𝑝</m:t>
                    </m:r>
                  </m:oMath>
                </a14:m>
                <a:r>
                  <a:rPr lang="ko-KR" altLang="en-US" dirty="0">
                    <a:solidFill>
                      <a:schemeClr val="bg1"/>
                    </a:solidFill>
                  </a:rPr>
                  <a:t> </a:t>
                </a:r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r>
                  <a:rPr lang="en-US" altLang="ko-KR" dirty="0"/>
                  <a:t> Assignment! (Due Before the Class of 9/20)</a:t>
                </a:r>
                <a:br>
                  <a:rPr lang="en-US" altLang="ko-KR" dirty="0"/>
                </a:br>
                <a:r>
                  <a:rPr lang="ko-KR" altLang="en-US" dirty="0"/>
                  <a:t>이항분포의 확률 밀도 함수 </a:t>
                </a:r>
                <a:r>
                  <a:rPr lang="en-US" altLang="ko-KR" dirty="0"/>
                  <a:t>(PMF)</a:t>
                </a:r>
                <a:r>
                  <a:rPr lang="ko-KR" altLang="en-US" dirty="0"/>
                  <a:t>로부터 </a:t>
                </a:r>
                <a:r>
                  <a:rPr lang="ko-KR" altLang="en-US" dirty="0" err="1"/>
                  <a:t>포아송</a:t>
                </a:r>
                <a:r>
                  <a:rPr lang="ko-KR" altLang="en-US" dirty="0"/>
                  <a:t> 분포의 확률분포함수 </a:t>
                </a:r>
                <a:r>
                  <a:rPr lang="en-US" altLang="ko-KR" dirty="0"/>
                  <a:t>(PMF)</a:t>
                </a:r>
                <a:r>
                  <a:rPr lang="ko-KR" altLang="en-US" dirty="0"/>
                  <a:t>를 유도하라</a:t>
                </a:r>
                <a:r>
                  <a:rPr lang="en-US" altLang="ko-KR" dirty="0"/>
                  <a:t>. </a:t>
                </a:r>
                <a:endParaRPr lang="ko-KR" altLang="en-US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333D315-8CB1-4B03-9B12-55051B4051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9C30FA-7720-4BB9-BA4C-D2595A6B1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16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EACB60B-8AC5-4489-A517-BA15243D565E}"/>
                  </a:ext>
                </a:extLst>
              </p:cNvPr>
              <p:cNvSpPr txBox="1"/>
              <p:nvPr/>
            </p:nvSpPr>
            <p:spPr>
              <a:xfrm>
                <a:off x="3062644" y="2204864"/>
                <a:ext cx="3018712" cy="5695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</m:e>
                      </m:fun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sup>
                          </m:sSup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EACB60B-8AC5-4489-A517-BA15243D56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2644" y="2204864"/>
                <a:ext cx="3018712" cy="5695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5127F7EB-0672-4E16-956F-367FE321DF8F}"/>
                  </a:ext>
                </a:extLst>
              </p:cNvPr>
              <p:cNvSpPr/>
              <p:nvPr/>
            </p:nvSpPr>
            <p:spPr>
              <a:xfrm>
                <a:off x="1907704" y="3407306"/>
                <a:ext cx="70589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5127F7EB-0672-4E16-956F-367FE321DF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7704" y="3407306"/>
                <a:ext cx="705899" cy="369332"/>
              </a:xfrm>
              <a:prstGeom prst="rect">
                <a:avLst/>
              </a:prstGeom>
              <a:blipFill>
                <a:blip r:embed="rId4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198B1B35-B5DF-4754-89D5-7B63CE32F066}"/>
                  </a:ext>
                </a:extLst>
              </p:cNvPr>
              <p:cNvSpPr/>
              <p:nvPr/>
            </p:nvSpPr>
            <p:spPr>
              <a:xfrm>
                <a:off x="5310916" y="3407306"/>
                <a:ext cx="93916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198B1B35-B5DF-4754-89D5-7B63CE32F0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0916" y="3407306"/>
                <a:ext cx="939168" cy="369332"/>
              </a:xfrm>
              <a:prstGeom prst="rect">
                <a:avLst/>
              </a:prstGeom>
              <a:blipFill>
                <a:blip r:embed="rId5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73125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1A5EBD-CB14-4077-8292-9689E186A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Geometric &amp; Negative Binomial Distributions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F91508-9E57-4C1C-96BE-3A01B73AB7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Geometric Distribution (</a:t>
            </a:r>
            <a:r>
              <a:rPr lang="ko-KR" altLang="en-US" dirty="0"/>
              <a:t>기하 분포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베르누이 분포에서 </a:t>
            </a:r>
            <a:endParaRPr lang="en-US" altLang="ko-KR" dirty="0"/>
          </a:p>
          <a:p>
            <a:pPr lvl="2"/>
            <a:r>
              <a:rPr lang="ko-KR" altLang="en-US" dirty="0"/>
              <a:t>처음 성공까지 시도한 횟수 </a:t>
            </a:r>
            <a:r>
              <a:rPr lang="en-US" altLang="ko-KR" dirty="0"/>
              <a:t>X</a:t>
            </a:r>
            <a:r>
              <a:rPr lang="ko-KR" altLang="en-US" dirty="0"/>
              <a:t>의 분포</a:t>
            </a:r>
            <a:endParaRPr lang="en-US" altLang="ko-KR" dirty="0"/>
          </a:p>
          <a:p>
            <a:pPr lvl="2"/>
            <a:r>
              <a:rPr lang="ko-KR" altLang="en-US" dirty="0"/>
              <a:t>처음 성공까지 실패한 횟수 </a:t>
            </a:r>
            <a:r>
              <a:rPr lang="en-US" altLang="ko-KR" dirty="0"/>
              <a:t>Y=X-1</a:t>
            </a:r>
            <a:r>
              <a:rPr lang="ko-KR" altLang="en-US" dirty="0"/>
              <a:t>의 분포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r>
              <a:rPr lang="en-US" altLang="ko-KR" dirty="0"/>
              <a:t> Negative Binomial Distribution (</a:t>
            </a:r>
            <a:r>
              <a:rPr lang="ko-KR" altLang="en-US" dirty="0" err="1"/>
              <a:t>음이항분포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기하분포의 일반식으로</a:t>
            </a:r>
            <a:r>
              <a:rPr lang="en-US" altLang="ko-KR" dirty="0"/>
              <a:t>, r</a:t>
            </a:r>
            <a:r>
              <a:rPr lang="ko-KR" altLang="en-US" dirty="0"/>
              <a:t>번째 성공까지 시도한 횟수 </a:t>
            </a:r>
            <a:r>
              <a:rPr lang="en-US" altLang="ko-KR" dirty="0"/>
              <a:t>X</a:t>
            </a:r>
            <a:r>
              <a:rPr lang="ko-KR" altLang="en-US" dirty="0"/>
              <a:t>의 분포</a:t>
            </a:r>
            <a:br>
              <a:rPr lang="en-US" altLang="ko-KR" dirty="0"/>
            </a:br>
            <a:r>
              <a:rPr lang="en-US" altLang="ko-KR" dirty="0"/>
              <a:t>(probability of the </a:t>
            </a:r>
            <a:r>
              <a:rPr lang="en-US" altLang="ko-KR" dirty="0" err="1"/>
              <a:t>rth</a:t>
            </a:r>
            <a:r>
              <a:rPr lang="en-US" altLang="ko-KR" dirty="0"/>
              <a:t> success occurring at the </a:t>
            </a:r>
            <a:r>
              <a:rPr lang="en-US" altLang="ko-KR" dirty="0" err="1"/>
              <a:t>xth</a:t>
            </a:r>
            <a:r>
              <a:rPr lang="en-US" altLang="ko-KR" dirty="0"/>
              <a:t> trial)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743319-0297-4D9E-8725-DCC316EB0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17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EDA4B11-B823-4CB9-AFF2-3E371EFBE2DB}"/>
                  </a:ext>
                </a:extLst>
              </p:cNvPr>
              <p:cNvSpPr txBox="1"/>
              <p:nvPr/>
            </p:nvSpPr>
            <p:spPr>
              <a:xfrm>
                <a:off x="5796136" y="2132856"/>
                <a:ext cx="212096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𝑝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EDA4B11-B823-4CB9-AFF2-3E371EFBE2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6136" y="2132856"/>
                <a:ext cx="2120965" cy="276999"/>
              </a:xfrm>
              <a:prstGeom prst="rect">
                <a:avLst/>
              </a:prstGeom>
              <a:blipFill>
                <a:blip r:embed="rId2"/>
                <a:stretch>
                  <a:fillRect l="-2299" t="-4444" r="-575" b="-355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FE5D01A-0533-4313-AD6F-B367C1C3EBD9}"/>
                  </a:ext>
                </a:extLst>
              </p:cNvPr>
              <p:cNvSpPr txBox="1"/>
              <p:nvPr/>
            </p:nvSpPr>
            <p:spPr>
              <a:xfrm>
                <a:off x="5809433" y="2553870"/>
                <a:ext cx="190449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𝑝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p>
                      </m:sSup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FE5D01A-0533-4313-AD6F-B367C1C3EB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9433" y="2553870"/>
                <a:ext cx="1904496" cy="276999"/>
              </a:xfrm>
              <a:prstGeom prst="rect">
                <a:avLst/>
              </a:prstGeom>
              <a:blipFill>
                <a:blip r:embed="rId3"/>
                <a:stretch>
                  <a:fillRect l="-2564" t="-2222" r="-962" b="-355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E486E2FC-FDB0-4BB1-BB06-C960F5AD3443}"/>
                  </a:ext>
                </a:extLst>
              </p:cNvPr>
              <p:cNvSpPr/>
              <p:nvPr/>
            </p:nvSpPr>
            <p:spPr>
              <a:xfrm>
                <a:off x="1907704" y="3089285"/>
                <a:ext cx="94442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E486E2FC-FDB0-4BB1-BB06-C960F5AD34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7704" y="3089285"/>
                <a:ext cx="94442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5D483CAC-503D-4082-A800-C7E3A40C2D57}"/>
                  </a:ext>
                </a:extLst>
              </p:cNvPr>
              <p:cNvSpPr/>
              <p:nvPr/>
            </p:nvSpPr>
            <p:spPr>
              <a:xfrm>
                <a:off x="5310916" y="3089285"/>
                <a:ext cx="117769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5D483CAC-503D-4082-A800-C7E3A40C2D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0916" y="3089285"/>
                <a:ext cx="117769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4429361-14FF-41EF-9B53-27CEB5AB0C0C}"/>
                  </a:ext>
                </a:extLst>
              </p:cNvPr>
              <p:cNvSpPr txBox="1"/>
              <p:nvPr/>
            </p:nvSpPr>
            <p:spPr>
              <a:xfrm>
                <a:off x="2087918" y="5071873"/>
                <a:ext cx="4732514" cy="4601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</m:fun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p>
                      <m:sSup>
                        <m:sSup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p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4429361-14FF-41EF-9B53-27CEB5AB0C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7918" y="5071873"/>
                <a:ext cx="4732514" cy="46012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E03A079F-E04E-4E1C-8B6E-080A4B22A7BC}"/>
                  </a:ext>
                </a:extLst>
              </p:cNvPr>
              <p:cNvSpPr/>
              <p:nvPr/>
            </p:nvSpPr>
            <p:spPr>
              <a:xfrm>
                <a:off x="7236296" y="5117270"/>
                <a:ext cx="164769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+1, …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E03A079F-E04E-4E1C-8B6E-080A4B22A7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5117270"/>
                <a:ext cx="164769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125A1BA5-2134-40F3-8515-733228A691FC}"/>
                  </a:ext>
                </a:extLst>
              </p:cNvPr>
              <p:cNvSpPr/>
              <p:nvPr/>
            </p:nvSpPr>
            <p:spPr>
              <a:xfrm>
                <a:off x="2062111" y="5710062"/>
                <a:ext cx="94442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125A1BA5-2134-40F3-8515-733228A691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2111" y="5710062"/>
                <a:ext cx="944425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44A6D157-E26B-4286-86D8-E630E9D7DD00}"/>
                  </a:ext>
                </a:extLst>
              </p:cNvPr>
              <p:cNvSpPr/>
              <p:nvPr/>
            </p:nvSpPr>
            <p:spPr>
              <a:xfrm>
                <a:off x="5465323" y="5710062"/>
                <a:ext cx="117769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44A6D157-E26B-4286-86D8-E630E9D7DD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5323" y="5710062"/>
                <a:ext cx="1177694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43386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CCC7E9-4D4F-42F4-8FF2-1EDF12191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Summary of Discrete Distributions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D92804AA-B2FC-49D6-8B66-64BEA20CFF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5400000">
            <a:off x="2267744" y="-430532"/>
            <a:ext cx="4608512" cy="8151112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B263B0D-D56D-4633-9614-A05B0AFC6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06750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6CB6D8-F77A-4D69-A373-4AAF94E62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 Problem: Poisson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F08F512C-69D9-4A6C-A918-0C65A17B15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68217"/>
          <a:stretch/>
        </p:blipFill>
        <p:spPr>
          <a:xfrm>
            <a:off x="1328737" y="1340769"/>
            <a:ext cx="6486525" cy="1008112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47EDF7-85BE-4FF2-AAB4-09C9A10A4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3472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A829A9-F3D5-4B0D-A99F-72D588EB5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800" dirty="0"/>
              <a:t>Part II:</a:t>
            </a:r>
            <a:br>
              <a:rPr lang="en-US" altLang="ko-KR" sz="4800" dirty="0"/>
            </a:br>
            <a:r>
              <a:rPr lang="en-US" altLang="ko-KR" sz="4800" dirty="0"/>
              <a:t>Continuous Distributions</a:t>
            </a:r>
            <a:endParaRPr lang="ko-KR" altLang="en-US" sz="48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7DEB8B-86B5-4992-A51F-9161510FD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36196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161218-72F3-43AA-87D6-B54D3640E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Uniform &amp; Normal Distributions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1665C8-88DE-46D6-B7CA-259A0FE87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21</a:t>
            </a:fld>
            <a:endParaRPr lang="ko-KR" altLang="en-US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7297BF16-FBEE-4165-8547-8A7235D6FB77}"/>
              </a:ext>
            </a:extLst>
          </p:cNvPr>
          <p:cNvGrpSpPr/>
          <p:nvPr/>
        </p:nvGrpSpPr>
        <p:grpSpPr>
          <a:xfrm>
            <a:off x="827584" y="1149085"/>
            <a:ext cx="7848600" cy="5181600"/>
            <a:chOff x="1066800" y="990600"/>
            <a:chExt cx="7848600" cy="5181600"/>
          </a:xfrm>
        </p:grpSpPr>
        <p:pic>
          <p:nvPicPr>
            <p:cNvPr id="12" name="Picture 3">
              <a:extLst>
                <a:ext uri="{FF2B5EF4-FFF2-40B4-BE49-F238E27FC236}">
                  <a16:creationId xmlns:a16="http://schemas.microsoft.com/office/drawing/2014/main" id="{DA2B553D-C742-43D0-80D5-E861C99B3D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455" t="16969" r="6363" b="6667"/>
            <a:stretch>
              <a:fillRect/>
            </a:stretch>
          </p:blipFill>
          <p:spPr bwMode="auto">
            <a:xfrm>
              <a:off x="1066800" y="1020763"/>
              <a:ext cx="7696200" cy="49990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" name="Rectangle 4">
              <a:extLst>
                <a:ext uri="{FF2B5EF4-FFF2-40B4-BE49-F238E27FC236}">
                  <a16:creationId xmlns:a16="http://schemas.microsoft.com/office/drawing/2014/main" id="{E9306842-D354-4F0A-9E24-B4EC825331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01000" y="990600"/>
              <a:ext cx="83820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Rectangle 5">
              <a:extLst>
                <a:ext uri="{FF2B5EF4-FFF2-40B4-BE49-F238E27FC236}">
                  <a16:creationId xmlns:a16="http://schemas.microsoft.com/office/drawing/2014/main" id="{9089AF39-C46B-403B-B201-BFC3FF3DB7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5638800"/>
              <a:ext cx="129540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Rectangle 6">
              <a:extLst>
                <a:ext uri="{FF2B5EF4-FFF2-40B4-BE49-F238E27FC236}">
                  <a16:creationId xmlns:a16="http://schemas.microsoft.com/office/drawing/2014/main" id="{040355B3-E217-4E7C-90F8-868A2E8C5B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3800" y="5638800"/>
              <a:ext cx="236220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Rectangle 7">
              <a:extLst>
                <a:ext uri="{FF2B5EF4-FFF2-40B4-BE49-F238E27FC236}">
                  <a16:creationId xmlns:a16="http://schemas.microsoft.com/office/drawing/2014/main" id="{BB75258F-D505-44C4-8F69-13ACCF1236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43800" y="5715000"/>
              <a:ext cx="137160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979579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95DF17E-F67F-434C-B24B-08EF3F55B7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2674938"/>
                <a:ext cx="7886700" cy="3974885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dirty="0"/>
                  <a:t> Most commonly used distribution</a:t>
                </a:r>
              </a:p>
              <a:p>
                <a:r>
                  <a:rPr lang="en-US" altLang="ko-KR" dirty="0"/>
                  <a:t> Many variables in nature are normally distributed</a:t>
                </a:r>
              </a:p>
              <a:p>
                <a:r>
                  <a:rPr lang="en-US" altLang="ko-KR" dirty="0"/>
                  <a:t> Fully described by two parameters: </a:t>
                </a:r>
                <a:br>
                  <a:rPr lang="en-US" altLang="ko-KR" dirty="0"/>
                </a:br>
                <a:r>
                  <a:rPr lang="en-US" altLang="ko-KR" dirty="0"/>
                  <a:t>mean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altLang="ko-KR" dirty="0"/>
                  <a:t>) and standard deviation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altLang="ko-KR" dirty="0"/>
                  <a:t>)</a:t>
                </a:r>
              </a:p>
              <a:p>
                <a:r>
                  <a:rPr lang="en-US" altLang="ko-KR" dirty="0"/>
                  <a:t> The mean = the median</a:t>
                </a:r>
              </a:p>
              <a:p>
                <a:r>
                  <a:rPr lang="en-US" altLang="ko-KR" b="1" u="sng" dirty="0"/>
                  <a:t> </a:t>
                </a:r>
                <a:r>
                  <a:rPr lang="en-US" altLang="ko-KR" b="1" u="sng" dirty="0">
                    <a:solidFill>
                      <a:schemeClr val="bg1"/>
                    </a:solidFill>
                  </a:rPr>
                  <a:t>Central Limit Theorem (CLT)– </a:t>
                </a:r>
                <a:br>
                  <a:rPr lang="en-US" altLang="ko-KR" dirty="0"/>
                </a:br>
                <a:r>
                  <a:rPr lang="en-US" altLang="ko-KR" dirty="0"/>
                  <a:t>the sum of a large number of individual random components tends to be a normal distribution</a:t>
                </a:r>
                <a:endParaRPr lang="ko-KR" altLang="en-US" dirty="0"/>
              </a:p>
              <a:p>
                <a:endParaRPr lang="ko-KR" altLang="en-US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95DF17E-F67F-434C-B24B-08EF3F55B7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2674938"/>
                <a:ext cx="7886700" cy="3974885"/>
              </a:xfrm>
              <a:blipFill>
                <a:blip r:embed="rId2"/>
                <a:stretch>
                  <a:fillRect l="-696" t="-1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790636-8276-4CF3-A0C5-4C4C886F1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22</a:t>
            </a:fld>
            <a:endParaRPr lang="ko-KR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9FFE44-8217-4E9F-B1F0-862FBC450C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08177"/>
            <a:ext cx="3717925" cy="2309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8DABB0F-4C3C-4C1D-8D70-887B67691D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5936" y="474769"/>
            <a:ext cx="4809529" cy="1776627"/>
          </a:xfrm>
          <a:prstGeom prst="rect">
            <a:avLst/>
          </a:prstGeom>
        </p:spPr>
      </p:pic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7A63ED50-04D0-40F4-95A7-E4581E2B4916}"/>
              </a:ext>
            </a:extLst>
          </p:cNvPr>
          <p:cNvCxnSpPr>
            <a:cxnSpLocks/>
          </p:cNvCxnSpPr>
          <p:nvPr/>
        </p:nvCxnSpPr>
        <p:spPr>
          <a:xfrm flipV="1">
            <a:off x="7740352" y="2251396"/>
            <a:ext cx="0" cy="308783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03633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34EE3E-EB1E-42B4-9622-C935953D3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23</a:t>
            </a:fld>
            <a:endParaRPr lang="ko-KR" altLang="en-US"/>
          </a:p>
        </p:txBody>
      </p:sp>
      <p:pic>
        <p:nvPicPr>
          <p:cNvPr id="5" name="Content Placeholder 4" descr="https://miro.medium.com/max/1400/1*IZ2II2HYKeoMrdLU5jW6Dw.png">
            <a:extLst>
              <a:ext uri="{FF2B5EF4-FFF2-40B4-BE49-F238E27FC236}">
                <a16:creationId xmlns:a16="http://schemas.microsoft.com/office/drawing/2014/main" id="{25BC916B-EA71-418C-958C-6B87A7E9CBA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1340768"/>
            <a:ext cx="7886700" cy="394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82683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E094D5-65BA-473A-ACEC-380721982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Special Type of Normal Distribution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44C410-5FFD-41BC-BDA0-C7FD0FA6D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Standardized Normal Distribution (</a:t>
            </a:r>
            <a:r>
              <a:rPr lang="ko-KR" altLang="en-US" dirty="0"/>
              <a:t>표준정규분포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정규분포 중 평균이 </a:t>
            </a:r>
            <a:r>
              <a:rPr lang="en-US" altLang="ko-KR" dirty="0"/>
              <a:t>0, </a:t>
            </a:r>
            <a:r>
              <a:rPr lang="ko-KR" altLang="en-US" dirty="0"/>
              <a:t>표준편차가 </a:t>
            </a:r>
            <a:r>
              <a:rPr lang="en-US" altLang="ko-KR" dirty="0"/>
              <a:t>1</a:t>
            </a:r>
            <a:r>
              <a:rPr lang="ko-KR" altLang="en-US" dirty="0"/>
              <a:t>인 분포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확률변수의 표준화를 거침 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Lognormal Distribution (</a:t>
            </a:r>
            <a:r>
              <a:rPr lang="ko-KR" altLang="en-US" dirty="0"/>
              <a:t>대수정규분포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만약 확률변수 </a:t>
            </a:r>
            <a:r>
              <a:rPr lang="en-US" altLang="ko-KR" dirty="0"/>
              <a:t>X</a:t>
            </a:r>
            <a:r>
              <a:rPr lang="ko-KR" altLang="en-US" dirty="0"/>
              <a:t>와 </a:t>
            </a:r>
            <a:r>
              <a:rPr lang="en-US" altLang="ko-KR" dirty="0"/>
              <a:t>Y</a:t>
            </a:r>
            <a:r>
              <a:rPr lang="ko-KR" altLang="en-US" dirty="0"/>
              <a:t>에 대해서 </a:t>
            </a:r>
            <a:r>
              <a:rPr lang="en-US" altLang="ko-KR" dirty="0"/>
              <a:t>Y=ln(X) </a:t>
            </a:r>
            <a:r>
              <a:rPr lang="ko-KR" altLang="en-US" dirty="0"/>
              <a:t>가 성립하고</a:t>
            </a:r>
            <a:r>
              <a:rPr lang="en-US" altLang="ko-KR" dirty="0"/>
              <a:t>, </a:t>
            </a:r>
          </a:p>
          <a:p>
            <a:pPr lvl="1"/>
            <a:r>
              <a:rPr lang="en-US" altLang="ko-KR" dirty="0"/>
              <a:t> Y</a:t>
            </a:r>
            <a:r>
              <a:rPr lang="ko-KR" altLang="en-US" dirty="0"/>
              <a:t>가 정규분포를 따른다면 </a:t>
            </a:r>
            <a:endParaRPr lang="en-US" altLang="ko-KR" dirty="0"/>
          </a:p>
          <a:p>
            <a:pPr lvl="1"/>
            <a:r>
              <a:rPr lang="en-US" altLang="ko-KR" dirty="0"/>
              <a:t> X</a:t>
            </a:r>
            <a:r>
              <a:rPr lang="ko-KR" altLang="en-US" dirty="0"/>
              <a:t>는 대수정규분포를 </a:t>
            </a:r>
            <a:r>
              <a:rPr lang="ko-KR" altLang="en-US" dirty="0" err="1"/>
              <a:t>따른다고</a:t>
            </a:r>
            <a:r>
              <a:rPr lang="ko-KR" altLang="en-US" dirty="0"/>
              <a:t> 할 수 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190EBE-15E8-4A49-8691-59AAE0761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66003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A87B18-20DC-46BC-8509-C0CE18CC0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25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1E98634-EEEF-4175-8C80-A5E77E8C9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401" y="692696"/>
            <a:ext cx="6429375" cy="241935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A9C3E81-425F-4259-BAB4-370D553E7C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401" y="3291155"/>
            <a:ext cx="6429375" cy="303199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3CCDE32-1C71-48CE-85B3-D196AE5A978B}"/>
              </a:ext>
            </a:extLst>
          </p:cNvPr>
          <p:cNvSpPr txBox="1"/>
          <p:nvPr/>
        </p:nvSpPr>
        <p:spPr>
          <a:xfrm>
            <a:off x="2339752" y="304021"/>
            <a:ext cx="48919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/>
              <a:t>The Standardized Normal Distribution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4686942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64D733-615F-476C-B211-BA0B71162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Examples: Standardized Normal Distribution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61EB6E-453E-4D61-9263-C9D842879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26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3E38CB5-CC72-47C3-87C5-C51A1EB6737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8021"/>
          <a:stretch/>
        </p:blipFill>
        <p:spPr>
          <a:xfrm>
            <a:off x="274327" y="1124745"/>
            <a:ext cx="8595345" cy="1937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8069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645BC9-C04D-4F34-A38A-1E6DEB4B4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Exponential Distribution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EFCC8A-96EA-4CD6-AAF3-D149A1983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Exponential</a:t>
            </a:r>
            <a:r>
              <a:rPr lang="ko-KR" altLang="en-US" dirty="0"/>
              <a:t> </a:t>
            </a:r>
            <a:r>
              <a:rPr lang="en-US" altLang="ko-KR" dirty="0"/>
              <a:t>Distribution (</a:t>
            </a:r>
            <a:r>
              <a:rPr lang="ko-KR" altLang="en-US" dirty="0"/>
              <a:t>지수 분포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사건이 서로 독립적이고</a:t>
            </a:r>
            <a:r>
              <a:rPr lang="en-US" altLang="ko-KR" dirty="0"/>
              <a:t>, 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일정 시간동안 발생하는 사건의 횟수가 </a:t>
            </a:r>
            <a:r>
              <a:rPr lang="ko-KR" altLang="en-US" dirty="0" err="1"/>
              <a:t>포아송</a:t>
            </a:r>
            <a:r>
              <a:rPr lang="ko-KR" altLang="en-US" dirty="0"/>
              <a:t> 분포를 따를 때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다음 사건이 일어날 때까지의 대기 시간</a:t>
            </a:r>
            <a:endParaRPr lang="en-US" altLang="ko-KR" dirty="0"/>
          </a:p>
          <a:p>
            <a:pPr lvl="1"/>
            <a:r>
              <a:rPr lang="en-US" altLang="ko-KR" dirty="0"/>
              <a:t> (=</a:t>
            </a:r>
            <a:r>
              <a:rPr lang="ko-KR" altLang="en-US" dirty="0"/>
              <a:t>기하 분포</a:t>
            </a:r>
            <a:r>
              <a:rPr lang="en-US" altLang="ko-KR" dirty="0"/>
              <a:t>, </a:t>
            </a:r>
            <a:r>
              <a:rPr lang="ko-KR" altLang="en-US" dirty="0"/>
              <a:t>그러나 연속적인 확률변수에 대해 적용이 가능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FF3DA4-F952-45F6-8503-2CDAA0E33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27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6997EFF-FEC9-4BEA-BD87-652C23CAC88A}"/>
                  </a:ext>
                </a:extLst>
              </p:cNvPr>
              <p:cNvSpPr txBox="1"/>
              <p:nvPr/>
            </p:nvSpPr>
            <p:spPr>
              <a:xfrm>
                <a:off x="5508104" y="1306530"/>
                <a:ext cx="1474891" cy="2899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𝜆</m:t>
                      </m:r>
                      <m:sSup>
                        <m:sSup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6997EFF-FEC9-4BEA-BD87-652C23CAC8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8104" y="1306530"/>
                <a:ext cx="1474891" cy="289951"/>
              </a:xfrm>
              <a:prstGeom prst="rect">
                <a:avLst/>
              </a:prstGeom>
              <a:blipFill>
                <a:blip r:embed="rId2"/>
                <a:stretch>
                  <a:fillRect l="-5372" t="-2083" b="-3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9EF84B80-6A90-4BB3-9F47-C4067443C807}"/>
                  </a:ext>
                </a:extLst>
              </p:cNvPr>
              <p:cNvSpPr/>
              <p:nvPr/>
            </p:nvSpPr>
            <p:spPr>
              <a:xfrm>
                <a:off x="7255609" y="1266839"/>
                <a:ext cx="143795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≥0, 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9EF84B80-6A90-4BB3-9F47-C4067443C8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5609" y="1266839"/>
                <a:ext cx="143795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86232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0C511321-1EF7-41E0-9426-C7CDBE44F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6675" y="3419599"/>
            <a:ext cx="5267325" cy="3305175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F342D1-81B2-4068-BFFA-895A7A96F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28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9B68CC3-CF89-40F3-B642-06A8C94B2FA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831"/>
          <a:stretch/>
        </p:blipFill>
        <p:spPr>
          <a:xfrm>
            <a:off x="179512" y="143243"/>
            <a:ext cx="5267325" cy="459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0301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C7B8A2-C59E-4B07-91EF-5E27E271B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Exponential Distribution Example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4FAE473F-C9B6-49B3-AF2F-A0E46D76A4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51892"/>
          <a:stretch/>
        </p:blipFill>
        <p:spPr>
          <a:xfrm>
            <a:off x="555171" y="1196752"/>
            <a:ext cx="8033657" cy="1296144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1258BE-7A2B-4E91-9918-4E259701B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13472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D9E333-8163-4652-B4D8-156F55982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Summary of</a:t>
            </a:r>
            <a:r>
              <a:rPr lang="ko-KR" altLang="en-US" dirty="0"/>
              <a:t> </a:t>
            </a:r>
            <a:r>
              <a:rPr lang="en-US" altLang="ko-KR" dirty="0"/>
              <a:t>Continuous Distributions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A931AB8F-5833-4371-902E-81B33ED89D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5400000">
            <a:off x="2753265" y="-1010421"/>
            <a:ext cx="3637470" cy="8483865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0181F6-11DB-4D82-917F-5C5643701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79449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A8F4A2-CB8E-435D-BE29-4268EBE83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Chebyshev Inequality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68132936-E670-4DA6-AFDF-D64A65BDCF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5353" y="1253282"/>
                <a:ext cx="7886700" cy="4908203"/>
              </a:xfrm>
            </p:spPr>
            <p:txBody>
              <a:bodyPr/>
              <a:lstStyle/>
              <a:p>
                <a:r>
                  <a:rPr lang="en-US" altLang="ko-KR" b="1" dirty="0"/>
                  <a:t> </a:t>
                </a:r>
                <a:r>
                  <a:rPr lang="en-US" altLang="ko-KR" b="1" dirty="0" err="1"/>
                  <a:t>Chabyshev</a:t>
                </a:r>
                <a:r>
                  <a:rPr lang="en-US" altLang="ko-KR" b="1" dirty="0"/>
                  <a:t> Inequality (</a:t>
                </a:r>
                <a:r>
                  <a:rPr lang="ko-KR" altLang="en-US" b="1" dirty="0" err="1"/>
                  <a:t>체비셰프</a:t>
                </a:r>
                <a:r>
                  <a:rPr lang="ko-KR" altLang="en-US" b="1" dirty="0"/>
                  <a:t> 부등식</a:t>
                </a:r>
                <a:r>
                  <a:rPr lang="en-US" altLang="ko-KR" b="1" dirty="0"/>
                  <a:t>)</a:t>
                </a:r>
                <a:endParaRPr lang="en-US" altLang="ko-KR" dirty="0"/>
              </a:p>
              <a:p>
                <a:pPr lvl="1"/>
                <a:r>
                  <a:rPr lang="en-US" altLang="ko-KR" dirty="0"/>
                  <a:t> A single observation selected at random from any probability distribution will deviate more than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ko-KR" altLang="en-US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from the mean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altLang="ko-KR" dirty="0"/>
                  <a:t>, of the distribution with probability less than or equal to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1/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ko-KR" dirty="0"/>
                  <a:t>.</a:t>
                </a:r>
              </a:p>
              <a:p>
                <a:pPr lvl="1"/>
                <a:r>
                  <a:rPr lang="en-US" altLang="ko-KR" dirty="0"/>
                  <a:t> Similar to the 68-95-99.7 rule, but to ALL distributions </a:t>
                </a:r>
              </a:p>
              <a:p>
                <a:pPr lvl="2"/>
                <a:r>
                  <a:rPr lang="en-US" altLang="ko-KR" dirty="0"/>
                  <a:t>Provides a very conservative estimation of probability</a:t>
                </a:r>
              </a:p>
              <a:p>
                <a:pPr lvl="1"/>
                <a:r>
                  <a:rPr lang="en-US" altLang="ko-KR" dirty="0"/>
                  <a:t> Assumes that the probability is </a:t>
                </a:r>
                <a:r>
                  <a:rPr lang="en-US" altLang="ko-KR" b="1" u="sng" dirty="0"/>
                  <a:t>symmetric </a:t>
                </a:r>
                <a:r>
                  <a:rPr lang="en-US" altLang="ko-KR" b="1" u="sng" dirty="0" err="1"/>
                  <a:t>w.r.t.</a:t>
                </a:r>
                <a:r>
                  <a:rPr lang="en-US" altLang="ko-KR" b="1" u="sng" dirty="0"/>
                  <a:t> the mean </a:t>
                </a:r>
                <a14:m>
                  <m:oMath xmlns:m="http://schemas.openxmlformats.org/officeDocument/2006/math">
                    <m:r>
                      <a:rPr lang="ko-KR" altLang="en-US" b="1" i="1" u="sng">
                        <a:latin typeface="Cambria Math" panose="02040503050406030204" pitchFamily="18" charset="0"/>
                      </a:rPr>
                      <m:t>𝝁</m:t>
                    </m:r>
                  </m:oMath>
                </a14:m>
                <a:br>
                  <a:rPr lang="en-US" altLang="ko-KR" dirty="0"/>
                </a:br>
                <a:r>
                  <a:rPr lang="en-US" altLang="ko-KR" dirty="0"/>
                  <a:t>(if not, </a:t>
                </a:r>
                <a:r>
                  <a:rPr lang="en-US" altLang="ko-KR" dirty="0" err="1"/>
                  <a:t>Cantelli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Inequality, or one-tailed </a:t>
                </a:r>
                <a:r>
                  <a:rPr lang="en-US" altLang="ko-KR" dirty="0" err="1"/>
                  <a:t>chebychev</a:t>
                </a:r>
                <a:r>
                  <a:rPr lang="en-US" altLang="ko-KR" dirty="0"/>
                  <a:t> inequality)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68132936-E670-4DA6-AFDF-D64A65BDCF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5353" y="1253282"/>
                <a:ext cx="7886700" cy="4908203"/>
              </a:xfrm>
              <a:blipFill>
                <a:blip r:embed="rId2"/>
                <a:stretch>
                  <a:fillRect l="-696" t="-12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6E5FED-7622-4633-8756-211A9E1C3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31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51A17EBB-7C21-4942-8DD1-875E1037710C}"/>
                  </a:ext>
                </a:extLst>
              </p:cNvPr>
              <p:cNvSpPr/>
              <p:nvPr/>
            </p:nvSpPr>
            <p:spPr>
              <a:xfrm>
                <a:off x="5076056" y="438570"/>
                <a:ext cx="2391039" cy="612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{|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ko-KR" alt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51A17EBB-7C21-4942-8DD1-875E103771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6056" y="438570"/>
                <a:ext cx="2391039" cy="6127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64672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BDAF2C-A194-4441-8A27-F4789E1F6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Law of Large Numbers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71ED3B-7A0C-420F-9EB2-4981F67BF6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The (weak) Law of Large Numbers (</a:t>
            </a:r>
            <a:r>
              <a:rPr lang="ko-KR" altLang="en-US" dirty="0"/>
              <a:t>큰 수의 약한 법칙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ko-KR" altLang="en-US" dirty="0">
                <a:solidFill>
                  <a:schemeClr val="bg1"/>
                </a:solidFill>
              </a:rPr>
              <a:t>큰 모집단에서 무작위로 뽑은 표본의 평균이 전체 모집단의 </a:t>
            </a:r>
            <a:br>
              <a:rPr lang="en-US" altLang="ko-KR" dirty="0">
                <a:solidFill>
                  <a:schemeClr val="bg1"/>
                </a:solidFill>
              </a:rPr>
            </a:br>
            <a:r>
              <a:rPr lang="ko-KR" altLang="en-US" dirty="0">
                <a:solidFill>
                  <a:schemeClr val="bg1"/>
                </a:solidFill>
              </a:rPr>
              <a:t>평균과 가까울 가능성이 높다는 개념</a:t>
            </a:r>
            <a:endParaRPr lang="en-US" altLang="ko-KR" dirty="0">
              <a:solidFill>
                <a:schemeClr val="bg1"/>
              </a:solidFill>
            </a:endParaRP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 Related</a:t>
            </a:r>
            <a:r>
              <a:rPr lang="ko-KR" altLang="en-US" dirty="0"/>
              <a:t> </a:t>
            </a:r>
            <a:r>
              <a:rPr lang="en-US" altLang="ko-KR" dirty="0"/>
              <a:t>Concepts</a:t>
            </a:r>
          </a:p>
          <a:p>
            <a:pPr lvl="2"/>
            <a:r>
              <a:rPr lang="en-US" altLang="ko-KR" dirty="0"/>
              <a:t> </a:t>
            </a:r>
            <a:r>
              <a:rPr lang="en-US" altLang="ko-KR" dirty="0">
                <a:solidFill>
                  <a:schemeClr val="bg1"/>
                </a:solidFill>
              </a:rPr>
              <a:t>Beginner’s Luck (</a:t>
            </a:r>
            <a:r>
              <a:rPr lang="ko-KR" altLang="en-US" dirty="0">
                <a:solidFill>
                  <a:schemeClr val="bg1"/>
                </a:solidFill>
              </a:rPr>
              <a:t>장기적으로는</a:t>
            </a:r>
            <a:r>
              <a:rPr lang="en-US" altLang="ko-KR" dirty="0">
                <a:solidFill>
                  <a:schemeClr val="bg1"/>
                </a:solidFill>
              </a:rPr>
              <a:t>? </a:t>
            </a:r>
            <a:r>
              <a:rPr lang="ko-KR" altLang="en-US" dirty="0">
                <a:solidFill>
                  <a:schemeClr val="bg1"/>
                </a:solidFill>
              </a:rPr>
              <a:t>수렴하게 됨</a:t>
            </a:r>
            <a:r>
              <a:rPr lang="en-US" altLang="ko-KR" dirty="0">
                <a:solidFill>
                  <a:schemeClr val="bg1"/>
                </a:solidFill>
              </a:rPr>
              <a:t>)</a:t>
            </a:r>
          </a:p>
          <a:p>
            <a:pPr lvl="2"/>
            <a:r>
              <a:rPr lang="ko-KR" altLang="en-US" dirty="0"/>
              <a:t> </a:t>
            </a:r>
            <a:r>
              <a:rPr lang="ko-KR" altLang="en-US" dirty="0">
                <a:solidFill>
                  <a:schemeClr val="bg1"/>
                </a:solidFill>
              </a:rPr>
              <a:t>야구에서의 </a:t>
            </a:r>
            <a:r>
              <a:rPr lang="en-US" altLang="ko-KR" dirty="0">
                <a:solidFill>
                  <a:schemeClr val="bg1"/>
                </a:solidFill>
              </a:rPr>
              <a:t>“DTD”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D0F6D9-22D9-4B31-8A6C-CCFCF583B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32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B080A3E-1415-4A6F-BB33-11103AAA32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40" y="2564904"/>
            <a:ext cx="7452320" cy="1450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6669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3C2DAC-0F9D-49AA-B946-1126BB388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Conclusion of Lecture 2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147CC8-E813-411B-9DA7-10339F4FFE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1"/>
            <a:ext cx="7886700" cy="5086266"/>
          </a:xfrm>
        </p:spPr>
        <p:txBody>
          <a:bodyPr>
            <a:normAutofit lnSpcReduction="10000"/>
          </a:bodyPr>
          <a:lstStyle/>
          <a:p>
            <a:r>
              <a:rPr lang="en-US" altLang="ko-KR" dirty="0"/>
              <a:t> Few statistical characteristics common to many types of hydrologic data (</a:t>
            </a:r>
            <a:r>
              <a:rPr lang="ko-KR" altLang="en-US" dirty="0"/>
              <a:t>수문 분야에서의 불확실한 변수들의 통계적 특성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(Handbook of Hydrology, 17.1.1)</a:t>
            </a:r>
          </a:p>
          <a:p>
            <a:pPr lvl="1"/>
            <a:r>
              <a:rPr lang="en-US" altLang="ko-KR" dirty="0"/>
              <a:t> Non-normal, skewed distribution functions, </a:t>
            </a:r>
            <a:br>
              <a:rPr lang="en-US" altLang="ko-KR" dirty="0"/>
            </a:br>
            <a:r>
              <a:rPr lang="en-US" altLang="ko-KR" dirty="0"/>
              <a:t>often having a lower bound of zero</a:t>
            </a:r>
          </a:p>
          <a:p>
            <a:pPr lvl="1"/>
            <a:r>
              <a:rPr lang="en-US" altLang="ko-KR" dirty="0"/>
              <a:t> Outliers - a few values that are much larger </a:t>
            </a:r>
            <a:br>
              <a:rPr lang="en-US" altLang="ko-KR" dirty="0"/>
            </a:br>
            <a:r>
              <a:rPr lang="en-US" altLang="ko-KR" dirty="0"/>
              <a:t>or much smaller than the bulk of the data</a:t>
            </a:r>
          </a:p>
          <a:p>
            <a:pPr lvl="1"/>
            <a:r>
              <a:rPr lang="en-US" altLang="ko-KR" dirty="0"/>
              <a:t> Serial correlation, or lack of independence among observations</a:t>
            </a:r>
          </a:p>
          <a:p>
            <a:pPr lvl="1"/>
            <a:r>
              <a:rPr lang="en-US" altLang="ko-KR" dirty="0"/>
              <a:t> Distributions dependent on other variables</a:t>
            </a:r>
          </a:p>
          <a:p>
            <a:pPr lvl="1"/>
            <a:r>
              <a:rPr lang="en-US" altLang="ko-KR" dirty="0"/>
              <a:t> Censoring – data concentration values reported as less than a detection limit, or discharge values less than the discharge at which flood damage occurs</a:t>
            </a:r>
          </a:p>
          <a:p>
            <a:pPr lvl="1"/>
            <a:r>
              <a:rPr lang="en-US" altLang="ko-KR" dirty="0"/>
              <a:t> Seasonal patterns; </a:t>
            </a:r>
            <a:br>
              <a:rPr lang="en-US" altLang="ko-KR" dirty="0"/>
            </a:br>
            <a:r>
              <a:rPr lang="en-US" altLang="ko-KR" dirty="0"/>
              <a:t>statistical characteristics tend to vary with the seasons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AEB9C2-73F6-48C6-BB81-A4A6D8935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15782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2972C2-44CC-4F6E-8544-2F20B844C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Future Schedule Preview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D1E931-4E26-48E4-8B68-83D521B9B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0"/>
            <a:ext cx="7886700" cy="5328591"/>
          </a:xfrm>
        </p:spPr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다음 주 강의 </a:t>
            </a:r>
            <a:r>
              <a:rPr lang="en-US" altLang="ko-KR" dirty="0"/>
              <a:t>(2022-09-20 </a:t>
            </a:r>
            <a:r>
              <a:rPr lang="ko-KR" altLang="en-US" dirty="0"/>
              <a:t>화요일 </a:t>
            </a:r>
            <a:r>
              <a:rPr lang="en-US" altLang="ko-KR" dirty="0"/>
              <a:t>18:30-21:20)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dirty="0" err="1"/>
              <a:t>Lec</a:t>
            </a:r>
            <a:r>
              <a:rPr lang="en-US" altLang="ko-KR" dirty="0"/>
              <a:t> 03: Probabilistic Modeling in Hydrology- Part II</a:t>
            </a:r>
            <a:br>
              <a:rPr lang="en-US" altLang="ko-KR" dirty="0"/>
            </a:br>
            <a:r>
              <a:rPr lang="en-US" altLang="ko-KR" dirty="0"/>
              <a:t>(Maximum Likelihood Estimator &amp; Goodness of fit tests)</a:t>
            </a:r>
          </a:p>
          <a:p>
            <a:pPr lvl="2"/>
            <a:r>
              <a:rPr lang="en-US" altLang="ko-KR" dirty="0"/>
              <a:t>Maximum Likelihood Estimation of Parameters &amp; Examples</a:t>
            </a:r>
          </a:p>
          <a:p>
            <a:pPr lvl="2"/>
            <a:r>
              <a:rPr lang="en-US" altLang="ko-KR" dirty="0"/>
              <a:t>Goodness of fit Approaches such as: </a:t>
            </a:r>
            <a:br>
              <a:rPr lang="en-US" altLang="ko-KR" dirty="0"/>
            </a:br>
            <a:r>
              <a:rPr lang="en-US" altLang="ko-KR" dirty="0"/>
              <a:t>AIC, PP or QQ plots, Chi-squared test</a:t>
            </a:r>
          </a:p>
          <a:p>
            <a:pPr lvl="2"/>
            <a:endParaRPr lang="en-US" altLang="ko-KR" dirty="0"/>
          </a:p>
          <a:p>
            <a:r>
              <a:rPr lang="en-US" altLang="ko-KR" dirty="0"/>
              <a:t> </a:t>
            </a:r>
            <a:r>
              <a:rPr lang="en-US" altLang="ko-KR" dirty="0" err="1"/>
              <a:t>Datacamp</a:t>
            </a:r>
            <a:r>
              <a:rPr lang="en-US" altLang="ko-KR" dirty="0"/>
              <a:t> Assignment due 9/15 (Introduction to R)</a:t>
            </a:r>
          </a:p>
          <a:p>
            <a:r>
              <a:rPr lang="en-US" altLang="ko-KR" dirty="0"/>
              <a:t> Assignment on </a:t>
            </a:r>
            <a:r>
              <a:rPr lang="en-US" altLang="ko-KR" u="sng" dirty="0"/>
              <a:t>Page 16</a:t>
            </a:r>
            <a:r>
              <a:rPr lang="en-US" altLang="ko-KR" dirty="0"/>
              <a:t> (Deriving the Poisson Distribution)</a:t>
            </a:r>
          </a:p>
          <a:p>
            <a:r>
              <a:rPr lang="en-US" altLang="ko-KR" b="1" dirty="0"/>
              <a:t> Bring LAPTOPS with R &amp; </a:t>
            </a:r>
            <a:r>
              <a:rPr lang="en-US" altLang="ko-KR" b="1" dirty="0" err="1"/>
              <a:t>Rstudio</a:t>
            </a:r>
            <a:r>
              <a:rPr lang="en-US" altLang="ko-KR" b="1" dirty="0"/>
              <a:t> on Sep-27! (2</a:t>
            </a:r>
            <a:r>
              <a:rPr lang="ko-KR" altLang="en-US" b="1" dirty="0"/>
              <a:t>주 후</a:t>
            </a:r>
            <a:r>
              <a:rPr lang="en-US" altLang="ko-KR" b="1" dirty="0"/>
              <a:t>)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EFE042-1EF0-46EE-8B82-B1DFE71C8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4224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77984</TotalTime>
  <Words>1624</Words>
  <Application>Microsoft Office PowerPoint</Application>
  <PresentationFormat>화면 슬라이드 쇼(4:3)</PresentationFormat>
  <Paragraphs>221</Paragraphs>
  <Slides>34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44" baseType="lpstr">
      <vt:lpstr>나눔고딕 ExtraBold</vt:lpstr>
      <vt:lpstr>나눔고딕 Light</vt:lpstr>
      <vt:lpstr>맑은 고딕</vt:lpstr>
      <vt:lpstr>Arial</vt:lpstr>
      <vt:lpstr>Calibri</vt:lpstr>
      <vt:lpstr>Cambria Math</vt:lpstr>
      <vt:lpstr>Gill Sans MT</vt:lpstr>
      <vt:lpstr>Wingdings</vt:lpstr>
      <vt:lpstr>Office 테마</vt:lpstr>
      <vt:lpstr>Equation</vt:lpstr>
      <vt:lpstr>Lecture 02</vt:lpstr>
      <vt:lpstr>Review on Lecture 01</vt:lpstr>
      <vt:lpstr>Today’s Topic</vt:lpstr>
      <vt:lpstr>Review on Basic Probability Concepts </vt:lpstr>
      <vt:lpstr>Review on Basic Probability Concepts </vt:lpstr>
      <vt:lpstr>Bayes’ Theorem</vt:lpstr>
      <vt:lpstr>Total Probability Theorem Example</vt:lpstr>
      <vt:lpstr>Bayes’ Theorem Example</vt:lpstr>
      <vt:lpstr>Bayes’ Theorem Example</vt:lpstr>
      <vt:lpstr>Types of Random Variables</vt:lpstr>
      <vt:lpstr>Types of Random Variables</vt:lpstr>
      <vt:lpstr>PowerPoint 프레젠테이션</vt:lpstr>
      <vt:lpstr>Bernoulli Processes &amp; Binomial Distribution</vt:lpstr>
      <vt:lpstr>PowerPoint 프레젠테이션</vt:lpstr>
      <vt:lpstr>PowerPoint 프레젠테이션</vt:lpstr>
      <vt:lpstr>Poisson Process</vt:lpstr>
      <vt:lpstr>Geometric &amp; Negative Binomial Distributions</vt:lpstr>
      <vt:lpstr>Summary of Discrete Distributions</vt:lpstr>
      <vt:lpstr>Example Problem: Poisson</vt:lpstr>
      <vt:lpstr>Part II: Continuous Distributions</vt:lpstr>
      <vt:lpstr>Uniform &amp; Normal Distributions</vt:lpstr>
      <vt:lpstr>PowerPoint 프레젠테이션</vt:lpstr>
      <vt:lpstr>PowerPoint 프레젠테이션</vt:lpstr>
      <vt:lpstr>Special Type of Normal Distribution</vt:lpstr>
      <vt:lpstr>PowerPoint 프레젠테이션</vt:lpstr>
      <vt:lpstr>Examples: Standardized Normal Distribution</vt:lpstr>
      <vt:lpstr>Exponential Distribution</vt:lpstr>
      <vt:lpstr>PowerPoint 프레젠테이션</vt:lpstr>
      <vt:lpstr>Exponential Distribution Example</vt:lpstr>
      <vt:lpstr>Summary of Continuous Distributions</vt:lpstr>
      <vt:lpstr>Chebyshev Inequality</vt:lpstr>
      <vt:lpstr>Law of Large Numbers</vt:lpstr>
      <vt:lpstr>Conclusion of Lecture 2</vt:lpstr>
      <vt:lpstr>Future Schedule Preview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 Gi Joo</dc:creator>
  <cp:lastModifiedBy> </cp:lastModifiedBy>
  <cp:revision>2315</cp:revision>
  <cp:lastPrinted>2021-11-18T01:41:47Z</cp:lastPrinted>
  <dcterms:created xsi:type="dcterms:W3CDTF">2020-01-02T02:18:47Z</dcterms:created>
  <dcterms:modified xsi:type="dcterms:W3CDTF">2022-09-13T01:50:11Z</dcterms:modified>
</cp:coreProperties>
</file>