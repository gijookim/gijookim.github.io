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055439-A5BB-4049-82D9-7B75F5D6BACF}">
  <a:tblStyle styleId="{3E055439-A5BB-4049-82D9-7B75F5D6BA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b30a37b93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b30a37b93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b319cbe33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b319cbe33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b50e99caa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b50e99caa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b319cbe33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b319cbe33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5,6페이지 통합.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b30a37b93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b30a37b93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aef410ce4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aef410ce4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aef410ce4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aef410ce4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aef410ce4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aef410ce4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aef410ce4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aef410ce4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b50e99caa6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b50e99caa6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b30a37b93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b30a37b93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b5199e549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b5199e549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b30a37b93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b30a37b93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25041"/>
            <a:ext cx="9144000" cy="3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14550"/>
            <a:ext cx="9144000" cy="18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011725" y="1914075"/>
            <a:ext cx="71880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900" b="1">
                <a:solidFill>
                  <a:schemeClr val="lt1"/>
                </a:solidFill>
              </a:rPr>
              <a:t>홍수 빈도분석: 사례연구-용담 유역</a:t>
            </a:r>
            <a:endParaRPr sz="1900" b="1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900" b="1">
                <a:solidFill>
                  <a:schemeClr val="lt1"/>
                </a:solidFill>
              </a:rPr>
              <a:t> Flood Frequency Analysis: case study - Yongdam Basin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411750" y="3300750"/>
            <a:ext cx="23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김지윤, 박준명, 손동휘, 한혜린</a:t>
            </a:r>
            <a:endParaRPr sz="1200"/>
          </a:p>
        </p:txBody>
      </p:sp>
      <p:sp>
        <p:nvSpPr>
          <p:cNvPr id="58" name="Google Shape;58;p13"/>
          <p:cNvSpPr txBox="1"/>
          <p:nvPr/>
        </p:nvSpPr>
        <p:spPr>
          <a:xfrm>
            <a:off x="4098000" y="3709200"/>
            <a:ext cx="94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2022.12.13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591875" y="538888"/>
            <a:ext cx="2285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2020년 한반도 폭우사태</a:t>
            </a:r>
            <a:endParaRPr sz="1100" b="1"/>
          </a:p>
        </p:txBody>
      </p:sp>
      <p:sp>
        <p:nvSpPr>
          <p:cNvPr id="65" name="Google Shape;65;p14"/>
          <p:cNvSpPr txBox="1"/>
          <p:nvPr/>
        </p:nvSpPr>
        <p:spPr>
          <a:xfrm>
            <a:off x="1591875" y="892900"/>
            <a:ext cx="670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2020년 8월 1일부터 발생한 중부 지방의 대규모 집중호우와 그로 인한 침수로 인한 폭우 사태가 발생하였다.</a:t>
            </a:r>
            <a:endParaRPr sz="1000"/>
          </a:p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집중호우 기간이었던 8월 7일에서 8일 동안 전라북도에 위치한 댐 강수량은 1966년 이후 2일 최대강수량을 기록하였다.</a:t>
            </a:r>
            <a:endParaRPr sz="1000"/>
          </a:p>
        </p:txBody>
      </p:sp>
      <p:sp>
        <p:nvSpPr>
          <p:cNvPr id="66" name="Google Shape;66;p14"/>
          <p:cNvSpPr txBox="1"/>
          <p:nvPr/>
        </p:nvSpPr>
        <p:spPr>
          <a:xfrm>
            <a:off x="1591875" y="3921650"/>
            <a:ext cx="2285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연구 목적</a:t>
            </a:r>
            <a:endParaRPr sz="1100" b="1"/>
          </a:p>
        </p:txBody>
      </p:sp>
      <p:sp>
        <p:nvSpPr>
          <p:cNvPr id="67" name="Google Shape;67;p14"/>
          <p:cNvSpPr txBox="1"/>
          <p:nvPr/>
        </p:nvSpPr>
        <p:spPr>
          <a:xfrm>
            <a:off x="1591875" y="4275650"/>
            <a:ext cx="7011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홍수빈도분석을 수행함으로써 기사에 제시된 결과와 비교분석</a:t>
            </a:r>
            <a:endParaRPr sz="1000"/>
          </a:p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홍수의 피해 정도를 파악하여 이에 대처할 수 있는 정책 및 해결방안 제시</a:t>
            </a:r>
            <a:endParaRPr sz="1000"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3413" y="1767125"/>
            <a:ext cx="2082749" cy="19809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4512" y="1767125"/>
            <a:ext cx="1887134" cy="19809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0" name="Google Shape;70;p14"/>
          <p:cNvSpPr txBox="1"/>
          <p:nvPr/>
        </p:nvSpPr>
        <p:spPr>
          <a:xfrm>
            <a:off x="4181300" y="0"/>
            <a:ext cx="206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1.1 연구의 배경과 목적</a:t>
            </a:r>
            <a:endParaRPr b="1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4386475" y="0"/>
            <a:ext cx="206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1.2 연구 지역</a:t>
            </a:r>
            <a:endParaRPr b="1"/>
          </a:p>
        </p:txBody>
      </p:sp>
      <p:sp>
        <p:nvSpPr>
          <p:cNvPr id="78" name="Google Shape;78;p15"/>
          <p:cNvSpPr txBox="1"/>
          <p:nvPr/>
        </p:nvSpPr>
        <p:spPr>
          <a:xfrm>
            <a:off x="1591875" y="538888"/>
            <a:ext cx="22851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전라북도</a:t>
            </a:r>
            <a:r>
              <a:rPr lang="ko" sz="1150">
                <a:solidFill>
                  <a:srgbClr val="424242"/>
                </a:solidFill>
                <a:highlight>
                  <a:srgbClr val="FFFFFF"/>
                </a:highlight>
              </a:rPr>
              <a:t> </a:t>
            </a:r>
            <a:r>
              <a:rPr lang="ko" sz="1100" b="1"/>
              <a:t>진안군, 용담댐</a:t>
            </a:r>
            <a:endParaRPr sz="1100" b="1"/>
          </a:p>
        </p:txBody>
      </p:sp>
      <p:sp>
        <p:nvSpPr>
          <p:cNvPr id="79" name="Google Shape;79;p15"/>
          <p:cNvSpPr txBox="1"/>
          <p:nvPr/>
        </p:nvSpPr>
        <p:spPr>
          <a:xfrm>
            <a:off x="1591875" y="2985088"/>
            <a:ext cx="67071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용담댐은 계획홍수위 아래 5cm에 육박하며, 유역은 350mm이며 과거 최대인 252mm 대비 139% 수준의 </a:t>
            </a:r>
            <a:r>
              <a:rPr lang="ko" sz="1000" b="1"/>
              <a:t>역대 최대강수량이 발생</a:t>
            </a:r>
            <a:r>
              <a:rPr lang="ko" sz="1000"/>
              <a:t>하였다. </a:t>
            </a:r>
            <a:endParaRPr sz="1000"/>
          </a:p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수자원공사의 홍수 피해조사 기사에 따르면, 8월 7일에서 8일의 호우는 설계대비 108%가 내렸으며, </a:t>
            </a:r>
            <a:r>
              <a:rPr lang="ko" sz="1000" b="1"/>
              <a:t>강우량은 50년 빈도 그리고</a:t>
            </a:r>
            <a:r>
              <a:rPr lang="ko" sz="1000"/>
              <a:t> </a:t>
            </a:r>
            <a:r>
              <a:rPr lang="ko" sz="1000" b="1"/>
              <a:t>홍수유입의 빈도는 200년 빈도를 초과</a:t>
            </a:r>
            <a:r>
              <a:rPr lang="ko" sz="1000"/>
              <a:t>한 것으로 알려져 있다. </a:t>
            </a:r>
            <a:endParaRPr sz="100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231" y="865900"/>
            <a:ext cx="1915144" cy="21052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2363625" y="1455600"/>
            <a:ext cx="74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/>
              <a:t>금강유역</a:t>
            </a:r>
            <a:endParaRPr sz="800" b="1"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6575" y="1295587"/>
            <a:ext cx="2615875" cy="14714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3" name="Google Shape;83;p15"/>
          <p:cNvSpPr txBox="1"/>
          <p:nvPr/>
        </p:nvSpPr>
        <p:spPr>
          <a:xfrm>
            <a:off x="5789250" y="1070088"/>
            <a:ext cx="156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/>
              <a:t>2020년 8월 용담댐 홍수 피해</a:t>
            </a:r>
            <a:endParaRPr sz="800" b="1"/>
          </a:p>
        </p:txBody>
      </p:sp>
      <p:sp>
        <p:nvSpPr>
          <p:cNvPr id="84" name="Google Shape;84;p15"/>
          <p:cNvSpPr txBox="1"/>
          <p:nvPr/>
        </p:nvSpPr>
        <p:spPr>
          <a:xfrm>
            <a:off x="1591875" y="3956175"/>
            <a:ext cx="747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피해규모</a:t>
            </a:r>
            <a:endParaRPr sz="1100" b="1"/>
          </a:p>
        </p:txBody>
      </p:sp>
      <p:sp>
        <p:nvSpPr>
          <p:cNvPr id="85" name="Google Shape;85;p15"/>
          <p:cNvSpPr txBox="1"/>
          <p:nvPr/>
        </p:nvSpPr>
        <p:spPr>
          <a:xfrm>
            <a:off x="1591875" y="4253575"/>
            <a:ext cx="7167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피해양상은 금강 주변 농경지와 주택 침수 등으로 나타났으며, 233명의 주민이 임시대피소로 대피하는 상황이었다. </a:t>
            </a:r>
            <a:endParaRPr sz="1000"/>
          </a:p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/>
              <a:t>하류 무피해 방류를 고려한 방류량을 고려하기 힘든 수준으로 하류의 피해 또한 발생한 것으로 나타났다.</a:t>
            </a:r>
            <a:endParaRPr sz="10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6976" y="865900"/>
            <a:ext cx="1564201" cy="1948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5"/>
          <p:cNvCxnSpPr/>
          <p:nvPr/>
        </p:nvCxnSpPr>
        <p:spPr>
          <a:xfrm rot="10800000" flipH="1">
            <a:off x="2628900" y="957350"/>
            <a:ext cx="1457400" cy="1095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5"/>
          <p:cNvCxnSpPr/>
          <p:nvPr/>
        </p:nvCxnSpPr>
        <p:spPr>
          <a:xfrm>
            <a:off x="2628948" y="2037038"/>
            <a:ext cx="1933500" cy="744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5"/>
          <p:cNvSpPr txBox="1"/>
          <p:nvPr/>
        </p:nvSpPr>
        <p:spPr>
          <a:xfrm>
            <a:off x="4437875" y="985650"/>
            <a:ext cx="74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/>
              <a:t>용담댐</a:t>
            </a:r>
            <a:endParaRPr sz="800" b="1"/>
          </a:p>
        </p:txBody>
      </p:sp>
      <p:sp>
        <p:nvSpPr>
          <p:cNvPr id="90" name="Google Shape;90;p15"/>
          <p:cNvSpPr txBox="1"/>
          <p:nvPr/>
        </p:nvSpPr>
        <p:spPr>
          <a:xfrm>
            <a:off x="4198350" y="1729250"/>
            <a:ext cx="74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/>
              <a:t>진안군</a:t>
            </a:r>
            <a:endParaRPr sz="800" b="1"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475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2.1 자료 수집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98" name="Google Shape;98;p16"/>
          <p:cNvSpPr txBox="1"/>
          <p:nvPr/>
        </p:nvSpPr>
        <p:spPr>
          <a:xfrm>
            <a:off x="5135375" y="2495560"/>
            <a:ext cx="2343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 sz="1300" b="1"/>
              <a:t>유량 자료</a:t>
            </a:r>
            <a:endParaRPr sz="1300" b="1"/>
          </a:p>
        </p:txBody>
      </p:sp>
      <p:sp>
        <p:nvSpPr>
          <p:cNvPr id="99" name="Google Shape;99;p16"/>
          <p:cNvSpPr txBox="1"/>
          <p:nvPr/>
        </p:nvSpPr>
        <p:spPr>
          <a:xfrm>
            <a:off x="5107375" y="804800"/>
            <a:ext cx="2343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 sz="1300" b="1"/>
              <a:t>강수량 자료</a:t>
            </a:r>
            <a:endParaRPr sz="1300" b="1"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4</a:t>
            </a:fld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8500" y="476472"/>
            <a:ext cx="3923400" cy="246277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5425750" y="1189688"/>
            <a:ext cx="35928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    출처: 국가수자원관리종합시스템(WAMIS)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    지점: 진안군(마을지원센터)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    기간: 1990~2022년(33년)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-    시간해상도: 1시간</a:t>
            </a:r>
            <a:endParaRPr sz="110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-    연 최대값(Annual Maximum) 사용</a:t>
            </a:r>
            <a:endParaRPr sz="1100"/>
          </a:p>
        </p:txBody>
      </p:sp>
      <p:sp>
        <p:nvSpPr>
          <p:cNvPr id="103" name="Google Shape;103;p16"/>
          <p:cNvSpPr txBox="1"/>
          <p:nvPr/>
        </p:nvSpPr>
        <p:spPr>
          <a:xfrm>
            <a:off x="5425745" y="2880448"/>
            <a:ext cx="3923400" cy="1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-   출처: </a:t>
            </a:r>
            <a:r>
              <a:rPr lang="ko" sz="1100">
                <a:solidFill>
                  <a:schemeClr val="dk1"/>
                </a:solidFill>
              </a:rPr>
              <a:t>국가수자원관리종합시스템(WAMIS)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   지점: 진안군 성산리 구량천 유량 관측소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   기간: 2000~2022년  중 결측(2004~2012년) (총 14년)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    POT 방법 사용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5271008" y="3959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{3E055439-A5BB-4049-82D9-7B75F5D6BACF}</a:tableStyleId>
              </a:tblPr>
              <a:tblGrid>
                <a:gridCol w="5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875"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구량천 유량(m^3/s)</a:t>
                      </a:r>
                      <a:endParaRPr sz="80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갈수기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저수기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평수기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풍수기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최소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최대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연평균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0.74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1.22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1.93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3.25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0.66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291.47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8.73</a:t>
                      </a:r>
                      <a:endParaRPr sz="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3796" y="3041445"/>
            <a:ext cx="3727528" cy="186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2.2 분석기법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5</a:t>
            </a:fld>
            <a:endParaRPr/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1353225" y="560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{3E055439-A5BB-4049-82D9-7B75F5D6BACF}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강수량 빈도분석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유량 빈도분석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3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분포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GEV</a:t>
                      </a:r>
                      <a:endParaRPr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/>
                        <a:t>GPD</a:t>
                      </a:r>
                      <a:endParaRPr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자료선택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Annual Maxima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(시간별 연최대 값)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POT(Peaks over threshold)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(일 유량)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매개변수 추정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최우도법(MLE)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4" name="Google Shape;114;p17"/>
          <p:cNvSpPr txBox="1"/>
          <p:nvPr/>
        </p:nvSpPr>
        <p:spPr>
          <a:xfrm>
            <a:off x="1726263" y="4209744"/>
            <a:ext cx="6571800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794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ko" sz="1200">
                <a:solidFill>
                  <a:schemeClr val="dk1"/>
                </a:solidFill>
              </a:rPr>
              <a:t>분포(CDF) 추정   </a:t>
            </a:r>
            <a:r>
              <a:rPr lang="ko" sz="1200" b="1">
                <a:solidFill>
                  <a:schemeClr val="dk1"/>
                </a:solidFill>
              </a:rPr>
              <a:t>→  </a:t>
            </a:r>
            <a:r>
              <a:rPr lang="ko" sz="1200">
                <a:solidFill>
                  <a:schemeClr val="dk1"/>
                </a:solidFill>
              </a:rPr>
              <a:t>2020년 강우, 유량의 비초과확률(1-p) 계산 </a:t>
            </a:r>
            <a:r>
              <a:rPr lang="ko" sz="1200" b="1">
                <a:solidFill>
                  <a:schemeClr val="dk1"/>
                </a:solidFill>
              </a:rPr>
              <a:t>→ T (재현기간)= 1/p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3694" y="1373397"/>
            <a:ext cx="2212062" cy="48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0550" y="1362600"/>
            <a:ext cx="2270749" cy="63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6700" y="1362608"/>
            <a:ext cx="2212050" cy="60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6">
            <a:alphaModFix/>
          </a:blip>
          <a:srcRect l="-4014"/>
          <a:stretch/>
        </p:blipFill>
        <p:spPr>
          <a:xfrm>
            <a:off x="3826094" y="3039350"/>
            <a:ext cx="1736361" cy="7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82550" y="3164925"/>
            <a:ext cx="2830050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6</a:t>
            </a:fld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75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3.1 강수량 빈도분석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graphicFrame>
        <p:nvGraphicFramePr>
          <p:cNvPr id="127" name="Google Shape;127;p18"/>
          <p:cNvGraphicFramePr/>
          <p:nvPr/>
        </p:nvGraphicFramePr>
        <p:xfrm>
          <a:off x="1756200" y="1672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{3E055439-A5BB-4049-82D9-7B75F5D6BACF}</a:tableStyleId>
              </a:tblPr>
              <a:tblGrid>
                <a:gridCol w="131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2020년 강수 재현기간(년)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1hr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18.28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3hr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31.94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6hr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31.67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12hr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41.54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24hr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44.52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48hr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FF0000"/>
                          </a:solidFill>
                        </a:rPr>
                        <a:t>59.08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8" name="Google Shape;128;p18"/>
          <p:cNvSpPr txBox="1"/>
          <p:nvPr/>
        </p:nvSpPr>
        <p:spPr>
          <a:xfrm>
            <a:off x="1726250" y="705438"/>
            <a:ext cx="65718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667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1990년~2022년 진안군 마을지원센터의 시단위 강수자료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1시간, 3시간, 6시간,12시간,24시간,48시간 시간별 연최대 강수량을 바탕으로 GEV 분포로 재현기간 추정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761050" y="2327638"/>
            <a:ext cx="38265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강수시간이 길어질 수록 재현기간이 길어지는 모습을 보임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특히 48시간 강수에서 59년이라는 큰 재현기간을 보임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>
                <a:solidFill>
                  <a:schemeClr val="dk1"/>
                </a:solidFill>
              </a:rPr>
              <a:t>→  2020년 장마의 경우 오랜시간 지속적으로 많은 비가 내렸다</a:t>
            </a:r>
            <a:endParaRPr sz="1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7</a:t>
            </a:fld>
            <a:endParaRPr/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75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3.1 강수량 빈도분석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050" y="1167500"/>
            <a:ext cx="3628123" cy="26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5175" y="1167500"/>
            <a:ext cx="4003549" cy="26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2126663" y="3833275"/>
            <a:ext cx="2164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48시간 강우의 GEV 분포 P-P Plot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5826325" y="38332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48시간 강우의 GEV 분포 Density Plot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8</a:t>
            </a:fld>
            <a:endParaRPr/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75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3.2 유량 빈도분석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1065" y="598027"/>
            <a:ext cx="4722175" cy="31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2325225" y="3731450"/>
            <a:ext cx="5525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667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2000~2022년(2004~2012 제외) 진안군 성산리 구량천 일 유량자료</a:t>
            </a:r>
            <a:endParaRPr sz="1000">
              <a:solidFill>
                <a:schemeClr val="dk1"/>
              </a:solidFill>
            </a:endParaRPr>
          </a:p>
          <a:p>
            <a:pPr marL="4572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POT방법에서 Threshold를 결정하기 위해 Mean Residual Life Plot을 도시하여 확인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→   </a:t>
            </a:r>
            <a:r>
              <a:rPr lang="ko" sz="1000" b="1">
                <a:solidFill>
                  <a:schemeClr val="dk1"/>
                </a:solidFill>
              </a:rPr>
              <a:t> u = 40 cfs</a:t>
            </a:r>
            <a:endParaRPr sz="1000" b="1">
              <a:solidFill>
                <a:schemeClr val="dk1"/>
              </a:solidFill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2325225" y="4459213"/>
            <a:ext cx="6571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667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총 6181개 中 Threshold 이상의 유량 data: 105개 → GPD 분포를 사용하여 빈도분석 진행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9</a:t>
            </a:fld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75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3.2 유량 빈도분석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8" name="Google Shape;158;p21"/>
          <p:cNvSpPr txBox="1"/>
          <p:nvPr/>
        </p:nvSpPr>
        <p:spPr>
          <a:xfrm>
            <a:off x="2325225" y="3579050"/>
            <a:ext cx="5525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667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2020년 홍수 재현기간: </a:t>
            </a:r>
            <a:r>
              <a:rPr lang="ko" sz="1000" b="1">
                <a:solidFill>
                  <a:schemeClr val="dk1"/>
                </a:solidFill>
              </a:rPr>
              <a:t>30.26년</a:t>
            </a:r>
            <a:endParaRPr sz="1000" b="1">
              <a:solidFill>
                <a:schemeClr val="dk1"/>
              </a:solidFill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2325225" y="3969913"/>
            <a:ext cx="65718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667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 강수량에서 구한 재현기간과 차이가 많이 나고, 확률밀도함수와 데이터가 잘 맞지 않는 모습을 보임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 </a:t>
            </a:r>
            <a:r>
              <a:rPr lang="ko" sz="1000" b="1">
                <a:solidFill>
                  <a:schemeClr val="dk1"/>
                </a:solidFill>
              </a:rPr>
              <a:t>→ 분포를 잘 추정하지 못함(Declustering 필요!)</a:t>
            </a:r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924" y="615612"/>
            <a:ext cx="4302101" cy="2765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10</a:t>
            </a:fld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75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3.2 유량 빈도분석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68" name="Google Shape;168;p22"/>
          <p:cNvSpPr txBox="1"/>
          <p:nvPr/>
        </p:nvSpPr>
        <p:spPr>
          <a:xfrm>
            <a:off x="2235375" y="3706350"/>
            <a:ext cx="60003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667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 b="1">
                <a:solidFill>
                  <a:schemeClr val="dk1"/>
                </a:solidFill>
              </a:rPr>
              <a:t>r = ± 2</a:t>
            </a:r>
            <a:r>
              <a:rPr lang="ko" sz="1000">
                <a:solidFill>
                  <a:schemeClr val="dk1"/>
                </a:solidFill>
              </a:rPr>
              <a:t>일을 기준으로 자료를 Declustering 하여 다시 빈도분석을 진행</a:t>
            </a:r>
            <a:endParaRPr sz="1000">
              <a:solidFill>
                <a:schemeClr val="dk1"/>
              </a:solidFill>
            </a:endParaRPr>
          </a:p>
          <a:p>
            <a:pPr marL="4572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data 개수: 105개 </a:t>
            </a:r>
            <a:r>
              <a:rPr lang="ko" sz="1000" b="1">
                <a:solidFill>
                  <a:schemeClr val="dk1"/>
                </a:solidFill>
              </a:rPr>
              <a:t>→ 60개</a:t>
            </a:r>
            <a:endParaRPr sz="1000">
              <a:solidFill>
                <a:schemeClr val="dk1"/>
              </a:solidFill>
            </a:endParaRPr>
          </a:p>
          <a:p>
            <a:pPr marL="4572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2020년 홍수 재현기간: </a:t>
            </a:r>
            <a:r>
              <a:rPr lang="ko" sz="1000" b="1">
                <a:solidFill>
                  <a:schemeClr val="dk1"/>
                </a:solidFill>
              </a:rPr>
              <a:t>46.97년</a:t>
            </a:r>
            <a:endParaRPr sz="1000" b="1">
              <a:solidFill>
                <a:schemeClr val="dk1"/>
              </a:solidFill>
            </a:endParaRPr>
          </a:p>
          <a:p>
            <a:pPr marL="4572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강수량에서 구한 재현기간과 비슷하고, P-P plot, density Plot도 분포에 잘 맞는 모습을 보임</a:t>
            </a:r>
            <a:endParaRPr sz="1000" b="1">
              <a:solidFill>
                <a:schemeClr val="dk1"/>
              </a:solidFill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934" y="825030"/>
            <a:ext cx="3559005" cy="2596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1725" y="817750"/>
            <a:ext cx="3589424" cy="26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8450" y="1001025"/>
            <a:ext cx="3436301" cy="22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11</a:t>
            </a:fld>
            <a:endParaRPr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750" y="0"/>
            <a:ext cx="9182750" cy="516529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/>
        </p:nvSpPr>
        <p:spPr>
          <a:xfrm>
            <a:off x="3352700" y="0"/>
            <a:ext cx="331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3.2 유량 빈도분석</a:t>
            </a:r>
            <a:endParaRPr sz="2400" b="1">
              <a:solidFill>
                <a:srgbClr val="3B38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179" name="Google Shape;17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8200" y="755150"/>
            <a:ext cx="4741798" cy="287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1800" y="755150"/>
            <a:ext cx="2213142" cy="28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2227900" y="3899825"/>
            <a:ext cx="6000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667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강수의 경우 기사에서 재한 재현기간이 더 작게 나타남</a:t>
            </a:r>
            <a:r>
              <a:rPr lang="ko" sz="1000" b="1">
                <a:solidFill>
                  <a:schemeClr val="dk1"/>
                </a:solidFill>
              </a:rPr>
              <a:t> (50 &lt; 59.08)</a:t>
            </a:r>
            <a:endParaRPr sz="1000" b="1">
              <a:solidFill>
                <a:schemeClr val="dk1"/>
              </a:solidFill>
            </a:endParaRPr>
          </a:p>
          <a:p>
            <a:pPr marL="4572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유량의 경우 기사에서 제시한 재현기간이 더 크게 나타남</a:t>
            </a:r>
            <a:r>
              <a:rPr lang="ko" sz="1000" b="1">
                <a:solidFill>
                  <a:schemeClr val="dk1"/>
                </a:solidFill>
              </a:rPr>
              <a:t> (200 &gt; 46.97)</a:t>
            </a:r>
            <a:endParaRPr sz="1000" b="1">
              <a:solidFill>
                <a:schemeClr val="dk1"/>
              </a:solidFill>
            </a:endParaRPr>
          </a:p>
          <a:p>
            <a:pPr marL="4572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ko" sz="1000">
                <a:solidFill>
                  <a:schemeClr val="dk1"/>
                </a:solidFill>
              </a:rPr>
              <a:t>같은시간(24hr)에 대해 강수보다 유량의 재현기간이 더 크게 나타남 </a:t>
            </a:r>
            <a:r>
              <a:rPr lang="ko" sz="1000" b="1">
                <a:solidFill>
                  <a:schemeClr val="dk1"/>
                </a:solidFill>
              </a:rPr>
              <a:t>(44.52 &lt; 49.97)</a:t>
            </a:r>
            <a:endParaRPr sz="1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12</a:t>
            </a:fld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/>
          <p:nvPr/>
        </p:nvSpPr>
        <p:spPr>
          <a:xfrm>
            <a:off x="3352700" y="0"/>
            <a:ext cx="331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홍수 원인 및 해결책 제안</a:t>
            </a:r>
            <a:endParaRPr b="1"/>
          </a:p>
        </p:txBody>
      </p:sp>
      <p:sp>
        <p:nvSpPr>
          <p:cNvPr id="189" name="Google Shape;189;p24"/>
          <p:cNvSpPr txBox="1"/>
          <p:nvPr/>
        </p:nvSpPr>
        <p:spPr>
          <a:xfrm>
            <a:off x="1326000" y="1030950"/>
            <a:ext cx="7576500" cy="34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dirty="0"/>
              <a:t>1. 기사 속 재현기간과의 비교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/>
              <a:t>기사에서 분석한 빈도보다 분석한 빈도가 더 낮게 확인됨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chemeClr val="dk1"/>
                </a:solidFill>
              </a:rPr>
              <a:t>→</a:t>
            </a:r>
            <a:r>
              <a:rPr lang="ko" sz="1000" b="1" dirty="0"/>
              <a:t> 2020년 장마,홍수 규모에 해당하는 재해 발생 확률이 커짐</a:t>
            </a:r>
            <a:endParaRPr sz="10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/>
              <a:t>※ 원인 분석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/>
              <a:t>1. 기사 혹은 정책결정 과정에서의 빈도분석의 경우 분석 자료가 한정적 제한적.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/>
              <a:t>2. 기존 빈도분석의 경우 이전에 한 번 빈도분석을 진행한 자료를 바탕으로 일괄적으로 이루어짐.(업데이트 X</a:t>
            </a:r>
            <a:r>
              <a:rPr lang="ko" sz="1000" dirty="0" smtClean="0"/>
              <a:t>)</a:t>
            </a:r>
            <a:endParaRPr lang="en-US" altLang="ko" sz="1000" dirty="0" smtClean="0"/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dk1"/>
                </a:solidFill>
              </a:rPr>
              <a:t>→</a:t>
            </a:r>
            <a:r>
              <a:rPr lang="ko-KR" altLang="en-US" sz="1000" b="1" dirty="0"/>
              <a:t> 인위적인 요인</a:t>
            </a:r>
            <a:r>
              <a:rPr lang="en-US" altLang="ko-KR" sz="1000" b="1" dirty="0"/>
              <a:t>(</a:t>
            </a:r>
            <a:r>
              <a:rPr lang="ko-KR" altLang="en-US" sz="1000" b="1" dirty="0" err="1"/>
              <a:t>방류량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하천 시설물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등 으로 인해 자연적인 재현기간보다 더 큰 재해가 발생 할 수 </a:t>
            </a:r>
            <a:r>
              <a:rPr lang="ko-KR" altLang="en-US" sz="1000" b="1" dirty="0" smtClean="0"/>
              <a:t>있음</a:t>
            </a:r>
            <a:endParaRPr sz="1000" dirty="0" smtClean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 smtClean="0"/>
              <a:t>3</a:t>
            </a:r>
            <a:r>
              <a:rPr lang="ko" sz="1000" dirty="0"/>
              <a:t>. 한국의 하천 유량 자료의 경우 그 관측길이가 짧기에(약 20년) 매년 새롭게 추가되는 데이터에 의해 재현기간이 크게 바뀔 수 있음.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dirty="0">
                <a:solidFill>
                  <a:schemeClr val="dk1"/>
                </a:solidFill>
              </a:rPr>
              <a:t>※ 정책적 제언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chemeClr val="dk1"/>
                </a:solidFill>
              </a:rPr>
              <a:t>인위적인 요인(보나 댐의 추가적인 설치) 혹은 자연적인 요인(기후변화)로 인해 추가, 변경된 자료를 바탕으로 빈도분석을 주기적으로 다시 진행하여 큰 홍수의 재현기간이 낮아진 경우 해당 하천의 홍수방지시설을 설계 재현기간에 맞게 보강</a:t>
            </a:r>
            <a:endParaRPr sz="1000" dirty="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sp>
        <p:nvSpPr>
          <p:cNvPr id="190" name="Google Shape;190;p24"/>
          <p:cNvSpPr txBox="1"/>
          <p:nvPr/>
        </p:nvSpPr>
        <p:spPr>
          <a:xfrm>
            <a:off x="1281075" y="444600"/>
            <a:ext cx="1733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결론 및 제언</a:t>
            </a:r>
            <a:endParaRPr sz="11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13</a:t>
            </a:fld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/>
        </p:nvSpPr>
        <p:spPr>
          <a:xfrm>
            <a:off x="3352700" y="0"/>
            <a:ext cx="331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홍수 원인 및 해결책 제안</a:t>
            </a:r>
            <a:endParaRPr b="1"/>
          </a:p>
        </p:txBody>
      </p:sp>
      <p:sp>
        <p:nvSpPr>
          <p:cNvPr id="198" name="Google Shape;198;p25"/>
          <p:cNvSpPr txBox="1"/>
          <p:nvPr/>
        </p:nvSpPr>
        <p:spPr>
          <a:xfrm>
            <a:off x="1333500" y="466775"/>
            <a:ext cx="7576500" cy="187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dirty="0"/>
              <a:t>2. 강수 재현기간과 유량 재현기간의 비교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/>
              <a:t>같은 지속시간(24hr)에 대해 강수재현기간보다 유량 재현기간이 더 크게 나타남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/>
              <a:t>(강수는 24hr 최대값, 유량은 일 유량을 사용했기에 실제 재현기간 차이는 더 클것으로 추정)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/>
              <a:t>※ 원인 분석</a:t>
            </a:r>
            <a:endParaRPr sz="10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pic>
        <p:nvPicPr>
          <p:cNvPr id="199" name="Google Shape;19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500" y="1926666"/>
            <a:ext cx="3381475" cy="163303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/>
        </p:nvSpPr>
        <p:spPr>
          <a:xfrm>
            <a:off x="4665442" y="1718365"/>
            <a:ext cx="4478558" cy="21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 dirty="0"/>
              <a:t>근 10년 중 2019년과 2020년에는 166m 이상의 높은 수위를 유지한 것으로 보임</a:t>
            </a:r>
            <a:endParaRPr sz="1000" dirty="0"/>
          </a:p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 dirty="0"/>
              <a:t>2020년에 홍수기와의 가까운 시점까지도 </a:t>
            </a:r>
            <a:r>
              <a:rPr lang="ko" sz="1000" b="1" dirty="0"/>
              <a:t>홍수기제한수위를 초과 운영</a:t>
            </a:r>
            <a:r>
              <a:rPr lang="ko" sz="1000" dirty="0"/>
              <a:t>을 하여  이상 홍수에 대응하지 못한 것으로 나타남 이러한 상황의 원인은 댐의 사용도가 홍수조절보다는 용수공급에 초점이 맞춰져있기 때문</a:t>
            </a:r>
            <a:endParaRPr sz="1000" dirty="0"/>
          </a:p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 dirty="0"/>
              <a:t>이는 전북, 충남, 대전 간의 물 배분 문제가 발생한 것으로 알려져  </a:t>
            </a:r>
            <a:r>
              <a:rPr lang="ko" sz="1000" b="1" dirty="0"/>
              <a:t>저수용량 할당 문제</a:t>
            </a:r>
            <a:r>
              <a:rPr lang="ko" sz="1000" dirty="0"/>
              <a:t>와 연관되어 있는 것으로 보임</a:t>
            </a:r>
            <a:endParaRPr sz="1000" dirty="0"/>
          </a:p>
          <a:p>
            <a:pPr marL="457200" lvl="0" indent="-2921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ko" sz="1000" dirty="0"/>
              <a:t>또한 홍수사상 유입에 따라 </a:t>
            </a:r>
            <a:r>
              <a:rPr lang="ko" sz="1000" b="1" dirty="0"/>
              <a:t>급격하게 방류량을 증가시킨 댐운영 문제</a:t>
            </a:r>
            <a:r>
              <a:rPr lang="ko" sz="1000" dirty="0"/>
              <a:t>으로 인해 하류하천의 홍수피해에 영향을 미친 것으로 파악됨</a:t>
            </a:r>
            <a:endParaRPr sz="1000" dirty="0"/>
          </a:p>
        </p:txBody>
      </p:sp>
      <p:sp>
        <p:nvSpPr>
          <p:cNvPr id="9" name="Google Shape;208;p26"/>
          <p:cNvSpPr txBox="1"/>
          <p:nvPr/>
        </p:nvSpPr>
        <p:spPr>
          <a:xfrm>
            <a:off x="1333500" y="3748744"/>
            <a:ext cx="228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dirty="0">
                <a:solidFill>
                  <a:schemeClr val="dk1"/>
                </a:solidFill>
              </a:rPr>
              <a:t>※ 정책적 제언</a:t>
            </a:r>
            <a:endParaRPr sz="1100" b="1" dirty="0"/>
          </a:p>
        </p:txBody>
      </p:sp>
      <p:sp>
        <p:nvSpPr>
          <p:cNvPr id="10" name="Google Shape;211;p26"/>
          <p:cNvSpPr txBox="1"/>
          <p:nvPr/>
        </p:nvSpPr>
        <p:spPr>
          <a:xfrm>
            <a:off x="1379807" y="4133564"/>
            <a:ext cx="7264685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 sz="1000" dirty="0"/>
              <a:t>댐을 안정적으로 운영할 수 있도록 200년 빈도 유입량이 발생하더라도 계획홍수위를 초과하지 않는 수위를 정하기.</a:t>
            </a:r>
            <a:endParaRPr sz="10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 sz="1000" dirty="0"/>
              <a:t>이상 홍수에 대비하기 위하여 기존 여수로를 파악한 다음 비상여수로의 개방이 필요할것.</a:t>
            </a:r>
            <a:endParaRPr sz="1000" dirty="0"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 sz="1000" dirty="0" smtClean="0"/>
              <a:t>자료의 </a:t>
            </a:r>
            <a:r>
              <a:rPr lang="ko" sz="1000" dirty="0"/>
              <a:t>다양성, 업데이트</a:t>
            </a:r>
            <a:endParaRPr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14</a:t>
            </a:fld>
            <a:endParaRPr/>
          </a:p>
        </p:txBody>
      </p:sp>
      <p:pic>
        <p:nvPicPr>
          <p:cNvPr id="217" name="Google Shape;2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34543"/>
            <a:ext cx="9144000" cy="310895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/>
          <p:nvPr/>
        </p:nvSpPr>
        <p:spPr>
          <a:xfrm>
            <a:off x="2525950" y="2701475"/>
            <a:ext cx="4235400" cy="648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</Words>
  <Application>Microsoft Office PowerPoint</Application>
  <PresentationFormat>화면 슬라이드 쇼(16:9)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정원</cp:lastModifiedBy>
  <cp:revision>1</cp:revision>
  <dcterms:modified xsi:type="dcterms:W3CDTF">2022-12-13T04:48:14Z</dcterms:modified>
</cp:coreProperties>
</file>