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8"/>
  </p:notesMasterIdLst>
  <p:sldIdLst>
    <p:sldId id="287" r:id="rId2"/>
    <p:sldId id="689" r:id="rId3"/>
    <p:sldId id="693" r:id="rId4"/>
    <p:sldId id="698" r:id="rId5"/>
    <p:sldId id="701" r:id="rId6"/>
    <p:sldId id="699" r:id="rId7"/>
    <p:sldId id="691" r:id="rId8"/>
    <p:sldId id="702" r:id="rId9"/>
    <p:sldId id="706" r:id="rId10"/>
    <p:sldId id="703" r:id="rId11"/>
    <p:sldId id="704" r:id="rId12"/>
    <p:sldId id="705" r:id="rId13"/>
    <p:sldId id="707" r:id="rId14"/>
    <p:sldId id="696" r:id="rId15"/>
    <p:sldId id="711" r:id="rId16"/>
    <p:sldId id="688" r:id="rId1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A5EA"/>
    <a:srgbClr val="FD6564"/>
    <a:srgbClr val="E2F0D9"/>
    <a:srgbClr val="C5E0B4"/>
    <a:srgbClr val="000000"/>
    <a:srgbClr val="DEEBF7"/>
    <a:srgbClr val="FFF9E7"/>
    <a:srgbClr val="E5ADCD"/>
    <a:srgbClr val="FBB3BF"/>
    <a:srgbClr val="AAE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01" autoAdjust="0"/>
    <p:restoredTop sz="99561" autoAdjust="0"/>
  </p:normalViewPr>
  <p:slideViewPr>
    <p:cSldViewPr snapToGrid="0">
      <p:cViewPr varScale="1">
        <p:scale>
          <a:sx n="115" d="100"/>
          <a:sy n="115" d="100"/>
        </p:scale>
        <p:origin x="1212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5EEC5-92F7-43AB-B0F3-5AF5515AA89B}" type="datetimeFigureOut">
              <a:rPr lang="ko-KR" altLang="en-US" smtClean="0"/>
              <a:t>2022-11-08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BB6B4-159F-493D-8AA0-ACEB997570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827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51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1" y="1709744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1" y="4589469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32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54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365129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30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36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04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31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0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75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31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0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26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435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4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40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3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40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40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6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5" y="6356356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6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1590370" y="2288361"/>
            <a:ext cx="68232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/>
              <a:t>Comparing </a:t>
            </a:r>
            <a:r>
              <a:rPr lang="en-US" altLang="ko-KR" sz="2800" smtClean="0"/>
              <a:t>parameter estimation methods </a:t>
            </a:r>
            <a:r>
              <a:rPr lang="en-US" altLang="ko-KR" sz="2800"/>
              <a:t>in </a:t>
            </a:r>
            <a:r>
              <a:rPr lang="en-US" altLang="ko-KR" sz="2800" smtClean="0"/>
              <a:t>different period scales of Pyeong-hwa </a:t>
            </a:r>
            <a:r>
              <a:rPr lang="en-US" altLang="ko-KR" sz="2800"/>
              <a:t>dam </a:t>
            </a:r>
            <a:r>
              <a:rPr lang="en-US" altLang="ko-KR" sz="2800" smtClean="0"/>
              <a:t>inflow data</a:t>
            </a:r>
            <a:endParaRPr lang="en-US" altLang="ko-KR" sz="2800" spc="-150" dirty="0">
              <a:solidFill>
                <a:schemeClr val="bg2">
                  <a:lumMod val="25000"/>
                </a:schemeClr>
              </a:solidFill>
              <a:ea typeface="아리따-돋움4.0(TTF)-SemiBold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8D0932-9FF4-4EDF-90F6-7F8B1F934722}"/>
              </a:ext>
            </a:extLst>
          </p:cNvPr>
          <p:cNvSpPr/>
          <p:nvPr/>
        </p:nvSpPr>
        <p:spPr>
          <a:xfrm>
            <a:off x="568712" y="5413917"/>
            <a:ext cx="836342" cy="429322"/>
          </a:xfrm>
          <a:prstGeom prst="rect">
            <a:avLst/>
          </a:prstGeom>
          <a:solidFill>
            <a:srgbClr val="FD6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B0951E-5A88-4F22-83A3-DD198AB8441E}"/>
              </a:ext>
            </a:extLst>
          </p:cNvPr>
          <p:cNvSpPr/>
          <p:nvPr/>
        </p:nvSpPr>
        <p:spPr>
          <a:xfrm>
            <a:off x="7930375" y="5270810"/>
            <a:ext cx="1286108" cy="1046356"/>
          </a:xfrm>
          <a:prstGeom prst="rect">
            <a:avLst/>
          </a:prstGeom>
          <a:solidFill>
            <a:srgbClr val="FD6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28C5E5-3FB1-46A0-AD3C-F4ABD274AD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36602" y="6087895"/>
            <a:ext cx="1136610" cy="365125"/>
          </a:xfrm>
        </p:spPr>
        <p:txBody>
          <a:bodyPr/>
          <a:lstStyle/>
          <a:p>
            <a:fld id="{84AE25D7-31FF-4429-A0D5-5CAC7FA0378F}" type="datetime1">
              <a:rPr lang="ko-KR" altLang="en-US" sz="1600" b="1" smtClean="0">
                <a:solidFill>
                  <a:schemeClr val="tx1"/>
                </a:solidFill>
              </a:rPr>
              <a:t>2022-11-08</a:t>
            </a:fld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C3B68-5CD1-4D14-96CC-41385F1D1A9E}"/>
              </a:ext>
            </a:extLst>
          </p:cNvPr>
          <p:cNvSpPr txBox="1"/>
          <p:nvPr/>
        </p:nvSpPr>
        <p:spPr>
          <a:xfrm>
            <a:off x="5001982" y="5229251"/>
            <a:ext cx="456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Earth and Environmental Sciences, </a:t>
            </a:r>
            <a:r>
              <a:rPr lang="en-US" altLang="ko-KR" b="1" dirty="0" err="1"/>
              <a:t>Jiyun</a:t>
            </a:r>
            <a:r>
              <a:rPr lang="en-US" altLang="ko-KR" b="1" dirty="0"/>
              <a:t> Kim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608BEA-4AE4-4B80-B382-669CC5DFBD86}"/>
              </a:ext>
            </a:extLst>
          </p:cNvPr>
          <p:cNvSpPr/>
          <p:nvPr/>
        </p:nvSpPr>
        <p:spPr>
          <a:xfrm>
            <a:off x="359971" y="6087895"/>
            <a:ext cx="2336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Statistical Hydrology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68585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Contents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6D9357-3FDA-4F59-937D-25D259DBF740}"/>
              </a:ext>
            </a:extLst>
          </p:cNvPr>
          <p:cNvSpPr txBox="1"/>
          <p:nvPr/>
        </p:nvSpPr>
        <p:spPr>
          <a:xfrm>
            <a:off x="2768409" y="1634269"/>
            <a:ext cx="5057078" cy="401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ko-KR" sz="1600" b="1" dirty="0"/>
              <a:t>Study area</a:t>
            </a:r>
          </a:p>
          <a:p>
            <a:pPr lvl="1">
              <a:lnSpc>
                <a:spcPct val="130000"/>
              </a:lnSpc>
            </a:pPr>
            <a:r>
              <a:rPr lang="ko-KR" altLang="en-US" sz="1200" dirty="0"/>
              <a:t>강원도 화천군 평화의 댐</a:t>
            </a:r>
            <a:endParaRPr lang="en-US" altLang="ko-KR" sz="14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endParaRPr lang="en-US" altLang="ko-KR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ko-KR" sz="1600" b="1" dirty="0"/>
              <a:t>Method</a:t>
            </a:r>
          </a:p>
          <a:p>
            <a:pPr lvl="1">
              <a:lnSpc>
                <a:spcPct val="130000"/>
              </a:lnSpc>
            </a:pPr>
            <a:r>
              <a:rPr lang="en-US" altLang="ko-KR" sz="1400" dirty="0"/>
              <a:t>Maximum Likelihood Estimation (MLE)</a:t>
            </a:r>
          </a:p>
          <a:p>
            <a:pPr lvl="1">
              <a:lnSpc>
                <a:spcPct val="130000"/>
              </a:lnSpc>
            </a:pPr>
            <a:r>
              <a:rPr lang="en-US" altLang="ko-KR" sz="1400"/>
              <a:t>L </a:t>
            </a:r>
            <a:r>
              <a:rPr lang="en-US" altLang="ko-KR" sz="1400" smtClean="0"/>
              <a:t>– moments</a:t>
            </a:r>
          </a:p>
          <a:p>
            <a:pPr lvl="1">
              <a:lnSpc>
                <a:spcPct val="130000"/>
              </a:lnSpc>
            </a:pPr>
            <a:endParaRPr lang="en-US" altLang="ko-KR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ko-KR" sz="1600" b="1" dirty="0"/>
              <a:t>Result</a:t>
            </a:r>
          </a:p>
          <a:p>
            <a:pPr lvl="1">
              <a:lnSpc>
                <a:spcPct val="130000"/>
              </a:lnSpc>
            </a:pPr>
            <a:r>
              <a:rPr lang="en-US" altLang="ko-KR" sz="1400" dirty="0"/>
              <a:t>Parameter estimation</a:t>
            </a:r>
          </a:p>
          <a:p>
            <a:pPr lvl="1">
              <a:lnSpc>
                <a:spcPct val="130000"/>
              </a:lnSpc>
            </a:pPr>
            <a:r>
              <a:rPr lang="en-US" altLang="ko-KR" sz="1400" dirty="0"/>
              <a:t>Optimal probability distribution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endParaRPr lang="en-US" altLang="ko-KR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ko-KR" sz="1600" b="1" dirty="0"/>
              <a:t>Conclusion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8459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1654958-C8EF-4E73-A7FE-2769A49F0997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Study area</a:t>
            </a:r>
          </a:p>
        </p:txBody>
      </p:sp>
      <p:pic>
        <p:nvPicPr>
          <p:cNvPr id="1026" name="Picture 2" descr="평화의댐 준공 30년, 냉전 굴레 벗어나 화해의 중심으로 &lt; 기획 &lt; 특집 &lt; 기사본문 - 강원도민일보">
            <a:extLst>
              <a:ext uri="{FF2B5EF4-FFF2-40B4-BE49-F238E27FC236}">
                <a16:creationId xmlns:a16="http://schemas.microsoft.com/office/drawing/2014/main" id="{51B19B83-8084-4ADF-A602-FA4219E56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878" y="1178614"/>
            <a:ext cx="3533109" cy="241797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1252815" y="1884141"/>
            <a:ext cx="2812156" cy="3721698"/>
            <a:chOff x="906922" y="1538651"/>
            <a:chExt cx="2812156" cy="372169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452A67C-D37E-4A20-B23A-45BB5F22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06922" y="1538651"/>
              <a:ext cx="2812156" cy="3721698"/>
            </a:xfrm>
            <a:prstGeom prst="rect">
              <a:avLst/>
            </a:prstGeom>
          </p:spPr>
        </p:pic>
        <p:sp>
          <p:nvSpPr>
            <p:cNvPr id="2" name="직사각형 1"/>
            <p:cNvSpPr/>
            <p:nvPr/>
          </p:nvSpPr>
          <p:spPr>
            <a:xfrm>
              <a:off x="2177935" y="4630189"/>
              <a:ext cx="1496290" cy="5569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91925" y="1425475"/>
            <a:ext cx="3663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b="1" smtClean="0">
                <a:latin typeface="Calibri" panose="020F0502020204030204" pitchFamily="34" charset="0"/>
                <a:cs typeface="Calibri" panose="020F0502020204030204" pitchFamily="34" charset="0"/>
              </a:rPr>
              <a:t>강원도 화천군</a:t>
            </a:r>
            <a:r>
              <a:rPr lang="en-US" altLang="ko-KR" sz="1400" b="1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1400" b="1" smtClean="0">
                <a:latin typeface="Calibri" panose="020F0502020204030204" pitchFamily="34" charset="0"/>
                <a:cs typeface="Calibri" panose="020F0502020204030204" pitchFamily="34" charset="0"/>
              </a:rPr>
              <a:t>평화의 댐</a:t>
            </a:r>
            <a:endParaRPr lang="ko-KR" altLang="en-US" sz="1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753998" y="2286000"/>
            <a:ext cx="607268" cy="203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 flipV="1">
            <a:off x="3353205" y="1173763"/>
            <a:ext cx="1632673" cy="11122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361266" y="2489200"/>
            <a:ext cx="1624612" cy="110738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54855" y="3998547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b="1">
                <a:latin typeface="Calibri" panose="020F0502020204030204" pitchFamily="34" charset="0"/>
                <a:cs typeface="Calibri" panose="020F0502020204030204" pitchFamily="34" charset="0"/>
              </a:rPr>
              <a:t>Specifications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61288"/>
              </p:ext>
            </p:extLst>
          </p:nvPr>
        </p:nvGraphicFramePr>
        <p:xfrm>
          <a:off x="4331055" y="4341952"/>
          <a:ext cx="4610876" cy="126388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52719">
                  <a:extLst>
                    <a:ext uri="{9D8B030D-6E8A-4147-A177-3AD203B41FA5}">
                      <a16:colId xmlns:a16="http://schemas.microsoft.com/office/drawing/2014/main" val="1846201308"/>
                    </a:ext>
                  </a:extLst>
                </a:gridCol>
                <a:gridCol w="1152719">
                  <a:extLst>
                    <a:ext uri="{9D8B030D-6E8A-4147-A177-3AD203B41FA5}">
                      <a16:colId xmlns:a16="http://schemas.microsoft.com/office/drawing/2014/main" val="1726868668"/>
                    </a:ext>
                  </a:extLst>
                </a:gridCol>
                <a:gridCol w="1152719">
                  <a:extLst>
                    <a:ext uri="{9D8B030D-6E8A-4147-A177-3AD203B41FA5}">
                      <a16:colId xmlns:a16="http://schemas.microsoft.com/office/drawing/2014/main" val="1819026697"/>
                    </a:ext>
                  </a:extLst>
                </a:gridCol>
                <a:gridCol w="1152719">
                  <a:extLst>
                    <a:ext uri="{9D8B030D-6E8A-4147-A177-3AD203B41FA5}">
                      <a16:colId xmlns:a16="http://schemas.microsoft.com/office/drawing/2014/main" val="670046923"/>
                    </a:ext>
                  </a:extLst>
                </a:gridCol>
              </a:tblGrid>
              <a:tr h="3125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/>
                        <a:t>유형</a:t>
                      </a:r>
                      <a:endParaRPr lang="ko-KR" alt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mtClean="0"/>
                        <a:t>홍수조절댐</a:t>
                      </a:r>
                      <a:endParaRPr lang="ko-KR" altLang="en-US" sz="11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/>
                        <a:t>하천</a:t>
                      </a:r>
                      <a:endParaRPr lang="ko-KR" alt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mtClean="0"/>
                        <a:t>북한강</a:t>
                      </a:r>
                      <a:endParaRPr lang="ko-KR" altLang="en-US" sz="11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505857"/>
                  </a:ext>
                </a:extLst>
              </a:tr>
              <a:tr h="475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/>
                        <a:t>유역면적 </a:t>
                      </a:r>
                      <a:r>
                        <a:rPr lang="en-US" altLang="ko-KR" sz="1100" b="1" smtClean="0"/>
                        <a:t>(km2)</a:t>
                      </a:r>
                      <a:endParaRPr lang="ko-KR" alt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mtClean="0"/>
                        <a:t>3208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/>
                        <a:t>계획홍수위 </a:t>
                      </a:r>
                      <a:r>
                        <a:rPr lang="en-US" altLang="ko-KR" sz="1100" b="1" smtClean="0"/>
                        <a:t>(EL.m)</a:t>
                      </a:r>
                      <a:endParaRPr lang="ko-KR" alt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mtClean="0"/>
                        <a:t>264.6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683"/>
                  </a:ext>
                </a:extLst>
              </a:tr>
              <a:tr h="475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/>
                        <a:t>총저수용량 </a:t>
                      </a:r>
                      <a:r>
                        <a:rPr lang="en-US" altLang="ko-KR" sz="1100" b="1" smtClean="0"/>
                        <a:t>(</a:t>
                      </a:r>
                      <a:r>
                        <a:rPr lang="ko-KR" altLang="en-US" sz="1100" b="1" smtClean="0"/>
                        <a:t>백만</a:t>
                      </a:r>
                      <a:r>
                        <a:rPr lang="en-US" altLang="ko-KR" sz="1100" b="1" smtClean="0"/>
                        <a:t>m3)</a:t>
                      </a:r>
                      <a:endParaRPr lang="ko-KR" alt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mtClean="0"/>
                        <a:t>2630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/>
                        <a:t>홍수조절용량 </a:t>
                      </a:r>
                      <a:r>
                        <a:rPr lang="en-US" altLang="ko-KR" sz="1100" b="1" smtClean="0"/>
                        <a:t>(</a:t>
                      </a:r>
                      <a:r>
                        <a:rPr lang="ko-KR" altLang="en-US" sz="1100" b="1" smtClean="0"/>
                        <a:t>백만</a:t>
                      </a:r>
                      <a:r>
                        <a:rPr lang="en-US" altLang="ko-KR" sz="1100" b="1" smtClean="0"/>
                        <a:t>m3)</a:t>
                      </a:r>
                      <a:endParaRPr lang="ko-KR" altLang="en-US" sz="11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mtClean="0"/>
                        <a:t>2630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125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02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1654958-C8EF-4E73-A7FE-2769A49F0997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Study area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121181"/>
              </p:ext>
            </p:extLst>
          </p:nvPr>
        </p:nvGraphicFramePr>
        <p:xfrm>
          <a:off x="1352560" y="4953447"/>
          <a:ext cx="7213600" cy="858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74799">
                  <a:extLst>
                    <a:ext uri="{9D8B030D-6E8A-4147-A177-3AD203B41FA5}">
                      <a16:colId xmlns:a16="http://schemas.microsoft.com/office/drawing/2014/main" val="1216761972"/>
                    </a:ext>
                  </a:extLst>
                </a:gridCol>
                <a:gridCol w="1380067">
                  <a:extLst>
                    <a:ext uri="{9D8B030D-6E8A-4147-A177-3AD203B41FA5}">
                      <a16:colId xmlns:a16="http://schemas.microsoft.com/office/drawing/2014/main" val="1014192535"/>
                    </a:ext>
                  </a:extLst>
                </a:gridCol>
                <a:gridCol w="1481667">
                  <a:extLst>
                    <a:ext uri="{9D8B030D-6E8A-4147-A177-3AD203B41FA5}">
                      <a16:colId xmlns:a16="http://schemas.microsoft.com/office/drawing/2014/main" val="2488090916"/>
                    </a:ext>
                  </a:extLst>
                </a:gridCol>
                <a:gridCol w="1490133">
                  <a:extLst>
                    <a:ext uri="{9D8B030D-6E8A-4147-A177-3AD203B41FA5}">
                      <a16:colId xmlns:a16="http://schemas.microsoft.com/office/drawing/2014/main" val="2481943098"/>
                    </a:ext>
                  </a:extLst>
                </a:gridCol>
                <a:gridCol w="1286934">
                  <a:extLst>
                    <a:ext uri="{9D8B030D-6E8A-4147-A177-3AD203B41FA5}">
                      <a16:colId xmlns:a16="http://schemas.microsoft.com/office/drawing/2014/main" val="411035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Period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smtClean="0"/>
                        <a:t>Average (m3/s)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Standard Deviation (m3/s)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Coef. of Variance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Coef.</a:t>
                      </a:r>
                      <a:r>
                        <a:rPr lang="en-US" altLang="ko-KR" sz="1300" baseline="0" smtClean="0"/>
                        <a:t> of Skewness</a:t>
                      </a:r>
                      <a:endParaRPr lang="ko-KR" altLang="en-US" sz="13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90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2004/01~2022/11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59.66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92.12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1.54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0.27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092653"/>
                  </a:ext>
                </a:extLst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560870" y="1186695"/>
            <a:ext cx="8796981" cy="3349527"/>
            <a:chOff x="628602" y="1141109"/>
            <a:chExt cx="8796981" cy="334952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DF51559-1010-4308-ACED-E4A5E644B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02" y="1249643"/>
              <a:ext cx="8796981" cy="3240993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4094789" y="1141109"/>
              <a:ext cx="1496290" cy="5569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31229" y="1265750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b="1">
                <a:latin typeface="Calibri" panose="020F0502020204030204" pitchFamily="34" charset="0"/>
                <a:cs typeface="Calibri" panose="020F0502020204030204" pitchFamily="34" charset="0"/>
              </a:rPr>
              <a:t>Real-time </a:t>
            </a:r>
            <a:r>
              <a:rPr lang="en-US" altLang="ko-KR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dam gate data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5554" y="4554390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Statistical summary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655725" y="4142578"/>
            <a:ext cx="737541" cy="2177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16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46EA9A3-B80F-4636-967D-321B8C8606EF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Method – Maximum likelihood</a:t>
            </a:r>
            <a:endParaRPr kumimoji="0" lang="en-US" altLang="ko-KR" sz="2400" b="1" i="0" u="none" strike="noStrike" kern="1200" cap="none" spc="-15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ea typeface="아리따-돋움4.0(TTF)-SemiBold" panose="02020603020101020101" pitchFamily="18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47438" y="3843341"/>
                <a:ext cx="998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ko-KR" altLang="en-US" sz="1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38" y="3843341"/>
                <a:ext cx="998927" cy="184666"/>
              </a:xfrm>
              <a:prstGeom prst="rect">
                <a:avLst/>
              </a:prstGeom>
              <a:blipFill>
                <a:blip r:embed="rId3"/>
                <a:stretch>
                  <a:fillRect l="-3049" b="-193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47438" y="4326175"/>
                <a:ext cx="2353657" cy="417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𝜋𝜎</m:t>
                              </m:r>
                            </m:e>
                          </m:rad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2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38" y="4326175"/>
                <a:ext cx="2353657" cy="417165"/>
              </a:xfrm>
              <a:prstGeom prst="rect">
                <a:avLst/>
              </a:prstGeom>
              <a:blipFill>
                <a:blip r:embed="rId4"/>
                <a:stretch>
                  <a:fillRect l="-1036" t="-1471" b="-73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55890" y="5041509"/>
                <a:ext cx="1315938" cy="51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12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890" y="5041509"/>
                <a:ext cx="1315938" cy="5193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31229" y="1265750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Likelihood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20844" y="1265750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Log- likelihood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053" y="2280680"/>
            <a:ext cx="2660506" cy="1088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12025" y="1722196"/>
                <a:ext cx="34277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smtClean="0"/>
                  <a:t>Which distribution is likely to derive data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400" smtClean="0"/>
                  <a:t> </a:t>
                </a:r>
                <a:r>
                  <a:rPr lang="en-US" altLang="ko-KR" sz="1400" smtClean="0"/>
                  <a:t>?</a:t>
                </a:r>
                <a:endParaRPr lang="ko-KR" altLang="en-US" sz="1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25" y="1722196"/>
                <a:ext cx="3427758" cy="307777"/>
              </a:xfrm>
              <a:prstGeom prst="rect">
                <a:avLst/>
              </a:prstGeom>
              <a:blipFill>
                <a:blip r:embed="rId7"/>
                <a:stretch>
                  <a:fillRect l="-533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연결선 14"/>
          <p:cNvCxnSpPr/>
          <p:nvPr/>
        </p:nvCxnSpPr>
        <p:spPr>
          <a:xfrm>
            <a:off x="4580313" y="1265750"/>
            <a:ext cx="0" cy="4736039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576116" y="1684729"/>
                <a:ext cx="2362633" cy="51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𝑙𝑛𝐿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sz="12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20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116" y="1684729"/>
                <a:ext cx="2362633" cy="5193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920844" y="2353597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Maximum likelihood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576116" y="2782643"/>
                <a:ext cx="2163156" cy="595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ko-KR" altLang="en-US" sz="1200" i="1" smtClean="0">
                              <a:latin typeface="Cambria Math" panose="02040503050406030204" pitchFamily="18" charset="0"/>
                            </a:rPr>
                            <m:t>𝜕𝜇</m:t>
                          </m:r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𝜕𝜇</m:t>
                                  </m:r>
                                </m:den>
                              </m:f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20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116" y="2782643"/>
                <a:ext cx="2163156" cy="5954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298557" y="3508634"/>
                <a:ext cx="1231684" cy="51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2(</m:t>
                              </m: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2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557" y="3508634"/>
                <a:ext cx="1231684" cy="5193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298557" y="4168997"/>
                <a:ext cx="1626856" cy="5945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((</m:t>
                              </m: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120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557" y="4168997"/>
                <a:ext cx="1626856" cy="594522"/>
              </a:xfrm>
              <a:prstGeom prst="rect">
                <a:avLst/>
              </a:prstGeom>
              <a:blipFill>
                <a:blip r:embed="rId11"/>
                <a:stretch>
                  <a:fillRect b="-10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414068" y="5091624"/>
                <a:ext cx="1167948" cy="6923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6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160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068" y="5091624"/>
                <a:ext cx="1167948" cy="6923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003172" y="5091624"/>
                <a:ext cx="1871153" cy="6923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6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160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72" y="5091624"/>
                <a:ext cx="1871153" cy="6923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직사각형 24"/>
          <p:cNvSpPr/>
          <p:nvPr/>
        </p:nvSpPr>
        <p:spPr>
          <a:xfrm>
            <a:off x="5153891" y="4904509"/>
            <a:ext cx="3931920" cy="1097280"/>
          </a:xfrm>
          <a:prstGeom prst="rect">
            <a:avLst/>
          </a:prstGeom>
          <a:noFill/>
          <a:ln w="28575" cap="flat" cmpd="sng" algn="ctr">
            <a:solidFill>
              <a:srgbClr val="FD656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03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46EA9A3-B80F-4636-967D-321B8C8606EF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Method – L moments</a:t>
            </a:r>
            <a:endParaRPr kumimoji="0" lang="en-US" altLang="ko-KR" sz="2400" b="1" i="0" u="none" strike="noStrike" kern="1200" cap="none" spc="-15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ea typeface="아리따-돋움4.0(TTF)-SemiBold" panose="02020603020101020101" pitchFamily="18" charset="-127"/>
              <a:cs typeface="+mn-cs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047438" y="1390440"/>
            <a:ext cx="3141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b="1">
                <a:latin typeface="Calibri" panose="020F0502020204030204" pitchFamily="34" charset="0"/>
                <a:cs typeface="Calibri" panose="020F0502020204030204" pitchFamily="34" charset="0"/>
              </a:rPr>
              <a:t>Probability weighted moments 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698097" y="2006420"/>
                <a:ext cx="142006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4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097" y="2006420"/>
                <a:ext cx="1420068" cy="215444"/>
              </a:xfrm>
              <a:prstGeom prst="rect">
                <a:avLst/>
              </a:prstGeom>
              <a:blipFill>
                <a:blip r:embed="rId3"/>
                <a:stretch>
                  <a:fillRect l="-4292" b="-3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398056" y="1898698"/>
                <a:ext cx="187036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: </a:t>
                </a:r>
                <a:r>
                  <a:rPr lang="en-US" altLang="ko-KR" sz="1100" smtClean="0"/>
                  <a:t>Ascending order of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ko-KR" sz="1100" smtClean="0"/>
              </a:p>
              <a:p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ko-KR" sz="1100" smtClean="0"/>
                  <a:t>: Moment degree</a:t>
                </a:r>
                <a:endParaRPr lang="ko-KR" altLang="en-US" sz="11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056" y="1898698"/>
                <a:ext cx="1870364" cy="430887"/>
              </a:xfrm>
              <a:prstGeom prst="rect">
                <a:avLst/>
              </a:prstGeom>
              <a:blipFill>
                <a:blip r:embed="rId4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/>
          <p:cNvSpPr/>
          <p:nvPr/>
        </p:nvSpPr>
        <p:spPr>
          <a:xfrm>
            <a:off x="1528483" y="3204741"/>
            <a:ext cx="36499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100"/>
              <a:t>Express L-moment as a linear combination of probability weighted moments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786487" y="3896666"/>
                <a:ext cx="62164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sz="140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4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487" y="3896666"/>
                <a:ext cx="621644" cy="215444"/>
              </a:xfrm>
              <a:prstGeom prst="rect">
                <a:avLst/>
              </a:prstGeom>
              <a:blipFill>
                <a:blip r:embed="rId5"/>
                <a:stretch>
                  <a:fillRect l="-5882" r="-1961" b="-30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786487" y="4326937"/>
                <a:ext cx="111581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sz="140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487" y="4326937"/>
                <a:ext cx="1115818" cy="215444"/>
              </a:xfrm>
              <a:prstGeom prst="rect">
                <a:avLst/>
              </a:prstGeom>
              <a:blipFill>
                <a:blip r:embed="rId6"/>
                <a:stretch>
                  <a:fillRect l="-3279" r="-546" b="-3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786487" y="4756592"/>
                <a:ext cx="160999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sz="140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40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487" y="4756592"/>
                <a:ext cx="1609993" cy="215444"/>
              </a:xfrm>
              <a:prstGeom prst="rect">
                <a:avLst/>
              </a:prstGeom>
              <a:blipFill>
                <a:blip r:embed="rId7"/>
                <a:stretch>
                  <a:fillRect l="-1894" r="-379" b="-30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786487" y="5186247"/>
                <a:ext cx="240232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sz="140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+12</m:t>
                          </m:r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40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487" y="5186247"/>
                <a:ext cx="2402324" cy="215444"/>
              </a:xfrm>
              <a:prstGeom prst="rect">
                <a:avLst/>
              </a:prstGeom>
              <a:blipFill>
                <a:blip r:embed="rId8"/>
                <a:stretch>
                  <a:fillRect l="-1269" r="-254" b="-3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직사각형 18"/>
          <p:cNvSpPr/>
          <p:nvPr/>
        </p:nvSpPr>
        <p:spPr>
          <a:xfrm>
            <a:off x="1047438" y="2705608"/>
            <a:ext cx="3141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L-moments</a:t>
            </a:r>
            <a:r>
              <a:rPr lang="en-US" altLang="ko-KR" sz="1600" b="1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5178464" y="3291840"/>
            <a:ext cx="0" cy="2360289"/>
          </a:xfrm>
          <a:prstGeom prst="line">
            <a:avLst/>
          </a:prstGeom>
          <a:ln w="38100">
            <a:solidFill>
              <a:srgbClr val="FD656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5484551" y="3395040"/>
            <a:ext cx="36499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b="1" smtClean="0"/>
              <a:t>L-skewness</a:t>
            </a:r>
            <a:endParaRPr lang="ko-KR" altLang="en-US" sz="1400" b="1"/>
          </a:p>
        </p:txBody>
      </p:sp>
      <p:sp>
        <p:nvSpPr>
          <p:cNvPr id="24" name="직사각형 23"/>
          <p:cNvSpPr/>
          <p:nvPr/>
        </p:nvSpPr>
        <p:spPr>
          <a:xfrm>
            <a:off x="5484551" y="4671125"/>
            <a:ext cx="36499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b="1" smtClean="0"/>
              <a:t>L-kurtosis</a:t>
            </a:r>
            <a:endParaRPr lang="ko-KR" altLang="en-US" sz="14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/>
              <p:cNvSpPr/>
              <p:nvPr/>
            </p:nvSpPr>
            <p:spPr>
              <a:xfrm>
                <a:off x="7076175" y="3794514"/>
                <a:ext cx="883190" cy="6002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ko-KR" sz="16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ko-KR" sz="16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1600"/>
              </a:p>
            </p:txBody>
          </p:sp>
        </mc:Choice>
        <mc:Fallback xmlns=""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175" y="3794514"/>
                <a:ext cx="883190" cy="6002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/>
              <p:cNvSpPr/>
              <p:nvPr/>
            </p:nvSpPr>
            <p:spPr>
              <a:xfrm>
                <a:off x="7076175" y="5074544"/>
                <a:ext cx="883190" cy="6002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ko-KR" sz="16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ko-KR" sz="16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1600"/>
              </a:p>
            </p:txBody>
          </p:sp>
        </mc:Choice>
        <mc:Fallback xmlns="">
          <p:sp>
            <p:nvSpPr>
              <p:cNvPr id="27" name="직사각형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175" y="5074544"/>
                <a:ext cx="883190" cy="6002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40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EB97F62-D1CC-4243-8AD9-56C9186731D8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Results - Total</a:t>
            </a:r>
            <a:endParaRPr kumimoji="0" lang="en-US" altLang="ko-KR" sz="2400" b="1" i="0" u="none" strike="noStrike" kern="1200" cap="none" spc="-15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ea typeface="아리따-돋움4.0(TTF)-SemiBold" panose="02020603020101020101" pitchFamily="18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85" y="988324"/>
            <a:ext cx="3699001" cy="2466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85" y="3482040"/>
            <a:ext cx="3699000" cy="2466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091" y="3427745"/>
            <a:ext cx="3699000" cy="2466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091" y="961745"/>
            <a:ext cx="3699000" cy="24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2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EB97F62-D1CC-4243-8AD9-56C9186731D8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 spc="-150" smtClean="0">
                <a:solidFill>
                  <a:srgbClr val="E7E6E6">
                    <a:lumMod val="25000"/>
                  </a:srgbClr>
                </a:solidFill>
                <a:ea typeface="아리따-돋움4.0(TTF)-SemiBold" panose="02020603020101020101" pitchFamily="18" charset="-127"/>
              </a:rPr>
              <a:t>Results - Total</a:t>
            </a:r>
            <a:endParaRPr lang="en-US" altLang="ko-KR" sz="2400" b="1" spc="-150">
              <a:solidFill>
                <a:srgbClr val="E7E6E6">
                  <a:lumMod val="25000"/>
                </a:srgbClr>
              </a:solidFill>
              <a:ea typeface="아리따-돋움4.0(TTF)-SemiBold" panose="02020603020101020101" pitchFamily="18" charset="-127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926281"/>
              </p:ext>
            </p:extLst>
          </p:nvPr>
        </p:nvGraphicFramePr>
        <p:xfrm>
          <a:off x="1376881" y="2200685"/>
          <a:ext cx="7300423" cy="27204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264">
                  <a:extLst>
                    <a:ext uri="{9D8B030D-6E8A-4147-A177-3AD203B41FA5}">
                      <a16:colId xmlns:a16="http://schemas.microsoft.com/office/drawing/2014/main" val="897778387"/>
                    </a:ext>
                  </a:extLst>
                </a:gridCol>
                <a:gridCol w="1445366">
                  <a:extLst>
                    <a:ext uri="{9D8B030D-6E8A-4147-A177-3AD203B41FA5}">
                      <a16:colId xmlns:a16="http://schemas.microsoft.com/office/drawing/2014/main" val="3227071048"/>
                    </a:ext>
                  </a:extLst>
                </a:gridCol>
                <a:gridCol w="1282265">
                  <a:extLst>
                    <a:ext uri="{9D8B030D-6E8A-4147-A177-3AD203B41FA5}">
                      <a16:colId xmlns:a16="http://schemas.microsoft.com/office/drawing/2014/main" val="665182981"/>
                    </a:ext>
                  </a:extLst>
                </a:gridCol>
                <a:gridCol w="1524264">
                  <a:extLst>
                    <a:ext uri="{9D8B030D-6E8A-4147-A177-3AD203B41FA5}">
                      <a16:colId xmlns:a16="http://schemas.microsoft.com/office/drawing/2014/main" val="4129538365"/>
                    </a:ext>
                  </a:extLst>
                </a:gridCol>
                <a:gridCol w="1524264">
                  <a:extLst>
                    <a:ext uri="{9D8B030D-6E8A-4147-A177-3AD203B41FA5}">
                      <a16:colId xmlns:a16="http://schemas.microsoft.com/office/drawing/2014/main" val="4172239438"/>
                    </a:ext>
                  </a:extLst>
                </a:gridCol>
              </a:tblGrid>
              <a:tr h="5966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Distribution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Estimated </a:t>
                      </a:r>
                      <a:endParaRPr lang="en-US" sz="1600" b="1" u="none" strike="noStrike" smtClean="0">
                        <a:effectLst/>
                      </a:endParaRPr>
                    </a:p>
                    <a:p>
                      <a:pPr algn="ctr" fontAlgn="b"/>
                      <a:r>
                        <a:rPr lang="en-US" sz="1600" b="1" u="none" strike="noStrike" smtClean="0">
                          <a:effectLst/>
                        </a:rPr>
                        <a:t>parameters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Likelihood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AIC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317"/>
                  </a:ext>
                </a:extLst>
              </a:tr>
              <a:tr h="303403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Normal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Mean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63.06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solidFill>
                            <a:schemeClr val="tx1"/>
                          </a:solidFill>
                          <a:effectLst/>
                        </a:rPr>
                        <a:t>-1285.95</a:t>
                      </a:r>
                      <a:endParaRPr lang="en-US" altLang="ko-KR" sz="16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solidFill>
                            <a:schemeClr val="tx1"/>
                          </a:solidFill>
                          <a:effectLst/>
                        </a:rPr>
                        <a:t>2564.48</a:t>
                      </a:r>
                      <a:endParaRPr lang="en-US" altLang="ko-KR" sz="16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81874"/>
                  </a:ext>
                </a:extLst>
              </a:tr>
              <a:tr h="303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93.29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457696"/>
                  </a:ext>
                </a:extLst>
              </a:tr>
              <a:tr h="303403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Log-normal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Mean log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3.34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-1114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2232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10551"/>
                  </a:ext>
                </a:extLst>
              </a:tr>
              <a:tr h="303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SD log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1.52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155468"/>
                  </a:ext>
                </a:extLst>
              </a:tr>
              <a:tr h="3034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Exponential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Rate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0.016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-1105.968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2213.94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678426"/>
                  </a:ext>
                </a:extLst>
              </a:tr>
              <a:tr h="303403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Gamma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Shape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0.75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solidFill>
                            <a:srgbClr val="FF0000"/>
                          </a:solidFill>
                          <a:effectLst/>
                        </a:rPr>
                        <a:t>-1099.13</a:t>
                      </a:r>
                      <a:endParaRPr lang="en-US" altLang="ko-KR" sz="16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solidFill>
                            <a:srgbClr val="FF0000"/>
                          </a:solidFill>
                          <a:effectLst/>
                        </a:rPr>
                        <a:t>2202.25</a:t>
                      </a:r>
                      <a:endParaRPr lang="en-US" altLang="ko-KR" sz="16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40931"/>
                  </a:ext>
                </a:extLst>
              </a:tr>
              <a:tr h="303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Rate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>
                          <a:effectLst/>
                        </a:rPr>
                        <a:t>0.012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722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83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EB97F62-D1CC-4243-8AD9-56C9186731D8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Results</a:t>
            </a:r>
            <a:r>
              <a:rPr kumimoji="0" lang="en-US" altLang="ko-KR" sz="2400" b="1" i="0" u="none" strike="noStrike" kern="1200" cap="none" spc="-150" normalizeH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 – L moments</a:t>
            </a:r>
            <a:endParaRPr kumimoji="0" lang="en-US" altLang="ko-KR" sz="2400" b="1" i="0" u="none" strike="noStrike" kern="1200" cap="none" spc="-15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ea typeface="아리따-돋움4.0(TTF)-SemiBold" panose="02020603020101020101" pitchFamily="18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14648" y="1067776"/>
            <a:ext cx="363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b="1" smtClean="0"/>
              <a:t>Normal distribution</a:t>
            </a:r>
            <a:endParaRPr lang="ko-KR" altLang="en-US" b="1"/>
          </a:p>
        </p:txBody>
      </p:sp>
      <p:sp>
        <p:nvSpPr>
          <p:cNvPr id="17" name="TextBox 16"/>
          <p:cNvSpPr txBox="1"/>
          <p:nvPr/>
        </p:nvSpPr>
        <p:spPr>
          <a:xfrm>
            <a:off x="814647" y="3650803"/>
            <a:ext cx="363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mtClean="0"/>
              <a:t>Log-normal distribution</a:t>
            </a:r>
            <a:endParaRPr lang="ko-KR" altLang="en-US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418392"/>
              </p:ext>
            </p:extLst>
          </p:nvPr>
        </p:nvGraphicFramePr>
        <p:xfrm>
          <a:off x="1281081" y="1809395"/>
          <a:ext cx="2210264" cy="16459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95522">
                  <a:extLst>
                    <a:ext uri="{9D8B030D-6E8A-4147-A177-3AD203B41FA5}">
                      <a16:colId xmlns:a16="http://schemas.microsoft.com/office/drawing/2014/main" val="34187337"/>
                    </a:ext>
                  </a:extLst>
                </a:gridCol>
                <a:gridCol w="1214742">
                  <a:extLst>
                    <a:ext uri="{9D8B030D-6E8A-4147-A177-3AD203B41FA5}">
                      <a16:colId xmlns:a16="http://schemas.microsoft.com/office/drawing/2014/main" val="2575942330"/>
                    </a:ext>
                  </a:extLst>
                </a:gridCol>
              </a:tblGrid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mtClean="0"/>
                        <a:t>25.59</a:t>
                      </a:r>
                      <a:endParaRPr lang="ko-KR" altLang="en-US" sz="1200" b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5579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L2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17.57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673129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L3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7.01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814430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L4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-0.18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989432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L-skewness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0.40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100791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L-kurtosis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-0.01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996643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624456"/>
              </p:ext>
            </p:extLst>
          </p:nvPr>
        </p:nvGraphicFramePr>
        <p:xfrm>
          <a:off x="4445202" y="1946555"/>
          <a:ext cx="3427741" cy="1371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0163">
                  <a:extLst>
                    <a:ext uri="{9D8B030D-6E8A-4147-A177-3AD203B41FA5}">
                      <a16:colId xmlns:a16="http://schemas.microsoft.com/office/drawing/2014/main" val="450901270"/>
                    </a:ext>
                  </a:extLst>
                </a:gridCol>
                <a:gridCol w="724222">
                  <a:extLst>
                    <a:ext uri="{9D8B030D-6E8A-4147-A177-3AD203B41FA5}">
                      <a16:colId xmlns:a16="http://schemas.microsoft.com/office/drawing/2014/main" val="1616143108"/>
                    </a:ext>
                  </a:extLst>
                </a:gridCol>
                <a:gridCol w="816040">
                  <a:extLst>
                    <a:ext uri="{9D8B030D-6E8A-4147-A177-3AD203B41FA5}">
                      <a16:colId xmlns:a16="http://schemas.microsoft.com/office/drawing/2014/main" val="2696910642"/>
                    </a:ext>
                  </a:extLst>
                </a:gridCol>
                <a:gridCol w="774038">
                  <a:extLst>
                    <a:ext uri="{9D8B030D-6E8A-4147-A177-3AD203B41FA5}">
                      <a16:colId xmlns:a16="http://schemas.microsoft.com/office/drawing/2014/main" val="3747012398"/>
                    </a:ext>
                  </a:extLst>
                </a:gridCol>
                <a:gridCol w="773278">
                  <a:extLst>
                    <a:ext uri="{9D8B030D-6E8A-4147-A177-3AD203B41FA5}">
                      <a16:colId xmlns:a16="http://schemas.microsoft.com/office/drawing/2014/main" val="3958629597"/>
                    </a:ext>
                  </a:extLst>
                </a:gridCol>
              </a:tblGrid>
              <a:tr h="157262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L4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901759"/>
                  </a:ext>
                </a:extLst>
              </a:tr>
              <a:tr h="1572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L1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11.98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5.01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-2.33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-4.26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535233"/>
                  </a:ext>
                </a:extLst>
              </a:tr>
              <a:tr h="1572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L2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5.01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2.11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-0.95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-1.78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989865"/>
                  </a:ext>
                </a:extLst>
              </a:tr>
              <a:tr h="1572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L3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-2.33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-0.95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0.49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0.84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098594"/>
                  </a:ext>
                </a:extLst>
              </a:tr>
              <a:tr h="1572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mtClean="0"/>
                        <a:t>L4</a:t>
                      </a:r>
                      <a:endParaRPr lang="ko-KR" altLang="en-US" sz="1200" b="1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-4.26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-1.78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0.84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1.53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3859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47438" y="1453462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mtClean="0">
                <a:latin typeface="Calibri" panose="020F0502020204030204" pitchFamily="34" charset="0"/>
                <a:cs typeface="Calibri" panose="020F0502020204030204" pitchFamily="34" charset="0"/>
              </a:rPr>
              <a:t>L-coefficients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7699" y="1453462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mtClean="0">
                <a:latin typeface="Calibri" panose="020F0502020204030204" pitchFamily="34" charset="0"/>
                <a:cs typeface="Calibri" panose="020F0502020204030204" pitchFamily="34" charset="0"/>
              </a:rPr>
              <a:t>Covarience of L-moments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396573"/>
              </p:ext>
            </p:extLst>
          </p:nvPr>
        </p:nvGraphicFramePr>
        <p:xfrm>
          <a:off x="1281081" y="4386000"/>
          <a:ext cx="2314172" cy="16459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42324">
                  <a:extLst>
                    <a:ext uri="{9D8B030D-6E8A-4147-A177-3AD203B41FA5}">
                      <a16:colId xmlns:a16="http://schemas.microsoft.com/office/drawing/2014/main" val="34187337"/>
                    </a:ext>
                  </a:extLst>
                </a:gridCol>
                <a:gridCol w="1271848">
                  <a:extLst>
                    <a:ext uri="{9D8B030D-6E8A-4147-A177-3AD203B41FA5}">
                      <a16:colId xmlns:a16="http://schemas.microsoft.com/office/drawing/2014/main" val="2575942330"/>
                    </a:ext>
                  </a:extLst>
                </a:gridCol>
              </a:tblGrid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mtClean="0"/>
                        <a:t>12.65</a:t>
                      </a:r>
                      <a:endParaRPr lang="ko-KR" altLang="en-US" sz="1200" b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5579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L2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12.55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673129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L3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12.34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814430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L4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12.03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989432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L-skewness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0.98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100791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L-kurtosis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0.96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996643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551152"/>
              </p:ext>
            </p:extLst>
          </p:nvPr>
        </p:nvGraphicFramePr>
        <p:xfrm>
          <a:off x="4445202" y="4523160"/>
          <a:ext cx="3427741" cy="1371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51242">
                  <a:extLst>
                    <a:ext uri="{9D8B030D-6E8A-4147-A177-3AD203B41FA5}">
                      <a16:colId xmlns:a16="http://schemas.microsoft.com/office/drawing/2014/main" val="450901270"/>
                    </a:ext>
                  </a:extLst>
                </a:gridCol>
                <a:gridCol w="713143">
                  <a:extLst>
                    <a:ext uri="{9D8B030D-6E8A-4147-A177-3AD203B41FA5}">
                      <a16:colId xmlns:a16="http://schemas.microsoft.com/office/drawing/2014/main" val="1616143108"/>
                    </a:ext>
                  </a:extLst>
                </a:gridCol>
                <a:gridCol w="816040">
                  <a:extLst>
                    <a:ext uri="{9D8B030D-6E8A-4147-A177-3AD203B41FA5}">
                      <a16:colId xmlns:a16="http://schemas.microsoft.com/office/drawing/2014/main" val="2696910642"/>
                    </a:ext>
                  </a:extLst>
                </a:gridCol>
                <a:gridCol w="774038">
                  <a:extLst>
                    <a:ext uri="{9D8B030D-6E8A-4147-A177-3AD203B41FA5}">
                      <a16:colId xmlns:a16="http://schemas.microsoft.com/office/drawing/2014/main" val="3747012398"/>
                    </a:ext>
                  </a:extLst>
                </a:gridCol>
                <a:gridCol w="773278">
                  <a:extLst>
                    <a:ext uri="{9D8B030D-6E8A-4147-A177-3AD203B41FA5}">
                      <a16:colId xmlns:a16="http://schemas.microsoft.com/office/drawing/2014/main" val="3958629597"/>
                    </a:ext>
                  </a:extLst>
                </a:gridCol>
              </a:tblGrid>
              <a:tr h="1619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L4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901759"/>
                  </a:ext>
                </a:extLst>
              </a:tr>
              <a:tr h="2698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L1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82.20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80.90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78.29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74.38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535233"/>
                  </a:ext>
                </a:extLst>
              </a:tr>
              <a:tr h="2698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L2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80.90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79.60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77.02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73.14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989865"/>
                  </a:ext>
                </a:extLst>
              </a:tr>
              <a:tr h="2698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L3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78.29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77.02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74.47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70.65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098594"/>
                  </a:ext>
                </a:extLst>
              </a:tr>
              <a:tr h="2698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mtClean="0"/>
                        <a:t>L4</a:t>
                      </a:r>
                      <a:endParaRPr lang="ko-KR" altLang="en-US" sz="1200" b="1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74.38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73.14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70.65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66.93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38596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47438" y="4030067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mtClean="0">
                <a:latin typeface="Calibri" panose="020F0502020204030204" pitchFamily="34" charset="0"/>
                <a:cs typeface="Calibri" panose="020F0502020204030204" pitchFamily="34" charset="0"/>
              </a:rPr>
              <a:t>L-coefficients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17699" y="4030067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mtClean="0">
                <a:latin typeface="Calibri" panose="020F0502020204030204" pitchFamily="34" charset="0"/>
                <a:cs typeface="Calibri" panose="020F0502020204030204" pitchFamily="34" charset="0"/>
              </a:rPr>
              <a:t>Covarience of L-moments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29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B97F62-D1CC-4243-8AD9-56C9186731D8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Results - August</a:t>
            </a:r>
            <a:endParaRPr kumimoji="0" lang="en-US" altLang="ko-KR" sz="2400" b="1" i="0" u="none" strike="noStrike" kern="1200" cap="none" spc="-15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ea typeface="아리따-돋움4.0(TTF)-SemiBold" panose="02020603020101020101" pitchFamily="18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458798" y="988324"/>
            <a:ext cx="5388417" cy="3848869"/>
            <a:chOff x="2458798" y="988324"/>
            <a:chExt cx="5388417" cy="3848869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8798" y="988324"/>
              <a:ext cx="5388417" cy="3848869"/>
            </a:xfrm>
            <a:prstGeom prst="rect">
              <a:avLst/>
            </a:prstGeom>
          </p:spPr>
        </p:pic>
        <p:sp>
          <p:nvSpPr>
            <p:cNvPr id="20" name="직사각형 19"/>
            <p:cNvSpPr/>
            <p:nvPr/>
          </p:nvSpPr>
          <p:spPr>
            <a:xfrm>
              <a:off x="5476486" y="1506759"/>
              <a:ext cx="473141" cy="3107191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91810"/>
              </p:ext>
            </p:extLst>
          </p:nvPr>
        </p:nvGraphicFramePr>
        <p:xfrm>
          <a:off x="1420293" y="5013007"/>
          <a:ext cx="7213600" cy="858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74799">
                  <a:extLst>
                    <a:ext uri="{9D8B030D-6E8A-4147-A177-3AD203B41FA5}">
                      <a16:colId xmlns:a16="http://schemas.microsoft.com/office/drawing/2014/main" val="1216761972"/>
                    </a:ext>
                  </a:extLst>
                </a:gridCol>
                <a:gridCol w="1380067">
                  <a:extLst>
                    <a:ext uri="{9D8B030D-6E8A-4147-A177-3AD203B41FA5}">
                      <a16:colId xmlns:a16="http://schemas.microsoft.com/office/drawing/2014/main" val="1014192535"/>
                    </a:ext>
                  </a:extLst>
                </a:gridCol>
                <a:gridCol w="1481667">
                  <a:extLst>
                    <a:ext uri="{9D8B030D-6E8A-4147-A177-3AD203B41FA5}">
                      <a16:colId xmlns:a16="http://schemas.microsoft.com/office/drawing/2014/main" val="2488090916"/>
                    </a:ext>
                  </a:extLst>
                </a:gridCol>
                <a:gridCol w="1490133">
                  <a:extLst>
                    <a:ext uri="{9D8B030D-6E8A-4147-A177-3AD203B41FA5}">
                      <a16:colId xmlns:a16="http://schemas.microsoft.com/office/drawing/2014/main" val="2481943098"/>
                    </a:ext>
                  </a:extLst>
                </a:gridCol>
                <a:gridCol w="1286934">
                  <a:extLst>
                    <a:ext uri="{9D8B030D-6E8A-4147-A177-3AD203B41FA5}">
                      <a16:colId xmlns:a16="http://schemas.microsoft.com/office/drawing/2014/main" val="411035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Period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smtClean="0"/>
                        <a:t>Average (m3/s)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Standard Deviation (m3/s)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Coef. of Variance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Coef.</a:t>
                      </a:r>
                      <a:r>
                        <a:rPr lang="en-US" altLang="ko-KR" sz="1300" baseline="0" smtClean="0"/>
                        <a:t> of Skewness</a:t>
                      </a:r>
                      <a:endParaRPr lang="ko-KR" altLang="en-US" sz="13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90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2004~2022</a:t>
                      </a:r>
                      <a:r>
                        <a:rPr lang="en-US" altLang="ko-KR" sz="1300" baseline="0" smtClean="0"/>
                        <a:t> August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154.32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150.68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0.98</a:t>
                      </a:r>
                      <a:endParaRPr lang="ko-KR" alt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mtClean="0"/>
                        <a:t>1.07</a:t>
                      </a:r>
                      <a:endParaRPr lang="en-US" altLang="ko-KR" sz="13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09265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63287" y="4613950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Statistical summary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6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EB97F62-D1CC-4243-8AD9-56C9186731D8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Results - August</a:t>
            </a:r>
            <a:endParaRPr kumimoji="0" lang="en-US" altLang="ko-KR" sz="2400" b="1" i="0" u="none" strike="noStrike" kern="1200" cap="none" spc="-15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ea typeface="아리따-돋움4.0(TTF)-SemiBold" panose="02020603020101020101" pitchFamily="18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38" y="988324"/>
            <a:ext cx="3696081" cy="246405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38" y="3452378"/>
            <a:ext cx="3696081" cy="246405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50" y="3452378"/>
            <a:ext cx="3696080" cy="2464054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48" y="988324"/>
            <a:ext cx="3696081" cy="246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2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EB97F62-D1CC-4243-8AD9-56C9186731D8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2400" b="1" i="0" u="none" strike="noStrike" kern="1200" cap="none" spc="-15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Results</a:t>
            </a:r>
            <a:r>
              <a:rPr lang="en-US" altLang="ko-KR" sz="2400" b="1" spc="-150" smtClean="0">
                <a:solidFill>
                  <a:srgbClr val="E7E6E6">
                    <a:lumMod val="25000"/>
                  </a:srgbClr>
                </a:solidFill>
                <a:ea typeface="아리따-돋움4.0(TTF)-SemiBold" panose="02020603020101020101" pitchFamily="18" charset="-127"/>
              </a:rPr>
              <a:t> </a:t>
            </a:r>
            <a:r>
              <a:rPr lang="en-US" altLang="ko-KR" sz="2400" b="1" spc="-150">
                <a:solidFill>
                  <a:srgbClr val="E7E6E6">
                    <a:lumMod val="25000"/>
                  </a:srgbClr>
                </a:solidFill>
                <a:ea typeface="아리따-돋움4.0(TTF)-SemiBold" panose="02020603020101020101" pitchFamily="18" charset="-127"/>
              </a:rPr>
              <a:t>- August</a:t>
            </a:r>
            <a:endParaRPr lang="en-US" altLang="ko-KR" sz="2400" b="1" spc="-150" dirty="0">
              <a:solidFill>
                <a:srgbClr val="E7E6E6">
                  <a:lumMod val="25000"/>
                </a:srgbClr>
              </a:solidFill>
              <a:ea typeface="아리따-돋움4.0(TTF)-SemiBold" panose="02020603020101020101" pitchFamily="18" charset="-127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054720"/>
              </p:ext>
            </p:extLst>
          </p:nvPr>
        </p:nvGraphicFramePr>
        <p:xfrm>
          <a:off x="1302066" y="2163127"/>
          <a:ext cx="7300423" cy="27204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264">
                  <a:extLst>
                    <a:ext uri="{9D8B030D-6E8A-4147-A177-3AD203B41FA5}">
                      <a16:colId xmlns:a16="http://schemas.microsoft.com/office/drawing/2014/main" val="897778387"/>
                    </a:ext>
                  </a:extLst>
                </a:gridCol>
                <a:gridCol w="1445366">
                  <a:extLst>
                    <a:ext uri="{9D8B030D-6E8A-4147-A177-3AD203B41FA5}">
                      <a16:colId xmlns:a16="http://schemas.microsoft.com/office/drawing/2014/main" val="3227071048"/>
                    </a:ext>
                  </a:extLst>
                </a:gridCol>
                <a:gridCol w="1282265">
                  <a:extLst>
                    <a:ext uri="{9D8B030D-6E8A-4147-A177-3AD203B41FA5}">
                      <a16:colId xmlns:a16="http://schemas.microsoft.com/office/drawing/2014/main" val="665182981"/>
                    </a:ext>
                  </a:extLst>
                </a:gridCol>
                <a:gridCol w="1524264">
                  <a:extLst>
                    <a:ext uri="{9D8B030D-6E8A-4147-A177-3AD203B41FA5}">
                      <a16:colId xmlns:a16="http://schemas.microsoft.com/office/drawing/2014/main" val="4129538365"/>
                    </a:ext>
                  </a:extLst>
                </a:gridCol>
                <a:gridCol w="1524264">
                  <a:extLst>
                    <a:ext uri="{9D8B030D-6E8A-4147-A177-3AD203B41FA5}">
                      <a16:colId xmlns:a16="http://schemas.microsoft.com/office/drawing/2014/main" val="4172239438"/>
                    </a:ext>
                  </a:extLst>
                </a:gridCol>
              </a:tblGrid>
              <a:tr h="5966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Distribution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Estimated </a:t>
                      </a:r>
                      <a:endParaRPr lang="en-US" sz="1600" b="1" u="none" strike="noStrike" smtClean="0">
                        <a:effectLst/>
                      </a:endParaRPr>
                    </a:p>
                    <a:p>
                      <a:pPr algn="ctr" fontAlgn="b"/>
                      <a:r>
                        <a:rPr lang="en-US" sz="1600" b="1" u="none" strike="noStrike" smtClean="0">
                          <a:effectLst/>
                        </a:rPr>
                        <a:t>parameters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Likelihood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AIC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317"/>
                  </a:ext>
                </a:extLst>
              </a:tr>
              <a:tr h="303403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Normal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Mean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 smtClean="0">
                          <a:effectLst/>
                        </a:rPr>
                        <a:t>154.31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 smtClean="0">
                          <a:solidFill>
                            <a:schemeClr val="tx1"/>
                          </a:solidFill>
                          <a:effectLst/>
                        </a:rPr>
                        <a:t>-115.30</a:t>
                      </a:r>
                      <a:endParaRPr lang="en-US" altLang="ko-KR" sz="16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 smtClean="0">
                          <a:solidFill>
                            <a:schemeClr val="tx1"/>
                          </a:solidFill>
                          <a:effectLst/>
                        </a:rPr>
                        <a:t>234.60</a:t>
                      </a:r>
                      <a:endParaRPr lang="en-US" altLang="ko-KR" sz="16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81874"/>
                  </a:ext>
                </a:extLst>
              </a:tr>
              <a:tr h="303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146.43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457696"/>
                  </a:ext>
                </a:extLst>
              </a:tr>
              <a:tr h="303403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Log-normal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Mean log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4.59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 smtClean="0">
                          <a:solidFill>
                            <a:srgbClr val="FF0000"/>
                          </a:solidFill>
                          <a:effectLst/>
                        </a:rPr>
                        <a:t>-108.38</a:t>
                      </a:r>
                      <a:endParaRPr lang="en-US" altLang="ko-KR" sz="16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u="none" strike="noStrike" smtClean="0">
                          <a:solidFill>
                            <a:schemeClr val="tx1"/>
                          </a:solidFill>
                          <a:effectLst/>
                        </a:rPr>
                        <a:t>220.75</a:t>
                      </a:r>
                      <a:endParaRPr lang="en-US" altLang="ko-KR" sz="16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10551"/>
                  </a:ext>
                </a:extLst>
              </a:tr>
              <a:tr h="303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SD log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1.01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155468"/>
                  </a:ext>
                </a:extLst>
              </a:tr>
              <a:tr h="3034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Exponential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Rate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0.0065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-108.70</a:t>
                      </a:r>
                      <a:endParaRPr lang="en-US" altLang="ko-KR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b="0" i="0" u="none" strike="noStrike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219.40</a:t>
                      </a:r>
                      <a:endParaRPr lang="en-US" altLang="ko-KR" sz="16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678426"/>
                  </a:ext>
                </a:extLst>
              </a:tr>
              <a:tr h="303403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Gamma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Shape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1.26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-108.38</a:t>
                      </a:r>
                      <a:endParaRPr lang="en-US" altLang="ko-KR" sz="1600" b="0" i="0" u="none" strike="noStrike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220.83</a:t>
                      </a:r>
                      <a:endParaRPr lang="en-US" altLang="ko-KR" sz="16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40931"/>
                  </a:ext>
                </a:extLst>
              </a:tr>
              <a:tr h="303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Rate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6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0.008</a:t>
                      </a:r>
                      <a:endParaRPr lang="en-US" altLang="ko-KR" sz="16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722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5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EB97F62-D1CC-4243-8AD9-56C9186731D8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2400" b="1" i="0" u="none" strike="noStrike" kern="1200" cap="none" spc="-150" normalizeH="0" baseline="0" noProof="0" smtClean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Results</a:t>
            </a:r>
            <a:r>
              <a:rPr lang="en-US" altLang="ko-KR" sz="2400" b="1" spc="-150" smtClean="0">
                <a:solidFill>
                  <a:srgbClr val="E7E6E6">
                    <a:lumMod val="25000"/>
                  </a:srgbClr>
                </a:solidFill>
                <a:ea typeface="아리따-돋움4.0(TTF)-SemiBold" panose="02020603020101020101" pitchFamily="18" charset="-127"/>
              </a:rPr>
              <a:t> </a:t>
            </a:r>
            <a:r>
              <a:rPr lang="en-US" altLang="ko-KR" sz="2400" b="1" spc="-150">
                <a:solidFill>
                  <a:srgbClr val="E7E6E6">
                    <a:lumMod val="25000"/>
                  </a:srgbClr>
                </a:solidFill>
                <a:ea typeface="아리따-돋움4.0(TTF)-SemiBold" panose="02020603020101020101" pitchFamily="18" charset="-127"/>
              </a:rPr>
              <a:t>– L moments</a:t>
            </a:r>
            <a:endParaRPr lang="en-US" altLang="ko-KR" sz="2400" b="1" spc="-150" dirty="0">
              <a:solidFill>
                <a:srgbClr val="E7E6E6">
                  <a:lumMod val="25000"/>
                </a:srgbClr>
              </a:solidFill>
              <a:ea typeface="아리따-돋움4.0(TTF)-SemiBold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4648" y="1067776"/>
            <a:ext cx="363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b="1" smtClean="0"/>
              <a:t>Normal distribution</a:t>
            </a:r>
            <a:endParaRPr lang="ko-KR" altLang="en-US" b="1"/>
          </a:p>
        </p:txBody>
      </p:sp>
      <p:sp>
        <p:nvSpPr>
          <p:cNvPr id="16" name="TextBox 15"/>
          <p:cNvSpPr txBox="1"/>
          <p:nvPr/>
        </p:nvSpPr>
        <p:spPr>
          <a:xfrm>
            <a:off x="814647" y="3650803"/>
            <a:ext cx="363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mtClean="0"/>
              <a:t>Log-normal distribution</a:t>
            </a:r>
            <a:endParaRPr lang="ko-KR" altLang="en-US"/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459366"/>
              </p:ext>
            </p:extLst>
          </p:nvPr>
        </p:nvGraphicFramePr>
        <p:xfrm>
          <a:off x="1281081" y="1809395"/>
          <a:ext cx="2210264" cy="1645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95522">
                  <a:extLst>
                    <a:ext uri="{9D8B030D-6E8A-4147-A177-3AD203B41FA5}">
                      <a16:colId xmlns:a16="http://schemas.microsoft.com/office/drawing/2014/main" val="34187337"/>
                    </a:ext>
                  </a:extLst>
                </a:gridCol>
                <a:gridCol w="1214742">
                  <a:extLst>
                    <a:ext uri="{9D8B030D-6E8A-4147-A177-3AD203B41FA5}">
                      <a16:colId xmlns:a16="http://schemas.microsoft.com/office/drawing/2014/main" val="2575942330"/>
                    </a:ext>
                  </a:extLst>
                </a:gridCol>
              </a:tblGrid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L1</a:t>
                      </a:r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mtClean="0"/>
                        <a:t>1.52</a:t>
                      </a:r>
                      <a:endParaRPr lang="ko-KR" altLang="en-US" sz="1200" b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5579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L2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0.44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673129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L3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-0.03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814430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L4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-0.02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989432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L-skewness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-0.07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100791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L-kurtosis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-0.04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996643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851194"/>
              </p:ext>
            </p:extLst>
          </p:nvPr>
        </p:nvGraphicFramePr>
        <p:xfrm>
          <a:off x="4445201" y="1946555"/>
          <a:ext cx="3975591" cy="1371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94531">
                  <a:extLst>
                    <a:ext uri="{9D8B030D-6E8A-4147-A177-3AD203B41FA5}">
                      <a16:colId xmlns:a16="http://schemas.microsoft.com/office/drawing/2014/main" val="450901270"/>
                    </a:ext>
                  </a:extLst>
                </a:gridCol>
                <a:gridCol w="839974">
                  <a:extLst>
                    <a:ext uri="{9D8B030D-6E8A-4147-A177-3AD203B41FA5}">
                      <a16:colId xmlns:a16="http://schemas.microsoft.com/office/drawing/2014/main" val="1616143108"/>
                    </a:ext>
                  </a:extLst>
                </a:gridCol>
                <a:gridCol w="946466">
                  <a:extLst>
                    <a:ext uri="{9D8B030D-6E8A-4147-A177-3AD203B41FA5}">
                      <a16:colId xmlns:a16="http://schemas.microsoft.com/office/drawing/2014/main" val="2696910642"/>
                    </a:ext>
                  </a:extLst>
                </a:gridCol>
                <a:gridCol w="897751">
                  <a:extLst>
                    <a:ext uri="{9D8B030D-6E8A-4147-A177-3AD203B41FA5}">
                      <a16:colId xmlns:a16="http://schemas.microsoft.com/office/drawing/2014/main" val="3747012398"/>
                    </a:ext>
                  </a:extLst>
                </a:gridCol>
                <a:gridCol w="896869">
                  <a:extLst>
                    <a:ext uri="{9D8B030D-6E8A-4147-A177-3AD203B41FA5}">
                      <a16:colId xmlns:a16="http://schemas.microsoft.com/office/drawing/2014/main" val="3958629597"/>
                    </a:ext>
                  </a:extLst>
                </a:gridCol>
              </a:tblGrid>
              <a:tr h="157262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L4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901759"/>
                  </a:ext>
                </a:extLst>
              </a:tr>
              <a:tr h="1572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L1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0.006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-4.90×10-4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-1.39×10-3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1.19×10-4</a:t>
                      </a:r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535233"/>
                  </a:ext>
                </a:extLst>
              </a:tr>
              <a:tr h="1572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L2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-0.005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3.17×10-4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3.17×10-5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-1.56×10-4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989865"/>
                  </a:ext>
                </a:extLst>
              </a:tr>
              <a:tr h="1572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L3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-0.001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3.41×10-5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3.41×10-4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-5.00×10-6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098594"/>
                  </a:ext>
                </a:extLst>
              </a:tr>
              <a:tr h="1572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mtClean="0"/>
                        <a:t>L4</a:t>
                      </a:r>
                      <a:endParaRPr lang="ko-KR" altLang="en-US" sz="1200" b="1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0.0001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-1.56×10-4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-5.00×10-6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1.05×10-4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3859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047438" y="1453462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mtClean="0">
                <a:latin typeface="Calibri" panose="020F0502020204030204" pitchFamily="34" charset="0"/>
                <a:cs typeface="Calibri" panose="020F0502020204030204" pitchFamily="34" charset="0"/>
              </a:rPr>
              <a:t>L-coefficients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7699" y="1453462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mtClean="0">
                <a:latin typeface="Calibri" panose="020F0502020204030204" pitchFamily="34" charset="0"/>
                <a:cs typeface="Calibri" panose="020F0502020204030204" pitchFamily="34" charset="0"/>
              </a:rPr>
              <a:t>Covarience of L-moments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843627"/>
              </p:ext>
            </p:extLst>
          </p:nvPr>
        </p:nvGraphicFramePr>
        <p:xfrm>
          <a:off x="1281081" y="4386000"/>
          <a:ext cx="2314172" cy="16459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42324">
                  <a:extLst>
                    <a:ext uri="{9D8B030D-6E8A-4147-A177-3AD203B41FA5}">
                      <a16:colId xmlns:a16="http://schemas.microsoft.com/office/drawing/2014/main" val="34187337"/>
                    </a:ext>
                  </a:extLst>
                </a:gridCol>
                <a:gridCol w="1271848">
                  <a:extLst>
                    <a:ext uri="{9D8B030D-6E8A-4147-A177-3AD203B41FA5}">
                      <a16:colId xmlns:a16="http://schemas.microsoft.com/office/drawing/2014/main" val="2575942330"/>
                    </a:ext>
                  </a:extLst>
                </a:gridCol>
              </a:tblGrid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L1</a:t>
                      </a:r>
                      <a:endParaRPr lang="en-US" altLang="ko-KR" sz="1200" b="1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mtClean="0"/>
                        <a:t>1.56</a:t>
                      </a:r>
                      <a:endParaRPr lang="ko-KR" altLang="en-US" sz="1200" b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5579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L2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1.55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673129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L3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1.53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814430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L4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1.50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989432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L-skewness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0.99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100791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L-kurtosis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0.97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996643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140457"/>
              </p:ext>
            </p:extLst>
          </p:nvPr>
        </p:nvGraphicFramePr>
        <p:xfrm>
          <a:off x="4445202" y="4523160"/>
          <a:ext cx="3427741" cy="1371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51242">
                  <a:extLst>
                    <a:ext uri="{9D8B030D-6E8A-4147-A177-3AD203B41FA5}">
                      <a16:colId xmlns:a16="http://schemas.microsoft.com/office/drawing/2014/main" val="450901270"/>
                    </a:ext>
                  </a:extLst>
                </a:gridCol>
                <a:gridCol w="713143">
                  <a:extLst>
                    <a:ext uri="{9D8B030D-6E8A-4147-A177-3AD203B41FA5}">
                      <a16:colId xmlns:a16="http://schemas.microsoft.com/office/drawing/2014/main" val="1616143108"/>
                    </a:ext>
                  </a:extLst>
                </a:gridCol>
                <a:gridCol w="816040">
                  <a:extLst>
                    <a:ext uri="{9D8B030D-6E8A-4147-A177-3AD203B41FA5}">
                      <a16:colId xmlns:a16="http://schemas.microsoft.com/office/drawing/2014/main" val="2696910642"/>
                    </a:ext>
                  </a:extLst>
                </a:gridCol>
                <a:gridCol w="774038">
                  <a:extLst>
                    <a:ext uri="{9D8B030D-6E8A-4147-A177-3AD203B41FA5}">
                      <a16:colId xmlns:a16="http://schemas.microsoft.com/office/drawing/2014/main" val="3747012398"/>
                    </a:ext>
                  </a:extLst>
                </a:gridCol>
                <a:gridCol w="773278">
                  <a:extLst>
                    <a:ext uri="{9D8B030D-6E8A-4147-A177-3AD203B41FA5}">
                      <a16:colId xmlns:a16="http://schemas.microsoft.com/office/drawing/2014/main" val="3958629597"/>
                    </a:ext>
                  </a:extLst>
                </a:gridCol>
              </a:tblGrid>
              <a:tr h="1619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L4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901759"/>
                  </a:ext>
                </a:extLst>
              </a:tr>
              <a:tr h="2698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L1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1.38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1.36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1.33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1.29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535233"/>
                  </a:ext>
                </a:extLst>
              </a:tr>
              <a:tr h="2698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L2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1.36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1.34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1.32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1.27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989865"/>
                  </a:ext>
                </a:extLst>
              </a:tr>
              <a:tr h="2698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L3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1.33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1.32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1.29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1.24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098594"/>
                  </a:ext>
                </a:extLst>
              </a:tr>
              <a:tr h="2698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mtClean="0"/>
                        <a:t>L4</a:t>
                      </a:r>
                      <a:endParaRPr lang="ko-KR" altLang="en-US" sz="1200" b="1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1.29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1.27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1.24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1.20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38596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47438" y="4030067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mtClean="0">
                <a:latin typeface="Calibri" panose="020F0502020204030204" pitchFamily="34" charset="0"/>
                <a:cs typeface="Calibri" panose="020F0502020204030204" pitchFamily="34" charset="0"/>
              </a:rPr>
              <a:t>L-coefficients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7699" y="4030067"/>
            <a:ext cx="3663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smtClean="0">
                <a:latin typeface="Calibri" panose="020F0502020204030204" pitchFamily="34" charset="0"/>
                <a:cs typeface="Calibri" panose="020F0502020204030204" pitchFamily="34" charset="0"/>
              </a:rPr>
              <a:t>Covarience of L-moments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8FF4E2C-C22E-4185-8998-AED7EE8E0F1F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Conclusion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765853"/>
              </p:ext>
            </p:extLst>
          </p:nvPr>
        </p:nvGraphicFramePr>
        <p:xfrm>
          <a:off x="1376881" y="1587501"/>
          <a:ext cx="7300423" cy="1722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264">
                  <a:extLst>
                    <a:ext uri="{9D8B030D-6E8A-4147-A177-3AD203B41FA5}">
                      <a16:colId xmlns:a16="http://schemas.microsoft.com/office/drawing/2014/main" val="897778387"/>
                    </a:ext>
                  </a:extLst>
                </a:gridCol>
                <a:gridCol w="1445366">
                  <a:extLst>
                    <a:ext uri="{9D8B030D-6E8A-4147-A177-3AD203B41FA5}">
                      <a16:colId xmlns:a16="http://schemas.microsoft.com/office/drawing/2014/main" val="3227071048"/>
                    </a:ext>
                  </a:extLst>
                </a:gridCol>
                <a:gridCol w="1282265">
                  <a:extLst>
                    <a:ext uri="{9D8B030D-6E8A-4147-A177-3AD203B41FA5}">
                      <a16:colId xmlns:a16="http://schemas.microsoft.com/office/drawing/2014/main" val="665182981"/>
                    </a:ext>
                  </a:extLst>
                </a:gridCol>
                <a:gridCol w="1524264">
                  <a:extLst>
                    <a:ext uri="{9D8B030D-6E8A-4147-A177-3AD203B41FA5}">
                      <a16:colId xmlns:a16="http://schemas.microsoft.com/office/drawing/2014/main" val="4129538365"/>
                    </a:ext>
                  </a:extLst>
                </a:gridCol>
                <a:gridCol w="1524264">
                  <a:extLst>
                    <a:ext uri="{9D8B030D-6E8A-4147-A177-3AD203B41FA5}">
                      <a16:colId xmlns:a16="http://schemas.microsoft.com/office/drawing/2014/main" val="4172239438"/>
                    </a:ext>
                  </a:extLst>
                </a:gridCol>
              </a:tblGrid>
              <a:tr h="2504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Distribution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Estimated </a:t>
                      </a:r>
                      <a:endParaRPr lang="en-US" sz="1200" b="1" u="none" strike="noStrike" smtClean="0">
                        <a:effectLst/>
                      </a:endParaRPr>
                    </a:p>
                    <a:p>
                      <a:pPr algn="ctr" fontAlgn="b"/>
                      <a:r>
                        <a:rPr lang="en-US" sz="1200" b="1" u="none" strike="noStrike" smtClean="0">
                          <a:effectLst/>
                        </a:rPr>
                        <a:t>parameters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Likelihood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AIC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317"/>
                  </a:ext>
                </a:extLst>
              </a:tr>
              <a:tr h="128411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Normal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63.06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solidFill>
                            <a:schemeClr val="tx1"/>
                          </a:solidFill>
                          <a:effectLst/>
                        </a:rPr>
                        <a:t>-1285.95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solidFill>
                            <a:schemeClr val="tx1"/>
                          </a:solidFill>
                          <a:effectLst/>
                        </a:rPr>
                        <a:t>2564.48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81874"/>
                  </a:ext>
                </a:extLst>
              </a:tr>
              <a:tr h="128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93.29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457696"/>
                  </a:ext>
                </a:extLst>
              </a:tr>
              <a:tr h="128411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Log-normal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Mean log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3.34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-1114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2232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10551"/>
                  </a:ext>
                </a:extLst>
              </a:tr>
              <a:tr h="128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SD log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1.52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155468"/>
                  </a:ext>
                </a:extLst>
              </a:tr>
              <a:tr h="1284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Exponential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0.016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-1105.968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2213.94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678426"/>
                  </a:ext>
                </a:extLst>
              </a:tr>
              <a:tr h="128411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Gamma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0.75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solidFill>
                            <a:srgbClr val="FF0000"/>
                          </a:solidFill>
                          <a:effectLst/>
                        </a:rPr>
                        <a:t>-1099.13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solidFill>
                            <a:srgbClr val="FF0000"/>
                          </a:solidFill>
                          <a:effectLst/>
                        </a:rPr>
                        <a:t>2202.25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40931"/>
                  </a:ext>
                </a:extLst>
              </a:tr>
              <a:tr h="128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0.012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72262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238597" y="1248947"/>
            <a:ext cx="5777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smtClean="0"/>
              <a:t>Total monthly data among 2004/01~2022/11</a:t>
            </a:r>
            <a:endParaRPr lang="ko-KR" altLang="en-US" sz="1600"/>
          </a:p>
        </p:txBody>
      </p:sp>
      <p:sp>
        <p:nvSpPr>
          <p:cNvPr id="11" name="TextBox 10"/>
          <p:cNvSpPr txBox="1"/>
          <p:nvPr/>
        </p:nvSpPr>
        <p:spPr>
          <a:xfrm>
            <a:off x="1238597" y="3570245"/>
            <a:ext cx="5777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smtClean="0"/>
              <a:t>August data among the period</a:t>
            </a:r>
            <a:endParaRPr lang="ko-KR" altLang="en-US" sz="160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912195"/>
              </p:ext>
            </p:extLst>
          </p:nvPr>
        </p:nvGraphicFramePr>
        <p:xfrm>
          <a:off x="1376880" y="3908799"/>
          <a:ext cx="7300423" cy="1722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264">
                  <a:extLst>
                    <a:ext uri="{9D8B030D-6E8A-4147-A177-3AD203B41FA5}">
                      <a16:colId xmlns:a16="http://schemas.microsoft.com/office/drawing/2014/main" val="897778387"/>
                    </a:ext>
                  </a:extLst>
                </a:gridCol>
                <a:gridCol w="1445366">
                  <a:extLst>
                    <a:ext uri="{9D8B030D-6E8A-4147-A177-3AD203B41FA5}">
                      <a16:colId xmlns:a16="http://schemas.microsoft.com/office/drawing/2014/main" val="3227071048"/>
                    </a:ext>
                  </a:extLst>
                </a:gridCol>
                <a:gridCol w="1282265">
                  <a:extLst>
                    <a:ext uri="{9D8B030D-6E8A-4147-A177-3AD203B41FA5}">
                      <a16:colId xmlns:a16="http://schemas.microsoft.com/office/drawing/2014/main" val="665182981"/>
                    </a:ext>
                  </a:extLst>
                </a:gridCol>
                <a:gridCol w="1524264">
                  <a:extLst>
                    <a:ext uri="{9D8B030D-6E8A-4147-A177-3AD203B41FA5}">
                      <a16:colId xmlns:a16="http://schemas.microsoft.com/office/drawing/2014/main" val="4129538365"/>
                    </a:ext>
                  </a:extLst>
                </a:gridCol>
                <a:gridCol w="1524264">
                  <a:extLst>
                    <a:ext uri="{9D8B030D-6E8A-4147-A177-3AD203B41FA5}">
                      <a16:colId xmlns:a16="http://schemas.microsoft.com/office/drawing/2014/main" val="4172239438"/>
                    </a:ext>
                  </a:extLst>
                </a:gridCol>
              </a:tblGrid>
              <a:tr h="1510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Distribution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Estimated </a:t>
                      </a:r>
                      <a:endParaRPr lang="en-US" sz="1200" b="1" u="none" strike="noStrike" smtClean="0">
                        <a:effectLst/>
                      </a:endParaRPr>
                    </a:p>
                    <a:p>
                      <a:pPr algn="ctr" fontAlgn="b"/>
                      <a:r>
                        <a:rPr lang="en-US" sz="1200" b="1" u="none" strike="noStrike" smtClean="0">
                          <a:effectLst/>
                        </a:rPr>
                        <a:t>parameters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Likelihood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AIC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317"/>
                  </a:ext>
                </a:extLst>
              </a:tr>
              <a:tr h="7682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Normal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smtClean="0">
                          <a:effectLst/>
                        </a:rPr>
                        <a:t>154.31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smtClean="0">
                          <a:solidFill>
                            <a:schemeClr val="tx1"/>
                          </a:solidFill>
                          <a:effectLst/>
                        </a:rPr>
                        <a:t>-115.30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smtClean="0">
                          <a:solidFill>
                            <a:schemeClr val="tx1"/>
                          </a:solidFill>
                          <a:effectLst/>
                        </a:rPr>
                        <a:t>234.60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81874"/>
                  </a:ext>
                </a:extLst>
              </a:tr>
              <a:tr h="76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146.43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457696"/>
                  </a:ext>
                </a:extLst>
              </a:tr>
              <a:tr h="7682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Log-normal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Mean log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4.59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smtClean="0">
                          <a:solidFill>
                            <a:srgbClr val="FF0000"/>
                          </a:solidFill>
                          <a:effectLst/>
                        </a:rPr>
                        <a:t>-108.38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smtClean="0">
                          <a:solidFill>
                            <a:schemeClr val="tx1"/>
                          </a:solidFill>
                          <a:effectLst/>
                        </a:rPr>
                        <a:t>220.75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10551"/>
                  </a:ext>
                </a:extLst>
              </a:tr>
              <a:tr h="76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SD log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1.01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155468"/>
                  </a:ext>
                </a:extLst>
              </a:tr>
              <a:tr h="768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Exponential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0.0065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-108.70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i="0" u="none" strike="noStrike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219.40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678426"/>
                  </a:ext>
                </a:extLst>
              </a:tr>
              <a:tr h="7682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Gamma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1.26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-108.38</a:t>
                      </a:r>
                      <a:endParaRPr lang="en-US" altLang="ko-KR" sz="1200" b="0" i="0" u="none" strike="noStrike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220.83</a:t>
                      </a:r>
                      <a:endParaRPr lang="en-US" altLang="ko-KR" sz="12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40931"/>
                  </a:ext>
                </a:extLst>
              </a:tr>
              <a:tr h="76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0.008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722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13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8FF4E2C-C22E-4185-8998-AED7EE8E0F1F}"/>
              </a:ext>
            </a:extLst>
          </p:cNvPr>
          <p:cNvSpPr/>
          <p:nvPr/>
        </p:nvSpPr>
        <p:spPr>
          <a:xfrm>
            <a:off x="1047438" y="526659"/>
            <a:ext cx="3979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ea typeface="아리따-돋움4.0(TTF)-SemiBold" panose="02020603020101020101" pitchFamily="18" charset="-127"/>
                <a:cs typeface="+mn-cs"/>
              </a:rPr>
              <a:t>Conclusion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406"/>
          <a:stretch/>
        </p:blipFill>
        <p:spPr>
          <a:xfrm>
            <a:off x="1895302" y="1036807"/>
            <a:ext cx="6113178" cy="339601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958725" y="3347836"/>
            <a:ext cx="100503" cy="100503"/>
          </a:xfrm>
          <a:prstGeom prst="rect">
            <a:avLst/>
          </a:prstGeom>
          <a:solidFill>
            <a:srgbClr val="5FA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/>
          <p:cNvSpPr/>
          <p:nvPr/>
        </p:nvSpPr>
        <p:spPr>
          <a:xfrm>
            <a:off x="7677199" y="1134294"/>
            <a:ext cx="143575" cy="123772"/>
          </a:xfrm>
          <a:prstGeom prst="triangle">
            <a:avLst/>
          </a:prstGeom>
          <a:solidFill>
            <a:srgbClr val="5FA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194606" y="3197455"/>
            <a:ext cx="100503" cy="10050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/>
          <p:cNvSpPr/>
          <p:nvPr/>
        </p:nvSpPr>
        <p:spPr>
          <a:xfrm>
            <a:off x="7643576" y="1194589"/>
            <a:ext cx="143575" cy="12377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670858" y="4557633"/>
            <a:ext cx="182914" cy="1829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이등변 삼각형 16"/>
          <p:cNvSpPr/>
          <p:nvPr/>
        </p:nvSpPr>
        <p:spPr>
          <a:xfrm>
            <a:off x="4354037" y="4589431"/>
            <a:ext cx="187221" cy="16139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853772" y="4535365"/>
            <a:ext cx="1055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: Normal</a:t>
            </a:r>
            <a:endParaRPr lang="ko-KR" altLang="en-US" sz="1200"/>
          </a:p>
        </p:txBody>
      </p:sp>
      <p:sp>
        <p:nvSpPr>
          <p:cNvPr id="19" name="TextBox 18"/>
          <p:cNvSpPr txBox="1"/>
          <p:nvPr/>
        </p:nvSpPr>
        <p:spPr>
          <a:xfrm>
            <a:off x="4541388" y="4535365"/>
            <a:ext cx="1370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/>
              <a:t>: Log-normal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7097469" y="4983000"/>
            <a:ext cx="247263" cy="247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370035" y="4958394"/>
            <a:ext cx="1740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smtClean="0"/>
              <a:t>: Normal (default)</a:t>
            </a:r>
            <a:endParaRPr lang="ko-KR" altLang="en-US" sz="1400"/>
          </a:p>
        </p:txBody>
      </p:sp>
      <p:sp>
        <p:nvSpPr>
          <p:cNvPr id="22" name="타원 21"/>
          <p:cNvSpPr/>
          <p:nvPr/>
        </p:nvSpPr>
        <p:spPr>
          <a:xfrm>
            <a:off x="7082443" y="5522828"/>
            <a:ext cx="273521" cy="2735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311848" y="5467892"/>
            <a:ext cx="1740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smtClean="0"/>
              <a:t>: Exponential (default)</a:t>
            </a:r>
            <a:endParaRPr lang="ko-KR" altLang="en-US" sz="140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257364"/>
              </p:ext>
            </p:extLst>
          </p:nvPr>
        </p:nvGraphicFramePr>
        <p:xfrm>
          <a:off x="1598847" y="5499160"/>
          <a:ext cx="2210264" cy="548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95522">
                  <a:extLst>
                    <a:ext uri="{9D8B030D-6E8A-4147-A177-3AD203B41FA5}">
                      <a16:colId xmlns:a16="http://schemas.microsoft.com/office/drawing/2014/main" val="1461626972"/>
                    </a:ext>
                  </a:extLst>
                </a:gridCol>
                <a:gridCol w="1214742">
                  <a:extLst>
                    <a:ext uri="{9D8B030D-6E8A-4147-A177-3AD203B41FA5}">
                      <a16:colId xmlns:a16="http://schemas.microsoft.com/office/drawing/2014/main" val="2598806072"/>
                    </a:ext>
                  </a:extLst>
                </a:gridCol>
              </a:tblGrid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L-skewness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-0.07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802202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L-kurtosis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-0.04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4930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569635"/>
              </p:ext>
            </p:extLst>
          </p:nvPr>
        </p:nvGraphicFramePr>
        <p:xfrm>
          <a:off x="4280331" y="5520463"/>
          <a:ext cx="2314172" cy="5486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42324">
                  <a:extLst>
                    <a:ext uri="{9D8B030D-6E8A-4147-A177-3AD203B41FA5}">
                      <a16:colId xmlns:a16="http://schemas.microsoft.com/office/drawing/2014/main" val="3067601508"/>
                    </a:ext>
                  </a:extLst>
                </a:gridCol>
                <a:gridCol w="1271848">
                  <a:extLst>
                    <a:ext uri="{9D8B030D-6E8A-4147-A177-3AD203B41FA5}">
                      <a16:colId xmlns:a16="http://schemas.microsoft.com/office/drawing/2014/main" val="1687458056"/>
                    </a:ext>
                  </a:extLst>
                </a:gridCol>
              </a:tblGrid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L-skewness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0.99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767262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L-kurtosis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0.97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A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647845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722058"/>
              </p:ext>
            </p:extLst>
          </p:nvPr>
        </p:nvGraphicFramePr>
        <p:xfrm>
          <a:off x="1598847" y="4861300"/>
          <a:ext cx="2210264" cy="5486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95522">
                  <a:extLst>
                    <a:ext uri="{9D8B030D-6E8A-4147-A177-3AD203B41FA5}">
                      <a16:colId xmlns:a16="http://schemas.microsoft.com/office/drawing/2014/main" val="1314841935"/>
                    </a:ext>
                  </a:extLst>
                </a:gridCol>
                <a:gridCol w="1214742">
                  <a:extLst>
                    <a:ext uri="{9D8B030D-6E8A-4147-A177-3AD203B41FA5}">
                      <a16:colId xmlns:a16="http://schemas.microsoft.com/office/drawing/2014/main" val="2057471143"/>
                    </a:ext>
                  </a:extLst>
                </a:gridCol>
              </a:tblGrid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L-skewness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0.40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595623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L-kurtosis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-0.01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291605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608903"/>
              </p:ext>
            </p:extLst>
          </p:nvPr>
        </p:nvGraphicFramePr>
        <p:xfrm>
          <a:off x="4280331" y="4861300"/>
          <a:ext cx="2314172" cy="5486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42324">
                  <a:extLst>
                    <a:ext uri="{9D8B030D-6E8A-4147-A177-3AD203B41FA5}">
                      <a16:colId xmlns:a16="http://schemas.microsoft.com/office/drawing/2014/main" val="108437246"/>
                    </a:ext>
                  </a:extLst>
                </a:gridCol>
                <a:gridCol w="1271848">
                  <a:extLst>
                    <a:ext uri="{9D8B030D-6E8A-4147-A177-3AD203B41FA5}">
                      <a16:colId xmlns:a16="http://schemas.microsoft.com/office/drawing/2014/main" val="1576846316"/>
                    </a:ext>
                  </a:extLst>
                </a:gridCol>
              </a:tblGrid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L-skewness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0.98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246344"/>
                  </a:ext>
                </a:extLst>
              </a:tr>
              <a:tr h="169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L-kurtosis</a:t>
                      </a:r>
                      <a:endParaRPr lang="ko-KR" altLang="en-US" sz="1200" b="1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mtClean="0"/>
                        <a:t>0.96</a:t>
                      </a:r>
                      <a:endParaRPr lang="ko-KR" altLang="en-US" sz="1200" smtClean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93671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66833" y="4989172"/>
            <a:ext cx="532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mtClean="0"/>
              <a:t>Total</a:t>
            </a:r>
            <a:endParaRPr lang="ko-KR" altLang="en-US" sz="1200" b="1"/>
          </a:p>
        </p:txBody>
      </p:sp>
      <p:sp>
        <p:nvSpPr>
          <p:cNvPr id="28" name="TextBox 27"/>
          <p:cNvSpPr txBox="1"/>
          <p:nvPr/>
        </p:nvSpPr>
        <p:spPr>
          <a:xfrm>
            <a:off x="925516" y="5634980"/>
            <a:ext cx="673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mtClean="0"/>
              <a:t>August</a:t>
            </a:r>
            <a:endParaRPr lang="ko-KR" altLang="en-US" sz="1200" b="1"/>
          </a:p>
        </p:txBody>
      </p:sp>
    </p:spTree>
    <p:extLst>
      <p:ext uri="{BB962C8B-B14F-4D97-AF65-F5344CB8AC3E}">
        <p14:creationId xmlns:p14="http://schemas.microsoft.com/office/powerpoint/2010/main" val="339368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717E047-D5E8-4C4F-959A-476D22E4F04B}"/>
              </a:ext>
            </a:extLst>
          </p:cNvPr>
          <p:cNvSpPr/>
          <p:nvPr/>
        </p:nvSpPr>
        <p:spPr>
          <a:xfrm>
            <a:off x="579863" y="5397190"/>
            <a:ext cx="1025913" cy="557561"/>
          </a:xfrm>
          <a:prstGeom prst="rect">
            <a:avLst/>
          </a:prstGeom>
          <a:solidFill>
            <a:srgbClr val="5FA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5F57E3-0069-4369-88E6-2630DB1FA3F4}"/>
              </a:ext>
            </a:extLst>
          </p:cNvPr>
          <p:cNvSpPr/>
          <p:nvPr/>
        </p:nvSpPr>
        <p:spPr>
          <a:xfrm>
            <a:off x="7969404" y="5293112"/>
            <a:ext cx="1191323" cy="1057508"/>
          </a:xfrm>
          <a:prstGeom prst="rect">
            <a:avLst/>
          </a:prstGeom>
          <a:solidFill>
            <a:srgbClr val="5FA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8502CD-79D8-4FF3-A898-25BD7392B27E}"/>
              </a:ext>
            </a:extLst>
          </p:cNvPr>
          <p:cNvSpPr/>
          <p:nvPr/>
        </p:nvSpPr>
        <p:spPr>
          <a:xfrm>
            <a:off x="2963172" y="2721114"/>
            <a:ext cx="39796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spc="-150" dirty="0">
                <a:solidFill>
                  <a:schemeClr val="bg2">
                    <a:lumMod val="25000"/>
                  </a:schemeClr>
                </a:solidFill>
                <a:ea typeface="아리따-돋움4.0(TTF)-SemiBold" panose="02020603020101020101" pitchFamily="18" charset="-127"/>
              </a:rPr>
              <a:t>Thank You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521" b="43993" l="30209" r="69791"/>
                    </a14:imgEffect>
                    <a14:imgEffect>
                      <a14:sharpenSoften amount="25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l="25261" t="35587" r="25261" b="55073"/>
          <a:stretch/>
        </p:blipFill>
        <p:spPr>
          <a:xfrm>
            <a:off x="4014378" y="5388694"/>
            <a:ext cx="1877241" cy="866343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47358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3364</TotalTime>
  <Words>593</Words>
  <Application>Microsoft Office PowerPoint</Application>
  <PresentationFormat>A4 용지(210x297mm)</PresentationFormat>
  <Paragraphs>399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맑은 고딕</vt:lpstr>
      <vt:lpstr>아리따-돋움4.0(TTF)-SemiBold</vt:lpstr>
      <vt:lpstr>Arial</vt:lpstr>
      <vt:lpstr>Calibri</vt:lpstr>
      <vt:lpstr>Calibri Light</vt:lpstr>
      <vt:lpstr>Cambria Math</vt:lpstr>
      <vt:lpstr>Wingdings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HOME</dc:creator>
  <cp:lastModifiedBy>JiyunKim</cp:lastModifiedBy>
  <cp:revision>782</cp:revision>
  <dcterms:created xsi:type="dcterms:W3CDTF">2017-09-07T10:48:07Z</dcterms:created>
  <dcterms:modified xsi:type="dcterms:W3CDTF">2022-11-07T17:12:28Z</dcterms:modified>
</cp:coreProperties>
</file>